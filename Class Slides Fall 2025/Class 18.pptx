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822" r:id="rId3"/>
    <p:sldId id="824" r:id="rId4"/>
    <p:sldId id="825" r:id="rId5"/>
    <p:sldId id="827" r:id="rId6"/>
    <p:sldId id="832" r:id="rId7"/>
    <p:sldId id="828" r:id="rId8"/>
    <p:sldId id="826" r:id="rId9"/>
    <p:sldId id="829" r:id="rId10"/>
    <p:sldId id="830" r:id="rId11"/>
    <p:sldId id="831" r:id="rId12"/>
    <p:sldId id="264" r:id="rId13"/>
    <p:sldId id="833" r:id="rId14"/>
    <p:sldId id="266" r:id="rId15"/>
    <p:sldId id="502" r:id="rId16"/>
    <p:sldId id="343" r:id="rId17"/>
    <p:sldId id="503" r:id="rId18"/>
    <p:sldId id="834" r:id="rId19"/>
    <p:sldId id="348" r:id="rId20"/>
    <p:sldId id="409" r:id="rId21"/>
    <p:sldId id="388" r:id="rId22"/>
    <p:sldId id="259" r:id="rId23"/>
    <p:sldId id="820" r:id="rId24"/>
    <p:sldId id="821" r:id="rId25"/>
    <p:sldId id="267" r:id="rId26"/>
    <p:sldId id="268" r:id="rId27"/>
    <p:sldId id="270" r:id="rId28"/>
    <p:sldId id="269" r:id="rId29"/>
    <p:sldId id="331" r:id="rId30"/>
    <p:sldId id="823" r:id="rId31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854FDF8-D6AE-4093-A9C9-C3DC19E3BE5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868FC290-57AF-4456-9DF1-B9EB5D87B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0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8110-86F0-D2F7-3237-9D3B1CF25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E6A18-CEC6-4FC4-E0B1-BFD133B12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205A5-02E1-7034-6F80-F9124C4D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EFBBD-A048-32E7-DC72-C0F16A53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B8F14-5303-EFCB-AE6C-F9BC945F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6E8E-A89B-7C77-7CDC-4DC5FD71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52E5C-3D38-4DE2-712D-64ED3C74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6B78F-B244-7F7F-3EFD-A4EC8EB9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5EB15-1E6F-C5E0-A244-35D24940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0B4F7-9EF2-026E-6F07-91CF45CE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1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12F6-7B6D-6259-0B5D-78857DA7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DE353-8306-EC47-C478-856B6B51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B38AC-A4B1-A5C8-DCBB-C7979E1B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8E0AE-E073-E3AF-6C44-1ACC2E76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D645-25FF-1FAD-AA6D-A5BBF3D3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7EE7-BF0A-1C83-C970-458B969E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1D3E-F5AF-8EC6-2FAA-FC67F0D24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9A60E-08FE-5113-E6CD-FAEADA816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97829-0EB8-A09E-5C59-E0BF6D5D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ECDDE-C71F-E97A-C21C-E4AC284C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32D99-11AD-6A3B-9F9F-BD9DEC56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4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0676-62FC-42D7-46C8-EFE60319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5709-3D7F-4A76-89A8-D9DD2D315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DF92-F0B8-EA05-FA5E-64C225E12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771FF-E860-E2BD-4995-D0A1E78EB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846C4-1D77-2B19-E8FA-F99F8442C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8916C-2C26-7FC4-1A7E-337EF9FB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8D195-4414-D17D-8CBC-F7479CC5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FB8B32-22E6-B2D1-199A-1399C4CD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8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97CC-4CB8-B0EE-B059-F631307F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C340D-C671-592D-77AD-BAA93E6D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03720-BE0C-4488-F67D-8B75DB7B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FC0F7-F447-D3F1-F7EF-3EB83A22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7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E1922-04B5-0329-5380-7D6D5840E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4EF06-3A19-FDCC-4D6D-05FA7159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68BD9-52F3-84EB-A8D0-65C4172D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6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CE32-645A-AB1A-69A1-6AAD38C4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3D48-7D4C-4A80-8515-7D6A8841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EFEC3-AC16-EBE3-9F97-3D5CFAD96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24A6C-9C02-CAFE-3405-66E5EEAA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4DDE1-275E-B258-69AD-EFC21DF4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0BB2B-FE89-4412-1FC4-2F6CDC76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68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CA42-5EB7-DCD2-2C11-4F42B47B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170F0-B159-70C5-8835-581526E53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85DCE-7E0F-990C-782C-7C6FCD33D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E7273-11A3-4611-70CD-8DAD0708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580E7-9DF5-8E17-EB96-A7ADF92A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FD442-FB03-E456-6432-05299C16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9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DC55-E0CF-7352-31D1-C858B4FB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3802-D809-C296-91CD-46305E365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1125-5280-46EA-67B8-2A168D38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CE183-2893-79AB-A6EC-BB2A6B75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B7AB7-9AD0-08BE-131A-0969AABB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1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7E315-24E4-1CFF-DCB0-3FA5C6108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0F35B-0451-518D-F750-7865BE5AA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1473A-F580-0278-2619-C228F1E0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718E-A814-356E-F67E-C00AAABA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AEBED-C895-7B9D-06F1-1ED00A8D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5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16D8-9654-9A09-2622-633184083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C7BEC-FFDD-6B43-2ABA-8B76FB619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708BA-CF9B-46F2-1DAF-6DC420898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B24D3-2850-40A5-9D4C-9473FD896B4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E0E8C-47D9-4146-B109-B524A1C1B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9343-F156-CA6C-E3CB-A16CD92DC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63BEB-F6F9-4929-BCAB-F163DB860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EA0E51-A052-5365-5BA9-ECA7845A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301, Oct 27, Class 18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8C2EA5-656D-9E62-C486-E64A8736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Salovich</a:t>
            </a:r>
            <a:r>
              <a:rPr lang="en-US" dirty="0"/>
              <a:t> et al. (2025)</a:t>
            </a:r>
          </a:p>
          <a:p>
            <a:endParaRPr lang="en-US" dirty="0"/>
          </a:p>
          <a:p>
            <a:r>
              <a:rPr lang="en-US" dirty="0"/>
              <a:t>Rigor and Reproducibility in Psychological Science</a:t>
            </a:r>
          </a:p>
          <a:p>
            <a:endParaRPr lang="en-US" dirty="0"/>
          </a:p>
          <a:p>
            <a:r>
              <a:rPr lang="en-US" dirty="0"/>
              <a:t>Final Project Proposal process</a:t>
            </a:r>
          </a:p>
          <a:p>
            <a:pPr lvl="1"/>
            <a:r>
              <a:rPr lang="en-US" dirty="0"/>
              <a:t>Getting started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7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6636-6BAE-A15C-FBF5-84857534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CDFA-73BA-2B75-5A0D-1A84A6AA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Means table</a:t>
            </a:r>
            <a:br>
              <a:rPr lang="en-US" dirty="0"/>
            </a:br>
            <a:r>
              <a:rPr lang="en-US" dirty="0"/>
              <a:t>APA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Also acceptable with</a:t>
            </a:r>
            <a:br>
              <a:rPr lang="en-US" dirty="0"/>
            </a:br>
            <a:r>
              <a:rPr lang="en-US" dirty="0"/>
              <a:t>SD in parentheses under</a:t>
            </a:r>
            <a:br>
              <a:rPr lang="en-US" dirty="0"/>
            </a:br>
            <a:r>
              <a:rPr lang="en-US" dirty="0"/>
              <a:t>the means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1D014-5435-F7E7-3799-609B31F0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379" y="296069"/>
            <a:ext cx="5876925" cy="3705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01F5AF-F41A-269B-1F92-439FA6E6C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603" y="4225925"/>
            <a:ext cx="532447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9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7877-9125-A752-41E9-063092B3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BCAD8-2623-6031-EA42-A9B3DDC73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209F9-44F8-289B-4C18-2DDE7923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041"/>
            <a:ext cx="10585858" cy="59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3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8E31-438A-2DEB-58A0-DED2FC33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92988-9B34-2ADF-9043-DA531E295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design of Experiment 1 by factors and the levels of each factor?</a:t>
            </a:r>
          </a:p>
          <a:p>
            <a:endParaRPr lang="en-US" dirty="0"/>
          </a:p>
          <a:p>
            <a:r>
              <a:rPr lang="en-US" dirty="0"/>
              <a:t>What is the key dependent variable used in the main reported analysis?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9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A995-66AD-07FA-77FA-8B804AF6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B32C-9551-7547-7C3A-7441D1D7F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3756D-F9E5-423F-5FC7-963A1FF6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690688"/>
            <a:ext cx="5672138" cy="2014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E5D561-E5EA-D70E-07A6-E98C6AC16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93" y="1562100"/>
            <a:ext cx="5586413" cy="4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CC42-68F1-7303-4637-5A08D8B6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FB4AA-E84D-F26E-0050-7D207124F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09234-617D-0362-0F83-3A6C9F18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690" y="1258475"/>
            <a:ext cx="9196619" cy="491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1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05B6-78E0-5146-6E04-EC753A2E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124C-EDED-AF18-33E3-54805619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E8A9F-242D-9783-F39A-57AFAC68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3" y="109849"/>
            <a:ext cx="5351717" cy="6067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41DD5-EFE1-E23F-CC4A-7975624E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032" y="2096618"/>
            <a:ext cx="5095685" cy="209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2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FB2A-4EF8-29A7-D2DE-55E68B22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A588-61D9-9A34-B568-519647071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were the levels and design of Experiment 2?</a:t>
            </a:r>
          </a:p>
          <a:p>
            <a:endParaRPr lang="en-US" dirty="0"/>
          </a:p>
          <a:p>
            <a:r>
              <a:rPr lang="en-US" dirty="0"/>
              <a:t>What was the primary conclusion of Experiment 2? (The Discussion section opens with a review of this)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42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587FF-2029-A7E3-6440-191D7B82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BC27-DD8B-F96A-B30F-A60490FEC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2EA3D-DDF6-6C7F-D9F3-83952A1D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63" y="1690688"/>
            <a:ext cx="5643563" cy="3300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025FD-F47D-BE29-0201-648D7B955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2356"/>
            <a:ext cx="5700713" cy="43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4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32E1-C676-5F85-1321-67CAFBAB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0B1D3-D784-05AB-46E2-42486CD35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EDF74-AA34-D2C2-5F41-A6E02839D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34" y="365125"/>
            <a:ext cx="5131118" cy="6262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BCFF0-A2F8-85A0-4D9E-8F308908C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906" y="355981"/>
            <a:ext cx="5287677" cy="470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3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9804-8795-271F-FCDD-ADC600C0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58FE-E65B-A1B2-A1A9-23F0A2020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D958D-7947-2938-9824-752FB775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17" y="1388640"/>
            <a:ext cx="6609166" cy="40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4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238D-5906-A686-E36B-A0F10891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and Rigor in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2C48-8821-AC4D-6497-CB5ABA90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Finding: some well-known psychological science studies were found to “not replicate”</a:t>
            </a:r>
          </a:p>
          <a:p>
            <a:pPr lvl="1"/>
            <a:r>
              <a:rPr lang="en-US" dirty="0"/>
              <a:t>Known as the “Replication crisis,” fears of excess Type 1 errors</a:t>
            </a:r>
          </a:p>
          <a:p>
            <a:r>
              <a:rPr lang="en-US" dirty="0"/>
              <a:t>Good consequences: more attention is being paid to statistical inference</a:t>
            </a:r>
          </a:p>
          <a:p>
            <a:pPr lvl="1"/>
            <a:r>
              <a:rPr lang="en-US" dirty="0"/>
              <a:t>Reduce focus on p-value, more on effect size and inference</a:t>
            </a:r>
          </a:p>
          <a:p>
            <a:pPr lvl="1"/>
            <a:r>
              <a:rPr lang="en-US" dirty="0"/>
              <a:t>Replicating findings helps extend theory</a:t>
            </a:r>
          </a:p>
          <a:p>
            <a:r>
              <a:rPr lang="en-US" dirty="0"/>
              <a:t>Bad consequences: increased distrust of science</a:t>
            </a:r>
          </a:p>
          <a:p>
            <a:pPr lvl="1"/>
            <a:r>
              <a:rPr lang="en-US" dirty="0"/>
              <a:t>Some ways to increase rigor will lead to less overall science</a:t>
            </a:r>
          </a:p>
          <a:p>
            <a:pPr lvl="1"/>
            <a:r>
              <a:rPr lang="en-US" dirty="0"/>
              <a:t>Exposing gaps in statistical understanding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1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E640-ACEE-7FA1-BEB6-B1AC47BD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Replicating published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9D69-6F16-C0A9-B673-96A55FE3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outcomes of redoing a study</a:t>
            </a:r>
          </a:p>
          <a:p>
            <a:pPr lvl="1"/>
            <a:r>
              <a:rPr lang="en-US" dirty="0"/>
              <a:t>Effect is not reliable in replication</a:t>
            </a:r>
          </a:p>
          <a:p>
            <a:pPr lvl="2"/>
            <a:r>
              <a:rPr lang="en-US" dirty="0"/>
              <a:t>Type 2 error?</a:t>
            </a:r>
          </a:p>
          <a:p>
            <a:pPr lvl="2"/>
            <a:r>
              <a:rPr lang="en-US" dirty="0"/>
              <a:t>New sample introduces additional variable (e.g., stereotype threat)?</a:t>
            </a:r>
          </a:p>
          <a:p>
            <a:pPr lvl="2"/>
            <a:r>
              <a:rPr lang="en-US" dirty="0"/>
              <a:t>Original report was a Type 1 error?</a:t>
            </a:r>
          </a:p>
          <a:p>
            <a:pPr lvl="1"/>
            <a:r>
              <a:rPr lang="en-US" dirty="0"/>
              <a:t>Effect is again found to be reliable, successful replication</a:t>
            </a:r>
          </a:p>
          <a:p>
            <a:pPr lvl="2"/>
            <a:r>
              <a:rPr lang="en-US" dirty="0"/>
              <a:t>However, effect size appears smaller</a:t>
            </a:r>
          </a:p>
          <a:p>
            <a:r>
              <a:rPr lang="en-US" dirty="0"/>
              <a:t>Sample size</a:t>
            </a:r>
          </a:p>
          <a:p>
            <a:pPr lvl="1"/>
            <a:r>
              <a:rPr lang="en-US" dirty="0"/>
              <a:t>Smaller samples have less power to detect changes</a:t>
            </a:r>
          </a:p>
          <a:p>
            <a:pPr lvl="1"/>
            <a:r>
              <a:rPr lang="en-US" dirty="0"/>
              <a:t>“Getting lucky” inflates estimates of effect size</a:t>
            </a:r>
          </a:p>
          <a:p>
            <a:pPr lvl="2"/>
            <a:r>
              <a:rPr lang="en-US" dirty="0"/>
              <a:t>Even for reliable results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5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6036-FC76-2F68-852B-300B8A92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analysis for sample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D165-038B-D5FB-1296-6DB9F906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many participants do I need for my experiment to work?</a:t>
            </a:r>
          </a:p>
          <a:p>
            <a:pPr lvl="1"/>
            <a:r>
              <a:rPr lang="en-US" dirty="0"/>
              <a:t>Practical/convenience sampling: how many do you have?</a:t>
            </a:r>
          </a:p>
          <a:p>
            <a:pPr lvl="1"/>
            <a:r>
              <a:rPr lang="en-US" dirty="0"/>
              <a:t>RCT: precisely estimated samples in advance</a:t>
            </a:r>
          </a:p>
          <a:p>
            <a:r>
              <a:rPr lang="en-US" dirty="0"/>
              <a:t>Probability of a statistically reliable result</a:t>
            </a:r>
          </a:p>
          <a:p>
            <a:pPr lvl="1"/>
            <a:r>
              <a:rPr lang="en-US" dirty="0"/>
              <a:t>P = f(effect size, n)</a:t>
            </a:r>
          </a:p>
          <a:p>
            <a:r>
              <a:rPr lang="en-US" dirty="0"/>
              <a:t>Common targets</a:t>
            </a:r>
          </a:p>
          <a:p>
            <a:pPr lvl="1"/>
            <a:r>
              <a:rPr lang="en-US" dirty="0"/>
              <a:t>80% power = 80% probability of seeing p&lt;.05 assuming the IV has an effect</a:t>
            </a:r>
          </a:p>
          <a:p>
            <a:pPr lvl="1"/>
            <a:r>
              <a:rPr lang="en-US" dirty="0"/>
              <a:t>Note that 20% of true findings still do not “replicate” (Type 2 error)</a:t>
            </a:r>
          </a:p>
          <a:p>
            <a:r>
              <a:rPr lang="en-US" dirty="0"/>
              <a:t>Rough estimates</a:t>
            </a:r>
          </a:p>
          <a:p>
            <a:pPr lvl="1"/>
            <a:r>
              <a:rPr lang="en-US" dirty="0"/>
              <a:t>Cohen’s d = 1.0, n = 32 (16/group), power = 80%</a:t>
            </a:r>
          </a:p>
          <a:p>
            <a:pPr lvl="1"/>
            <a:r>
              <a:rPr lang="en-US" dirty="0"/>
              <a:t>d = 0.5, n= 126 (63/group), power = 80%</a:t>
            </a:r>
          </a:p>
          <a:p>
            <a:pPr lvl="1"/>
            <a:r>
              <a:rPr lang="en-US" dirty="0"/>
              <a:t>d = 0.2, n = 784 (392/group), power = 80%</a:t>
            </a:r>
          </a:p>
        </p:txBody>
      </p:sp>
    </p:spTree>
    <p:extLst>
      <p:ext uri="{BB962C8B-B14F-4D97-AF65-F5344CB8AC3E}">
        <p14:creationId xmlns:p14="http://schemas.microsoft.com/office/powerpoint/2010/main" val="39645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7A86-36EE-8614-2F6D-20ADAB11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Analysis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F082B-EE25-FD6D-7CB4-8157D6E42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Ovalle-</a:t>
            </a:r>
            <a:r>
              <a:rPr lang="en-US" dirty="0" err="1"/>
              <a:t>Fresa</a:t>
            </a:r>
            <a:r>
              <a:rPr lang="en-US" dirty="0"/>
              <a:t> et al. (2021)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6BAB4-7773-084E-8A56-F70B5F1359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A42D1-5EFF-F2FD-57FE-1CE215F94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Salovich</a:t>
            </a:r>
            <a:r>
              <a:rPr lang="en-US" dirty="0"/>
              <a:t> et al. (2025)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AE0DA-8A1B-FA74-7637-6A8DB0789A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7D9A4-CD58-2811-BF09-703A524F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2505075"/>
            <a:ext cx="4161415" cy="40323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0FEF1B-826C-7B99-06EF-D08CAE703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5075"/>
            <a:ext cx="4392197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75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F04F-91AF-0D78-9297-AA47EBA6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6860C-EE0E-CD14-8E5B-A75D7B510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Cohen’s 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C4AAD-7D5E-A311-D41E-D22F5745B9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in means divided by the standard deviation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637778-0BE7-8AE9-F224-A501B406B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Generalized Eta-squared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E0D2AA-83EC-61B0-AFAB-876321B47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02783"/>
              </p:ext>
            </p:extLst>
          </p:nvPr>
        </p:nvGraphicFramePr>
        <p:xfrm>
          <a:off x="1826185" y="4166798"/>
          <a:ext cx="81279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745266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86772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95379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Effect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Generalized</a:t>
                      </a:r>
                      <a:br>
                        <a:rPr lang="en-US" dirty="0"/>
                      </a:br>
                      <a:r>
                        <a:rPr lang="en-US" dirty="0"/>
                        <a:t> eta-squared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2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0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627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126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7829"/>
                  </a:ext>
                </a:extLst>
              </a:tr>
            </a:tbl>
          </a:graphicData>
        </a:graphic>
      </p:graphicFrame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D61ED01-0B2A-5491-2E37-5D3BA42F21C3}"/>
              </a:ext>
            </a:extLst>
          </p:cNvPr>
          <p:cNvSpPr txBox="1">
            <a:spLocks/>
          </p:cNvSpPr>
          <p:nvPr/>
        </p:nvSpPr>
        <p:spPr>
          <a:xfrm>
            <a:off x="6096000" y="2505075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Estimated proportion of variance due to each factor and interaction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47EE-9FEC-A145-9FC9-82F76562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and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12692-2BDF-5D19-2082-11AA2508B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Under-powered studies (too few participants for effect size)</a:t>
            </a:r>
          </a:p>
          <a:p>
            <a:pPr lvl="1"/>
            <a:r>
              <a:rPr lang="en-US" dirty="0"/>
              <a:t>Might still work if you get lucky</a:t>
            </a:r>
          </a:p>
          <a:p>
            <a:pPr lvl="1"/>
            <a:r>
              <a:rPr lang="en-US" dirty="0"/>
              <a:t>“Marginal” effects: .05 &lt; p &lt; .10</a:t>
            </a:r>
          </a:p>
          <a:p>
            <a:pPr lvl="2"/>
            <a:r>
              <a:rPr lang="en-US" dirty="0"/>
              <a:t>One-tailed test would work</a:t>
            </a:r>
          </a:p>
          <a:p>
            <a:pPr lvl="1"/>
            <a:endParaRPr lang="en-US" dirty="0"/>
          </a:p>
          <a:p>
            <a:r>
              <a:rPr lang="en-US" dirty="0"/>
              <a:t>“Over-powered” studies</a:t>
            </a:r>
          </a:p>
          <a:p>
            <a:pPr lvl="1"/>
            <a:r>
              <a:rPr lang="en-US" dirty="0"/>
              <a:t>Not actually possible</a:t>
            </a:r>
          </a:p>
          <a:p>
            <a:pPr lvl="1"/>
            <a:r>
              <a:rPr lang="en-US" dirty="0"/>
              <a:t>Large n’s can produce tiny reliable effects</a:t>
            </a:r>
          </a:p>
          <a:p>
            <a:pPr lvl="2"/>
            <a:r>
              <a:rPr lang="en-US" dirty="0"/>
              <a:t>Statistically reliable but not practically important</a:t>
            </a:r>
          </a:p>
          <a:p>
            <a:pPr lvl="2"/>
            <a:r>
              <a:rPr lang="en-US" dirty="0"/>
              <a:t>Always consider at the effect size when interpreting results</a:t>
            </a:r>
          </a:p>
        </p:txBody>
      </p:sp>
    </p:spTree>
    <p:extLst>
      <p:ext uri="{BB962C8B-B14F-4D97-AF65-F5344CB8AC3E}">
        <p14:creationId xmlns:p14="http://schemas.microsoft.com/office/powerpoint/2010/main" val="3473841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FD8D31-6308-D9C5-7E21-07B6FE6E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problematic practices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F4F438-87C2-D030-02B7-561473BE8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influences</a:t>
            </a:r>
          </a:p>
          <a:p>
            <a:pPr lvl="1"/>
            <a:r>
              <a:rPr lang="en-US" dirty="0"/>
              <a:t>How was the research paid for?</a:t>
            </a:r>
          </a:p>
          <a:p>
            <a:pPr lvl="1"/>
            <a:r>
              <a:rPr lang="en-US" dirty="0"/>
              <a:t>Did the funding agency have a vested interest in the outcome?</a:t>
            </a:r>
          </a:p>
          <a:p>
            <a:r>
              <a:rPr lang="en-US" dirty="0"/>
              <a:t>Analytic flexibility</a:t>
            </a:r>
          </a:p>
          <a:p>
            <a:pPr lvl="1"/>
            <a:r>
              <a:rPr lang="en-US" dirty="0"/>
              <a:t>Digging around in a complex dataset until a “reliable result” is found</a:t>
            </a:r>
          </a:p>
          <a:p>
            <a:pPr lvl="1"/>
            <a:r>
              <a:rPr lang="en-US" dirty="0"/>
              <a:t>Should require a correction for multiple comparisons</a:t>
            </a:r>
          </a:p>
          <a:p>
            <a:r>
              <a:rPr lang="en-US" dirty="0"/>
              <a:t>“File drawer” effects</a:t>
            </a:r>
          </a:p>
          <a:p>
            <a:pPr lvl="1"/>
            <a:r>
              <a:rPr lang="en-US" dirty="0"/>
              <a:t>Re-running studies until they work</a:t>
            </a:r>
          </a:p>
        </p:txBody>
      </p:sp>
    </p:spTree>
    <p:extLst>
      <p:ext uri="{BB962C8B-B14F-4D97-AF65-F5344CB8AC3E}">
        <p14:creationId xmlns:p14="http://schemas.microsoft.com/office/powerpoint/2010/main" val="817590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31BB-7DF4-5301-047E-48201820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40E0-A882-B47E-3630-39B04C9CB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Experiment pre-registration</a:t>
            </a:r>
          </a:p>
          <a:p>
            <a:pPr lvl="1"/>
            <a:r>
              <a:rPr lang="en-US" dirty="0"/>
              <a:t>Semi-publicly post experiment design details before starting</a:t>
            </a:r>
          </a:p>
          <a:p>
            <a:pPr lvl="1"/>
            <a:r>
              <a:rPr lang="en-US" dirty="0"/>
              <a:t>Requires effect size estimate, detailed analysis plan</a:t>
            </a:r>
          </a:p>
          <a:p>
            <a:pPr lvl="1"/>
            <a:r>
              <a:rPr lang="en-US" dirty="0"/>
              <a:t>Power analysis for planning sample size </a:t>
            </a:r>
          </a:p>
          <a:p>
            <a:r>
              <a:rPr lang="en-US" dirty="0"/>
              <a:t>Make all data publicly available</a:t>
            </a:r>
          </a:p>
          <a:p>
            <a:pPr lvl="1"/>
            <a:r>
              <a:rPr lang="en-US" dirty="0"/>
              <a:t>De-identified</a:t>
            </a:r>
          </a:p>
          <a:p>
            <a:pPr lvl="1"/>
            <a:r>
              <a:rPr lang="en-US" dirty="0"/>
              <a:t>Ideally pre-analysis, pre-exclusion</a:t>
            </a:r>
          </a:p>
          <a:p>
            <a:r>
              <a:rPr lang="en-US" dirty="0"/>
              <a:t>Make detailed methods available</a:t>
            </a:r>
          </a:p>
          <a:p>
            <a:pPr lvl="1"/>
            <a:r>
              <a:rPr lang="en-US" dirty="0"/>
              <a:t>Supplemental Materials</a:t>
            </a:r>
          </a:p>
          <a:p>
            <a:pPr lvl="1"/>
            <a:r>
              <a:rPr lang="en-US" dirty="0"/>
              <a:t>Analysis scripts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66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74CC-1601-152D-5E01-D49B4212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Rigor, Ovalle-</a:t>
            </a:r>
            <a:r>
              <a:rPr lang="en-US" dirty="0" err="1"/>
              <a:t>Fresa</a:t>
            </a:r>
            <a:r>
              <a:rPr lang="en-US" dirty="0"/>
              <a:t> et al. (2021)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1E2A-7CFD-ECFD-674D-A037C0D08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34169-25A6-2E35-7055-83A68829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3" y="1690687"/>
            <a:ext cx="3629025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E53FD-54D5-43C7-FB34-EBF44AFE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261" y="1432744"/>
            <a:ext cx="3667125" cy="138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A04E1-649F-2D62-A4D9-DB63C37C3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311" y="2829693"/>
            <a:ext cx="364807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24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7BFD-9BAA-0013-AA59-325DCB71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Rigor, Cho &amp; Critcher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77D86-E0FA-CF72-2F5B-BDD29C6F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8A462-0CEA-7D9F-2AC1-BB9D823D7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2532"/>
            <a:ext cx="3781425" cy="376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7C5CC-6456-1FBF-C5B0-A48992C68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059" y="1822532"/>
            <a:ext cx="37433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3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B66A-E29F-97C4-6C53-796BB261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a Research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4A5F-BD66-D027-F747-0248C3930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Organize into groups of 3-4 students</a:t>
            </a:r>
          </a:p>
          <a:p>
            <a:pPr lvl="1"/>
            <a:r>
              <a:rPr lang="en-US" dirty="0"/>
              <a:t>If you have trouble finding a group, email us</a:t>
            </a:r>
          </a:p>
          <a:p>
            <a:pPr lvl="1"/>
            <a:endParaRPr lang="en-US" dirty="0"/>
          </a:p>
          <a:p>
            <a:r>
              <a:rPr lang="en-US" dirty="0"/>
              <a:t>Meet and pick out your first main source paper</a:t>
            </a:r>
          </a:p>
          <a:p>
            <a:pPr lvl="1"/>
            <a:r>
              <a:rPr lang="en-US" dirty="0"/>
              <a:t>Use for operational definitions</a:t>
            </a:r>
          </a:p>
          <a:p>
            <a:pPr lvl="1"/>
            <a:r>
              <a:rPr lang="en-US" dirty="0"/>
              <a:t>Starting point for procedure</a:t>
            </a:r>
          </a:p>
          <a:p>
            <a:r>
              <a:rPr lang="en-US" dirty="0"/>
              <a:t>Prepare your initial proposal for Tuesday 10/27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916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8E7E-B490-D015-7F90-79259EEA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ACDD-9DC7-E73E-9349-4D11D8EB9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A502F-BF0E-AA6A-C740-B967B431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1825625"/>
            <a:ext cx="11268075" cy="44100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D7B007-50E0-3A3A-F91F-160870470682}"/>
              </a:ext>
            </a:extLst>
          </p:cNvPr>
          <p:cNvCxnSpPr>
            <a:cxnSpLocks/>
          </p:cNvCxnSpPr>
          <p:nvPr/>
        </p:nvCxnSpPr>
        <p:spPr>
          <a:xfrm flipH="1" flipV="1">
            <a:off x="4483509" y="5684390"/>
            <a:ext cx="2871019" cy="3871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D1FE2FB-3CF2-C0AE-9D79-99938C31E770}"/>
              </a:ext>
            </a:extLst>
          </p:cNvPr>
          <p:cNvSpPr/>
          <p:nvPr/>
        </p:nvSpPr>
        <p:spPr>
          <a:xfrm>
            <a:off x="3834581" y="5437239"/>
            <a:ext cx="707922" cy="2359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B697B-BD21-3A25-BF3F-92C2BAD339F8}"/>
              </a:ext>
            </a:extLst>
          </p:cNvPr>
          <p:cNvSpPr/>
          <p:nvPr/>
        </p:nvSpPr>
        <p:spPr>
          <a:xfrm>
            <a:off x="9355393" y="3426285"/>
            <a:ext cx="1440425" cy="2608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062ED-F929-7F88-755E-111BAE3832D9}"/>
              </a:ext>
            </a:extLst>
          </p:cNvPr>
          <p:cNvSpPr txBox="1"/>
          <p:nvPr/>
        </p:nvSpPr>
        <p:spPr>
          <a:xfrm>
            <a:off x="7354528" y="5866368"/>
            <a:ext cx="344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Articles that cite your main source.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95CB43-1E9C-E422-FE6E-F505738F10D7}"/>
              </a:ext>
            </a:extLst>
          </p:cNvPr>
          <p:cNvCxnSpPr>
            <a:cxnSpLocks/>
          </p:cNvCxnSpPr>
          <p:nvPr/>
        </p:nvCxnSpPr>
        <p:spPr>
          <a:xfrm flipH="1" flipV="1">
            <a:off x="9813742" y="3687097"/>
            <a:ext cx="982076" cy="8918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F360224-2338-948F-FD26-BA0A30A88FAA}"/>
              </a:ext>
            </a:extLst>
          </p:cNvPr>
          <p:cNvSpPr txBox="1"/>
          <p:nvPr/>
        </p:nvSpPr>
        <p:spPr>
          <a:xfrm>
            <a:off x="9355393" y="4529249"/>
            <a:ext cx="256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Missing Find @ NU link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1A96C6-FC3A-EFAA-14B4-ED23014AE249}"/>
              </a:ext>
            </a:extLst>
          </p:cNvPr>
          <p:cNvCxnSpPr>
            <a:cxnSpLocks/>
          </p:cNvCxnSpPr>
          <p:nvPr/>
        </p:nvCxnSpPr>
        <p:spPr>
          <a:xfrm flipV="1">
            <a:off x="1908034" y="5595694"/>
            <a:ext cx="1509173" cy="4553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DA305C-531B-CFED-8B32-8F7A5B63A1D6}"/>
              </a:ext>
            </a:extLst>
          </p:cNvPr>
          <p:cNvSpPr txBox="1"/>
          <p:nvPr/>
        </p:nvSpPr>
        <p:spPr>
          <a:xfrm>
            <a:off x="212441" y="6001274"/>
            <a:ext cx="239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Preformatted reference</a:t>
            </a:r>
          </a:p>
        </p:txBody>
      </p:sp>
    </p:spTree>
    <p:extLst>
      <p:ext uri="{BB962C8B-B14F-4D97-AF65-F5344CB8AC3E}">
        <p14:creationId xmlns:p14="http://schemas.microsoft.com/office/powerpoint/2010/main" val="818066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1929-6AD0-FD29-397A-F4AF051F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5992-41F2-6B79-C584-943B11209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4F727-85FA-75EC-6CC9-BEF36D33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652462"/>
            <a:ext cx="8905875" cy="55530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049506-CFBE-1562-AB24-C3A1EC56F47A}"/>
              </a:ext>
            </a:extLst>
          </p:cNvPr>
          <p:cNvSpPr/>
          <p:nvPr/>
        </p:nvSpPr>
        <p:spPr>
          <a:xfrm>
            <a:off x="5702710" y="2487561"/>
            <a:ext cx="4345858" cy="8062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6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5ADD-80B0-3F55-7239-B534BBAD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Proposal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7461F-5524-319A-C321-5F4BC28A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  <a:p>
            <a:r>
              <a:rPr lang="en-US" dirty="0"/>
              <a:t>Tentative project title</a:t>
            </a:r>
          </a:p>
          <a:p>
            <a:r>
              <a:rPr lang="en-US" dirty="0"/>
              <a:t>First background source (APA Reference Style)</a:t>
            </a:r>
          </a:p>
          <a:p>
            <a:r>
              <a:rPr lang="en-US" dirty="0"/>
              <a:t>Design of source experiment</a:t>
            </a:r>
          </a:p>
          <a:p>
            <a:pPr lvl="1"/>
            <a:r>
              <a:rPr lang="en-US" dirty="0"/>
              <a:t>IV(s), DV, number of participants, outcome</a:t>
            </a:r>
          </a:p>
          <a:p>
            <a:r>
              <a:rPr lang="en-US" dirty="0"/>
              <a:t>What new element are you planning to add?</a:t>
            </a:r>
          </a:p>
          <a:p>
            <a:r>
              <a:rPr lang="en-US" dirty="0"/>
              <a:t>Diagram your 2x2 design</a:t>
            </a:r>
          </a:p>
          <a:p>
            <a:pPr lvl="1"/>
            <a:r>
              <a:rPr lang="en-US" dirty="0"/>
              <a:t>2 factors, 2 levels each</a:t>
            </a:r>
          </a:p>
          <a:p>
            <a:r>
              <a:rPr lang="en-US" dirty="0"/>
              <a:t>Planned number of participants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D013AF8-273B-418A-98F4-708E18B73029}"/>
              </a:ext>
            </a:extLst>
          </p:cNvPr>
          <p:cNvGraphicFramePr>
            <a:graphicFrameLocks noGrp="1"/>
          </p:cNvGraphicFramePr>
          <p:nvPr/>
        </p:nvGraphicFramePr>
        <p:xfrm>
          <a:off x="8265227" y="4851401"/>
          <a:ext cx="3557319" cy="13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773">
                  <a:extLst>
                    <a:ext uri="{9D8B030D-6E8A-4147-A177-3AD203B41FA5}">
                      <a16:colId xmlns:a16="http://schemas.microsoft.com/office/drawing/2014/main" val="1212859019"/>
                    </a:ext>
                  </a:extLst>
                </a:gridCol>
                <a:gridCol w="1185773">
                  <a:extLst>
                    <a:ext uri="{9D8B030D-6E8A-4147-A177-3AD203B41FA5}">
                      <a16:colId xmlns:a16="http://schemas.microsoft.com/office/drawing/2014/main" val="3160750219"/>
                    </a:ext>
                  </a:extLst>
                </a:gridCol>
                <a:gridCol w="1185773">
                  <a:extLst>
                    <a:ext uri="{9D8B030D-6E8A-4147-A177-3AD203B41FA5}">
                      <a16:colId xmlns:a16="http://schemas.microsoft.com/office/drawing/2014/main" val="2476771294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Factor1-a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Factor1-b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28683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dirty="0"/>
                        <a:t>Factor2-x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33347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 dirty="0"/>
                        <a:t>Factor2-y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04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176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B66E-D989-1E88-76BB-FECA46C0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6D6B-EAD3-FB15-BA7B-B10A72F7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Work together on design, data collection, analysis</a:t>
            </a:r>
          </a:p>
          <a:p>
            <a:pPr lvl="1"/>
            <a:r>
              <a:rPr lang="en-US" dirty="0"/>
              <a:t>Shared Methods &amp; Results section</a:t>
            </a:r>
          </a:p>
          <a:p>
            <a:r>
              <a:rPr lang="en-US" dirty="0"/>
              <a:t>Work separately on Introduction, Discussion, Abstract</a:t>
            </a:r>
          </a:p>
          <a:p>
            <a:pPr lvl="1"/>
            <a:r>
              <a:rPr lang="en-US" dirty="0"/>
              <a:t>Make your own figures</a:t>
            </a:r>
          </a:p>
          <a:p>
            <a:pPr lvl="1"/>
            <a:r>
              <a:rPr lang="en-US" dirty="0"/>
              <a:t>Differing interpretations of the results are possible</a:t>
            </a:r>
          </a:p>
          <a:p>
            <a:pPr lvl="1"/>
            <a:r>
              <a:rPr lang="en-US" dirty="0"/>
              <a:t>Each paper is your own (first author)</a:t>
            </a:r>
          </a:p>
          <a:p>
            <a:pPr lvl="1"/>
            <a:endParaRPr lang="en-US" dirty="0"/>
          </a:p>
          <a:p>
            <a:r>
              <a:rPr lang="en-US" dirty="0"/>
              <a:t>Academic integrity</a:t>
            </a:r>
          </a:p>
          <a:p>
            <a:pPr lvl="1"/>
            <a:r>
              <a:rPr lang="en-US" dirty="0"/>
              <a:t>Building on other author’s ideas is </a:t>
            </a:r>
            <a:r>
              <a:rPr lang="en-US" u="sng" dirty="0"/>
              <a:t>not plagiarism</a:t>
            </a:r>
            <a:r>
              <a:rPr lang="en-US" dirty="0"/>
              <a:t>, citations strengthen papers</a:t>
            </a:r>
          </a:p>
          <a:p>
            <a:pPr lvl="1"/>
            <a:r>
              <a:rPr lang="en-US" dirty="0"/>
              <a:t>Taking other people’s words as your own is </a:t>
            </a:r>
            <a:r>
              <a:rPr lang="en-US" u="sng" dirty="0"/>
              <a:t>plagiarism</a:t>
            </a:r>
          </a:p>
          <a:p>
            <a:pPr lvl="1"/>
            <a:r>
              <a:rPr lang="en-US" dirty="0"/>
              <a:t>Data fabrication is </a:t>
            </a:r>
            <a:r>
              <a:rPr lang="en-US" u="sng" dirty="0"/>
              <a:t>fraud</a:t>
            </a:r>
          </a:p>
        </p:txBody>
      </p:sp>
    </p:spTree>
    <p:extLst>
      <p:ext uri="{BB962C8B-B14F-4D97-AF65-F5344CB8AC3E}">
        <p14:creationId xmlns:p14="http://schemas.microsoft.com/office/powerpoint/2010/main" val="2880029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84A2-DF5D-E286-9356-04044032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324B9-E925-585F-E1EE-E4D4F3A59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must be 2x2</a:t>
            </a:r>
          </a:p>
          <a:p>
            <a:pPr lvl="1"/>
            <a:r>
              <a:rPr lang="en-US" dirty="0"/>
              <a:t>At least one factor must be manipulated across groups</a:t>
            </a:r>
          </a:p>
          <a:p>
            <a:pPr lvl="1"/>
            <a:r>
              <a:rPr lang="en-US" dirty="0"/>
              <a:t>Randomly assigned</a:t>
            </a:r>
          </a:p>
          <a:p>
            <a:r>
              <a:rPr lang="en-US" dirty="0"/>
              <a:t>Minimal ethical risk to participants</a:t>
            </a:r>
          </a:p>
          <a:p>
            <a:pPr lvl="1"/>
            <a:r>
              <a:rPr lang="en-US" dirty="0"/>
              <a:t>No personal/private information</a:t>
            </a:r>
          </a:p>
          <a:p>
            <a:pPr lvl="1"/>
            <a:r>
              <a:rPr lang="en-US" dirty="0"/>
              <a:t>No deception other than blind to conditions</a:t>
            </a:r>
          </a:p>
          <a:p>
            <a:pPr lvl="1"/>
            <a:r>
              <a:rPr lang="en-US" dirty="0"/>
              <a:t>No emotional manipulations</a:t>
            </a:r>
          </a:p>
          <a:p>
            <a:r>
              <a:rPr lang="en-US" dirty="0"/>
              <a:t>Online data collection can be used</a:t>
            </a:r>
          </a:p>
          <a:p>
            <a:pPr lvl="1"/>
            <a:r>
              <a:rPr lang="en-US" dirty="0"/>
              <a:t>Qualtrics: https://www.it.northwestern.edu/software/qualtrics/index.html</a:t>
            </a:r>
          </a:p>
        </p:txBody>
      </p:sp>
    </p:spTree>
    <p:extLst>
      <p:ext uri="{BB962C8B-B14F-4D97-AF65-F5344CB8AC3E}">
        <p14:creationId xmlns:p14="http://schemas.microsoft.com/office/powerpoint/2010/main" val="2389824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450E-8E03-F7BF-AB32-90B0294E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for Final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AFEF8-7811-E2EA-CF81-4607B11F8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 to us as if we are the IRB</a:t>
            </a:r>
          </a:p>
          <a:p>
            <a:pPr lvl="1"/>
            <a:r>
              <a:rPr lang="en-US" dirty="0"/>
              <a:t>Present a full description of your protocol</a:t>
            </a:r>
          </a:p>
          <a:p>
            <a:pPr lvl="2"/>
            <a:r>
              <a:rPr lang="en-US" dirty="0"/>
              <a:t>Motivating hypothesis</a:t>
            </a:r>
          </a:p>
          <a:p>
            <a:pPr lvl="2"/>
            <a:r>
              <a:rPr lang="en-US" dirty="0"/>
              <a:t>Procedure as a draft of your Methods section</a:t>
            </a:r>
          </a:p>
          <a:p>
            <a:pPr lvl="1"/>
            <a:r>
              <a:rPr lang="en-US" dirty="0"/>
              <a:t>All stimuli to be used</a:t>
            </a:r>
          </a:p>
          <a:p>
            <a:pPr lvl="2"/>
            <a:r>
              <a:rPr lang="en-US" dirty="0"/>
              <a:t>Working version of an online survey including all conditions</a:t>
            </a:r>
          </a:p>
          <a:p>
            <a:pPr lvl="2"/>
            <a:endParaRPr lang="en-US" dirty="0"/>
          </a:p>
          <a:p>
            <a:r>
              <a:rPr lang="en-US" dirty="0"/>
              <a:t>No data collection until explicit approval</a:t>
            </a:r>
          </a:p>
          <a:p>
            <a:pPr lvl="1"/>
            <a:r>
              <a:rPr lang="en-US" dirty="0"/>
              <a:t>Once approved, go as quickly as possible</a:t>
            </a:r>
          </a:p>
        </p:txBody>
      </p:sp>
    </p:spTree>
    <p:extLst>
      <p:ext uri="{BB962C8B-B14F-4D97-AF65-F5344CB8AC3E}">
        <p14:creationId xmlns:p14="http://schemas.microsoft.com/office/powerpoint/2010/main" val="3631950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AE54-AB01-4304-8C7F-B4F517A7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B576-9DBE-422D-B4A0-EB63A5E88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on existing work</a:t>
            </a:r>
          </a:p>
          <a:p>
            <a:pPr lvl="1"/>
            <a:r>
              <a:rPr lang="en-US" dirty="0"/>
              <a:t>Strengthens confidence in conclusions</a:t>
            </a:r>
          </a:p>
          <a:p>
            <a:pPr lvl="1"/>
            <a:r>
              <a:rPr lang="en-US" dirty="0"/>
              <a:t>Very briefly review theory/mechanism</a:t>
            </a:r>
          </a:p>
          <a:p>
            <a:pPr lvl="1"/>
            <a:endParaRPr lang="en-US" dirty="0"/>
          </a:p>
          <a:p>
            <a:r>
              <a:rPr lang="en-US" dirty="0"/>
              <a:t>Adding something new</a:t>
            </a:r>
          </a:p>
          <a:p>
            <a:pPr lvl="1"/>
            <a:r>
              <a:rPr lang="en-US" dirty="0"/>
              <a:t>What is new about our study?</a:t>
            </a:r>
          </a:p>
          <a:p>
            <a:pPr lvl="1"/>
            <a:r>
              <a:rPr lang="en-US" dirty="0"/>
              <a:t>Motivate the current study to add to prior work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09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4E79-731F-F2F5-5589-766AA71F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29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CB75-A7E3-47FC-F41F-E3F303BFE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18, Responsible Conduct of Research</a:t>
            </a:r>
          </a:p>
          <a:p>
            <a:pPr lvl="1"/>
            <a:r>
              <a:rPr lang="en-US" dirty="0"/>
              <a:t>Questions posted on Canvas</a:t>
            </a:r>
          </a:p>
          <a:p>
            <a:pPr lvl="1"/>
            <a:endParaRPr lang="en-US" dirty="0"/>
          </a:p>
          <a:p>
            <a:r>
              <a:rPr lang="en-US" dirty="0"/>
              <a:t>Final project initial ideas (Tuesday)</a:t>
            </a:r>
          </a:p>
        </p:txBody>
      </p:sp>
    </p:spTree>
    <p:extLst>
      <p:ext uri="{BB962C8B-B14F-4D97-AF65-F5344CB8AC3E}">
        <p14:creationId xmlns:p14="http://schemas.microsoft.com/office/powerpoint/2010/main" val="355649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6431</TotalTime>
  <Words>1014</Words>
  <Application>Microsoft Office PowerPoint</Application>
  <PresentationFormat>Widescreen</PresentationFormat>
  <Paragraphs>189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301, Oct 27, Class 18</vt:lpstr>
      <vt:lpstr>Means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Reproducibility and Rigor in Science</vt:lpstr>
      <vt:lpstr>Replicating published work</vt:lpstr>
      <vt:lpstr>Power analysis for sample size</vt:lpstr>
      <vt:lpstr>Power Analysis examples</vt:lpstr>
      <vt:lpstr>Effect size statistics</vt:lpstr>
      <vt:lpstr>Power and sensitivity</vt:lpstr>
      <vt:lpstr>Hidden problematic practices</vt:lpstr>
      <vt:lpstr>Open Practices</vt:lpstr>
      <vt:lpstr>Rigor, Ovalle-Fresa et al. (2021)</vt:lpstr>
      <vt:lpstr>Rigor, Cho &amp; Critcher (2025)</vt:lpstr>
      <vt:lpstr>Preparing a Research Proposal</vt:lpstr>
      <vt:lpstr>Background research</vt:lpstr>
      <vt:lpstr>PowerPoint Presentation</vt:lpstr>
      <vt:lpstr>Initial Proposal Outline</vt:lpstr>
      <vt:lpstr>Collaborative Research</vt:lpstr>
      <vt:lpstr>Practical points</vt:lpstr>
      <vt:lpstr>Planning for Final Proposal</vt:lpstr>
      <vt:lpstr>Research Context</vt:lpstr>
      <vt:lpstr>For Wed Oct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J Reber</dc:creator>
  <cp:lastModifiedBy>Paul Reber</cp:lastModifiedBy>
  <cp:revision>8</cp:revision>
  <cp:lastPrinted>2025-10-27T02:22:28Z</cp:lastPrinted>
  <dcterms:created xsi:type="dcterms:W3CDTF">2025-10-22T16:51:44Z</dcterms:created>
  <dcterms:modified xsi:type="dcterms:W3CDTF">2025-10-29T03:37:33Z</dcterms:modified>
</cp:coreProperties>
</file>