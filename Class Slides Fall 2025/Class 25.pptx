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7" r:id="rId2"/>
    <p:sldId id="823" r:id="rId3"/>
    <p:sldId id="851" r:id="rId4"/>
    <p:sldId id="847" r:id="rId5"/>
    <p:sldId id="848" r:id="rId6"/>
    <p:sldId id="849" r:id="rId7"/>
    <p:sldId id="261" r:id="rId8"/>
    <p:sldId id="267" r:id="rId9"/>
    <p:sldId id="853" r:id="rId10"/>
    <p:sldId id="838" r:id="rId11"/>
    <p:sldId id="839" r:id="rId12"/>
    <p:sldId id="852" r:id="rId13"/>
    <p:sldId id="825" r:id="rId14"/>
    <p:sldId id="854" r:id="rId15"/>
    <p:sldId id="840" r:id="rId16"/>
    <p:sldId id="841" r:id="rId17"/>
    <p:sldId id="842" r:id="rId18"/>
    <p:sldId id="25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2" autoAdjust="0"/>
    <p:restoredTop sz="94660"/>
  </p:normalViewPr>
  <p:slideViewPr>
    <p:cSldViewPr snapToGrid="0">
      <p:cViewPr varScale="1">
        <p:scale>
          <a:sx n="92" d="100"/>
          <a:sy n="92" d="100"/>
        </p:scale>
        <p:origin x="52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656C21-5755-4D21-997C-AAC059B295E2}" type="datetimeFigureOut">
              <a:rPr lang="en-US" smtClean="0"/>
              <a:t>11/13/2025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01042-6305-4F04-9A85-C7CB0F6B0DA1}" type="slidenum">
              <a:rPr lang="en-US" smtClean="0"/>
              <a:t>‹#›</a:t>
            </a:fld>
            <a:endParaRPr lang="en-US"/>
          </a:p>
        </p:txBody>
      </p:sp>
    </p:spTree>
    <p:extLst>
      <p:ext uri="{BB962C8B-B14F-4D97-AF65-F5344CB8AC3E}">
        <p14:creationId xmlns:p14="http://schemas.microsoft.com/office/powerpoint/2010/main" val="758821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01042-6305-4F04-9A85-C7CB0F6B0DA1}" type="slidenum">
              <a:rPr lang="en-US" smtClean="0"/>
              <a:t>3</a:t>
            </a:fld>
            <a:endParaRPr lang="en-US"/>
          </a:p>
        </p:txBody>
      </p:sp>
    </p:spTree>
    <p:extLst>
      <p:ext uri="{BB962C8B-B14F-4D97-AF65-F5344CB8AC3E}">
        <p14:creationId xmlns:p14="http://schemas.microsoft.com/office/powerpoint/2010/main" val="10299263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2597747-BA47-43C8-B4E7-8730FB6602D9}" type="slidenum">
              <a:rPr lang="en-US"/>
              <a:pPr/>
              <a:t>7</a:t>
            </a:fld>
            <a:endParaRPr lang="en-US"/>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5087552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E46C2F71-C129-4CB8-A80B-5EA1E0B7DEB7}" type="slidenum">
              <a:rPr lang="en-US"/>
              <a:pPr fontAlgn="base">
                <a:spcBef>
                  <a:spcPct val="0"/>
                </a:spcBef>
                <a:spcAft>
                  <a:spcPct val="0"/>
                </a:spcAft>
              </a:pPr>
              <a:t>8</a:t>
            </a:fld>
            <a:endParaRPr lang="en-US"/>
          </a:p>
        </p:txBody>
      </p:sp>
      <p:sp>
        <p:nvSpPr>
          <p:cNvPr id="1433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434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28939907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E2BFB-4483-2C2E-10ED-5F6D64AC67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BCC888-19DF-2E34-540E-6FB732C703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B3BA200-2F2F-0D89-04A5-FEE3E7A317ED}"/>
              </a:ext>
            </a:extLst>
          </p:cNvPr>
          <p:cNvSpPr>
            <a:spLocks noGrp="1"/>
          </p:cNvSpPr>
          <p:nvPr>
            <p:ph type="dt" sz="half" idx="10"/>
          </p:nvPr>
        </p:nvSpPr>
        <p:spPr/>
        <p:txBody>
          <a:bodyPr/>
          <a:lstStyle/>
          <a:p>
            <a:fld id="{21688043-057D-4253-9E3D-1E7B6C734ECC}" type="datetimeFigureOut">
              <a:rPr lang="en-US" smtClean="0"/>
              <a:t>11/13/2025</a:t>
            </a:fld>
            <a:endParaRPr lang="en-US"/>
          </a:p>
        </p:txBody>
      </p:sp>
      <p:sp>
        <p:nvSpPr>
          <p:cNvPr id="5" name="Footer Placeholder 4">
            <a:extLst>
              <a:ext uri="{FF2B5EF4-FFF2-40B4-BE49-F238E27FC236}">
                <a16:creationId xmlns:a16="http://schemas.microsoft.com/office/drawing/2014/main" id="{28BC93D7-6F60-F4EE-4E75-A93B95C209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F65E16-2A4A-F2CA-96DF-73B7DEF6F8C6}"/>
              </a:ext>
            </a:extLst>
          </p:cNvPr>
          <p:cNvSpPr>
            <a:spLocks noGrp="1"/>
          </p:cNvSpPr>
          <p:nvPr>
            <p:ph type="sldNum" sz="quarter" idx="12"/>
          </p:nvPr>
        </p:nvSpPr>
        <p:spPr/>
        <p:txBody>
          <a:bodyPr/>
          <a:lstStyle/>
          <a:p>
            <a:fld id="{86702463-5EB1-4B22-A816-5C05AA2D96D7}" type="slidenum">
              <a:rPr lang="en-US" smtClean="0"/>
              <a:t>‹#›</a:t>
            </a:fld>
            <a:endParaRPr lang="en-US"/>
          </a:p>
        </p:txBody>
      </p:sp>
    </p:spTree>
    <p:extLst>
      <p:ext uri="{BB962C8B-B14F-4D97-AF65-F5344CB8AC3E}">
        <p14:creationId xmlns:p14="http://schemas.microsoft.com/office/powerpoint/2010/main" val="3908132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2D9CF-D3B8-0DFD-3923-EE5C250E9F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742D1D-5657-A96D-33C7-71B49BD2C3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F2FA32-9E2E-AB7A-A763-B5DB3626414F}"/>
              </a:ext>
            </a:extLst>
          </p:cNvPr>
          <p:cNvSpPr>
            <a:spLocks noGrp="1"/>
          </p:cNvSpPr>
          <p:nvPr>
            <p:ph type="dt" sz="half" idx="10"/>
          </p:nvPr>
        </p:nvSpPr>
        <p:spPr/>
        <p:txBody>
          <a:bodyPr/>
          <a:lstStyle/>
          <a:p>
            <a:fld id="{21688043-057D-4253-9E3D-1E7B6C734ECC}" type="datetimeFigureOut">
              <a:rPr lang="en-US" smtClean="0"/>
              <a:t>11/13/2025</a:t>
            </a:fld>
            <a:endParaRPr lang="en-US"/>
          </a:p>
        </p:txBody>
      </p:sp>
      <p:sp>
        <p:nvSpPr>
          <p:cNvPr id="5" name="Footer Placeholder 4">
            <a:extLst>
              <a:ext uri="{FF2B5EF4-FFF2-40B4-BE49-F238E27FC236}">
                <a16:creationId xmlns:a16="http://schemas.microsoft.com/office/drawing/2014/main" id="{00F2E5DD-E358-B375-E6ED-FD5A9665C5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8E277A-8591-9033-3DB5-A699E1B87465}"/>
              </a:ext>
            </a:extLst>
          </p:cNvPr>
          <p:cNvSpPr>
            <a:spLocks noGrp="1"/>
          </p:cNvSpPr>
          <p:nvPr>
            <p:ph type="sldNum" sz="quarter" idx="12"/>
          </p:nvPr>
        </p:nvSpPr>
        <p:spPr/>
        <p:txBody>
          <a:bodyPr/>
          <a:lstStyle/>
          <a:p>
            <a:fld id="{86702463-5EB1-4B22-A816-5C05AA2D96D7}" type="slidenum">
              <a:rPr lang="en-US" smtClean="0"/>
              <a:t>‹#›</a:t>
            </a:fld>
            <a:endParaRPr lang="en-US"/>
          </a:p>
        </p:txBody>
      </p:sp>
    </p:spTree>
    <p:extLst>
      <p:ext uri="{BB962C8B-B14F-4D97-AF65-F5344CB8AC3E}">
        <p14:creationId xmlns:p14="http://schemas.microsoft.com/office/powerpoint/2010/main" val="398421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DF41A-A333-7BC5-D429-0F6DD5B284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6A1102A-30C8-8806-BE61-5B1EFDBBE76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A18788-A279-F903-D9F6-B206C81A5C2F}"/>
              </a:ext>
            </a:extLst>
          </p:cNvPr>
          <p:cNvSpPr>
            <a:spLocks noGrp="1"/>
          </p:cNvSpPr>
          <p:nvPr>
            <p:ph type="dt" sz="half" idx="10"/>
          </p:nvPr>
        </p:nvSpPr>
        <p:spPr/>
        <p:txBody>
          <a:bodyPr/>
          <a:lstStyle/>
          <a:p>
            <a:fld id="{21688043-057D-4253-9E3D-1E7B6C734ECC}" type="datetimeFigureOut">
              <a:rPr lang="en-US" smtClean="0"/>
              <a:t>11/13/2025</a:t>
            </a:fld>
            <a:endParaRPr lang="en-US"/>
          </a:p>
        </p:txBody>
      </p:sp>
      <p:sp>
        <p:nvSpPr>
          <p:cNvPr id="5" name="Footer Placeholder 4">
            <a:extLst>
              <a:ext uri="{FF2B5EF4-FFF2-40B4-BE49-F238E27FC236}">
                <a16:creationId xmlns:a16="http://schemas.microsoft.com/office/drawing/2014/main" id="{9FA7338A-F9AB-2DA8-B090-20E241E3E1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C3832A-9B8E-20DC-0060-7B057F458712}"/>
              </a:ext>
            </a:extLst>
          </p:cNvPr>
          <p:cNvSpPr>
            <a:spLocks noGrp="1"/>
          </p:cNvSpPr>
          <p:nvPr>
            <p:ph type="sldNum" sz="quarter" idx="12"/>
          </p:nvPr>
        </p:nvSpPr>
        <p:spPr/>
        <p:txBody>
          <a:bodyPr/>
          <a:lstStyle/>
          <a:p>
            <a:fld id="{86702463-5EB1-4B22-A816-5C05AA2D96D7}" type="slidenum">
              <a:rPr lang="en-US" smtClean="0"/>
              <a:t>‹#›</a:t>
            </a:fld>
            <a:endParaRPr lang="en-US"/>
          </a:p>
        </p:txBody>
      </p:sp>
    </p:spTree>
    <p:extLst>
      <p:ext uri="{BB962C8B-B14F-4D97-AF65-F5344CB8AC3E}">
        <p14:creationId xmlns:p14="http://schemas.microsoft.com/office/powerpoint/2010/main" val="1388293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C2013-BF44-7EFF-23EF-0B219951DB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388C3C-200C-5382-D76F-477BB4DA45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6864DB9-2DFF-1725-3206-D173676ACF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64270D5-80EA-24D6-ACEA-BB04679405F7}"/>
              </a:ext>
            </a:extLst>
          </p:cNvPr>
          <p:cNvSpPr>
            <a:spLocks noGrp="1"/>
          </p:cNvSpPr>
          <p:nvPr>
            <p:ph type="dt" sz="half" idx="10"/>
          </p:nvPr>
        </p:nvSpPr>
        <p:spPr/>
        <p:txBody>
          <a:bodyPr/>
          <a:lstStyle/>
          <a:p>
            <a:fld id="{21688043-057D-4253-9E3D-1E7B6C734ECC}" type="datetimeFigureOut">
              <a:rPr lang="en-US" smtClean="0"/>
              <a:t>11/13/2025</a:t>
            </a:fld>
            <a:endParaRPr lang="en-US"/>
          </a:p>
        </p:txBody>
      </p:sp>
      <p:sp>
        <p:nvSpPr>
          <p:cNvPr id="6" name="Footer Placeholder 5">
            <a:extLst>
              <a:ext uri="{FF2B5EF4-FFF2-40B4-BE49-F238E27FC236}">
                <a16:creationId xmlns:a16="http://schemas.microsoft.com/office/drawing/2014/main" id="{9FFE3763-31D7-F079-991D-4A6B616E5F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0BEEDE-6AE0-D696-8C2A-93D829BBE748}"/>
              </a:ext>
            </a:extLst>
          </p:cNvPr>
          <p:cNvSpPr>
            <a:spLocks noGrp="1"/>
          </p:cNvSpPr>
          <p:nvPr>
            <p:ph type="sldNum" sz="quarter" idx="12"/>
          </p:nvPr>
        </p:nvSpPr>
        <p:spPr/>
        <p:txBody>
          <a:bodyPr/>
          <a:lstStyle/>
          <a:p>
            <a:fld id="{86702463-5EB1-4B22-A816-5C05AA2D96D7}" type="slidenum">
              <a:rPr lang="en-US" smtClean="0"/>
              <a:t>‹#›</a:t>
            </a:fld>
            <a:endParaRPr lang="en-US"/>
          </a:p>
        </p:txBody>
      </p:sp>
    </p:spTree>
    <p:extLst>
      <p:ext uri="{BB962C8B-B14F-4D97-AF65-F5344CB8AC3E}">
        <p14:creationId xmlns:p14="http://schemas.microsoft.com/office/powerpoint/2010/main" val="230058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4EE2F-AF3A-05CF-9796-13A959CBE91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635F806-4259-028F-D646-5CE16EB557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FA3702-69EF-2ADE-BFC9-C0663F05D5F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22F9EA-FEA6-4086-9AAF-050939D297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C4D720-D4C7-7A42-7A09-7DEF7DF2223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B4C1D12-0DB7-9F5D-4DEC-3981454F78ED}"/>
              </a:ext>
            </a:extLst>
          </p:cNvPr>
          <p:cNvSpPr>
            <a:spLocks noGrp="1"/>
          </p:cNvSpPr>
          <p:nvPr>
            <p:ph type="dt" sz="half" idx="10"/>
          </p:nvPr>
        </p:nvSpPr>
        <p:spPr/>
        <p:txBody>
          <a:bodyPr/>
          <a:lstStyle/>
          <a:p>
            <a:fld id="{21688043-057D-4253-9E3D-1E7B6C734ECC}" type="datetimeFigureOut">
              <a:rPr lang="en-US" smtClean="0"/>
              <a:t>11/13/2025</a:t>
            </a:fld>
            <a:endParaRPr lang="en-US"/>
          </a:p>
        </p:txBody>
      </p:sp>
      <p:sp>
        <p:nvSpPr>
          <p:cNvPr id="8" name="Footer Placeholder 7">
            <a:extLst>
              <a:ext uri="{FF2B5EF4-FFF2-40B4-BE49-F238E27FC236}">
                <a16:creationId xmlns:a16="http://schemas.microsoft.com/office/drawing/2014/main" id="{B9505AAD-64D2-5CB3-0D4A-F68AF7258C8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FC9A371-04CD-DBF1-F42B-3D144B1093E2}"/>
              </a:ext>
            </a:extLst>
          </p:cNvPr>
          <p:cNvSpPr>
            <a:spLocks noGrp="1"/>
          </p:cNvSpPr>
          <p:nvPr>
            <p:ph type="sldNum" sz="quarter" idx="12"/>
          </p:nvPr>
        </p:nvSpPr>
        <p:spPr/>
        <p:txBody>
          <a:bodyPr/>
          <a:lstStyle/>
          <a:p>
            <a:fld id="{86702463-5EB1-4B22-A816-5C05AA2D96D7}" type="slidenum">
              <a:rPr lang="en-US" smtClean="0"/>
              <a:t>‹#›</a:t>
            </a:fld>
            <a:endParaRPr lang="en-US"/>
          </a:p>
        </p:txBody>
      </p:sp>
    </p:spTree>
    <p:extLst>
      <p:ext uri="{BB962C8B-B14F-4D97-AF65-F5344CB8AC3E}">
        <p14:creationId xmlns:p14="http://schemas.microsoft.com/office/powerpoint/2010/main" val="2722848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77D8F-CB8A-A63D-D6C1-D70E4341436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3F13EDA-92FE-5910-F403-0ED048D4D7D3}"/>
              </a:ext>
            </a:extLst>
          </p:cNvPr>
          <p:cNvSpPr>
            <a:spLocks noGrp="1"/>
          </p:cNvSpPr>
          <p:nvPr>
            <p:ph type="dt" sz="half" idx="10"/>
          </p:nvPr>
        </p:nvSpPr>
        <p:spPr/>
        <p:txBody>
          <a:bodyPr/>
          <a:lstStyle/>
          <a:p>
            <a:fld id="{21688043-057D-4253-9E3D-1E7B6C734ECC}" type="datetimeFigureOut">
              <a:rPr lang="en-US" smtClean="0"/>
              <a:t>11/13/2025</a:t>
            </a:fld>
            <a:endParaRPr lang="en-US"/>
          </a:p>
        </p:txBody>
      </p:sp>
      <p:sp>
        <p:nvSpPr>
          <p:cNvPr id="4" name="Footer Placeholder 3">
            <a:extLst>
              <a:ext uri="{FF2B5EF4-FFF2-40B4-BE49-F238E27FC236}">
                <a16:creationId xmlns:a16="http://schemas.microsoft.com/office/drawing/2014/main" id="{34E1E5E8-4B43-D192-EF9C-6173CE346FA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3209066-16C4-07DE-BEA2-41B276DE9B20}"/>
              </a:ext>
            </a:extLst>
          </p:cNvPr>
          <p:cNvSpPr>
            <a:spLocks noGrp="1"/>
          </p:cNvSpPr>
          <p:nvPr>
            <p:ph type="sldNum" sz="quarter" idx="12"/>
          </p:nvPr>
        </p:nvSpPr>
        <p:spPr/>
        <p:txBody>
          <a:bodyPr/>
          <a:lstStyle/>
          <a:p>
            <a:fld id="{86702463-5EB1-4B22-A816-5C05AA2D96D7}" type="slidenum">
              <a:rPr lang="en-US" smtClean="0"/>
              <a:t>‹#›</a:t>
            </a:fld>
            <a:endParaRPr lang="en-US"/>
          </a:p>
        </p:txBody>
      </p:sp>
    </p:spTree>
    <p:extLst>
      <p:ext uri="{BB962C8B-B14F-4D97-AF65-F5344CB8AC3E}">
        <p14:creationId xmlns:p14="http://schemas.microsoft.com/office/powerpoint/2010/main" val="236596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5C76A5-2BCA-164B-0346-7AC999ECE88A}"/>
              </a:ext>
            </a:extLst>
          </p:cNvPr>
          <p:cNvSpPr>
            <a:spLocks noGrp="1"/>
          </p:cNvSpPr>
          <p:nvPr>
            <p:ph type="dt" sz="half" idx="10"/>
          </p:nvPr>
        </p:nvSpPr>
        <p:spPr/>
        <p:txBody>
          <a:bodyPr/>
          <a:lstStyle/>
          <a:p>
            <a:fld id="{21688043-057D-4253-9E3D-1E7B6C734ECC}" type="datetimeFigureOut">
              <a:rPr lang="en-US" smtClean="0"/>
              <a:t>11/13/2025</a:t>
            </a:fld>
            <a:endParaRPr lang="en-US"/>
          </a:p>
        </p:txBody>
      </p:sp>
      <p:sp>
        <p:nvSpPr>
          <p:cNvPr id="3" name="Footer Placeholder 2">
            <a:extLst>
              <a:ext uri="{FF2B5EF4-FFF2-40B4-BE49-F238E27FC236}">
                <a16:creationId xmlns:a16="http://schemas.microsoft.com/office/drawing/2014/main" id="{551B222D-A2C1-7273-C18F-105217F885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0CD4DC1-0FBD-8140-A4CB-52FA80A7E2D3}"/>
              </a:ext>
            </a:extLst>
          </p:cNvPr>
          <p:cNvSpPr>
            <a:spLocks noGrp="1"/>
          </p:cNvSpPr>
          <p:nvPr>
            <p:ph type="sldNum" sz="quarter" idx="12"/>
          </p:nvPr>
        </p:nvSpPr>
        <p:spPr/>
        <p:txBody>
          <a:bodyPr/>
          <a:lstStyle/>
          <a:p>
            <a:fld id="{86702463-5EB1-4B22-A816-5C05AA2D96D7}" type="slidenum">
              <a:rPr lang="en-US" smtClean="0"/>
              <a:t>‹#›</a:t>
            </a:fld>
            <a:endParaRPr lang="en-US"/>
          </a:p>
        </p:txBody>
      </p:sp>
    </p:spTree>
    <p:extLst>
      <p:ext uri="{BB962C8B-B14F-4D97-AF65-F5344CB8AC3E}">
        <p14:creationId xmlns:p14="http://schemas.microsoft.com/office/powerpoint/2010/main" val="3618878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FF626-1C14-BD46-BB0A-379789A54C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1038EB0-DE8A-BF42-C629-5A542DF6EC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DE106DC-9E6E-8870-EF0C-396D2A44E1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0D3E99-868A-4098-D7BD-27F684B9EDE9}"/>
              </a:ext>
            </a:extLst>
          </p:cNvPr>
          <p:cNvSpPr>
            <a:spLocks noGrp="1"/>
          </p:cNvSpPr>
          <p:nvPr>
            <p:ph type="dt" sz="half" idx="10"/>
          </p:nvPr>
        </p:nvSpPr>
        <p:spPr/>
        <p:txBody>
          <a:bodyPr/>
          <a:lstStyle/>
          <a:p>
            <a:fld id="{21688043-057D-4253-9E3D-1E7B6C734ECC}" type="datetimeFigureOut">
              <a:rPr lang="en-US" smtClean="0"/>
              <a:t>11/13/2025</a:t>
            </a:fld>
            <a:endParaRPr lang="en-US"/>
          </a:p>
        </p:txBody>
      </p:sp>
      <p:sp>
        <p:nvSpPr>
          <p:cNvPr id="6" name="Footer Placeholder 5">
            <a:extLst>
              <a:ext uri="{FF2B5EF4-FFF2-40B4-BE49-F238E27FC236}">
                <a16:creationId xmlns:a16="http://schemas.microsoft.com/office/drawing/2014/main" id="{D8F95477-4B16-AA35-D8A3-7C3F6075B5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D601BE-85F1-18CC-48B9-C4B6A8F9BE88}"/>
              </a:ext>
            </a:extLst>
          </p:cNvPr>
          <p:cNvSpPr>
            <a:spLocks noGrp="1"/>
          </p:cNvSpPr>
          <p:nvPr>
            <p:ph type="sldNum" sz="quarter" idx="12"/>
          </p:nvPr>
        </p:nvSpPr>
        <p:spPr/>
        <p:txBody>
          <a:bodyPr/>
          <a:lstStyle/>
          <a:p>
            <a:fld id="{86702463-5EB1-4B22-A816-5C05AA2D96D7}" type="slidenum">
              <a:rPr lang="en-US" smtClean="0"/>
              <a:t>‹#›</a:t>
            </a:fld>
            <a:endParaRPr lang="en-US"/>
          </a:p>
        </p:txBody>
      </p:sp>
    </p:spTree>
    <p:extLst>
      <p:ext uri="{BB962C8B-B14F-4D97-AF65-F5344CB8AC3E}">
        <p14:creationId xmlns:p14="http://schemas.microsoft.com/office/powerpoint/2010/main" val="76921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45D07-7E3A-57EA-1193-387C93A5EA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BCD4B6-47C5-D1F0-1868-37AC659F1C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4FAAA8C-FA5C-4704-5F94-61FB784768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A66DE1-770D-4F2B-7EE2-85D7B4B1F811}"/>
              </a:ext>
            </a:extLst>
          </p:cNvPr>
          <p:cNvSpPr>
            <a:spLocks noGrp="1"/>
          </p:cNvSpPr>
          <p:nvPr>
            <p:ph type="dt" sz="half" idx="10"/>
          </p:nvPr>
        </p:nvSpPr>
        <p:spPr/>
        <p:txBody>
          <a:bodyPr/>
          <a:lstStyle/>
          <a:p>
            <a:fld id="{21688043-057D-4253-9E3D-1E7B6C734ECC}" type="datetimeFigureOut">
              <a:rPr lang="en-US" smtClean="0"/>
              <a:t>11/13/2025</a:t>
            </a:fld>
            <a:endParaRPr lang="en-US"/>
          </a:p>
        </p:txBody>
      </p:sp>
      <p:sp>
        <p:nvSpPr>
          <p:cNvPr id="6" name="Footer Placeholder 5">
            <a:extLst>
              <a:ext uri="{FF2B5EF4-FFF2-40B4-BE49-F238E27FC236}">
                <a16:creationId xmlns:a16="http://schemas.microsoft.com/office/drawing/2014/main" id="{5651456E-4795-736D-9EAC-BCE3A7CEAF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478FD0-03BD-5D7D-9439-1964465ACBD2}"/>
              </a:ext>
            </a:extLst>
          </p:cNvPr>
          <p:cNvSpPr>
            <a:spLocks noGrp="1"/>
          </p:cNvSpPr>
          <p:nvPr>
            <p:ph type="sldNum" sz="quarter" idx="12"/>
          </p:nvPr>
        </p:nvSpPr>
        <p:spPr/>
        <p:txBody>
          <a:bodyPr/>
          <a:lstStyle/>
          <a:p>
            <a:fld id="{86702463-5EB1-4B22-A816-5C05AA2D96D7}" type="slidenum">
              <a:rPr lang="en-US" smtClean="0"/>
              <a:t>‹#›</a:t>
            </a:fld>
            <a:endParaRPr lang="en-US"/>
          </a:p>
        </p:txBody>
      </p:sp>
    </p:spTree>
    <p:extLst>
      <p:ext uri="{BB962C8B-B14F-4D97-AF65-F5344CB8AC3E}">
        <p14:creationId xmlns:p14="http://schemas.microsoft.com/office/powerpoint/2010/main" val="16377135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789A3-6A31-AF22-1A56-AA840821404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BD996E5-4FAA-5860-EEFC-3E9636D5CC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0731F4-615D-0727-2313-B3FC23E49B57}"/>
              </a:ext>
            </a:extLst>
          </p:cNvPr>
          <p:cNvSpPr>
            <a:spLocks noGrp="1"/>
          </p:cNvSpPr>
          <p:nvPr>
            <p:ph type="dt" sz="half" idx="10"/>
          </p:nvPr>
        </p:nvSpPr>
        <p:spPr/>
        <p:txBody>
          <a:bodyPr/>
          <a:lstStyle/>
          <a:p>
            <a:fld id="{21688043-057D-4253-9E3D-1E7B6C734ECC}" type="datetimeFigureOut">
              <a:rPr lang="en-US" smtClean="0"/>
              <a:t>11/13/2025</a:t>
            </a:fld>
            <a:endParaRPr lang="en-US"/>
          </a:p>
        </p:txBody>
      </p:sp>
      <p:sp>
        <p:nvSpPr>
          <p:cNvPr id="5" name="Footer Placeholder 4">
            <a:extLst>
              <a:ext uri="{FF2B5EF4-FFF2-40B4-BE49-F238E27FC236}">
                <a16:creationId xmlns:a16="http://schemas.microsoft.com/office/drawing/2014/main" id="{B5BD60C0-67F7-D116-1A88-A7EB144BBD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0CF235-BA67-5ED1-0974-AA04870A0DE9}"/>
              </a:ext>
            </a:extLst>
          </p:cNvPr>
          <p:cNvSpPr>
            <a:spLocks noGrp="1"/>
          </p:cNvSpPr>
          <p:nvPr>
            <p:ph type="sldNum" sz="quarter" idx="12"/>
          </p:nvPr>
        </p:nvSpPr>
        <p:spPr/>
        <p:txBody>
          <a:bodyPr/>
          <a:lstStyle/>
          <a:p>
            <a:fld id="{86702463-5EB1-4B22-A816-5C05AA2D96D7}" type="slidenum">
              <a:rPr lang="en-US" smtClean="0"/>
              <a:t>‹#›</a:t>
            </a:fld>
            <a:endParaRPr lang="en-US"/>
          </a:p>
        </p:txBody>
      </p:sp>
    </p:spTree>
    <p:extLst>
      <p:ext uri="{BB962C8B-B14F-4D97-AF65-F5344CB8AC3E}">
        <p14:creationId xmlns:p14="http://schemas.microsoft.com/office/powerpoint/2010/main" val="937152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D58C0B-0288-A564-CCC6-B06FBD0C2D3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013804E-FA7A-7C1D-3A6B-4FDE5CB9AB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DC6273-A76F-C024-B7F6-156BEDE54562}"/>
              </a:ext>
            </a:extLst>
          </p:cNvPr>
          <p:cNvSpPr>
            <a:spLocks noGrp="1"/>
          </p:cNvSpPr>
          <p:nvPr>
            <p:ph type="dt" sz="half" idx="10"/>
          </p:nvPr>
        </p:nvSpPr>
        <p:spPr/>
        <p:txBody>
          <a:bodyPr/>
          <a:lstStyle/>
          <a:p>
            <a:fld id="{21688043-057D-4253-9E3D-1E7B6C734ECC}" type="datetimeFigureOut">
              <a:rPr lang="en-US" smtClean="0"/>
              <a:t>11/13/2025</a:t>
            </a:fld>
            <a:endParaRPr lang="en-US"/>
          </a:p>
        </p:txBody>
      </p:sp>
      <p:sp>
        <p:nvSpPr>
          <p:cNvPr id="5" name="Footer Placeholder 4">
            <a:extLst>
              <a:ext uri="{FF2B5EF4-FFF2-40B4-BE49-F238E27FC236}">
                <a16:creationId xmlns:a16="http://schemas.microsoft.com/office/drawing/2014/main" id="{0DCBFF98-FC47-F0CE-E4F3-E5FB1F9882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73E8C5-1A81-5A69-3AC5-8471E531E0C0}"/>
              </a:ext>
            </a:extLst>
          </p:cNvPr>
          <p:cNvSpPr>
            <a:spLocks noGrp="1"/>
          </p:cNvSpPr>
          <p:nvPr>
            <p:ph type="sldNum" sz="quarter" idx="12"/>
          </p:nvPr>
        </p:nvSpPr>
        <p:spPr/>
        <p:txBody>
          <a:bodyPr/>
          <a:lstStyle/>
          <a:p>
            <a:fld id="{86702463-5EB1-4B22-A816-5C05AA2D96D7}" type="slidenum">
              <a:rPr lang="en-US" smtClean="0"/>
              <a:t>‹#›</a:t>
            </a:fld>
            <a:endParaRPr lang="en-US"/>
          </a:p>
        </p:txBody>
      </p:sp>
    </p:spTree>
    <p:extLst>
      <p:ext uri="{BB962C8B-B14F-4D97-AF65-F5344CB8AC3E}">
        <p14:creationId xmlns:p14="http://schemas.microsoft.com/office/powerpoint/2010/main" val="984055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29CB88-788C-C233-AE42-98D8094569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249192F-08E8-643F-A895-7506A9E715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55CDFF-7F59-56A8-F615-84F97236AD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1688043-057D-4253-9E3D-1E7B6C734ECC}" type="datetimeFigureOut">
              <a:rPr lang="en-US" smtClean="0"/>
              <a:t>11/13/2025</a:t>
            </a:fld>
            <a:endParaRPr lang="en-US"/>
          </a:p>
        </p:txBody>
      </p:sp>
      <p:sp>
        <p:nvSpPr>
          <p:cNvPr id="5" name="Footer Placeholder 4">
            <a:extLst>
              <a:ext uri="{FF2B5EF4-FFF2-40B4-BE49-F238E27FC236}">
                <a16:creationId xmlns:a16="http://schemas.microsoft.com/office/drawing/2014/main" id="{DE35DDB3-A40C-444A-59C4-4649952F42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443C687-0C4D-9E4C-CE00-B2D772F2E2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6702463-5EB1-4B22-A816-5C05AA2D96D7}" type="slidenum">
              <a:rPr lang="en-US" smtClean="0"/>
              <a:t>‹#›</a:t>
            </a:fld>
            <a:endParaRPr lang="en-US"/>
          </a:p>
        </p:txBody>
      </p:sp>
    </p:spTree>
    <p:extLst>
      <p:ext uri="{BB962C8B-B14F-4D97-AF65-F5344CB8AC3E}">
        <p14:creationId xmlns:p14="http://schemas.microsoft.com/office/powerpoint/2010/main" val="21589445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9EFFA-E344-4E66-17F3-953DE346C71F}"/>
              </a:ext>
            </a:extLst>
          </p:cNvPr>
          <p:cNvSpPr>
            <a:spLocks noGrp="1"/>
          </p:cNvSpPr>
          <p:nvPr>
            <p:ph type="title"/>
          </p:nvPr>
        </p:nvSpPr>
        <p:spPr/>
        <p:txBody>
          <a:bodyPr/>
          <a:lstStyle/>
          <a:p>
            <a:r>
              <a:rPr lang="en-US" dirty="0"/>
              <a:t>301, Nov 12, Class 25</a:t>
            </a:r>
          </a:p>
        </p:txBody>
      </p:sp>
      <p:sp>
        <p:nvSpPr>
          <p:cNvPr id="3" name="Content Placeholder 2">
            <a:extLst>
              <a:ext uri="{FF2B5EF4-FFF2-40B4-BE49-F238E27FC236}">
                <a16:creationId xmlns:a16="http://schemas.microsoft.com/office/drawing/2014/main" id="{4752159D-4A48-4143-6055-CDA75F09AE48}"/>
              </a:ext>
            </a:extLst>
          </p:cNvPr>
          <p:cNvSpPr>
            <a:spLocks noGrp="1"/>
          </p:cNvSpPr>
          <p:nvPr>
            <p:ph idx="1"/>
          </p:nvPr>
        </p:nvSpPr>
        <p:spPr/>
        <p:txBody>
          <a:bodyPr/>
          <a:lstStyle/>
          <a:p>
            <a:r>
              <a:rPr lang="en-US" dirty="0"/>
              <a:t>Qualitative Research</a:t>
            </a:r>
          </a:p>
          <a:p>
            <a:r>
              <a:rPr lang="en-US" dirty="0"/>
              <a:t>Field Research</a:t>
            </a:r>
          </a:p>
        </p:txBody>
      </p:sp>
    </p:spTree>
    <p:extLst>
      <p:ext uri="{BB962C8B-B14F-4D97-AF65-F5344CB8AC3E}">
        <p14:creationId xmlns:p14="http://schemas.microsoft.com/office/powerpoint/2010/main" val="3302203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98E75-48DA-5529-BC45-2A2315BB5256}"/>
              </a:ext>
            </a:extLst>
          </p:cNvPr>
          <p:cNvSpPr>
            <a:spLocks noGrp="1"/>
          </p:cNvSpPr>
          <p:nvPr>
            <p:ph type="title"/>
          </p:nvPr>
        </p:nvSpPr>
        <p:spPr/>
        <p:txBody>
          <a:bodyPr/>
          <a:lstStyle/>
          <a:p>
            <a:r>
              <a:rPr lang="en-US" dirty="0"/>
              <a:t>Quasi-Experimental Research Methods</a:t>
            </a:r>
          </a:p>
        </p:txBody>
      </p:sp>
      <p:sp>
        <p:nvSpPr>
          <p:cNvPr id="3" name="Content Placeholder 2">
            <a:extLst>
              <a:ext uri="{FF2B5EF4-FFF2-40B4-BE49-F238E27FC236}">
                <a16:creationId xmlns:a16="http://schemas.microsoft.com/office/drawing/2014/main" id="{87E3CBA4-F59E-AF14-6D9F-D5CCF428FC6B}"/>
              </a:ext>
            </a:extLst>
          </p:cNvPr>
          <p:cNvSpPr>
            <a:spLocks noGrp="1"/>
          </p:cNvSpPr>
          <p:nvPr>
            <p:ph idx="1"/>
          </p:nvPr>
        </p:nvSpPr>
        <p:spPr/>
        <p:txBody>
          <a:bodyPr>
            <a:normAutofit lnSpcReduction="10000"/>
          </a:bodyPr>
          <a:lstStyle/>
          <a:p>
            <a:r>
              <a:rPr lang="en-US" dirty="0"/>
              <a:t>Mix of experimental and non-experimental methods</a:t>
            </a:r>
          </a:p>
          <a:p>
            <a:pPr lvl="1"/>
            <a:r>
              <a:rPr lang="en-US" dirty="0"/>
              <a:t>Requires at least one controlled independent variable</a:t>
            </a:r>
          </a:p>
          <a:p>
            <a:pPr lvl="1"/>
            <a:endParaRPr lang="en-US" dirty="0"/>
          </a:p>
          <a:p>
            <a:r>
              <a:rPr lang="en-US" dirty="0"/>
              <a:t>Qualitative Research</a:t>
            </a:r>
          </a:p>
          <a:p>
            <a:pPr lvl="1"/>
            <a:r>
              <a:rPr lang="en-US" dirty="0"/>
              <a:t>Systematic observation of relationships in society</a:t>
            </a:r>
          </a:p>
          <a:p>
            <a:r>
              <a:rPr lang="en-US" dirty="0"/>
              <a:t>Field Research</a:t>
            </a:r>
          </a:p>
          <a:p>
            <a:pPr lvl="1"/>
            <a:r>
              <a:rPr lang="en-US" dirty="0"/>
              <a:t>Experimentation in the real world, outside of laboratory control</a:t>
            </a:r>
          </a:p>
          <a:p>
            <a:r>
              <a:rPr lang="en-US" dirty="0"/>
              <a:t>Intervention (Translational) Research</a:t>
            </a:r>
          </a:p>
          <a:p>
            <a:pPr lvl="1"/>
            <a:r>
              <a:rPr lang="en-US" dirty="0"/>
              <a:t>Bringing basic science results to application</a:t>
            </a:r>
          </a:p>
          <a:p>
            <a:pPr lvl="1"/>
            <a:r>
              <a:rPr lang="en-US" dirty="0"/>
              <a:t>Verifying effectiveness</a:t>
            </a:r>
          </a:p>
        </p:txBody>
      </p:sp>
    </p:spTree>
    <p:extLst>
      <p:ext uri="{BB962C8B-B14F-4D97-AF65-F5344CB8AC3E}">
        <p14:creationId xmlns:p14="http://schemas.microsoft.com/office/powerpoint/2010/main" val="2654132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735BC-D87D-F4CF-5D90-74551E4DD829}"/>
              </a:ext>
            </a:extLst>
          </p:cNvPr>
          <p:cNvSpPr>
            <a:spLocks noGrp="1"/>
          </p:cNvSpPr>
          <p:nvPr>
            <p:ph type="title"/>
          </p:nvPr>
        </p:nvSpPr>
        <p:spPr/>
        <p:txBody>
          <a:bodyPr/>
          <a:lstStyle/>
          <a:p>
            <a:r>
              <a:rPr lang="en-US" dirty="0"/>
              <a:t>Qualitative Research</a:t>
            </a:r>
          </a:p>
        </p:txBody>
      </p:sp>
      <p:sp>
        <p:nvSpPr>
          <p:cNvPr id="3" name="Content Placeholder 2">
            <a:extLst>
              <a:ext uri="{FF2B5EF4-FFF2-40B4-BE49-F238E27FC236}">
                <a16:creationId xmlns:a16="http://schemas.microsoft.com/office/drawing/2014/main" id="{3EEF4DF6-F32E-7071-1C8B-206228206F6C}"/>
              </a:ext>
            </a:extLst>
          </p:cNvPr>
          <p:cNvSpPr>
            <a:spLocks noGrp="1"/>
          </p:cNvSpPr>
          <p:nvPr>
            <p:ph idx="1"/>
          </p:nvPr>
        </p:nvSpPr>
        <p:spPr/>
        <p:txBody>
          <a:bodyPr>
            <a:normAutofit fontScale="70000" lnSpcReduction="20000"/>
          </a:bodyPr>
          <a:lstStyle/>
          <a:p>
            <a:pPr fontAlgn="base"/>
            <a:r>
              <a:rPr lang="en-US" dirty="0"/>
              <a:t>“If love were to guide us: The story of Fred Hampton High School’s quest for building bridges of belonging for black students.” Randolph, D. (2024)</a:t>
            </a:r>
          </a:p>
          <a:p>
            <a:pPr fontAlgn="base"/>
            <a:r>
              <a:rPr lang="en-US" b="1" dirty="0"/>
              <a:t>Abstract</a:t>
            </a:r>
            <a:r>
              <a:rPr lang="en-US" dirty="0"/>
              <a:t>: This action research study investigates how Black students experience and make sense of belonging at Fred Hampton High School, a suburban Illinois school known for its racial equity initiatives. Drawing on Critical Race Theory and using Safir and Dugan’s (2021) street data framework, the study centers the voices of Black students through focus group interviews to understand the systemic, interpersonal, and cultural barriers they face. Key themes include racial microaggressions, symbolic leadership, inequitable disciplinary practices, and lack of authentic representation. Despite the school’s reputation for diversity and strong racial equity work, the findings demonstrate the factors that explain why Black students report the lowest sense of belonging among all racial groups at Fred Hampton High School. Contributing factors include performative equity practices and administrative inaction. This study highlights students’ critiques of Hampton’s school culture and offers practical, student-informed recommendations for fostering an inclusive racial climate. By using storytelling as both a methodological and theoretical tool, this research aims to disrupt deficit narratives, promote student agency, and reimagine what is possible when school transformation is guided by love.</a:t>
            </a:r>
          </a:p>
        </p:txBody>
      </p:sp>
    </p:spTree>
    <p:extLst>
      <p:ext uri="{BB962C8B-B14F-4D97-AF65-F5344CB8AC3E}">
        <p14:creationId xmlns:p14="http://schemas.microsoft.com/office/powerpoint/2010/main" val="3760529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8F87B-3EB5-EB6E-4C93-4C04CC198F18}"/>
              </a:ext>
            </a:extLst>
          </p:cNvPr>
          <p:cNvSpPr>
            <a:spLocks noGrp="1"/>
          </p:cNvSpPr>
          <p:nvPr>
            <p:ph type="title"/>
          </p:nvPr>
        </p:nvSpPr>
        <p:spPr/>
        <p:txBody>
          <a:bodyPr/>
          <a:lstStyle/>
          <a:p>
            <a:r>
              <a:rPr lang="en-US" dirty="0"/>
              <a:t>Interviews</a:t>
            </a:r>
          </a:p>
        </p:txBody>
      </p:sp>
      <p:sp>
        <p:nvSpPr>
          <p:cNvPr id="3" name="Content Placeholder 2">
            <a:extLst>
              <a:ext uri="{FF2B5EF4-FFF2-40B4-BE49-F238E27FC236}">
                <a16:creationId xmlns:a16="http://schemas.microsoft.com/office/drawing/2014/main" id="{4C380DC7-F12C-4062-1FDC-A1E380B82539}"/>
              </a:ext>
            </a:extLst>
          </p:cNvPr>
          <p:cNvSpPr>
            <a:spLocks noGrp="1"/>
          </p:cNvSpPr>
          <p:nvPr>
            <p:ph idx="1"/>
          </p:nvPr>
        </p:nvSpPr>
        <p:spPr/>
        <p:txBody>
          <a:bodyPr/>
          <a:lstStyle/>
          <a:p>
            <a:r>
              <a:rPr lang="en-US" dirty="0"/>
              <a:t>Methods borrowed from Sociology, Anthropology</a:t>
            </a:r>
          </a:p>
          <a:p>
            <a:endParaRPr lang="en-US" dirty="0"/>
          </a:p>
          <a:p>
            <a:r>
              <a:rPr lang="en-US" dirty="0"/>
              <a:t>Collect stories of personal experience</a:t>
            </a:r>
          </a:p>
          <a:p>
            <a:pPr lvl="1"/>
            <a:r>
              <a:rPr lang="en-US" dirty="0"/>
              <a:t>Anecdotes are not data but they are illustrative</a:t>
            </a:r>
          </a:p>
          <a:p>
            <a:pPr lvl="1"/>
            <a:r>
              <a:rPr lang="en-US" dirty="0"/>
              <a:t>Insight into cross-cultural differences</a:t>
            </a:r>
          </a:p>
        </p:txBody>
      </p:sp>
    </p:spTree>
    <p:extLst>
      <p:ext uri="{BB962C8B-B14F-4D97-AF65-F5344CB8AC3E}">
        <p14:creationId xmlns:p14="http://schemas.microsoft.com/office/powerpoint/2010/main" val="95811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000DE-90F2-9A8C-16DA-B4B449A85CFC}"/>
              </a:ext>
            </a:extLst>
          </p:cNvPr>
          <p:cNvSpPr>
            <a:spLocks noGrp="1"/>
          </p:cNvSpPr>
          <p:nvPr>
            <p:ph type="title"/>
          </p:nvPr>
        </p:nvSpPr>
        <p:spPr/>
        <p:txBody>
          <a:bodyPr/>
          <a:lstStyle/>
          <a:p>
            <a:r>
              <a:rPr lang="en-US" dirty="0"/>
              <a:t>Quantifying Qualitative data</a:t>
            </a:r>
          </a:p>
        </p:txBody>
      </p:sp>
      <p:sp>
        <p:nvSpPr>
          <p:cNvPr id="3" name="Content Placeholder 2">
            <a:extLst>
              <a:ext uri="{FF2B5EF4-FFF2-40B4-BE49-F238E27FC236}">
                <a16:creationId xmlns:a16="http://schemas.microsoft.com/office/drawing/2014/main" id="{A1D034EE-AF1F-2AE3-E9D8-932206B6FCC1}"/>
              </a:ext>
            </a:extLst>
          </p:cNvPr>
          <p:cNvSpPr>
            <a:spLocks noGrp="1"/>
          </p:cNvSpPr>
          <p:nvPr>
            <p:ph idx="1"/>
          </p:nvPr>
        </p:nvSpPr>
        <p:spPr/>
        <p:txBody>
          <a:bodyPr/>
          <a:lstStyle/>
          <a:p>
            <a:r>
              <a:rPr lang="en-US" dirty="0"/>
              <a:t>Structured interviews</a:t>
            </a:r>
          </a:p>
          <a:p>
            <a:pPr lvl="1"/>
            <a:r>
              <a:rPr lang="en-US" dirty="0"/>
              <a:t>Protocol for interview procedures</a:t>
            </a:r>
          </a:p>
          <a:p>
            <a:r>
              <a:rPr lang="en-US" dirty="0"/>
              <a:t>Coding systems</a:t>
            </a:r>
          </a:p>
          <a:p>
            <a:pPr lvl="1"/>
            <a:r>
              <a:rPr lang="en-US" dirty="0"/>
              <a:t>Count occurrences of words, ideas</a:t>
            </a:r>
          </a:p>
          <a:p>
            <a:pPr lvl="1"/>
            <a:r>
              <a:rPr lang="en-US" dirty="0"/>
              <a:t>Calculated relationship among measures</a:t>
            </a:r>
          </a:p>
          <a:p>
            <a:r>
              <a:rPr lang="en-US" dirty="0"/>
              <a:t>Verbal protocol analysis</a:t>
            </a:r>
          </a:p>
          <a:p>
            <a:pPr lvl="1"/>
            <a:r>
              <a:rPr lang="en-US" dirty="0"/>
              <a:t>Talking out loud during problem solving</a:t>
            </a:r>
          </a:p>
        </p:txBody>
      </p:sp>
    </p:spTree>
    <p:extLst>
      <p:ext uri="{BB962C8B-B14F-4D97-AF65-F5344CB8AC3E}">
        <p14:creationId xmlns:p14="http://schemas.microsoft.com/office/powerpoint/2010/main" val="1275756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D508C-5256-0101-4A0A-CD987E0E67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31087D-34C3-AD8A-2B22-B5288E7A0CE7}"/>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ED8DA525-AAF2-3A59-FA42-270A755388BA}"/>
              </a:ext>
            </a:extLst>
          </p:cNvPr>
          <p:cNvSpPr>
            <a:spLocks noGrp="1"/>
          </p:cNvSpPr>
          <p:nvPr>
            <p:ph idx="1"/>
          </p:nvPr>
        </p:nvSpPr>
        <p:spPr/>
        <p:txBody>
          <a:bodyPr>
            <a:normAutofit lnSpcReduction="10000"/>
          </a:bodyPr>
          <a:lstStyle/>
          <a:p>
            <a:pPr marL="514350" indent="-514350" algn="l">
              <a:buFont typeface="+mj-lt"/>
              <a:buAutoNum type="arabicPeriod"/>
            </a:pPr>
            <a:r>
              <a:rPr lang="en-US" b="0" i="0" dirty="0">
                <a:solidFill>
                  <a:srgbClr val="2D3B45"/>
                </a:solidFill>
                <a:effectLst/>
                <a:latin typeface="Lato Extended"/>
              </a:rPr>
              <a:t>Qualitative research is often used in a research program as a first or preliminary study before research with experimental methods and manipulated variables.  Why is this?</a:t>
            </a:r>
          </a:p>
          <a:p>
            <a:pPr marL="514350" indent="-514350" algn="l">
              <a:buFont typeface="+mj-lt"/>
              <a:buAutoNum type="arabicPeriod"/>
            </a:pPr>
            <a:r>
              <a:rPr lang="en-US" b="0" i="0" dirty="0">
                <a:solidFill>
                  <a:srgbClr val="2D3B45"/>
                </a:solidFill>
                <a:effectLst/>
                <a:latin typeface="Lato Extended"/>
              </a:rPr>
              <a:t>Why might we use a qualitative research technique to study parent-child interactions and aggressive behavior in preschoolers?  Outline what such a study might look like.</a:t>
            </a:r>
          </a:p>
          <a:p>
            <a:pPr marL="514350" indent="-514350" algn="l">
              <a:buFont typeface="+mj-lt"/>
              <a:buAutoNum type="arabicPeriod"/>
            </a:pPr>
            <a:r>
              <a:rPr lang="en-US" b="0" i="0" dirty="0">
                <a:solidFill>
                  <a:srgbClr val="2D3B45"/>
                </a:solidFill>
                <a:effectLst/>
                <a:latin typeface="Lato Extended"/>
              </a:rPr>
              <a:t>In a diary study of conflict resolution in relationships, the research protocol could involve daily documentation of any conflict experiences and how they were or were not resolved.  What kinds of events might be coded for and counted in a study of this type?</a:t>
            </a:r>
          </a:p>
          <a:p>
            <a:endParaRPr lang="en-US" dirty="0"/>
          </a:p>
        </p:txBody>
      </p:sp>
    </p:spTree>
    <p:extLst>
      <p:ext uri="{BB962C8B-B14F-4D97-AF65-F5344CB8AC3E}">
        <p14:creationId xmlns:p14="http://schemas.microsoft.com/office/powerpoint/2010/main" val="2341939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t>Wason Card Task</a:t>
            </a:r>
          </a:p>
        </p:txBody>
      </p:sp>
      <p:sp>
        <p:nvSpPr>
          <p:cNvPr id="21508" name="Rectangle 4"/>
          <p:cNvSpPr>
            <a:spLocks noChangeArrowheads="1"/>
          </p:cNvSpPr>
          <p:nvPr/>
        </p:nvSpPr>
        <p:spPr bwMode="auto">
          <a:xfrm>
            <a:off x="2667000" y="2057400"/>
            <a:ext cx="1066800" cy="1676400"/>
          </a:xfrm>
          <a:prstGeom prst="rect">
            <a:avLst/>
          </a:prstGeom>
          <a:solidFill>
            <a:schemeClr val="accent1"/>
          </a:solidFill>
          <a:ln w="9525">
            <a:solidFill>
              <a:schemeClr val="tx1"/>
            </a:solidFill>
            <a:miter lim="800000"/>
            <a:headEnd/>
            <a:tailEnd/>
          </a:ln>
          <a:effectLst/>
        </p:spPr>
        <p:txBody>
          <a:bodyPr wrap="none" anchor="ctr"/>
          <a:lstStyle/>
          <a:p>
            <a:pPr algn="ctr"/>
            <a:r>
              <a:rPr lang="en-US" sz="3200"/>
              <a:t>A</a:t>
            </a:r>
          </a:p>
        </p:txBody>
      </p:sp>
      <p:sp>
        <p:nvSpPr>
          <p:cNvPr id="21509" name="Rectangle 5"/>
          <p:cNvSpPr>
            <a:spLocks noChangeArrowheads="1"/>
          </p:cNvSpPr>
          <p:nvPr/>
        </p:nvSpPr>
        <p:spPr bwMode="auto">
          <a:xfrm>
            <a:off x="4521200" y="2057400"/>
            <a:ext cx="1066800" cy="1676400"/>
          </a:xfrm>
          <a:prstGeom prst="rect">
            <a:avLst/>
          </a:prstGeom>
          <a:solidFill>
            <a:schemeClr val="accent1"/>
          </a:solidFill>
          <a:ln w="9525">
            <a:solidFill>
              <a:schemeClr val="tx1"/>
            </a:solidFill>
            <a:miter lim="800000"/>
            <a:headEnd/>
            <a:tailEnd/>
          </a:ln>
          <a:effectLst/>
        </p:spPr>
        <p:txBody>
          <a:bodyPr wrap="none" anchor="ctr"/>
          <a:lstStyle/>
          <a:p>
            <a:pPr algn="ctr"/>
            <a:r>
              <a:rPr lang="en-US" sz="3200"/>
              <a:t>D</a:t>
            </a:r>
          </a:p>
        </p:txBody>
      </p:sp>
      <p:sp>
        <p:nvSpPr>
          <p:cNvPr id="21510" name="Rectangle 6"/>
          <p:cNvSpPr>
            <a:spLocks noChangeArrowheads="1"/>
          </p:cNvSpPr>
          <p:nvPr/>
        </p:nvSpPr>
        <p:spPr bwMode="auto">
          <a:xfrm>
            <a:off x="6375400" y="2057400"/>
            <a:ext cx="1066800" cy="1676400"/>
          </a:xfrm>
          <a:prstGeom prst="rect">
            <a:avLst/>
          </a:prstGeom>
          <a:solidFill>
            <a:schemeClr val="accent1"/>
          </a:solidFill>
          <a:ln w="9525">
            <a:solidFill>
              <a:schemeClr val="tx1"/>
            </a:solidFill>
            <a:miter lim="800000"/>
            <a:headEnd/>
            <a:tailEnd/>
          </a:ln>
          <a:effectLst/>
        </p:spPr>
        <p:txBody>
          <a:bodyPr wrap="none" anchor="ctr"/>
          <a:lstStyle/>
          <a:p>
            <a:pPr algn="ctr"/>
            <a:r>
              <a:rPr lang="en-US" sz="3200"/>
              <a:t>4</a:t>
            </a:r>
          </a:p>
        </p:txBody>
      </p:sp>
      <p:sp>
        <p:nvSpPr>
          <p:cNvPr id="21511" name="Rectangle 7"/>
          <p:cNvSpPr>
            <a:spLocks noChangeArrowheads="1"/>
          </p:cNvSpPr>
          <p:nvPr/>
        </p:nvSpPr>
        <p:spPr bwMode="auto">
          <a:xfrm>
            <a:off x="8229600" y="2057400"/>
            <a:ext cx="1066800" cy="1676400"/>
          </a:xfrm>
          <a:prstGeom prst="rect">
            <a:avLst/>
          </a:prstGeom>
          <a:solidFill>
            <a:schemeClr val="accent1"/>
          </a:solidFill>
          <a:ln w="9525">
            <a:solidFill>
              <a:schemeClr val="tx1"/>
            </a:solidFill>
            <a:miter lim="800000"/>
            <a:headEnd/>
            <a:tailEnd/>
          </a:ln>
          <a:effectLst/>
        </p:spPr>
        <p:txBody>
          <a:bodyPr wrap="none" anchor="ctr"/>
          <a:lstStyle/>
          <a:p>
            <a:pPr algn="ctr"/>
            <a:r>
              <a:rPr lang="en-US" sz="3200"/>
              <a:t>7</a:t>
            </a:r>
          </a:p>
        </p:txBody>
      </p:sp>
      <p:sp>
        <p:nvSpPr>
          <p:cNvPr id="21512" name="Text Box 8"/>
          <p:cNvSpPr txBox="1">
            <a:spLocks noChangeArrowheads="1"/>
          </p:cNvSpPr>
          <p:nvPr/>
        </p:nvSpPr>
        <p:spPr bwMode="auto">
          <a:xfrm>
            <a:off x="2514601" y="4495800"/>
            <a:ext cx="6950075" cy="1815882"/>
          </a:xfrm>
          <a:prstGeom prst="rect">
            <a:avLst/>
          </a:prstGeom>
          <a:noFill/>
          <a:ln w="9525">
            <a:noFill/>
            <a:miter lim="800000"/>
            <a:headEnd/>
            <a:tailEnd/>
          </a:ln>
          <a:effectLst/>
        </p:spPr>
        <p:txBody>
          <a:bodyPr>
            <a:spAutoFit/>
          </a:bodyPr>
          <a:lstStyle/>
          <a:p>
            <a:r>
              <a:rPr lang="en-US" sz="2800"/>
              <a:t>Hypothesis: If a card has a vowel on one side, then it has an even number on the other side.</a:t>
            </a:r>
          </a:p>
          <a:p>
            <a:endParaRPr lang="en-US" sz="2800"/>
          </a:p>
          <a:p>
            <a:r>
              <a:rPr lang="en-US" sz="2800"/>
              <a:t>Which cards do you turn over?</a:t>
            </a:r>
          </a:p>
        </p:txBody>
      </p:sp>
    </p:spTree>
    <p:extLst>
      <p:ext uri="{BB962C8B-B14F-4D97-AF65-F5344CB8AC3E}">
        <p14:creationId xmlns:p14="http://schemas.microsoft.com/office/powerpoint/2010/main" val="29312839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t>The Bar Bouncer task</a:t>
            </a:r>
          </a:p>
        </p:txBody>
      </p:sp>
      <p:sp>
        <p:nvSpPr>
          <p:cNvPr id="7171" name="Rectangle 4"/>
          <p:cNvSpPr>
            <a:spLocks noChangeArrowheads="1"/>
          </p:cNvSpPr>
          <p:nvPr/>
        </p:nvSpPr>
        <p:spPr bwMode="auto">
          <a:xfrm>
            <a:off x="2667000" y="2057400"/>
            <a:ext cx="1066800" cy="1676400"/>
          </a:xfrm>
          <a:prstGeom prst="rect">
            <a:avLst/>
          </a:prstGeom>
          <a:solidFill>
            <a:schemeClr val="accent1"/>
          </a:solidFill>
          <a:ln w="9525">
            <a:solidFill>
              <a:schemeClr val="tx1"/>
            </a:solidFill>
            <a:miter lim="800000"/>
            <a:headEnd/>
            <a:tailEnd/>
          </a:ln>
        </p:spPr>
        <p:txBody>
          <a:bodyPr wrap="none" anchor="ctr"/>
          <a:lstStyle/>
          <a:p>
            <a:pPr algn="ctr"/>
            <a:r>
              <a:rPr lang="en-US" sz="3200">
                <a:latin typeface="Calibri" pitchFamily="34" charset="0"/>
              </a:rPr>
              <a:t>Soda</a:t>
            </a:r>
          </a:p>
        </p:txBody>
      </p:sp>
      <p:sp>
        <p:nvSpPr>
          <p:cNvPr id="7172" name="Rectangle 5"/>
          <p:cNvSpPr>
            <a:spLocks noChangeArrowheads="1"/>
          </p:cNvSpPr>
          <p:nvPr/>
        </p:nvSpPr>
        <p:spPr bwMode="auto">
          <a:xfrm>
            <a:off x="4521200" y="2057400"/>
            <a:ext cx="1066800" cy="1676400"/>
          </a:xfrm>
          <a:prstGeom prst="rect">
            <a:avLst/>
          </a:prstGeom>
          <a:solidFill>
            <a:schemeClr val="accent1"/>
          </a:solidFill>
          <a:ln w="9525">
            <a:solidFill>
              <a:schemeClr val="tx1"/>
            </a:solidFill>
            <a:miter lim="800000"/>
            <a:headEnd/>
            <a:tailEnd/>
          </a:ln>
        </p:spPr>
        <p:txBody>
          <a:bodyPr wrap="none" anchor="ctr"/>
          <a:lstStyle/>
          <a:p>
            <a:pPr algn="ctr"/>
            <a:r>
              <a:rPr lang="en-US" sz="3200">
                <a:latin typeface="Calibri" pitchFamily="34" charset="0"/>
              </a:rPr>
              <a:t>Beer</a:t>
            </a:r>
          </a:p>
        </p:txBody>
      </p:sp>
      <p:sp>
        <p:nvSpPr>
          <p:cNvPr id="7173" name="Rectangle 6"/>
          <p:cNvSpPr>
            <a:spLocks noChangeArrowheads="1"/>
          </p:cNvSpPr>
          <p:nvPr/>
        </p:nvSpPr>
        <p:spPr bwMode="auto">
          <a:xfrm>
            <a:off x="6375400" y="2057400"/>
            <a:ext cx="1066800" cy="1676400"/>
          </a:xfrm>
          <a:prstGeom prst="rect">
            <a:avLst/>
          </a:prstGeom>
          <a:solidFill>
            <a:schemeClr val="accent1"/>
          </a:solidFill>
          <a:ln w="9525">
            <a:solidFill>
              <a:schemeClr val="tx1"/>
            </a:solidFill>
            <a:miter lim="800000"/>
            <a:headEnd/>
            <a:tailEnd/>
          </a:ln>
        </p:spPr>
        <p:txBody>
          <a:bodyPr wrap="none" anchor="ctr"/>
          <a:lstStyle/>
          <a:p>
            <a:pPr algn="ctr"/>
            <a:r>
              <a:rPr lang="en-US" sz="3200">
                <a:latin typeface="Calibri" pitchFamily="34" charset="0"/>
              </a:rPr>
              <a:t>16</a:t>
            </a:r>
          </a:p>
        </p:txBody>
      </p:sp>
      <p:sp>
        <p:nvSpPr>
          <p:cNvPr id="7174" name="Rectangle 7"/>
          <p:cNvSpPr>
            <a:spLocks noChangeArrowheads="1"/>
          </p:cNvSpPr>
          <p:nvPr/>
        </p:nvSpPr>
        <p:spPr bwMode="auto">
          <a:xfrm>
            <a:off x="8229600" y="2057400"/>
            <a:ext cx="1066800" cy="1676400"/>
          </a:xfrm>
          <a:prstGeom prst="rect">
            <a:avLst/>
          </a:prstGeom>
          <a:solidFill>
            <a:schemeClr val="accent1"/>
          </a:solidFill>
          <a:ln w="9525">
            <a:solidFill>
              <a:schemeClr val="tx1"/>
            </a:solidFill>
            <a:miter lim="800000"/>
            <a:headEnd/>
            <a:tailEnd/>
          </a:ln>
        </p:spPr>
        <p:txBody>
          <a:bodyPr wrap="none" anchor="ctr"/>
          <a:lstStyle/>
          <a:p>
            <a:pPr algn="ctr"/>
            <a:r>
              <a:rPr lang="en-US" sz="3200">
                <a:latin typeface="Calibri" pitchFamily="34" charset="0"/>
              </a:rPr>
              <a:t>22</a:t>
            </a:r>
          </a:p>
        </p:txBody>
      </p:sp>
      <p:sp>
        <p:nvSpPr>
          <p:cNvPr id="7175" name="Text Box 8"/>
          <p:cNvSpPr txBox="1">
            <a:spLocks noChangeArrowheads="1"/>
          </p:cNvSpPr>
          <p:nvPr/>
        </p:nvSpPr>
        <p:spPr bwMode="auto">
          <a:xfrm>
            <a:off x="2514601" y="4495800"/>
            <a:ext cx="6950075" cy="1816100"/>
          </a:xfrm>
          <a:prstGeom prst="rect">
            <a:avLst/>
          </a:prstGeom>
          <a:noFill/>
          <a:ln w="9525">
            <a:noFill/>
            <a:miter lim="800000"/>
            <a:headEnd/>
            <a:tailEnd/>
          </a:ln>
        </p:spPr>
        <p:txBody>
          <a:bodyPr>
            <a:spAutoFit/>
          </a:bodyPr>
          <a:lstStyle/>
          <a:p>
            <a:r>
              <a:rPr lang="en-US" sz="2800">
                <a:latin typeface="Calibri" pitchFamily="34" charset="0"/>
              </a:rPr>
              <a:t>Hypothesis: If a person is drinking beer, they must be 21 years or older…</a:t>
            </a:r>
          </a:p>
          <a:p>
            <a:endParaRPr lang="en-US" sz="2800">
              <a:latin typeface="Calibri" pitchFamily="34" charset="0"/>
            </a:endParaRPr>
          </a:p>
          <a:p>
            <a:r>
              <a:rPr lang="en-US" sz="2800">
                <a:latin typeface="Calibri" pitchFamily="34" charset="0"/>
              </a:rPr>
              <a:t>Which cards do you turn over?</a:t>
            </a:r>
          </a:p>
        </p:txBody>
      </p:sp>
    </p:spTree>
    <p:extLst>
      <p:ext uri="{BB962C8B-B14F-4D97-AF65-F5344CB8AC3E}">
        <p14:creationId xmlns:p14="http://schemas.microsoft.com/office/powerpoint/2010/main" val="4261256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A84DB-AEBA-285F-1A2B-6948ACA84FB3}"/>
              </a:ext>
            </a:extLst>
          </p:cNvPr>
          <p:cNvSpPr>
            <a:spLocks noGrp="1"/>
          </p:cNvSpPr>
          <p:nvPr>
            <p:ph type="title"/>
          </p:nvPr>
        </p:nvSpPr>
        <p:spPr/>
        <p:txBody>
          <a:bodyPr/>
          <a:lstStyle/>
          <a:p>
            <a:r>
              <a:rPr lang="en-US" dirty="0"/>
              <a:t>Field Research</a:t>
            </a:r>
          </a:p>
        </p:txBody>
      </p:sp>
      <p:sp>
        <p:nvSpPr>
          <p:cNvPr id="3" name="Content Placeholder 2">
            <a:extLst>
              <a:ext uri="{FF2B5EF4-FFF2-40B4-BE49-F238E27FC236}">
                <a16:creationId xmlns:a16="http://schemas.microsoft.com/office/drawing/2014/main" id="{8F84B930-3A91-84B3-4F81-21C6B9690535}"/>
              </a:ext>
            </a:extLst>
          </p:cNvPr>
          <p:cNvSpPr>
            <a:spLocks noGrp="1"/>
          </p:cNvSpPr>
          <p:nvPr>
            <p:ph idx="1"/>
          </p:nvPr>
        </p:nvSpPr>
        <p:spPr/>
        <p:txBody>
          <a:bodyPr/>
          <a:lstStyle/>
          <a:p>
            <a:r>
              <a:rPr lang="en-US" dirty="0"/>
              <a:t>Can be qualitative</a:t>
            </a:r>
          </a:p>
          <a:p>
            <a:pPr lvl="1"/>
            <a:r>
              <a:rPr lang="en-US" dirty="0"/>
              <a:t>Interviews in context</a:t>
            </a:r>
          </a:p>
          <a:p>
            <a:pPr lvl="1"/>
            <a:r>
              <a:rPr lang="en-US" dirty="0"/>
              <a:t>Structured observation</a:t>
            </a:r>
          </a:p>
          <a:p>
            <a:pPr lvl="1"/>
            <a:endParaRPr lang="en-US" dirty="0"/>
          </a:p>
          <a:p>
            <a:r>
              <a:rPr lang="en-US" dirty="0"/>
              <a:t>Manipulating contextual variables</a:t>
            </a:r>
          </a:p>
          <a:p>
            <a:pPr lvl="1"/>
            <a:r>
              <a:rPr lang="en-US" dirty="0"/>
              <a:t>Making the research experimental</a:t>
            </a:r>
          </a:p>
        </p:txBody>
      </p:sp>
    </p:spTree>
    <p:extLst>
      <p:ext uri="{BB962C8B-B14F-4D97-AF65-F5344CB8AC3E}">
        <p14:creationId xmlns:p14="http://schemas.microsoft.com/office/powerpoint/2010/main" val="40146487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A3D1C-6B30-4705-0137-EC2193CE3D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099FE58-E15C-AF99-192A-CA7E8499F36C}"/>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95925D3A-B78D-C39B-064F-D7B238B6DBCA}"/>
              </a:ext>
            </a:extLst>
          </p:cNvPr>
          <p:cNvPicPr>
            <a:picLocks noChangeAspect="1"/>
          </p:cNvPicPr>
          <p:nvPr/>
        </p:nvPicPr>
        <p:blipFill>
          <a:blip r:embed="rId2"/>
          <a:stretch>
            <a:fillRect/>
          </a:stretch>
        </p:blipFill>
        <p:spPr>
          <a:xfrm>
            <a:off x="1836020" y="365125"/>
            <a:ext cx="8497683" cy="6153495"/>
          </a:xfrm>
          <a:prstGeom prst="rect">
            <a:avLst/>
          </a:prstGeom>
        </p:spPr>
      </p:pic>
    </p:spTree>
    <p:extLst>
      <p:ext uri="{BB962C8B-B14F-4D97-AF65-F5344CB8AC3E}">
        <p14:creationId xmlns:p14="http://schemas.microsoft.com/office/powerpoint/2010/main" val="93419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BD442-E9F6-9E03-A41B-5189516DDC38}"/>
              </a:ext>
            </a:extLst>
          </p:cNvPr>
          <p:cNvSpPr>
            <a:spLocks noGrp="1"/>
          </p:cNvSpPr>
          <p:nvPr>
            <p:ph type="title"/>
          </p:nvPr>
        </p:nvSpPr>
        <p:spPr/>
        <p:txBody>
          <a:bodyPr/>
          <a:lstStyle/>
          <a:p>
            <a:endParaRPr lang="en-US"/>
          </a:p>
        </p:txBody>
      </p:sp>
      <p:pic>
        <p:nvPicPr>
          <p:cNvPr id="9" name="Content Placeholder 8">
            <a:extLst>
              <a:ext uri="{FF2B5EF4-FFF2-40B4-BE49-F238E27FC236}">
                <a16:creationId xmlns:a16="http://schemas.microsoft.com/office/drawing/2014/main" id="{D513D425-B194-0F68-616E-FE0D5A1884E1}"/>
              </a:ext>
            </a:extLst>
          </p:cNvPr>
          <p:cNvPicPr>
            <a:picLocks noGrp="1" noChangeAspect="1"/>
          </p:cNvPicPr>
          <p:nvPr>
            <p:ph idx="1"/>
          </p:nvPr>
        </p:nvPicPr>
        <p:blipFill>
          <a:blip r:embed="rId2"/>
          <a:stretch>
            <a:fillRect/>
          </a:stretch>
        </p:blipFill>
        <p:spPr>
          <a:xfrm>
            <a:off x="5565211" y="173319"/>
            <a:ext cx="3971925" cy="2543175"/>
          </a:xfrm>
        </p:spPr>
      </p:pic>
      <p:pic>
        <p:nvPicPr>
          <p:cNvPr id="5" name="Picture 4">
            <a:extLst>
              <a:ext uri="{FF2B5EF4-FFF2-40B4-BE49-F238E27FC236}">
                <a16:creationId xmlns:a16="http://schemas.microsoft.com/office/drawing/2014/main" id="{33FD6701-24A8-9E29-524C-D5F462B10EA1}"/>
              </a:ext>
            </a:extLst>
          </p:cNvPr>
          <p:cNvPicPr>
            <a:picLocks noChangeAspect="1"/>
          </p:cNvPicPr>
          <p:nvPr/>
        </p:nvPicPr>
        <p:blipFill>
          <a:blip r:embed="rId3"/>
          <a:stretch>
            <a:fillRect/>
          </a:stretch>
        </p:blipFill>
        <p:spPr>
          <a:xfrm>
            <a:off x="838200" y="296862"/>
            <a:ext cx="3724275" cy="3057525"/>
          </a:xfrm>
          <a:prstGeom prst="rect">
            <a:avLst/>
          </a:prstGeom>
        </p:spPr>
      </p:pic>
      <p:pic>
        <p:nvPicPr>
          <p:cNvPr id="11" name="Picture 10">
            <a:extLst>
              <a:ext uri="{FF2B5EF4-FFF2-40B4-BE49-F238E27FC236}">
                <a16:creationId xmlns:a16="http://schemas.microsoft.com/office/drawing/2014/main" id="{74920F99-4746-EAFC-BD16-44453AEF9C5A}"/>
              </a:ext>
            </a:extLst>
          </p:cNvPr>
          <p:cNvPicPr>
            <a:picLocks noChangeAspect="1"/>
          </p:cNvPicPr>
          <p:nvPr/>
        </p:nvPicPr>
        <p:blipFill>
          <a:blip r:embed="rId4"/>
          <a:stretch>
            <a:fillRect/>
          </a:stretch>
        </p:blipFill>
        <p:spPr>
          <a:xfrm>
            <a:off x="838200" y="3270608"/>
            <a:ext cx="3762375" cy="1457325"/>
          </a:xfrm>
          <a:prstGeom prst="rect">
            <a:avLst/>
          </a:prstGeom>
        </p:spPr>
      </p:pic>
      <p:pic>
        <p:nvPicPr>
          <p:cNvPr id="13" name="Picture 12">
            <a:extLst>
              <a:ext uri="{FF2B5EF4-FFF2-40B4-BE49-F238E27FC236}">
                <a16:creationId xmlns:a16="http://schemas.microsoft.com/office/drawing/2014/main" id="{671AAF7E-003C-956C-9626-3CD81BB94659}"/>
              </a:ext>
            </a:extLst>
          </p:cNvPr>
          <p:cNvPicPr>
            <a:picLocks noChangeAspect="1"/>
          </p:cNvPicPr>
          <p:nvPr/>
        </p:nvPicPr>
        <p:blipFill>
          <a:blip r:embed="rId5"/>
          <a:stretch>
            <a:fillRect/>
          </a:stretch>
        </p:blipFill>
        <p:spPr>
          <a:xfrm>
            <a:off x="857250" y="5151270"/>
            <a:ext cx="3743325" cy="790575"/>
          </a:xfrm>
          <a:prstGeom prst="rect">
            <a:avLst/>
          </a:prstGeom>
        </p:spPr>
      </p:pic>
      <p:pic>
        <p:nvPicPr>
          <p:cNvPr id="15" name="Picture 14">
            <a:extLst>
              <a:ext uri="{FF2B5EF4-FFF2-40B4-BE49-F238E27FC236}">
                <a16:creationId xmlns:a16="http://schemas.microsoft.com/office/drawing/2014/main" id="{CFFEB166-92EB-E638-E8A2-CB58E2E9A144}"/>
              </a:ext>
            </a:extLst>
          </p:cNvPr>
          <p:cNvPicPr>
            <a:picLocks noChangeAspect="1"/>
          </p:cNvPicPr>
          <p:nvPr/>
        </p:nvPicPr>
        <p:blipFill>
          <a:blip r:embed="rId6"/>
          <a:stretch>
            <a:fillRect/>
          </a:stretch>
        </p:blipFill>
        <p:spPr>
          <a:xfrm>
            <a:off x="5565211" y="2899132"/>
            <a:ext cx="6353175" cy="2200275"/>
          </a:xfrm>
          <a:prstGeom prst="rect">
            <a:avLst/>
          </a:prstGeom>
        </p:spPr>
      </p:pic>
    </p:spTree>
    <p:extLst>
      <p:ext uri="{BB962C8B-B14F-4D97-AF65-F5344CB8AC3E}">
        <p14:creationId xmlns:p14="http://schemas.microsoft.com/office/powerpoint/2010/main" val="829352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C0E3C-4B91-38D8-FC81-AFC6D026F47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549A2A9-93E0-268C-112C-83937CE0FB61}"/>
              </a:ext>
            </a:extLst>
          </p:cNvPr>
          <p:cNvSpPr>
            <a:spLocks noGrp="1"/>
          </p:cNvSpPr>
          <p:nvPr>
            <p:ph idx="1"/>
          </p:nvPr>
        </p:nvSpPr>
        <p:spPr/>
        <p:txBody>
          <a:bodyPr/>
          <a:lstStyle/>
          <a:p>
            <a:r>
              <a:rPr lang="en-US" dirty="0"/>
              <a:t>Experiment 1 involves several measures collected at baseline and an experience sampling approach done by text messages over the next 10 days.  Which specific element of the Experiment 1 procedure would involve using qualitative methods to analyze?</a:t>
            </a:r>
          </a:p>
          <a:p>
            <a:endParaRPr lang="en-US" dirty="0"/>
          </a:p>
        </p:txBody>
      </p:sp>
    </p:spTree>
    <p:extLst>
      <p:ext uri="{BB962C8B-B14F-4D97-AF65-F5344CB8AC3E}">
        <p14:creationId xmlns:p14="http://schemas.microsoft.com/office/powerpoint/2010/main" val="1211356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0B5C1-3749-0D20-B18B-E316CCDC8540}"/>
              </a:ext>
            </a:extLst>
          </p:cNvPr>
          <p:cNvSpPr>
            <a:spLocks noGrp="1"/>
          </p:cNvSpPr>
          <p:nvPr>
            <p:ph type="title"/>
          </p:nvPr>
        </p:nvSpPr>
        <p:spPr/>
        <p:txBody>
          <a:bodyPr/>
          <a:lstStyle/>
          <a:p>
            <a:r>
              <a:rPr lang="en-US" dirty="0"/>
              <a:t>Experience Sampling</a:t>
            </a:r>
          </a:p>
        </p:txBody>
      </p:sp>
      <p:sp>
        <p:nvSpPr>
          <p:cNvPr id="3" name="Content Placeholder 2">
            <a:extLst>
              <a:ext uri="{FF2B5EF4-FFF2-40B4-BE49-F238E27FC236}">
                <a16:creationId xmlns:a16="http://schemas.microsoft.com/office/drawing/2014/main" id="{264016BD-D107-E17E-AC8A-3A40FAEB8ADF}"/>
              </a:ext>
            </a:extLst>
          </p:cNvPr>
          <p:cNvSpPr>
            <a:spLocks noGrp="1"/>
          </p:cNvSpPr>
          <p:nvPr>
            <p:ph idx="1"/>
          </p:nvPr>
        </p:nvSpPr>
        <p:spPr/>
        <p:txBody>
          <a:bodyPr/>
          <a:lstStyle/>
          <a:p>
            <a:r>
              <a:rPr lang="en-US" dirty="0"/>
              <a:t>Research method where participants are repeatedly asked to report on their thoughts, feelings, and behaviors in real-time throughout their daily lives, providing a snapshot of their experiences as they occur in their natural environment, usually through prompts on a mobile device or similar technology (text or reminder app).</a:t>
            </a:r>
          </a:p>
          <a:p>
            <a:pPr lvl="1"/>
            <a:endParaRPr lang="en-US" dirty="0"/>
          </a:p>
          <a:p>
            <a:r>
              <a:rPr lang="en-US" dirty="0"/>
              <a:t>What extraneous variables should we consider with this kind of real-world based data collection?</a:t>
            </a:r>
          </a:p>
        </p:txBody>
      </p:sp>
    </p:spTree>
    <p:extLst>
      <p:ext uri="{BB962C8B-B14F-4D97-AF65-F5344CB8AC3E}">
        <p14:creationId xmlns:p14="http://schemas.microsoft.com/office/powerpoint/2010/main" val="2021747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189C8-2CB6-0E0A-0B86-4D1E7CC7A56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5DCFA06-6FBF-0F0E-7C6A-B1242462E712}"/>
              </a:ext>
            </a:extLst>
          </p:cNvPr>
          <p:cNvSpPr>
            <a:spLocks noGrp="1"/>
          </p:cNvSpPr>
          <p:nvPr>
            <p:ph idx="1"/>
          </p:nvPr>
        </p:nvSpPr>
        <p:spPr/>
        <p:txBody>
          <a:bodyPr/>
          <a:lstStyle/>
          <a:p>
            <a:r>
              <a:rPr lang="en-US" dirty="0"/>
              <a:t>In Experiment 2, what variable was manipulated?  How many levels of the variable were used and what were they?</a:t>
            </a:r>
          </a:p>
          <a:p>
            <a:r>
              <a:rPr lang="en-US" dirty="0"/>
              <a:t>What aspect of Experiment 2 was analyzed with qualitative methods?</a:t>
            </a:r>
          </a:p>
          <a:p>
            <a:endParaRPr lang="en-US" dirty="0"/>
          </a:p>
        </p:txBody>
      </p:sp>
    </p:spTree>
    <p:extLst>
      <p:ext uri="{BB962C8B-B14F-4D97-AF65-F5344CB8AC3E}">
        <p14:creationId xmlns:p14="http://schemas.microsoft.com/office/powerpoint/2010/main" val="3236035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91BE2CA-45AC-A698-9D90-665B3BC0110C}"/>
              </a:ext>
            </a:extLst>
          </p:cNvPr>
          <p:cNvSpPr>
            <a:spLocks noGrp="1"/>
          </p:cNvSpPr>
          <p:nvPr>
            <p:ph type="title"/>
          </p:nvPr>
        </p:nvSpPr>
        <p:spPr/>
        <p:txBody>
          <a:bodyPr/>
          <a:lstStyle/>
          <a:p>
            <a:r>
              <a:rPr lang="en-US" dirty="0"/>
              <a:t>Exp 2</a:t>
            </a:r>
          </a:p>
        </p:txBody>
      </p:sp>
      <p:sp>
        <p:nvSpPr>
          <p:cNvPr id="5" name="Content Placeholder 4">
            <a:extLst>
              <a:ext uri="{FF2B5EF4-FFF2-40B4-BE49-F238E27FC236}">
                <a16:creationId xmlns:a16="http://schemas.microsoft.com/office/drawing/2014/main" id="{DF1CE734-C0FC-D8E4-4D33-7E5F25498FD1}"/>
              </a:ext>
            </a:extLst>
          </p:cNvPr>
          <p:cNvSpPr>
            <a:spLocks noGrp="1"/>
          </p:cNvSpPr>
          <p:nvPr>
            <p:ph sz="half" idx="1"/>
          </p:nvPr>
        </p:nvSpPr>
        <p:spPr/>
        <p:txBody>
          <a:bodyPr>
            <a:normAutofit fontScale="92500" lnSpcReduction="10000"/>
          </a:bodyPr>
          <a:lstStyle/>
          <a:p>
            <a:pPr algn="l"/>
            <a:r>
              <a:rPr lang="en-US" sz="1800" b="0" i="0" u="none" strike="noStrike" baseline="0" dirty="0">
                <a:latin typeface="ITCGaramondStd-Lt"/>
              </a:rPr>
              <a:t>Participants in the control condition were given a neutral task: “Tomorrow, we would like you to keep track of your activities. You do not need to remember who you were with or how you were feeling during that time. Instead, just try to remember factual information about what you are doing. Do not alter your routine. Simply keep track of what you do.”</a:t>
            </a:r>
          </a:p>
          <a:p>
            <a:pPr algn="l"/>
            <a:r>
              <a:rPr lang="en-US" sz="1800" b="0" i="0" u="none" strike="noStrike" baseline="0" dirty="0">
                <a:latin typeface="ITCGaramondStd-Lt"/>
              </a:rPr>
              <a:t>Participants in the </a:t>
            </a:r>
            <a:r>
              <a:rPr lang="en-US" sz="1800" b="0" i="0" u="none" strike="noStrike" baseline="0" dirty="0" err="1">
                <a:latin typeface="ITCGaramondStd-Lt"/>
              </a:rPr>
              <a:t>proenvironmental</a:t>
            </a:r>
            <a:r>
              <a:rPr lang="en-US" sz="1800" b="0" i="0" u="none" strike="noStrike" baseline="0" dirty="0">
                <a:latin typeface="ITCGaramondStd-Lt"/>
              </a:rPr>
              <a:t> behavior condition received the following instructions: “In our daily lives, we all make choices that affect the environment. Tomorrow, your task is to do three good things for the planet, all three in one day.” We gave a list of example behaviors, including some that would be easy for young adults to implement on any particular day (e.g., “Walk, bike, or take public transportation instead of driving” or “Find a new recipe that uses vegetarian or locally produced ingredients”)…</a:t>
            </a:r>
            <a:endParaRPr lang="en-US" dirty="0"/>
          </a:p>
        </p:txBody>
      </p:sp>
      <p:sp>
        <p:nvSpPr>
          <p:cNvPr id="6" name="Content Placeholder 5">
            <a:extLst>
              <a:ext uri="{FF2B5EF4-FFF2-40B4-BE49-F238E27FC236}">
                <a16:creationId xmlns:a16="http://schemas.microsoft.com/office/drawing/2014/main" id="{CBED12E6-4E5F-24C5-3F3B-EEA8C0D01CB9}"/>
              </a:ext>
            </a:extLst>
          </p:cNvPr>
          <p:cNvSpPr>
            <a:spLocks noGrp="1"/>
          </p:cNvSpPr>
          <p:nvPr>
            <p:ph sz="half" idx="2"/>
          </p:nvPr>
        </p:nvSpPr>
        <p:spPr/>
        <p:txBody>
          <a:bodyPr>
            <a:normAutofit fontScale="92500" lnSpcReduction="10000"/>
          </a:bodyPr>
          <a:lstStyle/>
          <a:p>
            <a:pPr algn="l"/>
            <a:r>
              <a:rPr lang="en-US" sz="1800" b="0" i="0" u="none" strike="noStrike" baseline="0" dirty="0">
                <a:latin typeface="ITCGaramondStd-Lt"/>
              </a:rPr>
              <a:t>Participants in the fun condition received the following instructions: “In our daily lives, we all perform acts of kindness for others, but we often neglect to do nice things for ourselves. Tomorrow, your task is to do three good things for yourself, all three in one day.” We again gave examples (e.g., “Relax in a bath or hot tub” and “Spend some time on a hobby”) and told participants that, although they could do whatever they liked, they should choose activities that they would not typically do for themselves.</a:t>
            </a:r>
          </a:p>
          <a:p>
            <a:pPr algn="l"/>
            <a:endParaRPr lang="en-US" sz="1800" dirty="0">
              <a:latin typeface="ITCGaramondStd-Lt"/>
            </a:endParaRPr>
          </a:p>
          <a:p>
            <a:pPr algn="l"/>
            <a:r>
              <a:rPr lang="en-US" sz="1800" b="0" i="0" u="none" strike="noStrike" baseline="0" dirty="0">
                <a:latin typeface="ITCGaramondStd-Lt"/>
              </a:rPr>
              <a:t>Two days later, participants returned for follow-up. They first completed SWB measures and afterward described in their own words what they had done on the previous day.</a:t>
            </a:r>
            <a:endParaRPr lang="en-US" dirty="0"/>
          </a:p>
        </p:txBody>
      </p:sp>
    </p:spTree>
    <p:extLst>
      <p:ext uri="{BB962C8B-B14F-4D97-AF65-F5344CB8AC3E}">
        <p14:creationId xmlns:p14="http://schemas.microsoft.com/office/powerpoint/2010/main" val="5195867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4BF9B-3211-AEF6-9BAF-211EC244E4F9}"/>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5E2C330B-1E79-936B-2391-16FF5AE5CC8D}"/>
              </a:ext>
            </a:extLst>
          </p:cNvPr>
          <p:cNvPicPr>
            <a:picLocks noGrp="1" noChangeAspect="1"/>
          </p:cNvPicPr>
          <p:nvPr>
            <p:ph sz="half" idx="1"/>
          </p:nvPr>
        </p:nvPicPr>
        <p:blipFill>
          <a:blip r:embed="rId2"/>
          <a:stretch>
            <a:fillRect/>
          </a:stretch>
        </p:blipFill>
        <p:spPr>
          <a:xfrm>
            <a:off x="1576387" y="2034381"/>
            <a:ext cx="3705225" cy="3933825"/>
          </a:xfrm>
        </p:spPr>
      </p:pic>
      <p:sp>
        <p:nvSpPr>
          <p:cNvPr id="4" name="Content Placeholder 3">
            <a:extLst>
              <a:ext uri="{FF2B5EF4-FFF2-40B4-BE49-F238E27FC236}">
                <a16:creationId xmlns:a16="http://schemas.microsoft.com/office/drawing/2014/main" id="{779B1447-4202-92D6-7455-A922FCA146D1}"/>
              </a:ext>
            </a:extLst>
          </p:cNvPr>
          <p:cNvSpPr>
            <a:spLocks noGrp="1"/>
          </p:cNvSpPr>
          <p:nvPr>
            <p:ph sz="half" idx="2"/>
          </p:nvPr>
        </p:nvSpPr>
        <p:spPr/>
        <p:txBody>
          <a:bodyPr/>
          <a:lstStyle/>
          <a:p>
            <a:endParaRPr lang="en-US"/>
          </a:p>
        </p:txBody>
      </p:sp>
      <p:pic>
        <p:nvPicPr>
          <p:cNvPr id="10" name="Picture 9">
            <a:extLst>
              <a:ext uri="{FF2B5EF4-FFF2-40B4-BE49-F238E27FC236}">
                <a16:creationId xmlns:a16="http://schemas.microsoft.com/office/drawing/2014/main" id="{F42F0C46-8C21-5DE4-3E5A-D09A5248AF8D}"/>
              </a:ext>
            </a:extLst>
          </p:cNvPr>
          <p:cNvPicPr>
            <a:picLocks noChangeAspect="1"/>
          </p:cNvPicPr>
          <p:nvPr/>
        </p:nvPicPr>
        <p:blipFill>
          <a:blip r:embed="rId3"/>
          <a:stretch>
            <a:fillRect/>
          </a:stretch>
        </p:blipFill>
        <p:spPr>
          <a:xfrm>
            <a:off x="6095999" y="1690687"/>
            <a:ext cx="4572000" cy="2150838"/>
          </a:xfrm>
          <a:prstGeom prst="rect">
            <a:avLst/>
          </a:prstGeom>
        </p:spPr>
      </p:pic>
      <p:pic>
        <p:nvPicPr>
          <p:cNvPr id="12" name="Picture 11">
            <a:extLst>
              <a:ext uri="{FF2B5EF4-FFF2-40B4-BE49-F238E27FC236}">
                <a16:creationId xmlns:a16="http://schemas.microsoft.com/office/drawing/2014/main" id="{70CC6C63-C29F-4950-BED8-B5BC014B919C}"/>
              </a:ext>
            </a:extLst>
          </p:cNvPr>
          <p:cNvPicPr>
            <a:picLocks noChangeAspect="1"/>
          </p:cNvPicPr>
          <p:nvPr/>
        </p:nvPicPr>
        <p:blipFill>
          <a:blip r:embed="rId4"/>
          <a:stretch>
            <a:fillRect/>
          </a:stretch>
        </p:blipFill>
        <p:spPr>
          <a:xfrm>
            <a:off x="6095999" y="3841525"/>
            <a:ext cx="4572000" cy="673395"/>
          </a:xfrm>
          <a:prstGeom prst="rect">
            <a:avLst/>
          </a:prstGeom>
        </p:spPr>
      </p:pic>
    </p:spTree>
    <p:extLst>
      <p:ext uri="{BB962C8B-B14F-4D97-AF65-F5344CB8AC3E}">
        <p14:creationId xmlns:p14="http://schemas.microsoft.com/office/powerpoint/2010/main" val="37151216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A237-EC7D-1631-21A5-21C9A922DF5C}"/>
              </a:ext>
            </a:extLst>
          </p:cNvPr>
          <p:cNvSpPr>
            <a:spLocks noGrp="1"/>
          </p:cNvSpPr>
          <p:nvPr>
            <p:ph type="title"/>
          </p:nvPr>
        </p:nvSpPr>
        <p:spPr/>
        <p:txBody>
          <a:bodyPr/>
          <a:lstStyle/>
          <a:p>
            <a:r>
              <a:rPr lang="en-US" dirty="0"/>
              <a:t>Open-ended questions</a:t>
            </a:r>
          </a:p>
        </p:txBody>
      </p:sp>
      <p:sp>
        <p:nvSpPr>
          <p:cNvPr id="3" name="Content Placeholder 2">
            <a:extLst>
              <a:ext uri="{FF2B5EF4-FFF2-40B4-BE49-F238E27FC236}">
                <a16:creationId xmlns:a16="http://schemas.microsoft.com/office/drawing/2014/main" id="{7EDEB92C-0633-3182-769F-088DA6140D56}"/>
              </a:ext>
            </a:extLst>
          </p:cNvPr>
          <p:cNvSpPr>
            <a:spLocks noGrp="1"/>
          </p:cNvSpPr>
          <p:nvPr>
            <p:ph sz="half" idx="1"/>
          </p:nvPr>
        </p:nvSpPr>
        <p:spPr/>
        <p:txBody>
          <a:bodyPr>
            <a:normAutofit/>
          </a:bodyPr>
          <a:lstStyle/>
          <a:p>
            <a:pPr algn="l"/>
            <a:endParaRPr lang="en-US" sz="1800" b="0" i="0" u="none" strike="noStrike" baseline="0" dirty="0">
              <a:latin typeface="ITCGaramondStd-Lt"/>
            </a:endParaRPr>
          </a:p>
          <a:p>
            <a:pPr algn="l"/>
            <a:r>
              <a:rPr lang="en-US" sz="1800" b="0" i="0" u="none" strike="noStrike" baseline="0" dirty="0">
                <a:latin typeface="ITCGaramondStd-Lt"/>
              </a:rPr>
              <a:t>Two days later, participants returned for follow-up. They first completed SWB measures and afterward described in their own words what they had done on the previous day.</a:t>
            </a:r>
          </a:p>
          <a:p>
            <a:pPr algn="l"/>
            <a:endParaRPr lang="en-US" sz="1800" b="0" i="0" u="none" strike="noStrike" baseline="0" dirty="0">
              <a:latin typeface="ITCGaramondStd-Lt"/>
            </a:endParaRPr>
          </a:p>
          <a:p>
            <a:pPr algn="l"/>
            <a:r>
              <a:rPr lang="en-US" sz="1800" b="0" i="0" u="none" strike="noStrike" baseline="0" dirty="0">
                <a:latin typeface="ITCGaramondStd-Lt"/>
              </a:rPr>
              <a:t>We content-coded the responses to the open-ended question in order to catalog the kinds of </a:t>
            </a:r>
            <a:r>
              <a:rPr lang="en-US" sz="1800" b="0" i="0" u="none" strike="noStrike" baseline="0" dirty="0" err="1">
                <a:latin typeface="ITCGaramondStd-Lt"/>
              </a:rPr>
              <a:t>proenvironmental</a:t>
            </a:r>
            <a:r>
              <a:rPr lang="en-US" sz="1800" b="0" i="0" u="none" strike="noStrike" baseline="0" dirty="0">
                <a:latin typeface="ITCGaramondStd-Lt"/>
              </a:rPr>
              <a:t> behaviors that participants chose to engage in.</a:t>
            </a:r>
          </a:p>
          <a:p>
            <a:pPr lvl="1"/>
            <a:r>
              <a:rPr lang="en-US" sz="1800" dirty="0">
                <a:latin typeface="ITCGaramondStd-Lt"/>
              </a:rPr>
              <a:t>N = 545</a:t>
            </a:r>
          </a:p>
          <a:p>
            <a:pPr lvl="1"/>
            <a:r>
              <a:rPr lang="en-US" sz="1800" dirty="0">
                <a:latin typeface="ITCGaramondStd-Lt"/>
              </a:rPr>
              <a:t>37 excluded for lack </a:t>
            </a:r>
            <a:r>
              <a:rPr lang="en-US" sz="1800">
                <a:latin typeface="ITCGaramondStd-Lt"/>
              </a:rPr>
              <a:t>of engagement</a:t>
            </a:r>
            <a:endParaRPr lang="en-US" sz="1800" dirty="0">
              <a:latin typeface="ITCGaramondStd-Lt"/>
            </a:endParaRPr>
          </a:p>
        </p:txBody>
      </p:sp>
      <p:pic>
        <p:nvPicPr>
          <p:cNvPr id="6" name="Content Placeholder 5">
            <a:extLst>
              <a:ext uri="{FF2B5EF4-FFF2-40B4-BE49-F238E27FC236}">
                <a16:creationId xmlns:a16="http://schemas.microsoft.com/office/drawing/2014/main" id="{84510703-E0E4-473D-8391-A596B19A8AEE}"/>
              </a:ext>
            </a:extLst>
          </p:cNvPr>
          <p:cNvPicPr>
            <a:picLocks noGrp="1" noChangeAspect="1"/>
          </p:cNvPicPr>
          <p:nvPr>
            <p:ph sz="half" idx="2"/>
          </p:nvPr>
        </p:nvPicPr>
        <p:blipFill>
          <a:blip r:embed="rId2"/>
          <a:stretch>
            <a:fillRect/>
          </a:stretch>
        </p:blipFill>
        <p:spPr>
          <a:xfrm>
            <a:off x="6172200" y="2393996"/>
            <a:ext cx="5181600" cy="3214595"/>
          </a:xfrm>
        </p:spPr>
      </p:pic>
    </p:spTree>
    <p:extLst>
      <p:ext uri="{BB962C8B-B14F-4D97-AF65-F5344CB8AC3E}">
        <p14:creationId xmlns:p14="http://schemas.microsoft.com/office/powerpoint/2010/main" val="25329389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306D3-189C-825E-E149-8EB1625A529C}"/>
              </a:ext>
            </a:extLst>
          </p:cNvPr>
          <p:cNvSpPr>
            <a:spLocks noGrp="1"/>
          </p:cNvSpPr>
          <p:nvPr>
            <p:ph type="title"/>
          </p:nvPr>
        </p:nvSpPr>
        <p:spPr/>
        <p:txBody>
          <a:bodyPr/>
          <a:lstStyle/>
          <a:p>
            <a:r>
              <a:rPr lang="en-US" dirty="0"/>
              <a:t>For Fri 11/14</a:t>
            </a:r>
          </a:p>
        </p:txBody>
      </p:sp>
      <p:sp>
        <p:nvSpPr>
          <p:cNvPr id="3" name="Content Placeholder 2">
            <a:extLst>
              <a:ext uri="{FF2B5EF4-FFF2-40B4-BE49-F238E27FC236}">
                <a16:creationId xmlns:a16="http://schemas.microsoft.com/office/drawing/2014/main" id="{FFE10212-53B8-89BA-1DC7-EB1612F3135B}"/>
              </a:ext>
            </a:extLst>
          </p:cNvPr>
          <p:cNvSpPr>
            <a:spLocks noGrp="1"/>
          </p:cNvSpPr>
          <p:nvPr>
            <p:ph idx="1"/>
          </p:nvPr>
        </p:nvSpPr>
        <p:spPr/>
        <p:txBody>
          <a:bodyPr/>
          <a:lstStyle/>
          <a:p>
            <a:r>
              <a:rPr lang="en-US" dirty="0"/>
              <a:t>Chapter 17, Applied Research</a:t>
            </a:r>
          </a:p>
          <a:p>
            <a:pPr lvl="1"/>
            <a:r>
              <a:rPr lang="en-US" dirty="0"/>
              <a:t>Questions on Canvas</a:t>
            </a:r>
          </a:p>
          <a:p>
            <a:pPr lvl="1"/>
            <a:endParaRPr lang="en-US" dirty="0"/>
          </a:p>
          <a:p>
            <a:pPr lvl="1"/>
            <a:endParaRPr lang="en-US" dirty="0"/>
          </a:p>
          <a:p>
            <a:r>
              <a:rPr lang="en-US" dirty="0"/>
              <a:t>Keep us posted on your Final Project proposal process</a:t>
            </a:r>
          </a:p>
          <a:p>
            <a:pPr lvl="1"/>
            <a:r>
              <a:rPr lang="en-US" dirty="0"/>
              <a:t>We want to approve these (when ready) so you can start </a:t>
            </a:r>
            <a:r>
              <a:rPr lang="en-US"/>
              <a:t>data collection</a:t>
            </a:r>
            <a:endParaRPr lang="en-US" dirty="0"/>
          </a:p>
        </p:txBody>
      </p:sp>
    </p:spTree>
    <p:extLst>
      <p:ext uri="{BB962C8B-B14F-4D97-AF65-F5344CB8AC3E}">
        <p14:creationId xmlns:p14="http://schemas.microsoft.com/office/powerpoint/2010/main" val="4702241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14214</TotalTime>
  <Words>1096</Words>
  <Application>Microsoft Office PowerPoint</Application>
  <PresentationFormat>Widescreen</PresentationFormat>
  <Paragraphs>87</Paragraphs>
  <Slides>18</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Aptos Display</vt:lpstr>
      <vt:lpstr>Arial</vt:lpstr>
      <vt:lpstr>Calibri</vt:lpstr>
      <vt:lpstr>ITCGaramondStd-Lt</vt:lpstr>
      <vt:lpstr>Lato Extended</vt:lpstr>
      <vt:lpstr>Office Theme</vt:lpstr>
      <vt:lpstr>301, Nov 12, Class 25</vt:lpstr>
      <vt:lpstr>Quasi-Experimental Research Methods</vt:lpstr>
      <vt:lpstr>Qualitative Research</vt:lpstr>
      <vt:lpstr>Interviews</vt:lpstr>
      <vt:lpstr>Quantifying Qualitative data</vt:lpstr>
      <vt:lpstr>PowerPoint Presentation</vt:lpstr>
      <vt:lpstr>Wason Card Task</vt:lpstr>
      <vt:lpstr>The Bar Bouncer task</vt:lpstr>
      <vt:lpstr>Field Research</vt:lpstr>
      <vt:lpstr>PowerPoint Presentation</vt:lpstr>
      <vt:lpstr>PowerPoint Presentation</vt:lpstr>
      <vt:lpstr>PowerPoint Presentation</vt:lpstr>
      <vt:lpstr>Experience Sampling</vt:lpstr>
      <vt:lpstr>PowerPoint Presentation</vt:lpstr>
      <vt:lpstr>Exp 2</vt:lpstr>
      <vt:lpstr>PowerPoint Presentation</vt:lpstr>
      <vt:lpstr>Open-ended questions</vt:lpstr>
      <vt:lpstr>For Fri 11/14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Paul Reber</dc:creator>
  <cp:lastModifiedBy>Paul Reber</cp:lastModifiedBy>
  <cp:revision>10</cp:revision>
  <dcterms:created xsi:type="dcterms:W3CDTF">2025-11-01T21:37:53Z</dcterms:created>
  <dcterms:modified xsi:type="dcterms:W3CDTF">2025-11-14T00:56:11Z</dcterms:modified>
</cp:coreProperties>
</file>