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65" r:id="rId2"/>
    <p:sldId id="380" r:id="rId3"/>
    <p:sldId id="381" r:id="rId4"/>
    <p:sldId id="382" r:id="rId5"/>
    <p:sldId id="383" r:id="rId6"/>
    <p:sldId id="384" r:id="rId7"/>
    <p:sldId id="385" r:id="rId8"/>
    <p:sldId id="387" r:id="rId9"/>
    <p:sldId id="388" r:id="rId10"/>
    <p:sldId id="386" r:id="rId11"/>
    <p:sldId id="261" r:id="rId12"/>
    <p:sldId id="326" r:id="rId13"/>
    <p:sldId id="327" r:id="rId14"/>
    <p:sldId id="328" r:id="rId15"/>
    <p:sldId id="329" r:id="rId16"/>
    <p:sldId id="330" r:id="rId17"/>
    <p:sldId id="332" r:id="rId18"/>
    <p:sldId id="331" r:id="rId19"/>
    <p:sldId id="363" r:id="rId20"/>
    <p:sldId id="335" r:id="rId21"/>
    <p:sldId id="337" r:id="rId22"/>
    <p:sldId id="3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A0A6F-04A1-4018-814E-B14B9F1D8F6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4793C-47C0-4DA0-AB76-CDDD70A53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2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65545" indent="-29444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77762" indent="-2355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8867" indent="-2355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19972" indent="-2355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91076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62181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33285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4390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C6454AF-A3F4-4654-85C8-8D53AD94A576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7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use of google scholar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09961E-0A26-45CB-B2A9-D09862605DC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D3B5-35EC-B7D2-6D61-CE98A6F5F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29367-0057-72CE-2F1B-10C6D3FF9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9BBD-1B67-ED0B-EBAB-F9C3BE5C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8C589-70EC-212F-3E2B-826AFC00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D859D-F83D-BA0B-A5E7-BB419157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6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DB60-3CF9-7A9C-31AE-6CF00521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F2F9A-9345-D42C-1505-01A1AB5F7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6C559-A6FA-065D-3210-FD14E02F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052DF-2C8A-44D6-0B05-06F0EA98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3728-AF3D-0122-3800-3117507B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8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0E32-12AD-44A6-F786-E218110A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E0CF9-5AB4-CD6A-8945-C60AFA0CF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E32F-C64E-BAA2-1433-A41376CF0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EFA3-BF56-FF7E-EF75-E480D7DE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6338-4893-517D-B278-C67949E3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3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E4AA-DF0A-B718-1742-85067FC1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577D-2117-293F-BCD3-A4F784A1B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5438-38D3-47D6-8F75-EA01A6117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C3CDB-C5B8-A584-A000-AE7CA8E8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D8F88-C509-A8B2-DD0A-5FB415971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72D82-F368-2186-DE80-79539769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1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D385-2EF9-31E5-929E-14874B1A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6943C-61E6-4A38-EA27-0574434B3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E0DCC-85A7-1269-BF1A-8A5ADA51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2F44D-769B-86D1-B31D-9059A668B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0F925-6F80-60B1-0140-333491D89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760722-0248-E66E-29A2-D32A7A85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6C0311-E8FF-9ACB-B583-DC8A571B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D30AD-42D1-D808-B110-76F2BB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9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9475-4DBC-179F-550A-B5F939E4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D89A2-6335-78E2-AECB-64B2F03D5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E25E4-5FF5-52D0-1C27-30196308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3A224-ABF3-6A30-FFDB-210A02BF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1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9545D-8C36-A72F-51FC-0ECE67A11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2530A-8047-8D3C-08C4-0003E735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5B1A1-0735-44E5-AD57-E9E2A97A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2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9262-6123-F203-36DE-8DE1CBB0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265D-E66E-EBF8-5F77-56AD1A867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163A3-A111-F804-9413-EDD6B9E40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3167A-623E-350B-5101-FDB3BD61E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ABE7A-3F08-C278-8646-56BFD340D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15BDB-824B-5EDF-7238-A8663036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49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79E9-3B93-316A-988E-88A89FC7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5561E-2748-FA43-818A-301649773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37341-56A1-5D32-98E6-6923E0766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8D3A0-7A3C-D56D-7771-48228171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0B277-DB85-AADF-5FE7-328E4521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B673E-F292-59C4-5416-5583CBE2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3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3403-268C-9848-00B0-36B78B13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46941-EEB2-50DE-D371-90DF44D86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0C41-606B-3DEB-9874-34CEF430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01FA1-38E5-D9F1-ADCC-AE673120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C7419-49B8-5508-97F5-37064CD5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53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28355-ECD6-26F8-0AB0-713204752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CDFEB-7633-BB1D-EAE2-ED15BFA43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95E4-B550-36CB-D78F-DEFDE998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55FB-2E28-6D53-AA0B-0FA1C12A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AD638-FA30-CD68-F1B6-29BD3126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6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36622-7490-3AC3-6417-30FB6C24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DCE2A-A83B-B750-3232-089526F36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6F4F6-AF55-19E1-C86B-A6C0050C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CE488-0C45-4C90-8B4B-0A64883178E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0E5CF-0FA2-8612-460E-F50097772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27D2D-D531-031A-ABAD-16891260A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F224A-8A88-4B5D-AD42-E43566A09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9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09702F-1732-99F7-1DE1-353E14C1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 Oct 3, Class 8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369137-096C-D7DC-0468-114E53858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 format writing</a:t>
            </a:r>
          </a:p>
          <a:p>
            <a:pPr lvl="1"/>
            <a:r>
              <a:rPr lang="en-US"/>
              <a:t>Scientific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8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03E5A2-83E0-67FE-2D12-9C93D90B8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483" y="159795"/>
            <a:ext cx="8341904" cy="633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02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8DED-679B-B64D-81D0-DC0C447D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03E28-F65F-AA11-BBFC-B66B1A9A8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2C51D-0796-B4E3-DA0F-4F00813DE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8" y="187325"/>
            <a:ext cx="5270501" cy="6359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ECAAB-0AFF-C6AF-9855-B1948D4E0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407" y="250825"/>
            <a:ext cx="3781425" cy="3971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D7B80C-EE39-F49B-2061-9ACFF3799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407" y="4124325"/>
            <a:ext cx="372427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4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AD80-115E-70CE-1E4E-ADBE97DE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6E63-0304-EF12-E7CD-CC6C5DC4C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AFE8B-9CC3-831C-A177-AFCE80E18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6540500" cy="3403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CC8862-5540-626E-CE78-F4083AC4D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0" y="4001294"/>
            <a:ext cx="6184900" cy="25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8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246A-8C81-1658-D463-FC34FD11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09BE-B85F-8B6C-A8EC-496E3F915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DEF7F-C36A-27D5-A570-BD0CAB9B7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10" y="242888"/>
            <a:ext cx="5214937" cy="4441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2DBFC2-2250-33F4-C52D-CD7BE91DC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4652289"/>
            <a:ext cx="5080635" cy="1720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4F1E2-BDB2-FE7E-87B5-F1FEBE27A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781" y="365125"/>
            <a:ext cx="5018909" cy="507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55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9028-26CF-FF4A-39EB-645A7A1F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96F3A-155F-FFF2-169A-EFCFDC59F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EE139-8835-5E6E-9038-181DCF77C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405" y="365125"/>
            <a:ext cx="9623516" cy="593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2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394B-78C6-63BC-6132-ADD3E484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8F512D-546F-5069-3EB8-E82FF1741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4342" y="2547344"/>
            <a:ext cx="6760842" cy="3132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3348AF-3A39-018B-C34B-D56753E3C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07" y="1120104"/>
            <a:ext cx="6623912" cy="135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D04A4-D13E-61B6-8CFD-D6BA8608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40120-9F40-447F-A001-3B9393473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6484A-A3E0-2934-6986-B9111001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42" y="377157"/>
            <a:ext cx="4862847" cy="5115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1FBC0A-89ED-3CCB-43BE-16A32217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59" y="2563181"/>
            <a:ext cx="5533383" cy="292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3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7BFD-9BAA-0013-AA59-325DCB71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Rigor and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77D86-E0FA-CF72-2F5B-BDD29C6F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8A462-0CEA-7D9F-2AC1-BB9D823D7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2532"/>
            <a:ext cx="3781425" cy="3762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47C5CC-6456-1FBF-C5B0-A48992C68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59" y="1822532"/>
            <a:ext cx="37433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3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47116-0779-307A-5695-87A51DEB1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bar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7A85-8411-4C31-880B-9BA8F47FE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D6286-4C51-D532-993F-8DC7014FC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129" y="1601942"/>
            <a:ext cx="6922420" cy="489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6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APA Report Sections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Abstract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Very concise summary, ~200 words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Introduction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Construct, background, hypothesis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Methods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Participants, materials, procedure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Results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Figure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Discussion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Conclusion, interpretation, limitations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References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136813-1B28-2F0B-509D-F20FBA9EBC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See APA provided 7</a:t>
            </a:r>
            <a:r>
              <a:rPr lang="en-US" baseline="30000" dirty="0"/>
              <a:t>th</a:t>
            </a:r>
            <a:r>
              <a:rPr lang="en-US" dirty="0"/>
              <a:t> edition sample “professional” paper for examples of manuscript format</a:t>
            </a:r>
          </a:p>
        </p:txBody>
      </p:sp>
    </p:spTree>
    <p:extLst>
      <p:ext uri="{BB962C8B-B14F-4D97-AF65-F5344CB8AC3E}">
        <p14:creationId xmlns:p14="http://schemas.microsoft.com/office/powerpoint/2010/main" val="1329568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237A-F255-4592-8221-15CA355C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Format: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3DCF7-7607-4442-AA51-DFF2ABB95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2D3B45"/>
                </a:solidFill>
                <a:latin typeface="Lato Extended"/>
              </a:rPr>
              <a:t>Which of the following is the main goal of the methods section of a research report?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a. Meticulously articulate how you analyzed the data.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b. Provide enough detail to allow an independent researcher to replicate your study.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c. Outline the demographic information of your participants so that reviewers can access the generalizability of your research.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d. Discuss the procedure you used so that readers can decide for themselves if your protocol is biased.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18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0C15-2283-432F-93E4-01054C37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Format: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541CE-646D-40C1-8278-FC11E15B1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Which of the following is usually beyond the scope of the results section of a quantitative research report?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a. Discussing what statistical techniques were used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b. Presenting figures and/or tables to portray the data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c. Providing detailed interpretation of the implications based on the data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d. Presenting specific statistics that were generated from the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75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36F9-34B5-4DD8-B815-B9978C46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Format: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EAD1-F80E-42EF-93C3-13FA395A5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If you state alternative explanations in your discussion, which of the following should you also consider doing?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a. Tell readers why the alternative explanation falls short of the primary explanation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b. Conduct statistics tests to test them specifically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c. Include reviewer opinions of whether they think the alternative explanation is better or worse than the primary explanation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d. Present a literature review that would allow readers to conduct a follow-up study based on the alternative explanation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777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1DEE-73EC-42EC-8ACC-2B18F5CE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Writing with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A18E-AD6A-4127-BDBE-7DCA7E20B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What is the role played by answering the question “who will you write for” in writing a research report?  How should the answer influence the writing process?</a:t>
            </a:r>
          </a:p>
          <a:p>
            <a:pPr lvl="1"/>
            <a:endParaRPr lang="en-US" dirty="0">
              <a:solidFill>
                <a:srgbClr val="2D3B45"/>
              </a:solidFill>
              <a:latin typeface="Lato Extended"/>
            </a:endParaRP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Citing previous research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Craik &amp; Tulving (1972) proposed that better memory would research from more semantic engagement with the material being studied and termed this “deeper” processing.</a:t>
            </a:r>
            <a:endParaRPr lang="en-US" b="0" i="0" dirty="0">
              <a:solidFill>
                <a:srgbClr val="2D3B45"/>
              </a:solidFill>
              <a:effectLst/>
              <a:latin typeface="Lato Extended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23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8C2B-BA5B-4F5F-A266-72BA398B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E0421-28C0-42A9-938F-5EA1ACA38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 format for the References section</a:t>
            </a:r>
          </a:p>
          <a:p>
            <a:pPr lvl="1"/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Craik, F. I. M., &amp; Lockhart, R. S. (1972). Levels of processing: A framework for memory research. </a:t>
            </a:r>
            <a:r>
              <a:rPr lang="en-US" sz="2400" i="1" dirty="0">
                <a:solidFill>
                  <a:srgbClr val="222222"/>
                </a:solidFill>
                <a:latin typeface="Arial" panose="020B0604020202020204" pitchFamily="34" charset="0"/>
              </a:rPr>
              <a:t>Journal of verbal learning and verbal behavior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sz="2400" i="1" dirty="0">
                <a:solidFill>
                  <a:srgbClr val="222222"/>
                </a:solidFill>
                <a:latin typeface="Arial" panose="020B0604020202020204" pitchFamily="34" charset="0"/>
              </a:rPr>
              <a:t>11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(6), 671-684. </a:t>
            </a:r>
            <a:r>
              <a:rPr lang="en-US" dirty="0"/>
              <a:t>http://dx.doi.org/10.1016/S0022-5371(72)80001-X.</a:t>
            </a:r>
            <a:endParaRPr lang="en-US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Craik, F. I. M., &amp; Tulving, E. (1975). Depth of processing and the retention of words in episodic memory. </a:t>
            </a:r>
            <a:r>
              <a:rPr lang="en-US" sz="2400" i="1" dirty="0">
                <a:solidFill>
                  <a:srgbClr val="222222"/>
                </a:solidFill>
                <a:latin typeface="Arial" panose="020B0604020202020204" pitchFamily="34" charset="0"/>
              </a:rPr>
              <a:t>Journal of experimental Psychology: general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sz="2400" i="1" dirty="0">
                <a:solidFill>
                  <a:srgbClr val="222222"/>
                </a:solidFill>
                <a:latin typeface="Arial" panose="020B0604020202020204" pitchFamily="34" charset="0"/>
              </a:rPr>
              <a:t>104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(3), 268. http://dx.doi.org/10.1037/0096-3445.104.3.268.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88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DC33-78A1-4865-83C2-BF38C9DE1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Theory: “Deep”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E555-A17C-49DC-9B43-DE4B133F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  <a:p>
            <a:pPr lvl="1"/>
            <a:r>
              <a:rPr lang="en-US" dirty="0"/>
              <a:t>What is it?</a:t>
            </a:r>
          </a:p>
          <a:p>
            <a:pPr lvl="1"/>
            <a:r>
              <a:rPr lang="en-US" dirty="0"/>
              <a:t>What isn’t it?</a:t>
            </a:r>
          </a:p>
          <a:p>
            <a:r>
              <a:rPr lang="en-US" dirty="0"/>
              <a:t>Mechanism </a:t>
            </a:r>
          </a:p>
          <a:p>
            <a:pPr lvl="1"/>
            <a:r>
              <a:rPr lang="en-US" dirty="0"/>
              <a:t>Inferred</a:t>
            </a:r>
          </a:p>
          <a:p>
            <a:r>
              <a:rPr lang="en-US" dirty="0"/>
              <a:t>Specific Procedures</a:t>
            </a:r>
          </a:p>
          <a:p>
            <a:pPr lvl="1"/>
            <a:r>
              <a:rPr lang="en-US" dirty="0"/>
              <a:t>Used in studies to test</a:t>
            </a:r>
          </a:p>
          <a:p>
            <a:pPr lvl="1"/>
            <a:r>
              <a:rPr lang="en-US" dirty="0"/>
              <a:t>Combination of testing operational definitions and underlying theory</a:t>
            </a:r>
          </a:p>
          <a:p>
            <a:pPr lvl="1"/>
            <a:r>
              <a:rPr lang="en-US" dirty="0"/>
              <a:t>What if our study hadn’t worked?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1344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1AE54-AB01-4304-8C7F-B4F517A7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B576-9DBE-422D-B4A0-EB63A5E88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on existing work</a:t>
            </a:r>
          </a:p>
          <a:p>
            <a:pPr lvl="1"/>
            <a:r>
              <a:rPr lang="en-US" dirty="0"/>
              <a:t>Strengthens confidence in conclusions</a:t>
            </a:r>
          </a:p>
          <a:p>
            <a:pPr lvl="1"/>
            <a:r>
              <a:rPr lang="en-US" dirty="0"/>
              <a:t>Very briefly review theory/mechanism</a:t>
            </a:r>
          </a:p>
          <a:p>
            <a:pPr lvl="1"/>
            <a:endParaRPr lang="en-US" dirty="0"/>
          </a:p>
          <a:p>
            <a:r>
              <a:rPr lang="en-US" dirty="0"/>
              <a:t>Adding something new</a:t>
            </a:r>
          </a:p>
          <a:p>
            <a:pPr lvl="1"/>
            <a:r>
              <a:rPr lang="en-US" dirty="0"/>
              <a:t>What is new about our study?</a:t>
            </a:r>
          </a:p>
          <a:p>
            <a:pPr lvl="1"/>
            <a:r>
              <a:rPr lang="en-US" dirty="0"/>
              <a:t>Motivate the current study to add to prior work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32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C430-C521-F269-5711-20F25943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 Methods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C378-1140-4C2B-CE55-92AD57274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Participants</a:t>
            </a:r>
          </a:p>
          <a:p>
            <a:pPr lvl="1"/>
            <a:r>
              <a:rPr lang="en-US" dirty="0"/>
              <a:t>28 students from two sections of a Research Methods classes</a:t>
            </a:r>
          </a:p>
          <a:p>
            <a:endParaRPr lang="en-US" dirty="0"/>
          </a:p>
          <a:p>
            <a:r>
              <a:rPr lang="en-US" dirty="0"/>
              <a:t>Materials</a:t>
            </a:r>
          </a:p>
          <a:p>
            <a:pPr lvl="1"/>
            <a:r>
              <a:rPr lang="en-US" sz="2800" dirty="0"/>
              <a:t>A set of 60 words was used for the study and test stimuli.  Words were selected to have a written frequency of 30-80 per million and to be 5-8 letters in length.</a:t>
            </a:r>
          </a:p>
          <a:p>
            <a:pPr lvl="1"/>
            <a:endParaRPr lang="en-US" dirty="0"/>
          </a:p>
          <a:p>
            <a:r>
              <a:rPr lang="en-US" dirty="0"/>
              <a:t>Procedure</a:t>
            </a:r>
          </a:p>
          <a:p>
            <a:pPr lvl="1"/>
            <a:r>
              <a:rPr lang="en-US" dirty="0"/>
              <a:t>4s time per word to rate (automatic advance)</a:t>
            </a:r>
          </a:p>
          <a:p>
            <a:pPr lvl="2"/>
            <a:r>
              <a:rPr lang="en-US" dirty="0"/>
              <a:t>“For each word, rate how much you like the word on a 1 to 5 scale. 5 means you like the word very much and 1 means you dislike the word very much. Indicate your rating with keyboard or mouse.”</a:t>
            </a:r>
          </a:p>
          <a:p>
            <a:pPr lvl="2"/>
            <a:r>
              <a:rPr lang="en-US" dirty="0"/>
              <a:t>“For each word, count the number of vowels in each word. Enter the number with keyboard or mouse"</a:t>
            </a:r>
          </a:p>
          <a:p>
            <a:pPr lvl="1"/>
            <a:r>
              <a:rPr lang="en-US" dirty="0"/>
              <a:t>3m delay period completing trivia questions</a:t>
            </a:r>
          </a:p>
          <a:p>
            <a:pPr lvl="1"/>
            <a:r>
              <a:rPr lang="en-US" dirty="0"/>
              <a:t>60 item post-test, 30 old, 30 new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33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39C2-8D3D-4CEF-A0F5-3DF29842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D84FA-E4AA-4AE3-8E94-BB6DE2F67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all of:</a:t>
            </a:r>
          </a:p>
          <a:p>
            <a:pPr lvl="1"/>
            <a:r>
              <a:rPr lang="en-US" dirty="0"/>
              <a:t>Descriptive statistics: mean, SD, SE</a:t>
            </a:r>
          </a:p>
          <a:p>
            <a:pPr lvl="1"/>
            <a:r>
              <a:rPr lang="en-US" dirty="0"/>
              <a:t>Inferential statistics: t-test in APA format</a:t>
            </a:r>
          </a:p>
          <a:p>
            <a:pPr lvl="1"/>
            <a:r>
              <a:rPr lang="en-US" dirty="0"/>
              <a:t>Figure &amp; caption</a:t>
            </a:r>
          </a:p>
          <a:p>
            <a:pPr lvl="1"/>
            <a:endParaRPr lang="en-US" dirty="0"/>
          </a:p>
          <a:p>
            <a:r>
              <a:rPr lang="en-US" dirty="0"/>
              <a:t>As discussed in class, the text report will be very compact following the template we filled in during class Wednesday</a:t>
            </a:r>
          </a:p>
        </p:txBody>
      </p:sp>
    </p:spTree>
    <p:extLst>
      <p:ext uri="{BB962C8B-B14F-4D97-AF65-F5344CB8AC3E}">
        <p14:creationId xmlns:p14="http://schemas.microsoft.com/office/powerpoint/2010/main" val="3222531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E510-5E66-C60F-A70A-DE89CF02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writeup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FC1E-CB4A-4CE9-74C8-0371F5958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title page, abstract</a:t>
            </a:r>
          </a:p>
          <a:p>
            <a:r>
              <a:rPr lang="en-US" dirty="0"/>
              <a:t>Introduction: 1-2 paragraphs citing prior work, noting what is new about this study</a:t>
            </a:r>
          </a:p>
          <a:p>
            <a:r>
              <a:rPr lang="en-US" dirty="0"/>
              <a:t>Methods: full detail</a:t>
            </a:r>
          </a:p>
          <a:p>
            <a:r>
              <a:rPr lang="en-US" dirty="0"/>
              <a:t>Results: full detail including Figure and caption</a:t>
            </a:r>
          </a:p>
          <a:p>
            <a:r>
              <a:rPr lang="en-US" dirty="0"/>
              <a:t>Discussion: 1-2 paragraphs summarizing conclusion, note limitations</a:t>
            </a:r>
          </a:p>
          <a:p>
            <a:pPr lvl="1"/>
            <a:r>
              <a:rPr lang="en-US" dirty="0"/>
              <a:t>Finish on strong positive statement!</a:t>
            </a:r>
          </a:p>
          <a:p>
            <a:r>
              <a:rPr lang="en-US" dirty="0"/>
              <a:t>References: </a:t>
            </a:r>
          </a:p>
        </p:txBody>
      </p:sp>
    </p:spTree>
    <p:extLst>
      <p:ext uri="{BB962C8B-B14F-4D97-AF65-F5344CB8AC3E}">
        <p14:creationId xmlns:p14="http://schemas.microsoft.com/office/powerpoint/2010/main" val="1598130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7750-9B43-5E36-160C-845009EA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 Oct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BF2C1-71FE-E775-268F-B474F2957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8, Within-participants design</a:t>
            </a:r>
          </a:p>
          <a:p>
            <a:endParaRPr lang="en-US" dirty="0"/>
          </a:p>
          <a:p>
            <a:r>
              <a:rPr lang="en-US" dirty="0"/>
              <a:t>Bring any questions on the first writeup</a:t>
            </a:r>
          </a:p>
        </p:txBody>
      </p:sp>
    </p:spTree>
    <p:extLst>
      <p:ext uri="{BB962C8B-B14F-4D97-AF65-F5344CB8AC3E}">
        <p14:creationId xmlns:p14="http://schemas.microsoft.com/office/powerpoint/2010/main" val="1627413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13446</TotalTime>
  <Words>813</Words>
  <Application>Microsoft Office PowerPoint</Application>
  <PresentationFormat>Widescreen</PresentationFormat>
  <Paragraphs>102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Lato Extended</vt:lpstr>
      <vt:lpstr>Office Theme</vt:lpstr>
      <vt:lpstr>301 Oct 3, Class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Rigor and reproducibility</vt:lpstr>
      <vt:lpstr>Example bar graph</vt:lpstr>
      <vt:lpstr>APA Report Sections</vt:lpstr>
      <vt:lpstr>APA Format: Methods</vt:lpstr>
      <vt:lpstr>APA Format: Results</vt:lpstr>
      <vt:lpstr>APA Format: Discussion</vt:lpstr>
      <vt:lpstr>APA Writing with Style</vt:lpstr>
      <vt:lpstr>Background literature</vt:lpstr>
      <vt:lpstr>Theory: “Deep” Encoding</vt:lpstr>
      <vt:lpstr>Research Context</vt:lpstr>
      <vt:lpstr>Experiment 1 Methods information</vt:lpstr>
      <vt:lpstr>Results</vt:lpstr>
      <vt:lpstr>First writeup</vt:lpstr>
      <vt:lpstr>For Mon Oct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10, Class 9</dc:title>
  <dc:creator>Paul Reber</dc:creator>
  <cp:lastModifiedBy>Paul Reber</cp:lastModifiedBy>
  <cp:revision>19</cp:revision>
  <dcterms:created xsi:type="dcterms:W3CDTF">2022-10-06T20:54:17Z</dcterms:created>
  <dcterms:modified xsi:type="dcterms:W3CDTF">2025-10-03T14:27:49Z</dcterms:modified>
</cp:coreProperties>
</file>