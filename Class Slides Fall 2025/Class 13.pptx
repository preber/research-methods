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62" r:id="rId3"/>
    <p:sldId id="263" r:id="rId4"/>
    <p:sldId id="384" r:id="rId5"/>
    <p:sldId id="340" r:id="rId6"/>
    <p:sldId id="339" r:id="rId7"/>
    <p:sldId id="402" r:id="rId8"/>
    <p:sldId id="338" r:id="rId9"/>
    <p:sldId id="337" r:id="rId10"/>
    <p:sldId id="403" r:id="rId11"/>
    <p:sldId id="341" r:id="rId12"/>
    <p:sldId id="342" r:id="rId13"/>
    <p:sldId id="404" r:id="rId14"/>
    <p:sldId id="396" r:id="rId15"/>
    <p:sldId id="383" r:id="rId16"/>
    <p:sldId id="401" r:id="rId17"/>
    <p:sldId id="258" r:id="rId18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9" autoAdjust="0"/>
    <p:restoredTop sz="94660"/>
  </p:normalViewPr>
  <p:slideViewPr>
    <p:cSldViewPr snapToGrid="0">
      <p:cViewPr varScale="1">
        <p:scale>
          <a:sx n="75" d="100"/>
          <a:sy n="75" d="100"/>
        </p:scale>
        <p:origin x="6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859F0-804D-4223-B041-240447BC458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5A7C2-4D3B-429A-B61A-F60A0B6DE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9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E4C8E8-E769-4FB3-BD13-F5445F1CB92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80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DBC92-A2CD-430F-B457-AE151215CE4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5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2E51-F05B-5960-0F11-21EC404CF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FED54-F6A8-DFFE-421A-E70161077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34FF4-93B6-4A20-C59B-D8387AD8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6CD25-28BD-2759-A7A8-CED5831F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C2A38-64F0-5839-3A6A-00ABCE75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8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7D3F-FD7F-BBE5-A0ED-D59B6F78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EEF2-4795-0AA5-6FC8-0910AF2F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E47BF-938F-FAB0-D85B-C9A292C3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8313-DECC-4FFC-E6CD-12A53ACE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6842-9AF2-2C89-7E47-13284B87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5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76B4-EA6E-9196-7E29-6A902EDD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8E1F1-745A-9418-0881-9C746335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247FC-5B5F-8043-899B-AC0C08675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8F9CC-D47A-1044-505C-52B76849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BB174-11C0-FBC0-EF62-DF3D012B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60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813B-3404-C09F-0ABD-9F1541D4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310DE-8B24-13AA-342D-A7ACCB5EE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3C2E4-DF0A-11B2-20DE-536CBB525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4AAD0-31F7-B606-83C0-69C346CC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D683C-4158-9675-C8E3-5C28C9F9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698A9-804F-130D-D880-3ECA1D71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0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F9DD-6292-3450-EAC0-E164CB0C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1EAB3-FC97-1D98-A20B-5C7EE1DAD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67B39-BE51-CF53-97C3-24F4CAE57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16E3B-975C-F877-8FEB-E13BA504F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CD29E-F271-792C-F841-4781FB15AE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5AB11C-3A8C-7B91-FD71-90EC819D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7BE75-676E-5885-D016-425FE282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7E4B4-AAF9-42D0-874F-C98CB8CB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7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E26A5-5368-AFEB-496A-730DAD06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81E1B-2B9C-C2B9-7DD5-BC9EB6EB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BD2B5-2A1C-B28C-8367-444CDC76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DF7BF-CB0F-7C41-50BC-4944EA69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58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96D9F-F50B-CF1F-613B-D5A5D9DE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8F7C5E-CBAB-41BC-EF1B-FC451A40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D81B8-2CC9-5E14-00EE-BE8C9C1C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3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2157-D421-06C0-9BA7-F5417313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EB16-DF26-EAF7-046C-991366C67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91614-6C41-C258-9BB2-736EF9831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D7E46-CD95-5B51-9BDB-FCDF721ED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E3104-AB04-9E36-A9D5-27C457E7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B14D4-EAD2-95D9-FE15-5A48FC2C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4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62B5-2B36-A498-884E-C7E4D1D7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F29C7-9BC4-058B-D48D-F95C12096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68562-A951-2350-E314-2680C4DDB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66DFD-9021-4245-D87B-9CC3B98C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DB002-76E4-EFC4-4D64-5CA5F3F0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1E8D3-142F-9EEA-B75B-11737F70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58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D0C9-3160-22A9-9376-750BB659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15EB0-064B-9BEA-D25D-54D89CEB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4123E-0961-26F2-F05E-7D5AB34F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A5F3F-80F6-28E5-7266-A1F7A47F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FBBA6-AB80-786E-2ECD-9473676F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2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7729C-DB9A-2FB3-3BA1-D8FD03FB4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854D9-67BA-A209-A2D2-964E48FED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E732F-3264-81E6-B4D1-19936008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D9D6-AC82-1D2B-518C-713FE885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59EBC-A081-0F37-138C-6CB73824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6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36D8A-BEA1-5154-40A7-AB4BD681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F7FCC-128B-9CE5-4C7C-60F6F2C3F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A1248-0A06-41FF-0603-038F43BA6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63E99-B727-4AB5-A57C-5856466DE02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3E0C-5B6B-33D1-157D-1084FA509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95E0-4624-00AF-10CD-B81F36EA8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79B89-897D-4C93-BAF1-1B27D9108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5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8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87FE6A-4A0F-6811-5027-3576587F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 Oct 15, Class 13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2002CF-076C-7FCC-F981-C9081C6CF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Baddley &amp; Hitch (2017)</a:t>
            </a:r>
          </a:p>
          <a:p>
            <a:pPr lvl="1"/>
            <a:r>
              <a:rPr lang="en-US" dirty="0"/>
              <a:t>Designing Experiment 2</a:t>
            </a:r>
          </a:p>
          <a:p>
            <a:pPr lvl="1"/>
            <a:r>
              <a:rPr lang="en-US" dirty="0"/>
              <a:t>Examples of factorial design and analysis</a:t>
            </a:r>
          </a:p>
        </p:txBody>
      </p:sp>
    </p:spTree>
    <p:extLst>
      <p:ext uri="{BB962C8B-B14F-4D97-AF65-F5344CB8AC3E}">
        <p14:creationId xmlns:p14="http://schemas.microsoft.com/office/powerpoint/2010/main" val="29396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Choosing where to sit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In a study of interpersonal closeness, researchers primed either independence or interdependence by writing out reasons why they thought of themselves as similar or different from their close friends and family.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Participants were then were asked to take a seat in a waiting area full of chairs where a jacket indicated the presence of another person.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Data from men and women in the study were considered separately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The dependent variable measured was the number of chairs between the jacket and the chosen seat.</a:t>
            </a:r>
          </a:p>
        </p:txBody>
      </p:sp>
    </p:spTree>
    <p:extLst>
      <p:ext uri="{BB962C8B-B14F-4D97-AF65-F5344CB8AC3E}">
        <p14:creationId xmlns:p14="http://schemas.microsoft.com/office/powerpoint/2010/main" val="3584830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Group 2"/>
          <p:cNvGraphicFramePr>
            <a:graphicFrameLocks noGrp="1"/>
          </p:cNvGraphicFramePr>
          <p:nvPr/>
        </p:nvGraphicFramePr>
        <p:xfrm>
          <a:off x="1828800" y="228600"/>
          <a:ext cx="5410200" cy="27813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Women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Independent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Interdepdendent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076" name="Object 20"/>
          <p:cNvGraphicFramePr>
            <a:graphicFrameLocks noChangeAspect="1"/>
          </p:cNvGraphicFramePr>
          <p:nvPr/>
        </p:nvGraphicFramePr>
        <p:xfrm>
          <a:off x="5562600" y="3201989"/>
          <a:ext cx="5105400" cy="337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419600" imgH="2924231" progId="MSGraph.Chart.8">
                  <p:embed followColorScheme="full"/>
                </p:oleObj>
              </mc:Choice>
              <mc:Fallback>
                <p:oleObj name="Chart" r:id="rId3" imgW="4419600" imgH="2924231" progId="MSGraph.Chart.8">
                  <p:embed followColorScheme="full"/>
                  <p:pic>
                    <p:nvPicPr>
                      <p:cNvPr id="4507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201989"/>
                        <a:ext cx="5105400" cy="337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105401" y="1447800"/>
            <a:ext cx="1831975" cy="1208088"/>
            <a:chOff x="1344" y="1031"/>
            <a:chExt cx="1154" cy="761"/>
          </a:xfrm>
        </p:grpSpPr>
        <p:sp>
          <p:nvSpPr>
            <p:cNvPr id="3094" name="Text Box 22"/>
            <p:cNvSpPr txBox="1">
              <a:spLocks noChangeArrowheads="1"/>
            </p:cNvSpPr>
            <p:nvPr/>
          </p:nvSpPr>
          <p:spPr bwMode="auto">
            <a:xfrm>
              <a:off x="1344" y="1031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6.1</a:t>
              </a:r>
            </a:p>
          </p:txBody>
        </p:sp>
        <p:sp>
          <p:nvSpPr>
            <p:cNvPr id="3095" name="Text Box 23"/>
            <p:cNvSpPr txBox="1">
              <a:spLocks noChangeArrowheads="1"/>
            </p:cNvSpPr>
            <p:nvPr/>
          </p:nvSpPr>
          <p:spPr bwMode="auto">
            <a:xfrm>
              <a:off x="2198" y="1031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4.5</a:t>
              </a:r>
            </a:p>
          </p:txBody>
        </p:sp>
        <p:sp>
          <p:nvSpPr>
            <p:cNvPr id="3096" name="Text Box 24"/>
            <p:cNvSpPr txBox="1">
              <a:spLocks noChangeArrowheads="1"/>
            </p:cNvSpPr>
            <p:nvPr/>
          </p:nvSpPr>
          <p:spPr bwMode="auto">
            <a:xfrm>
              <a:off x="1344" y="1559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4.3</a:t>
              </a:r>
            </a:p>
          </p:txBody>
        </p:sp>
        <p:sp>
          <p:nvSpPr>
            <p:cNvPr id="3097" name="Text Box 25"/>
            <p:cNvSpPr txBox="1">
              <a:spLocks noChangeArrowheads="1"/>
            </p:cNvSpPr>
            <p:nvPr/>
          </p:nvSpPr>
          <p:spPr bwMode="auto">
            <a:xfrm>
              <a:off x="2198" y="1559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2.7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430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50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5444-0321-4893-B2B7-E56A8EEC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C909-DB84-45E4-ACC9-DA076CC70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D513838-5D5A-41D4-9FB2-129EBC3696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1500" y="1714500"/>
            <a:ext cx="3429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5A4843-1060-4663-AD6B-A946DA7307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752600"/>
            <a:ext cx="3352800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E69E03-E93E-A938-4CF2-B1904E6011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0590"/>
          <a:stretch/>
        </p:blipFill>
        <p:spPr>
          <a:xfrm>
            <a:off x="4866649" y="2205038"/>
            <a:ext cx="2458703" cy="2447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2DF61A-7608-AD6A-FA7F-A55B8F9C85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832"/>
          <a:stretch/>
        </p:blipFill>
        <p:spPr>
          <a:xfrm>
            <a:off x="4916283" y="2224088"/>
            <a:ext cx="235943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9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0461-7BC3-B21C-7924-D6152C06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943A-7AE9-3638-5705-F7BC3F586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8E513-CCFA-7054-B82F-CB83640FF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2" y="365125"/>
            <a:ext cx="10417178" cy="588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01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C19B3-8A06-CCDD-CD22-A4625B49F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31E8-A4F4-7F44-5336-8ECE62710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AA4DC-3240-6A77-B626-C9959F8F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976312"/>
            <a:ext cx="76485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8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FEB3-5586-213F-5910-F95E46A7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5A6F4-0825-1405-E6F5-7C5D0781F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Experiment 1, what were the 2 factors and levels of each in the experimental design?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did these studies not use an incidental learning paradigm as the prior work (and ours) did?  (see the General discussion)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643F-20E7-0D98-0BEE-6AD83B35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182A-D177-0AE7-5CC2-6DDF049CC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7A995-F986-453E-8E44-1F41F3A0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350" y="681037"/>
            <a:ext cx="4467225" cy="3171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96B076-D1D0-DDEE-4DB5-D07BB3BA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02379"/>
            <a:ext cx="441007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0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3D64-3003-D86A-77B6-33439D83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BF16-9F21-440A-3E87-1E66D2579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C2C26-A921-02A4-6D7F-840BC48A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2" y="596285"/>
            <a:ext cx="6175303" cy="478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3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073A-1EDE-78CE-812A-C8AAEB38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9E848-3649-8D5F-4129-AA7CD7E93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Experiment 2, what were the factors and how many levels of each factor were used in the experimental design?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AACE2-F620-CA7A-04F4-BE8CF3EE5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387" y="3235325"/>
            <a:ext cx="446722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27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BDA7-BCBD-3A08-2AA7-06CD2DE7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C8AA-FAC1-5027-5A6A-17D0540A8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4AD1F-AFE7-D5CF-6CB6-81E524BBC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21" y="365125"/>
            <a:ext cx="3542339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1DD17B-8C4A-00B7-D77C-E73710388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309" y="365125"/>
            <a:ext cx="3634154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FA6D72-B485-EA00-45FB-131F12A8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644" y="3518029"/>
            <a:ext cx="3602892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EE7890-1C63-171B-05A8-8F44E8493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801" y="3518029"/>
            <a:ext cx="355317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34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8A0A-C4D6-080E-8D04-84997633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7A0EF-3B8A-6EFE-EBC4-4B828AAC5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824" y="1825625"/>
            <a:ext cx="3990975" cy="4351338"/>
          </a:xfrm>
        </p:spPr>
        <p:txBody>
          <a:bodyPr/>
          <a:lstStyle/>
          <a:p>
            <a:r>
              <a:rPr lang="en-US" dirty="0"/>
              <a:t>Using effect size estimates to view data across different studies</a:t>
            </a:r>
          </a:p>
          <a:p>
            <a:pPr lvl="1"/>
            <a:r>
              <a:rPr lang="en-US" dirty="0"/>
              <a:t>Meta-analysis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Cohen’s d effect sizes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AA68A-A8E9-C5A5-882C-2A88F1ED4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61988"/>
            <a:ext cx="65246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22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4390-3A49-8BF4-ECD2-9AE3E9EC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DA76F-3726-808C-42D3-19E7B91D8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the authors conclude about the effect of “deep” encoding on visual non-verbal stimuli?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2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F2525-4291-430F-8A31-FE11E958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ADD6-A925-4870-AA59-8B48FD2D8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7AB323-8DBF-59A0-C1A1-4945B21A1B10}"/>
              </a:ext>
            </a:extLst>
          </p:cNvPr>
          <p:cNvGrpSpPr/>
          <p:nvPr/>
        </p:nvGrpSpPr>
        <p:grpSpPr>
          <a:xfrm>
            <a:off x="2209800" y="1714500"/>
            <a:ext cx="7803931" cy="3429000"/>
            <a:chOff x="2209800" y="2277269"/>
            <a:chExt cx="7803931" cy="3429000"/>
          </a:xfrm>
        </p:grpSpPr>
        <p:pic>
          <p:nvPicPr>
            <p:cNvPr id="4" name="Content Placeholder 4">
              <a:extLst>
                <a:ext uri="{FF2B5EF4-FFF2-40B4-BE49-F238E27FC236}">
                  <a16:creationId xmlns:a16="http://schemas.microsoft.com/office/drawing/2014/main" id="{A6D5D7EF-CAC1-4983-874F-F902F4860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209800" y="2277269"/>
              <a:ext cx="3429000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9B4BF1-1812-4EE1-B7B3-99CE0ADF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4731" y="2277269"/>
              <a:ext cx="3429000" cy="34290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AF84A9-0222-0096-0BB5-4E582C11D751}"/>
              </a:ext>
            </a:extLst>
          </p:cNvPr>
          <p:cNvGrpSpPr/>
          <p:nvPr/>
        </p:nvGrpSpPr>
        <p:grpSpPr>
          <a:xfrm>
            <a:off x="2254956" y="1836683"/>
            <a:ext cx="7937451" cy="3429000"/>
            <a:chOff x="2254956" y="1836683"/>
            <a:chExt cx="7937451" cy="3429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8B11BA-8F18-4454-8382-37F13112D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3407" y="1836683"/>
              <a:ext cx="3429000" cy="3429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F0A299-94F0-4D31-8B1F-72349858E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4956" y="1836683"/>
              <a:ext cx="3429000" cy="34290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4FB0190-B23C-2D25-0D0F-6D1B84D386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62" y="2205038"/>
            <a:ext cx="6238875" cy="2447925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084B2B9-9D7E-E11E-C0BB-27F57A9B30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5137" y="2224088"/>
            <a:ext cx="618172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D1DC-41CC-442E-9023-E3EA0170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3403-5B94-4A0B-BDCB-34912BCE4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Shallow?</a:t>
            </a:r>
          </a:p>
        </p:txBody>
      </p:sp>
    </p:spTree>
    <p:extLst>
      <p:ext uri="{BB962C8B-B14F-4D97-AF65-F5344CB8AC3E}">
        <p14:creationId xmlns:p14="http://schemas.microsoft.com/office/powerpoint/2010/main" val="2598809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2E12-BFB2-45C7-AC0F-5D74E82F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diagram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3A96E512-D9D3-46A9-9759-2EB4D56540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73829" y="2438401"/>
          <a:ext cx="5279570" cy="2172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270">
                  <a:extLst>
                    <a:ext uri="{9D8B030D-6E8A-4147-A177-3AD203B41FA5}">
                      <a16:colId xmlns:a16="http://schemas.microsoft.com/office/drawing/2014/main" val="3861923587"/>
                    </a:ext>
                  </a:extLst>
                </a:gridCol>
                <a:gridCol w="1050661">
                  <a:extLst>
                    <a:ext uri="{9D8B030D-6E8A-4147-A177-3AD203B41FA5}">
                      <a16:colId xmlns:a16="http://schemas.microsoft.com/office/drawing/2014/main" val="762835054"/>
                    </a:ext>
                  </a:extLst>
                </a:gridCol>
                <a:gridCol w="1624483">
                  <a:extLst>
                    <a:ext uri="{9D8B030D-6E8A-4147-A177-3AD203B41FA5}">
                      <a16:colId xmlns:a16="http://schemas.microsoft.com/office/drawing/2014/main" val="730290203"/>
                    </a:ext>
                  </a:extLst>
                </a:gridCol>
                <a:gridCol w="1868156">
                  <a:extLst>
                    <a:ext uri="{9D8B030D-6E8A-4147-A177-3AD203B41FA5}">
                      <a16:colId xmlns:a16="http://schemas.microsoft.com/office/drawing/2014/main" val="2610166615"/>
                    </a:ext>
                  </a:extLst>
                </a:gridCol>
              </a:tblGrid>
              <a:tr h="5218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of Picture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967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Meaningful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Abstract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1827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of Study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134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Shallow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735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567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70F3-E54B-BD95-F779-5315A5E7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Fri 10/17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570EA-E81E-1DAA-DCD2-AA68168B9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Read </a:t>
            </a:r>
            <a:r>
              <a:rPr lang="en-US" dirty="0" err="1"/>
              <a:t>Levav</a:t>
            </a:r>
            <a:r>
              <a:rPr lang="en-US" dirty="0"/>
              <a:t> &amp; Argo (2010)</a:t>
            </a:r>
          </a:p>
          <a:p>
            <a:pPr lvl="1"/>
            <a:r>
              <a:rPr lang="en-US" dirty="0"/>
              <a:t>Factorial design example</a:t>
            </a:r>
          </a:p>
          <a:p>
            <a:r>
              <a:rPr lang="en-US" dirty="0"/>
              <a:t>Read Ovalle-</a:t>
            </a:r>
            <a:r>
              <a:rPr lang="en-US" dirty="0" err="1"/>
              <a:t>Fresa</a:t>
            </a:r>
            <a:r>
              <a:rPr lang="en-US" dirty="0"/>
              <a:t>, Uslu &amp; Rothen (2021)</a:t>
            </a:r>
          </a:p>
          <a:p>
            <a:pPr lvl="1"/>
            <a:r>
              <a:rPr lang="en-US" dirty="0"/>
              <a:t>More background for Experiment 2</a:t>
            </a:r>
          </a:p>
          <a:p>
            <a:r>
              <a:rPr lang="en-US" dirty="0"/>
              <a:t>Answer questions about each report on Canvas</a:t>
            </a:r>
          </a:p>
          <a:p>
            <a:endParaRPr lang="en-US" dirty="0"/>
          </a:p>
          <a:p>
            <a:r>
              <a:rPr lang="en-US" dirty="0"/>
              <a:t>Data collection for Experiment 2 will become available tonight or tomorrow and run through Monday Oct 20</a:t>
            </a:r>
          </a:p>
          <a:p>
            <a:pPr lvl="1"/>
            <a:r>
              <a:rPr lang="en-US" dirty="0"/>
              <a:t>Try to get 4 friends or family to run through the study for us</a:t>
            </a:r>
          </a:p>
          <a:p>
            <a:pPr lvl="1"/>
            <a:r>
              <a:rPr lang="en-US" dirty="0"/>
              <a:t>Upload their completion codes if they remember to send them to you</a:t>
            </a:r>
          </a:p>
        </p:txBody>
      </p:sp>
    </p:spTree>
    <p:extLst>
      <p:ext uri="{BB962C8B-B14F-4D97-AF65-F5344CB8AC3E}">
        <p14:creationId xmlns:p14="http://schemas.microsoft.com/office/powerpoint/2010/main" val="2145505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22000</TotalTime>
  <Words>316</Words>
  <Application>Microsoft Office PowerPoint</Application>
  <PresentationFormat>Widescreen</PresentationFormat>
  <Paragraphs>53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Chart</vt:lpstr>
      <vt:lpstr>301 Oct 15, Class 13</vt:lpstr>
      <vt:lpstr>Choosing where to 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definitions</vt:lpstr>
      <vt:lpstr>Factorial diagram</vt:lpstr>
      <vt:lpstr>For Fri 10/17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24, Class 15</dc:title>
  <dc:creator>Paul Reber</dc:creator>
  <cp:lastModifiedBy>Paul Reber</cp:lastModifiedBy>
  <cp:revision>25</cp:revision>
  <cp:lastPrinted>2025-10-15T00:48:08Z</cp:lastPrinted>
  <dcterms:created xsi:type="dcterms:W3CDTF">2022-10-23T22:37:12Z</dcterms:created>
  <dcterms:modified xsi:type="dcterms:W3CDTF">2025-10-16T15:49:29Z</dcterms:modified>
</cp:coreProperties>
</file>