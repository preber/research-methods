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833" r:id="rId3"/>
    <p:sldId id="835" r:id="rId4"/>
    <p:sldId id="834" r:id="rId5"/>
    <p:sldId id="832" r:id="rId6"/>
    <p:sldId id="476" r:id="rId7"/>
    <p:sldId id="477" r:id="rId8"/>
    <p:sldId id="454" r:id="rId9"/>
    <p:sldId id="487" r:id="rId10"/>
    <p:sldId id="482" r:id="rId11"/>
    <p:sldId id="480" r:id="rId12"/>
    <p:sldId id="828" r:id="rId13"/>
    <p:sldId id="831" r:id="rId14"/>
    <p:sldId id="483" r:id="rId15"/>
    <p:sldId id="829" r:id="rId16"/>
    <p:sldId id="465" r:id="rId17"/>
    <p:sldId id="466" r:id="rId18"/>
    <p:sldId id="269" r:id="rId19"/>
    <p:sldId id="856" r:id="rId20"/>
    <p:sldId id="860" r:id="rId21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0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443AB-73A0-A94A-A723-FAA17E089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03A35-5ACF-E64F-7F74-6D3E45052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A17B7-5CA0-4046-4CCB-CA41DF9E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D6C1-BDB8-31AC-EE26-37465302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7CBE-878C-7FF7-32F6-24B6110E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9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CEEB-4E29-3C8A-01E8-D9F0C02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AB26-482A-A067-7B39-FF929EA8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5E85-3F96-69C3-FE1E-B3B246C4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E8B60-772F-887E-9899-DB548C58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3BA9B-A9B8-5012-A872-6825080E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04F5-42E1-F94B-3F1D-9B5F2DAA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43743-DD9D-C83F-ACB0-21AC5EA3D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7E5D0-FC34-0287-C001-0FFB0DC9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2983F-6FE7-48AF-161E-EDA5074C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9754E-AC9F-224C-39F6-7C37D336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0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352A-671C-0DE9-5D37-2A0C19DD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5EFE1-6DE3-97B9-269F-379120BBD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0A08F-31E1-FB44-B585-2500F6C7F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B3AB5-8628-B70F-906D-F1D06922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C06A4-0AD5-6D9D-87EC-817B1AFC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E2892-8DFF-6408-6EB3-E31DCCD1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1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8B6F-15F2-6666-D5B9-04E262A2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34047-0C77-197A-998C-0EF30950B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01CC4-EA31-415A-CD75-5A2D6C3BA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89DEE-534A-C199-E40F-0A584EEB9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E5EE7-7E93-D331-CD93-5A56C22AB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857CEC-B483-F305-367C-A976A547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A0651B-96E4-5EE8-EA9F-2A784745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65EB8-B36A-7388-2B3D-63A65D93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1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5FC8-A3FF-5F5F-A959-E897E8C0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15C91-0A36-F03A-9690-4EBA3C2B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90EB2-8FD9-551C-441D-10E9F931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B9382-291C-D1F4-18D6-DC18F2BD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4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1D376-A792-7F57-3AA4-BFE333B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03673-269A-A447-A78A-D3DF3789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6FD4C-9266-5ACE-1904-FA9AD153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9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DE55-FA4B-23BC-D99A-BD29B173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F170-FE55-290F-60EA-B83B7F7B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EFB25-0978-74C3-B5B0-A10F482D7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FFF1B-04D9-6FFF-7E01-8DF099AA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27AC3-7927-229B-B060-F96B3FBB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93979-1893-534E-6304-A8182073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5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BA34-7CA2-D735-16DE-4D3E064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B0541-6A4E-7EDC-F546-860B1D19A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7BF36-4A44-FCC3-A912-5B37D851A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13A5E-4913-C1EB-4F81-AA8923A6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D2C96-91AE-212B-AC71-B610537C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E9C9-697A-18CA-5374-180363DF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8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B6F1-2D05-98D1-39E1-CC655198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CCD91-3EE3-A007-B0E9-7B8581925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6C49-3721-F329-31BD-CFC000AC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B9599-64E9-D3EB-C508-3FB2DF3A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703C8-7C07-BED7-43E4-E1B3A43C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1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74357-88D3-C6CC-2F54-185A3314A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DC57E-C185-E27E-6002-4C5E167D2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16D9D-3D47-AE1E-DAD9-D056C704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376D-962A-3715-C3DC-1B4F1AB4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4A973-8A93-243D-059C-C85533D1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8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05BFF-5C69-42E7-2101-B524709C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F25E5-9BE8-B49B-137E-B1B4DF784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B7979-A535-6B28-A0CA-0163A7223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4FF63-69BA-4A64-B31F-EAFD5822C11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663A1-1F8F-AC27-4905-515193EA0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D7DD0-5CCA-AF51-9144-C054BDF7A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6FD79-944D-442F-81C6-F64CE3142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2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8324-937F-C07F-1211-9A1764A2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301, Nov 7, Class 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3129-4E00-3BD1-731A-647B42BB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14: Surveys and Instruments research</a:t>
            </a:r>
          </a:p>
          <a:p>
            <a:pPr lvl="1"/>
            <a:r>
              <a:rPr lang="en-US" dirty="0"/>
              <a:t>Building operational definitions by self-completed ratings</a:t>
            </a:r>
          </a:p>
        </p:txBody>
      </p:sp>
    </p:spTree>
    <p:extLst>
      <p:ext uri="{BB962C8B-B14F-4D97-AF65-F5344CB8AC3E}">
        <p14:creationId xmlns:p14="http://schemas.microsoft.com/office/powerpoint/2010/main" val="265186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CF4C-5795-EF59-5CE5-1C1FA124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EBC8-60B5-C448-E327-B0BAC3170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7E0A9-F26D-145F-066A-157075D9F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1" y="124619"/>
            <a:ext cx="3786069" cy="3304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B430B-AA3C-7981-7B33-D8540152D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845" y="3511550"/>
            <a:ext cx="101822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D6FC-7B1D-750C-EDF6-5407EF3B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C6774-4BDF-AA5C-7D52-9F6223CA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7DE4E-4A62-DB3B-7FE4-7F8B3658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13" y="4528265"/>
            <a:ext cx="8677275" cy="1419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B5B743-C44F-CD26-5464-55CD089C7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12" y="681037"/>
            <a:ext cx="83915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CDD7-5C44-66DF-77A3-EDC6D9A1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in Life (PIL)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8352-A11B-7F21-F240-DF6B089F3F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My life seems most worthwhile</a:t>
            </a:r>
          </a:p>
          <a:p>
            <a:r>
              <a:rPr lang="en-US" dirty="0"/>
              <a:t>I feel my life has a sense of meaning</a:t>
            </a:r>
          </a:p>
          <a:p>
            <a:r>
              <a:rPr lang="en-US" dirty="0"/>
              <a:t>My personal existence is full of purpose</a:t>
            </a:r>
          </a:p>
          <a:p>
            <a:r>
              <a:rPr lang="en-US" dirty="0"/>
              <a:t>There are things I still want to achieve in my life</a:t>
            </a:r>
          </a:p>
          <a:p>
            <a:r>
              <a:rPr lang="en-US" dirty="0"/>
              <a:t>My personal existence is full of direction</a:t>
            </a:r>
          </a:p>
          <a:p>
            <a:r>
              <a:rPr lang="en-US" dirty="0"/>
              <a:t>There is no purpose in what I am doing*</a:t>
            </a:r>
          </a:p>
          <a:p>
            <a:r>
              <a:rPr lang="en-US" dirty="0"/>
              <a:t>I feel my life has a sense of direction</a:t>
            </a:r>
          </a:p>
          <a:p>
            <a:r>
              <a:rPr lang="en-US" dirty="0"/>
              <a:t>I feel my life is going nowhere*</a:t>
            </a:r>
          </a:p>
          <a:p>
            <a:r>
              <a:rPr lang="en-US" dirty="0"/>
              <a:t>I feel my life has a sense of purpose</a:t>
            </a:r>
          </a:p>
          <a:p>
            <a:r>
              <a:rPr lang="en-US" dirty="0"/>
              <a:t>There is no meaning to my life*</a:t>
            </a:r>
          </a:p>
          <a:p>
            <a:r>
              <a:rPr lang="en-US" dirty="0"/>
              <a:t>My personal existence is full of meaning</a:t>
            </a:r>
          </a:p>
          <a:p>
            <a:r>
              <a:rPr lang="en-US" dirty="0"/>
              <a:t>My life has clear goals and aims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7A315-1481-8EF4-B228-6FE522EA0C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Rate each on 1 to 5 scale</a:t>
            </a:r>
          </a:p>
          <a:p>
            <a:pPr lvl="1"/>
            <a:r>
              <a:rPr lang="en-US" dirty="0"/>
              <a:t>Agree strongly</a:t>
            </a:r>
          </a:p>
          <a:p>
            <a:pPr lvl="1"/>
            <a:r>
              <a:rPr lang="en-US" dirty="0"/>
              <a:t>Agree</a:t>
            </a:r>
          </a:p>
          <a:p>
            <a:pPr lvl="1"/>
            <a:r>
              <a:rPr lang="en-US" dirty="0"/>
              <a:t>Not certain</a:t>
            </a:r>
          </a:p>
          <a:p>
            <a:pPr lvl="1"/>
            <a:r>
              <a:rPr lang="en-US" dirty="0"/>
              <a:t>Disagree</a:t>
            </a:r>
          </a:p>
          <a:p>
            <a:pPr lvl="1"/>
            <a:r>
              <a:rPr lang="en-US" dirty="0"/>
              <a:t>Disagree strongly</a:t>
            </a:r>
          </a:p>
        </p:txBody>
      </p:sp>
    </p:spTree>
    <p:extLst>
      <p:ext uri="{BB962C8B-B14F-4D97-AF65-F5344CB8AC3E}">
        <p14:creationId xmlns:p14="http://schemas.microsoft.com/office/powerpoint/2010/main" val="323985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D712-A4F4-937C-9C95-6DFB31DF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41E5-C60D-16AA-C3C7-A9EC5C921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much pain are you in</a:t>
            </a:r>
            <a:br>
              <a:rPr lang="en-US" dirty="0"/>
            </a:br>
            <a:r>
              <a:rPr lang="en-US" dirty="0"/>
              <a:t>right now?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does this measured operational definition of pain differ from the </a:t>
            </a:r>
            <a:r>
              <a:rPr lang="en-US" dirty="0" err="1"/>
              <a:t>Mythbusters</a:t>
            </a:r>
            <a:r>
              <a:rPr lang="en-US" dirty="0"/>
              <a:t> episode?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68CE9-B0BB-9303-C9AA-FD5E0A429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81037"/>
            <a:ext cx="5496931" cy="333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2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CF19-352E-1326-D726-3A8F1349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 &amp; Instrument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3617-C527-C569-409C-8631F90C8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Survey</a:t>
            </a:r>
          </a:p>
          <a:p>
            <a:pPr lvl="1"/>
            <a:r>
              <a:rPr lang="en-US" dirty="0"/>
              <a:t>Series of questions, often with a simple numerical response scale</a:t>
            </a:r>
          </a:p>
          <a:p>
            <a:pPr lvl="1"/>
            <a:r>
              <a:rPr lang="en-US" dirty="0"/>
              <a:t>Often used in non-experimental research</a:t>
            </a:r>
          </a:p>
          <a:p>
            <a:pPr lvl="1"/>
            <a:r>
              <a:rPr lang="en-US" dirty="0"/>
              <a:t>Relationships among responses used for sociology, economics, epidemiology</a:t>
            </a:r>
          </a:p>
          <a:p>
            <a:r>
              <a:rPr lang="en-US" dirty="0"/>
              <a:t>Instrument</a:t>
            </a:r>
          </a:p>
          <a:p>
            <a:pPr lvl="1"/>
            <a:r>
              <a:rPr lang="en-US" dirty="0"/>
              <a:t>Established series of questions to quantify a construct</a:t>
            </a:r>
          </a:p>
          <a:p>
            <a:pPr lvl="2"/>
            <a:r>
              <a:rPr lang="en-US" dirty="0"/>
              <a:t>Described and evaluated in peer-reviewed publications</a:t>
            </a:r>
          </a:p>
          <a:p>
            <a:pPr lvl="1"/>
            <a:r>
              <a:rPr lang="en-US" dirty="0"/>
              <a:t>Example operational definitions</a:t>
            </a:r>
          </a:p>
          <a:p>
            <a:pPr lvl="2"/>
            <a:r>
              <a:rPr lang="en-US" dirty="0"/>
              <a:t>Depression</a:t>
            </a:r>
          </a:p>
          <a:p>
            <a:pPr lvl="2"/>
            <a:r>
              <a:rPr lang="en-US" dirty="0"/>
              <a:t>Personality measures</a:t>
            </a:r>
          </a:p>
          <a:p>
            <a:pPr lvl="2"/>
            <a:r>
              <a:rPr lang="en-US" dirty="0"/>
              <a:t>IQ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3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3285-7CD8-E8A1-56E4-48B7914D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7B12-8413-10A3-36B8-4E5FB1835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and effectiveness of questions</a:t>
            </a:r>
          </a:p>
          <a:p>
            <a:pPr lvl="1"/>
            <a:r>
              <a:rPr lang="en-US" dirty="0"/>
              <a:t>Demand characteristics</a:t>
            </a:r>
          </a:p>
          <a:p>
            <a:pPr lvl="1"/>
            <a:r>
              <a:rPr lang="en-US" dirty="0"/>
              <a:t>Complex or double-barreled questions</a:t>
            </a:r>
          </a:p>
          <a:p>
            <a:endParaRPr lang="en-US" dirty="0"/>
          </a:p>
          <a:p>
            <a:r>
              <a:rPr lang="en-US" dirty="0"/>
              <a:t>Sampling methodology</a:t>
            </a:r>
          </a:p>
          <a:p>
            <a:pPr lvl="1"/>
            <a:r>
              <a:rPr lang="en-US" dirty="0"/>
              <a:t>Recruiting bias</a:t>
            </a:r>
          </a:p>
          <a:p>
            <a:pPr lvl="1"/>
            <a:r>
              <a:rPr lang="en-US" dirty="0"/>
              <a:t>Participation/Non-response bias</a:t>
            </a:r>
          </a:p>
          <a:p>
            <a:pPr lvl="1"/>
            <a:r>
              <a:rPr lang="en-US" dirty="0"/>
              <a:t>Inaccurate responses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94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0FA6-6D41-4512-A5C2-FA96D1DB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EA0B7-51BA-417B-B975-8800A2449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1. What is meant by “selection bias” in the context of survey research?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a. The survey participants are not randomly chosen from the population.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b. The survey participants are randomly chosen from the population.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c. The survey participants are not part of the population of interest.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d. The survey participants are a part of the population of interest.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7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E182-6937-5F8D-F36E-0D142786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466A-3709-C4CC-B586-C4D2732D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2. Which bias occurs when individuals who were contacted chose to complete the survey differ in some ways from others who were contacted but chose not to take the survey?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a. Response set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b. Non-response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c. Attrition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inherit"/>
              </a:rPr>
              <a:t>d. Motivated respondent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Interesting survey! : r/mathmemes">
            <a:extLst>
              <a:ext uri="{FF2B5EF4-FFF2-40B4-BE49-F238E27FC236}">
                <a16:creationId xmlns:a16="http://schemas.microsoft.com/office/drawing/2014/main" id="{8CAA877E-A522-1D5E-D543-E63E52CD5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624" y="3322749"/>
            <a:ext cx="3903424" cy="330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97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F6E1-A6CD-F32E-C58E-73808AB9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9D2A-E35A-149C-77B8-3A7902CE7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Explain how each of the following two questions are examples of “double-barreled” questions: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Please agree or disagree with the following statement: Cars should be faster and safer.</a:t>
            </a:r>
          </a:p>
          <a:p>
            <a:pPr lvl="1"/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How satisfied are you with your pay and job conditions?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19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186A-DBFF-34B6-99AC-9DD78B72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29CBE-8553-DD48-08A5-164FE450F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 measures</a:t>
            </a:r>
          </a:p>
          <a:p>
            <a:pPr lvl="1"/>
            <a:r>
              <a:rPr lang="en-US" dirty="0"/>
              <a:t>Test-retest reliability: for measures that are hypothesized to be stable over time</a:t>
            </a:r>
          </a:p>
          <a:p>
            <a:pPr lvl="1"/>
            <a:r>
              <a:rPr lang="en-US" dirty="0"/>
              <a:t>Inter-item reliability: statistical tools for assessing relationships among items supposed to tap the same constructs</a:t>
            </a:r>
          </a:p>
          <a:p>
            <a:pPr lvl="1"/>
            <a:endParaRPr lang="en-US" dirty="0"/>
          </a:p>
          <a:p>
            <a:r>
              <a:rPr lang="en-US" dirty="0"/>
              <a:t>Validity measures</a:t>
            </a:r>
          </a:p>
          <a:p>
            <a:pPr lvl="1"/>
            <a:r>
              <a:rPr lang="en-US" dirty="0"/>
              <a:t>Construct/Face validity</a:t>
            </a:r>
          </a:p>
          <a:p>
            <a:pPr lvl="1"/>
            <a:r>
              <a:rPr lang="en-US" dirty="0"/>
              <a:t>Convergent validity with existing measures</a:t>
            </a:r>
          </a:p>
          <a:p>
            <a:pPr lvl="1"/>
            <a:r>
              <a:rPr lang="en-US" dirty="0"/>
              <a:t>Discriminant validity versus existing measures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24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87A8-06B1-9EF6-2B4A-CA4878A2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Effective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ED7EF-0FF3-E772-9E86-D9A58B69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BRUSO</a:t>
            </a:r>
          </a:p>
          <a:p>
            <a:pPr lvl="1"/>
            <a:r>
              <a:rPr lang="en-US" dirty="0"/>
              <a:t>Brief</a:t>
            </a:r>
          </a:p>
          <a:p>
            <a:pPr lvl="1"/>
            <a:r>
              <a:rPr lang="en-US" dirty="0"/>
              <a:t>Relevant</a:t>
            </a:r>
          </a:p>
          <a:p>
            <a:pPr lvl="1"/>
            <a:r>
              <a:rPr lang="en-US" dirty="0"/>
              <a:t>Unambiguous</a:t>
            </a:r>
          </a:p>
          <a:p>
            <a:pPr lvl="1"/>
            <a:r>
              <a:rPr lang="en-US" dirty="0"/>
              <a:t>Specific</a:t>
            </a:r>
          </a:p>
          <a:p>
            <a:pPr lvl="1"/>
            <a:r>
              <a:rPr lang="en-US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4053031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DE16-DE44-24A5-A705-FB38C582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268F4-46AD-ADBE-44AB-54F38BE54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Write example survey items for each of the following general questions. In some cases, a series of items, rather than a single item, might be necessary.</a:t>
            </a:r>
          </a:p>
          <a:p>
            <a:r>
              <a:rPr lang="en-US" dirty="0"/>
              <a:t>How much does the respondent use Facebook?</a:t>
            </a:r>
          </a:p>
          <a:p>
            <a:r>
              <a:rPr lang="en-US" dirty="0"/>
              <a:t>How much exercise does the respondent get?</a:t>
            </a:r>
          </a:p>
          <a:p>
            <a:r>
              <a:rPr lang="en-US" dirty="0"/>
              <a:t>How likely does the respondent think it is that the incumbent will be re-elected in the next presidential election?</a:t>
            </a:r>
          </a:p>
          <a:p>
            <a:r>
              <a:rPr lang="en-US" dirty="0"/>
              <a:t>To what extent does the respondent experience “road rage”?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7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2D91-196A-56AB-3452-8001EACA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Happy Are You Right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7FD9-05CE-D064-EC77-3F714C05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turn happiness into a number?</a:t>
            </a:r>
          </a:p>
          <a:p>
            <a:pPr lvl="1"/>
            <a:r>
              <a:rPr lang="en-US" dirty="0"/>
              <a:t>Creating an assessment that carries out this operational definition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512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1E08CB-6226-9082-50F2-A55B9BDE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OHQ online survey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AED7444-1254-E48B-BEEB-73EB5D5A64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4560" y="1644073"/>
            <a:ext cx="5537007" cy="3308383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AFC25EE1-DFAE-8296-FA7C-7833CBCAA0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690688"/>
            <a:ext cx="5537007" cy="3261768"/>
          </a:xfrm>
        </p:spPr>
      </p:pic>
    </p:spTree>
    <p:extLst>
      <p:ext uri="{BB962C8B-B14F-4D97-AF65-F5344CB8AC3E}">
        <p14:creationId xmlns:p14="http://schemas.microsoft.com/office/powerpoint/2010/main" val="77925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EB78-1787-469C-A58B-9C7496C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Oxford Happiness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AEF2-5E9A-4C66-A586-AB5EBA6D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2E2E2E"/>
                </a:solidFill>
                <a:latin typeface="NexusSerif"/>
              </a:rPr>
              <a:t>INSTRUCTIONS. Below are a number of statements about happiness. Would you please indicate how much you agree or disagree with each by entering a number alongside it according to the following code:</a:t>
            </a:r>
          </a:p>
          <a:p>
            <a:pPr algn="l"/>
            <a:r>
              <a:rPr lang="en-US" dirty="0">
                <a:solidFill>
                  <a:srgbClr val="2E2E2E"/>
                </a:solidFill>
                <a:latin typeface="NexusSerif"/>
              </a:rPr>
              <a:t>1=strongly disagree; 2=moderately disagree; 3=slightly disagree; 4=slightly agree; 5=moderately agree; 6=strongly agree.</a:t>
            </a:r>
          </a:p>
          <a:p>
            <a:pPr lvl="1"/>
            <a:r>
              <a:rPr lang="en-US" dirty="0">
                <a:solidFill>
                  <a:srgbClr val="2E2E2E"/>
                </a:solidFill>
                <a:latin typeface="NexusSerif"/>
              </a:rPr>
              <a:t>I feel that life is very rewarding</a:t>
            </a:r>
          </a:p>
          <a:p>
            <a:pPr lvl="1"/>
            <a:r>
              <a:rPr lang="en-US" dirty="0">
                <a:solidFill>
                  <a:srgbClr val="2E2E2E"/>
                </a:solidFill>
                <a:latin typeface="NexusSerif"/>
              </a:rPr>
              <a:t>I am well satisfied about everything in my life</a:t>
            </a:r>
          </a:p>
          <a:p>
            <a:pPr lvl="1"/>
            <a:r>
              <a:rPr lang="en-US" dirty="0">
                <a:solidFill>
                  <a:srgbClr val="2E2E2E"/>
                </a:solidFill>
                <a:latin typeface="NexusSerif"/>
              </a:rPr>
              <a:t>I don't feel particularly pleased with the way I am (−)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0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0AEC-1BD0-4FF4-BD98-A0D75234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existing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BB62-4DC6-4E49-9D2A-E2DEDBA8E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the directions in the publication that describes and establishes scale validity</a:t>
            </a:r>
          </a:p>
          <a:p>
            <a:r>
              <a:rPr lang="en-US" dirty="0"/>
              <a:t>Note varieties: 29 items or 8 (short form)</a:t>
            </a:r>
          </a:p>
          <a:p>
            <a:r>
              <a:rPr lang="en-US" dirty="0"/>
              <a:t>Use all items in form selected</a:t>
            </a:r>
          </a:p>
          <a:p>
            <a:pPr lvl="1"/>
            <a:r>
              <a:rPr lang="en-US" dirty="0"/>
              <a:t>Following scoring procedure</a:t>
            </a:r>
          </a:p>
          <a:p>
            <a:pPr lvl="1"/>
            <a:r>
              <a:rPr lang="en-US" dirty="0"/>
              <a:t>Flip reverse items</a:t>
            </a:r>
          </a:p>
          <a:p>
            <a:pPr lvl="1"/>
            <a:r>
              <a:rPr lang="en-US" dirty="0"/>
              <a:t>Usually sum, sometimes weighting</a:t>
            </a:r>
          </a:p>
          <a:p>
            <a:pPr lvl="1"/>
            <a:endParaRPr lang="en-US" dirty="0"/>
          </a:p>
          <a:p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Hills, P., &amp; Argyle, M. (2002). The Oxford Happiness Questionnaire: a compact scale for the measurement of psychological well-being. </a:t>
            </a:r>
            <a:r>
              <a:rPr lang="en-US" sz="1800" i="1" dirty="0">
                <a:solidFill>
                  <a:srgbClr val="222222"/>
                </a:solidFill>
                <a:latin typeface="Arial" panose="020B0604020202020204" pitchFamily="34" charset="0"/>
              </a:rPr>
              <a:t>Personality and individual differences</a:t>
            </a:r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1800" i="1" dirty="0">
                <a:solidFill>
                  <a:srgbClr val="222222"/>
                </a:solidFill>
                <a:latin typeface="Arial" panose="020B0604020202020204" pitchFamily="34" charset="0"/>
              </a:rPr>
              <a:t>33</a:t>
            </a:r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(7), 1073-1082.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3609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539810-7345-2684-2C2F-A94D7785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 11/10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664D28-09E8-B913-6BCB-E0F96C9AC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15, Statistics 3</a:t>
            </a:r>
          </a:p>
          <a:p>
            <a:pPr lvl="1"/>
            <a:r>
              <a:rPr lang="en-US" dirty="0"/>
              <a:t>Correlation analysis</a:t>
            </a:r>
          </a:p>
          <a:p>
            <a:pPr lvl="1"/>
            <a:r>
              <a:rPr lang="en-US" dirty="0"/>
              <a:t>Chi2 analysis</a:t>
            </a:r>
          </a:p>
          <a:p>
            <a:pPr lvl="1"/>
            <a:endParaRPr lang="en-US" dirty="0"/>
          </a:p>
          <a:p>
            <a:r>
              <a:rPr lang="en-US" dirty="0"/>
              <a:t>Final Projects</a:t>
            </a:r>
          </a:p>
          <a:p>
            <a:pPr lvl="1"/>
            <a:r>
              <a:rPr lang="en-US" dirty="0"/>
              <a:t>Start your Methods description on Canvas by Tuesday 11/11</a:t>
            </a:r>
          </a:p>
        </p:txBody>
      </p:sp>
    </p:spTree>
    <p:extLst>
      <p:ext uri="{BB962C8B-B14F-4D97-AF65-F5344CB8AC3E}">
        <p14:creationId xmlns:p14="http://schemas.microsoft.com/office/powerpoint/2010/main" val="3370039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5BB5-5985-9B5B-2C3C-D95D8C6C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reviews, 10am (Section 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2DA1-79BB-617B-B500-5B8624FD4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Retrieval practice</a:t>
            </a:r>
          </a:p>
          <a:p>
            <a:pPr lvl="1"/>
            <a:r>
              <a:rPr lang="en-US" dirty="0"/>
              <a:t>Avery, Andrew, Tobey</a:t>
            </a:r>
          </a:p>
          <a:p>
            <a:r>
              <a:rPr lang="en-US" dirty="0"/>
              <a:t>Reward and competition</a:t>
            </a:r>
          </a:p>
          <a:p>
            <a:pPr lvl="1"/>
            <a:r>
              <a:rPr lang="en-US" dirty="0"/>
              <a:t>Pritika, Lauren, Kara</a:t>
            </a:r>
          </a:p>
          <a:p>
            <a:r>
              <a:rPr lang="en-US" dirty="0"/>
              <a:t>Trustworthiness</a:t>
            </a:r>
          </a:p>
          <a:p>
            <a:pPr lvl="1"/>
            <a:r>
              <a:rPr lang="en-US" dirty="0"/>
              <a:t>Abby, Harper, Hillary</a:t>
            </a:r>
          </a:p>
          <a:p>
            <a:r>
              <a:rPr lang="en-US" dirty="0"/>
              <a:t>Anchoring</a:t>
            </a:r>
          </a:p>
          <a:p>
            <a:pPr lvl="1"/>
            <a:r>
              <a:rPr lang="en-US" dirty="0" err="1"/>
              <a:t>Arawen</a:t>
            </a:r>
            <a:r>
              <a:rPr lang="en-US" dirty="0"/>
              <a:t>, Jonathan, Megan</a:t>
            </a:r>
          </a:p>
          <a:p>
            <a:r>
              <a:rPr lang="en-US" dirty="0"/>
              <a:t>Effort Heuristic</a:t>
            </a:r>
          </a:p>
          <a:p>
            <a:pPr lvl="1"/>
            <a:r>
              <a:rPr lang="en-US" dirty="0"/>
              <a:t>Hannah, Barbara, Ludia, Maddie</a:t>
            </a:r>
          </a:p>
          <a:p>
            <a:r>
              <a:rPr lang="en-US" dirty="0"/>
              <a:t>Font legibility</a:t>
            </a:r>
          </a:p>
          <a:p>
            <a:pPr lvl="1"/>
            <a:r>
              <a:rPr lang="en-US" dirty="0"/>
              <a:t>Salma, Clarissa</a:t>
            </a:r>
          </a:p>
        </p:txBody>
      </p:sp>
    </p:spTree>
    <p:extLst>
      <p:ext uri="{BB962C8B-B14F-4D97-AF65-F5344CB8AC3E}">
        <p14:creationId xmlns:p14="http://schemas.microsoft.com/office/powerpoint/2010/main" val="879567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8C9D-F366-1D51-C01B-36A21A96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Reviews 2pm (Section 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EDB1-0DC9-8881-C302-DCE65321F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Magenta</a:t>
            </a:r>
          </a:p>
          <a:p>
            <a:pPr lvl="1"/>
            <a:r>
              <a:rPr lang="en-US" dirty="0"/>
              <a:t>Annelise, Leanna, Dora, Keegan</a:t>
            </a:r>
          </a:p>
          <a:p>
            <a:pPr lvl="1"/>
            <a:r>
              <a:rPr lang="en-US" dirty="0"/>
              <a:t>Social media and prosocial behavior</a:t>
            </a:r>
          </a:p>
          <a:p>
            <a:r>
              <a:rPr lang="en-US" dirty="0"/>
              <a:t>Periwinkle</a:t>
            </a:r>
          </a:p>
          <a:p>
            <a:pPr lvl="1"/>
            <a:r>
              <a:rPr lang="en-US" dirty="0"/>
              <a:t>Hanna, Marcos, Chris</a:t>
            </a:r>
          </a:p>
          <a:p>
            <a:pPr lvl="1"/>
            <a:r>
              <a:rPr lang="en-US" dirty="0"/>
              <a:t>Task difficulty and memory</a:t>
            </a:r>
          </a:p>
          <a:p>
            <a:r>
              <a:rPr lang="en-US" dirty="0"/>
              <a:t>Turquoise</a:t>
            </a:r>
          </a:p>
          <a:p>
            <a:pPr lvl="1"/>
            <a:r>
              <a:rPr lang="en-US" dirty="0"/>
              <a:t>Abby, Rafe, Frank</a:t>
            </a:r>
          </a:p>
          <a:p>
            <a:pPr lvl="1"/>
            <a:r>
              <a:rPr lang="en-US" dirty="0"/>
              <a:t>Perceptual disfluency and insight</a:t>
            </a:r>
          </a:p>
        </p:txBody>
      </p:sp>
    </p:spTree>
    <p:extLst>
      <p:ext uri="{BB962C8B-B14F-4D97-AF65-F5344CB8AC3E}">
        <p14:creationId xmlns:p14="http://schemas.microsoft.com/office/powerpoint/2010/main" val="300766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26285</TotalTime>
  <Words>855</Words>
  <Application>Microsoft Office PowerPoint</Application>
  <PresentationFormat>Widescreen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inherit</vt:lpstr>
      <vt:lpstr>Lato Extended</vt:lpstr>
      <vt:lpstr>NexusSerif</vt:lpstr>
      <vt:lpstr>Office Theme</vt:lpstr>
      <vt:lpstr>301, Nov 7, Class 23</vt:lpstr>
      <vt:lpstr>PowerPoint Presentation</vt:lpstr>
      <vt:lpstr>PowerPoint Presentation</vt:lpstr>
      <vt:lpstr>Purpose in Life (PIL) Scale</vt:lpstr>
      <vt:lpstr>Pain</vt:lpstr>
      <vt:lpstr>Surveys &amp; Instrument Design</vt:lpstr>
      <vt:lpstr>Survey research</vt:lpstr>
      <vt:lpstr>Bias</vt:lpstr>
      <vt:lpstr>PowerPoint Presentation</vt:lpstr>
      <vt:lpstr>PowerPoint Presentation</vt:lpstr>
      <vt:lpstr>Instrument development</vt:lpstr>
      <vt:lpstr>Writing Effective Questions</vt:lpstr>
      <vt:lpstr>PowerPoint Presentation</vt:lpstr>
      <vt:lpstr>How Happy Are You Right Now?</vt:lpstr>
      <vt:lpstr>OHQ online survey</vt:lpstr>
      <vt:lpstr>Oxford Happiness Questionnaire</vt:lpstr>
      <vt:lpstr>Using an existing scale</vt:lpstr>
      <vt:lpstr>For Mon 11/10</vt:lpstr>
      <vt:lpstr>Project reviews, 10am (Section 20)</vt:lpstr>
      <vt:lpstr>Project Reviews 2pm (Section 21)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205, Nov 16, Class 24</dc:title>
  <dc:creator>Paul Reber</dc:creator>
  <cp:lastModifiedBy>Paul Reber</cp:lastModifiedBy>
  <cp:revision>19</cp:revision>
  <cp:lastPrinted>2025-11-07T15:29:29Z</cp:lastPrinted>
  <dcterms:created xsi:type="dcterms:W3CDTF">2022-11-16T14:34:20Z</dcterms:created>
  <dcterms:modified xsi:type="dcterms:W3CDTF">2025-11-09T17:24:22Z</dcterms:modified>
</cp:coreProperties>
</file>