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62" r:id="rId3"/>
    <p:sldId id="263" r:id="rId4"/>
    <p:sldId id="264" r:id="rId5"/>
    <p:sldId id="265" r:id="rId6"/>
    <p:sldId id="484" r:id="rId7"/>
    <p:sldId id="843" r:id="rId8"/>
    <p:sldId id="486" r:id="rId9"/>
    <p:sldId id="272" r:id="rId10"/>
    <p:sldId id="273" r:id="rId11"/>
    <p:sldId id="274" r:id="rId12"/>
    <p:sldId id="275" r:id="rId13"/>
    <p:sldId id="827" r:id="rId14"/>
    <p:sldId id="289" r:id="rId15"/>
    <p:sldId id="290" r:id="rId16"/>
    <p:sldId id="291" r:id="rId17"/>
    <p:sldId id="281" r:id="rId18"/>
    <p:sldId id="844" r:id="rId19"/>
    <p:sldId id="485" r:id="rId20"/>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2" autoAdjust="0"/>
    <p:restoredTop sz="94660"/>
  </p:normalViewPr>
  <p:slideViewPr>
    <p:cSldViewPr snapToGrid="0">
      <p:cViewPr varScale="1">
        <p:scale>
          <a:sx n="92" d="100"/>
          <a:sy n="92"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1B9B981C-A313-426C-BB67-E0FB216B2F67}" type="datetimeFigureOut">
              <a:rPr lang="en-US" smtClean="0"/>
              <a:t>11/1/2025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A79DFB55-42CE-4BAB-8BC8-1263BD57C93C}" type="slidenum">
              <a:rPr lang="en-US" smtClean="0"/>
              <a:t>‹#›</a:t>
            </a:fld>
            <a:endParaRPr lang="en-US"/>
          </a:p>
        </p:txBody>
      </p:sp>
    </p:spTree>
    <p:extLst>
      <p:ext uri="{BB962C8B-B14F-4D97-AF65-F5344CB8AC3E}">
        <p14:creationId xmlns:p14="http://schemas.microsoft.com/office/powerpoint/2010/main" val="3112731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04C2D3B0-5DCE-49A6-A032-804865AB10D7}" type="slidenum">
              <a:rPr lang="en-US"/>
              <a:pPr/>
              <a:t>2</a:t>
            </a:fld>
            <a:endParaRPr 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64546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255A0DA7-5B0A-413A-BBC8-25E1961701E9}" type="slidenum">
              <a:rPr lang="en-US"/>
              <a:pPr/>
              <a:t>3</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70954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24B389AB-96E1-4100-B742-EE49E1C387BB}" type="slidenum">
              <a:rPr lang="en-US"/>
              <a:pPr/>
              <a:t>4</a:t>
            </a:fld>
            <a:endParaRPr 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86225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34F99CF8-2F3A-4343-AEA7-372EBBDF8021}" type="slidenum">
              <a:rPr lang="en-US"/>
              <a:pPr/>
              <a:t>5</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88330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B149F13-2E6B-4880-B839-28964111EA68}" type="slidenum">
              <a:rPr lang="en-US"/>
              <a:pPr fontAlgn="base">
                <a:spcBef>
                  <a:spcPct val="0"/>
                </a:spcBef>
                <a:spcAft>
                  <a:spcPct val="0"/>
                </a:spcAft>
              </a:pPr>
              <a:t>9</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2FF50F7-9025-4FD5-BD75-D8973CF93AD7}" type="slidenum">
              <a:rPr lang="en-US"/>
              <a:pPr fontAlgn="base">
                <a:spcBef>
                  <a:spcPct val="0"/>
                </a:spcBef>
                <a:spcAft>
                  <a:spcPct val="0"/>
                </a:spcAft>
              </a:pPr>
              <a:t>10</a:t>
            </a:fld>
            <a:endParaRPr lang="en-US"/>
          </a:p>
        </p:txBody>
      </p:sp>
      <p:sp>
        <p:nvSpPr>
          <p:cNvPr id="2253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253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858300D-C19C-40E1-BE67-C6D9DC467B2C}" type="slidenum">
              <a:rPr lang="en-US"/>
              <a:pPr fontAlgn="base">
                <a:spcBef>
                  <a:spcPct val="0"/>
                </a:spcBef>
                <a:spcAft>
                  <a:spcPct val="0"/>
                </a:spcAft>
              </a:pPr>
              <a:t>11</a:t>
            </a:fld>
            <a:endParaRPr lang="en-US"/>
          </a:p>
        </p:txBody>
      </p:sp>
      <p:sp>
        <p:nvSpPr>
          <p:cNvPr id="23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55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155EE81-59AA-4E85-8DFB-72ACE748AF16}" type="slidenum">
              <a:rPr lang="en-US"/>
              <a:pPr fontAlgn="base">
                <a:spcBef>
                  <a:spcPct val="0"/>
                </a:spcBef>
                <a:spcAft>
                  <a:spcPct val="0"/>
                </a:spcAft>
              </a:pPr>
              <a:t>12</a:t>
            </a:fld>
            <a:endParaRPr lang="en-US"/>
          </a:p>
        </p:txBody>
      </p:sp>
      <p:sp>
        <p:nvSpPr>
          <p:cNvPr id="2457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58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E6C3B9C-D4A0-479D-BA31-5987DF11C311}" type="slidenum">
              <a:rPr lang="en-US"/>
              <a:pPr fontAlgn="base">
                <a:spcBef>
                  <a:spcPct val="0"/>
                </a:spcBef>
                <a:spcAft>
                  <a:spcPct val="0"/>
                </a:spcAft>
              </a:pPr>
              <a:t>13</a:t>
            </a:fld>
            <a:endParaRPr lang="en-US"/>
          </a:p>
        </p:txBody>
      </p:sp>
      <p:sp>
        <p:nvSpPr>
          <p:cNvPr id="2560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560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FD6E0-EC80-5440-8B24-79A9B758C97F}"/>
            </a:ext>
          </a:extLst>
        </p:cNvPr>
        <p:cNvGrpSpPr/>
        <p:nvPr/>
      </p:nvGrpSpPr>
      <p:grpSpPr>
        <a:xfrm>
          <a:off x="0" y="0"/>
          <a:ext cx="0" cy="0"/>
          <a:chOff x="0" y="0"/>
          <a:chExt cx="0" cy="0"/>
        </a:xfrm>
      </p:grpSpPr>
      <p:sp>
        <p:nvSpPr>
          <p:cNvPr id="19458" name="Rectangle 7">
            <a:extLst>
              <a:ext uri="{FF2B5EF4-FFF2-40B4-BE49-F238E27FC236}">
                <a16:creationId xmlns:a16="http://schemas.microsoft.com/office/drawing/2014/main" id="{18BE6434-BA66-4625-B724-ABEA2B085903}"/>
              </a:ext>
            </a:extLst>
          </p:cNvPr>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C39B0F8-DE4F-4332-A049-AA9BC2D32F97}" type="slidenum">
              <a:rPr lang="en-US"/>
              <a:pPr fontAlgn="base">
                <a:spcBef>
                  <a:spcPct val="0"/>
                </a:spcBef>
                <a:spcAft>
                  <a:spcPct val="0"/>
                </a:spcAft>
              </a:pPr>
              <a:t>14</a:t>
            </a:fld>
            <a:endParaRPr lang="en-US"/>
          </a:p>
        </p:txBody>
      </p:sp>
      <p:sp>
        <p:nvSpPr>
          <p:cNvPr id="19459" name="Rectangle 2">
            <a:extLst>
              <a:ext uri="{FF2B5EF4-FFF2-40B4-BE49-F238E27FC236}">
                <a16:creationId xmlns:a16="http://schemas.microsoft.com/office/drawing/2014/main" id="{7A776D19-8E80-01FA-69D9-763E29B9E3CC}"/>
              </a:ext>
            </a:extLst>
          </p:cNvPr>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a:extLst>
              <a:ext uri="{FF2B5EF4-FFF2-40B4-BE49-F238E27FC236}">
                <a16:creationId xmlns:a16="http://schemas.microsoft.com/office/drawing/2014/main" id="{AA781B3A-A6DA-A51E-B7C5-DF85F9C0AD21}"/>
              </a:ext>
            </a:extLst>
          </p:cNvPr>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893042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5B0BF-A419-1C54-24DB-A4606259719F}"/>
            </a:ext>
          </a:extLst>
        </p:cNvPr>
        <p:cNvGrpSpPr/>
        <p:nvPr/>
      </p:nvGrpSpPr>
      <p:grpSpPr>
        <a:xfrm>
          <a:off x="0" y="0"/>
          <a:ext cx="0" cy="0"/>
          <a:chOff x="0" y="0"/>
          <a:chExt cx="0" cy="0"/>
        </a:xfrm>
      </p:grpSpPr>
      <p:sp>
        <p:nvSpPr>
          <p:cNvPr id="20482" name="Rectangle 7">
            <a:extLst>
              <a:ext uri="{FF2B5EF4-FFF2-40B4-BE49-F238E27FC236}">
                <a16:creationId xmlns:a16="http://schemas.microsoft.com/office/drawing/2014/main" id="{3C28AC07-C43E-0C96-9AB5-008FBC6ABC12}"/>
              </a:ext>
            </a:extLst>
          </p:cNvPr>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3FF85F2-14E9-437D-8D60-16EFB84F3239}" type="slidenum">
              <a:rPr lang="en-US"/>
              <a:pPr fontAlgn="base">
                <a:spcBef>
                  <a:spcPct val="0"/>
                </a:spcBef>
                <a:spcAft>
                  <a:spcPct val="0"/>
                </a:spcAft>
              </a:pPr>
              <a:t>15</a:t>
            </a:fld>
            <a:endParaRPr lang="en-US"/>
          </a:p>
        </p:txBody>
      </p:sp>
      <p:sp>
        <p:nvSpPr>
          <p:cNvPr id="20483" name="Rectangle 2">
            <a:extLst>
              <a:ext uri="{FF2B5EF4-FFF2-40B4-BE49-F238E27FC236}">
                <a16:creationId xmlns:a16="http://schemas.microsoft.com/office/drawing/2014/main" id="{279F14B2-D1E0-4344-07EE-64D442439953}"/>
              </a:ext>
            </a:extLst>
          </p:cNvPr>
          <p:cNvSpPr>
            <a:spLocks noGrp="1" noRot="1" noChangeAspect="1" noChangeArrowheads="1" noTextEdit="1"/>
          </p:cNvSpPr>
          <p:nvPr>
            <p:ph type="sldImg"/>
          </p:nvPr>
        </p:nvSpPr>
        <p:spPr bwMode="auto">
          <a:noFill/>
          <a:ln>
            <a:solidFill>
              <a:srgbClr val="000000"/>
            </a:solidFill>
            <a:miter lim="800000"/>
            <a:headEnd/>
            <a:tailEnd/>
          </a:ln>
        </p:spPr>
      </p:sp>
      <p:sp>
        <p:nvSpPr>
          <p:cNvPr id="20484" name="Rectangle 3">
            <a:extLst>
              <a:ext uri="{FF2B5EF4-FFF2-40B4-BE49-F238E27FC236}">
                <a16:creationId xmlns:a16="http://schemas.microsoft.com/office/drawing/2014/main" id="{3A159452-5CE4-D585-EF1A-B0D8BAF58486}"/>
              </a:ext>
            </a:extLst>
          </p:cNvPr>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721973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20681-1867-DB06-E26B-EF60D5B0DC35}"/>
            </a:ext>
          </a:extLst>
        </p:cNvPr>
        <p:cNvGrpSpPr/>
        <p:nvPr/>
      </p:nvGrpSpPr>
      <p:grpSpPr>
        <a:xfrm>
          <a:off x="0" y="0"/>
          <a:ext cx="0" cy="0"/>
          <a:chOff x="0" y="0"/>
          <a:chExt cx="0" cy="0"/>
        </a:xfrm>
      </p:grpSpPr>
      <p:sp>
        <p:nvSpPr>
          <p:cNvPr id="21506" name="Rectangle 7">
            <a:extLst>
              <a:ext uri="{FF2B5EF4-FFF2-40B4-BE49-F238E27FC236}">
                <a16:creationId xmlns:a16="http://schemas.microsoft.com/office/drawing/2014/main" id="{648DBB4B-5400-C6B7-09C0-B821323C0B15}"/>
              </a:ext>
            </a:extLst>
          </p:cNvPr>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84C18D7-E0B3-43D9-9B9E-4E92376361CB}" type="slidenum">
              <a:rPr lang="en-US"/>
              <a:pPr fontAlgn="base">
                <a:spcBef>
                  <a:spcPct val="0"/>
                </a:spcBef>
                <a:spcAft>
                  <a:spcPct val="0"/>
                </a:spcAft>
              </a:pPr>
              <a:t>16</a:t>
            </a:fld>
            <a:endParaRPr lang="en-US"/>
          </a:p>
        </p:txBody>
      </p:sp>
      <p:sp>
        <p:nvSpPr>
          <p:cNvPr id="21507" name="Rectangle 2">
            <a:extLst>
              <a:ext uri="{FF2B5EF4-FFF2-40B4-BE49-F238E27FC236}">
                <a16:creationId xmlns:a16="http://schemas.microsoft.com/office/drawing/2014/main" id="{923B9098-F8F8-0A54-A461-F90623352EB8}"/>
              </a:ext>
            </a:extLst>
          </p:cNvPr>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a:extLst>
              <a:ext uri="{FF2B5EF4-FFF2-40B4-BE49-F238E27FC236}">
                <a16:creationId xmlns:a16="http://schemas.microsoft.com/office/drawing/2014/main" id="{37857856-606F-299F-88BF-E659F0588273}"/>
              </a:ext>
            </a:extLst>
          </p:cNvPr>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311216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01C3F-E2EA-7B13-E854-88A15085B840}"/>
            </a:ext>
          </a:extLst>
        </p:cNvPr>
        <p:cNvGrpSpPr/>
        <p:nvPr/>
      </p:nvGrpSpPr>
      <p:grpSpPr>
        <a:xfrm>
          <a:off x="0" y="0"/>
          <a:ext cx="0" cy="0"/>
          <a:chOff x="0" y="0"/>
          <a:chExt cx="0" cy="0"/>
        </a:xfrm>
      </p:grpSpPr>
      <p:sp>
        <p:nvSpPr>
          <p:cNvPr id="22530" name="Rectangle 7">
            <a:extLst>
              <a:ext uri="{FF2B5EF4-FFF2-40B4-BE49-F238E27FC236}">
                <a16:creationId xmlns:a16="http://schemas.microsoft.com/office/drawing/2014/main" id="{DD4ED029-E01E-5CD0-8193-554DF3D2AEA8}"/>
              </a:ext>
            </a:extLst>
          </p:cNvPr>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3EEBEC8-B6E7-4970-BFDC-E5CBEF429749}" type="slidenum">
              <a:rPr lang="en-US"/>
              <a:pPr fontAlgn="base">
                <a:spcBef>
                  <a:spcPct val="0"/>
                </a:spcBef>
                <a:spcAft>
                  <a:spcPct val="0"/>
                </a:spcAft>
              </a:pPr>
              <a:t>17</a:t>
            </a:fld>
            <a:endParaRPr lang="en-US"/>
          </a:p>
        </p:txBody>
      </p:sp>
      <p:sp>
        <p:nvSpPr>
          <p:cNvPr id="22531" name="Rectangle 2">
            <a:extLst>
              <a:ext uri="{FF2B5EF4-FFF2-40B4-BE49-F238E27FC236}">
                <a16:creationId xmlns:a16="http://schemas.microsoft.com/office/drawing/2014/main" id="{4C28E879-9433-0ABB-23CB-0B170449BE7C}"/>
              </a:ext>
            </a:extLst>
          </p:cNvPr>
          <p:cNvSpPr>
            <a:spLocks noGrp="1" noRot="1" noChangeAspect="1" noChangeArrowheads="1" noTextEdit="1"/>
          </p:cNvSpPr>
          <p:nvPr>
            <p:ph type="sldImg"/>
          </p:nvPr>
        </p:nvSpPr>
        <p:spPr bwMode="auto">
          <a:noFill/>
          <a:ln>
            <a:solidFill>
              <a:srgbClr val="000000"/>
            </a:solidFill>
            <a:miter lim="800000"/>
            <a:headEnd/>
            <a:tailEnd/>
          </a:ln>
        </p:spPr>
      </p:sp>
      <p:sp>
        <p:nvSpPr>
          <p:cNvPr id="22532" name="Rectangle 3">
            <a:extLst>
              <a:ext uri="{FF2B5EF4-FFF2-40B4-BE49-F238E27FC236}">
                <a16:creationId xmlns:a16="http://schemas.microsoft.com/office/drawing/2014/main" id="{8B07A22A-FE6D-83D8-60E1-A418622CBF57}"/>
              </a:ext>
            </a:extLst>
          </p:cNvPr>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318367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B599C-00D1-B39A-A689-E0387184B8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36AA347-0711-BF09-C76C-3FEA1F3EB3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A56707-FE00-6F3A-3CC4-89CD00FA1390}"/>
              </a:ext>
            </a:extLst>
          </p:cNvPr>
          <p:cNvSpPr>
            <a:spLocks noGrp="1"/>
          </p:cNvSpPr>
          <p:nvPr>
            <p:ph type="dt" sz="half" idx="10"/>
          </p:nvPr>
        </p:nvSpPr>
        <p:spPr/>
        <p:txBody>
          <a:bodyPr/>
          <a:lstStyle/>
          <a:p>
            <a:fld id="{4D4F5469-DAF8-465A-BF53-313BF3D0C60C}" type="datetimeFigureOut">
              <a:rPr lang="en-US" smtClean="0"/>
              <a:t>11/1/2025</a:t>
            </a:fld>
            <a:endParaRPr lang="en-US"/>
          </a:p>
        </p:txBody>
      </p:sp>
      <p:sp>
        <p:nvSpPr>
          <p:cNvPr id="5" name="Footer Placeholder 4">
            <a:extLst>
              <a:ext uri="{FF2B5EF4-FFF2-40B4-BE49-F238E27FC236}">
                <a16:creationId xmlns:a16="http://schemas.microsoft.com/office/drawing/2014/main" id="{DFD40F23-1E21-3E1E-3D2C-67EFD00A97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BF0D46-8D34-1E79-F6E3-232201521805}"/>
              </a:ext>
            </a:extLst>
          </p:cNvPr>
          <p:cNvSpPr>
            <a:spLocks noGrp="1"/>
          </p:cNvSpPr>
          <p:nvPr>
            <p:ph type="sldNum" sz="quarter" idx="12"/>
          </p:nvPr>
        </p:nvSpPr>
        <p:spPr/>
        <p:txBody>
          <a:bodyPr/>
          <a:lstStyle/>
          <a:p>
            <a:fld id="{020550D2-4D16-4B89-A3DC-37911FC5E0B4}" type="slidenum">
              <a:rPr lang="en-US" smtClean="0"/>
              <a:t>‹#›</a:t>
            </a:fld>
            <a:endParaRPr lang="en-US"/>
          </a:p>
        </p:txBody>
      </p:sp>
    </p:spTree>
    <p:extLst>
      <p:ext uri="{BB962C8B-B14F-4D97-AF65-F5344CB8AC3E}">
        <p14:creationId xmlns:p14="http://schemas.microsoft.com/office/powerpoint/2010/main" val="3538986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C4872-713F-0187-A180-711F34D1AF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0D1536-3852-C085-4F00-6FF3648957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9A61F4-3F69-7D94-6D7E-EBC2CBA3DACE}"/>
              </a:ext>
            </a:extLst>
          </p:cNvPr>
          <p:cNvSpPr>
            <a:spLocks noGrp="1"/>
          </p:cNvSpPr>
          <p:nvPr>
            <p:ph type="dt" sz="half" idx="10"/>
          </p:nvPr>
        </p:nvSpPr>
        <p:spPr/>
        <p:txBody>
          <a:bodyPr/>
          <a:lstStyle/>
          <a:p>
            <a:fld id="{4D4F5469-DAF8-465A-BF53-313BF3D0C60C}" type="datetimeFigureOut">
              <a:rPr lang="en-US" smtClean="0"/>
              <a:t>11/1/2025</a:t>
            </a:fld>
            <a:endParaRPr lang="en-US"/>
          </a:p>
        </p:txBody>
      </p:sp>
      <p:sp>
        <p:nvSpPr>
          <p:cNvPr id="5" name="Footer Placeholder 4">
            <a:extLst>
              <a:ext uri="{FF2B5EF4-FFF2-40B4-BE49-F238E27FC236}">
                <a16:creationId xmlns:a16="http://schemas.microsoft.com/office/drawing/2014/main" id="{B6038442-8D16-6943-5624-7B93BDC521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1B9B5B-9EFD-2CEC-37F2-FBFEC0B0C111}"/>
              </a:ext>
            </a:extLst>
          </p:cNvPr>
          <p:cNvSpPr>
            <a:spLocks noGrp="1"/>
          </p:cNvSpPr>
          <p:nvPr>
            <p:ph type="sldNum" sz="quarter" idx="12"/>
          </p:nvPr>
        </p:nvSpPr>
        <p:spPr/>
        <p:txBody>
          <a:bodyPr/>
          <a:lstStyle/>
          <a:p>
            <a:fld id="{020550D2-4D16-4B89-A3DC-37911FC5E0B4}" type="slidenum">
              <a:rPr lang="en-US" smtClean="0"/>
              <a:t>‹#›</a:t>
            </a:fld>
            <a:endParaRPr lang="en-US"/>
          </a:p>
        </p:txBody>
      </p:sp>
    </p:spTree>
    <p:extLst>
      <p:ext uri="{BB962C8B-B14F-4D97-AF65-F5344CB8AC3E}">
        <p14:creationId xmlns:p14="http://schemas.microsoft.com/office/powerpoint/2010/main" val="522540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765F4-C59A-835F-8CD0-EBF01E9289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E72886-80F9-6ABA-9E52-53E2F47FBC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FE6130-5862-EF80-900C-42D483F87139}"/>
              </a:ext>
            </a:extLst>
          </p:cNvPr>
          <p:cNvSpPr>
            <a:spLocks noGrp="1"/>
          </p:cNvSpPr>
          <p:nvPr>
            <p:ph type="dt" sz="half" idx="10"/>
          </p:nvPr>
        </p:nvSpPr>
        <p:spPr/>
        <p:txBody>
          <a:bodyPr/>
          <a:lstStyle/>
          <a:p>
            <a:fld id="{4D4F5469-DAF8-465A-BF53-313BF3D0C60C}" type="datetimeFigureOut">
              <a:rPr lang="en-US" smtClean="0"/>
              <a:t>11/1/2025</a:t>
            </a:fld>
            <a:endParaRPr lang="en-US"/>
          </a:p>
        </p:txBody>
      </p:sp>
      <p:sp>
        <p:nvSpPr>
          <p:cNvPr id="5" name="Footer Placeholder 4">
            <a:extLst>
              <a:ext uri="{FF2B5EF4-FFF2-40B4-BE49-F238E27FC236}">
                <a16:creationId xmlns:a16="http://schemas.microsoft.com/office/drawing/2014/main" id="{927B1D35-F32D-A0DD-B00C-BB138096D8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BE698A-76FF-9C51-3739-708324A2FE69}"/>
              </a:ext>
            </a:extLst>
          </p:cNvPr>
          <p:cNvSpPr>
            <a:spLocks noGrp="1"/>
          </p:cNvSpPr>
          <p:nvPr>
            <p:ph type="sldNum" sz="quarter" idx="12"/>
          </p:nvPr>
        </p:nvSpPr>
        <p:spPr/>
        <p:txBody>
          <a:bodyPr/>
          <a:lstStyle/>
          <a:p>
            <a:fld id="{020550D2-4D16-4B89-A3DC-37911FC5E0B4}" type="slidenum">
              <a:rPr lang="en-US" smtClean="0"/>
              <a:t>‹#›</a:t>
            </a:fld>
            <a:endParaRPr lang="en-US"/>
          </a:p>
        </p:txBody>
      </p:sp>
    </p:spTree>
    <p:extLst>
      <p:ext uri="{BB962C8B-B14F-4D97-AF65-F5344CB8AC3E}">
        <p14:creationId xmlns:p14="http://schemas.microsoft.com/office/powerpoint/2010/main" val="3621283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BEAA0-0775-5682-81DE-71F1E6ED32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99E722-1BDD-1A94-A643-B1B3BF0EDC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AC0FB2-C425-530B-C408-1EB8E24AA7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2B097F-B3C7-84C1-460A-3008DD7BAE1E}"/>
              </a:ext>
            </a:extLst>
          </p:cNvPr>
          <p:cNvSpPr>
            <a:spLocks noGrp="1"/>
          </p:cNvSpPr>
          <p:nvPr>
            <p:ph type="dt" sz="half" idx="10"/>
          </p:nvPr>
        </p:nvSpPr>
        <p:spPr/>
        <p:txBody>
          <a:bodyPr/>
          <a:lstStyle/>
          <a:p>
            <a:fld id="{4D4F5469-DAF8-465A-BF53-313BF3D0C60C}" type="datetimeFigureOut">
              <a:rPr lang="en-US" smtClean="0"/>
              <a:t>11/1/2025</a:t>
            </a:fld>
            <a:endParaRPr lang="en-US"/>
          </a:p>
        </p:txBody>
      </p:sp>
      <p:sp>
        <p:nvSpPr>
          <p:cNvPr id="6" name="Footer Placeholder 5">
            <a:extLst>
              <a:ext uri="{FF2B5EF4-FFF2-40B4-BE49-F238E27FC236}">
                <a16:creationId xmlns:a16="http://schemas.microsoft.com/office/drawing/2014/main" id="{3DFD2A16-658A-A024-BC14-B9878617E3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F676B8-0EAA-6162-E260-60AA4EFF8DD4}"/>
              </a:ext>
            </a:extLst>
          </p:cNvPr>
          <p:cNvSpPr>
            <a:spLocks noGrp="1"/>
          </p:cNvSpPr>
          <p:nvPr>
            <p:ph type="sldNum" sz="quarter" idx="12"/>
          </p:nvPr>
        </p:nvSpPr>
        <p:spPr/>
        <p:txBody>
          <a:bodyPr/>
          <a:lstStyle/>
          <a:p>
            <a:fld id="{020550D2-4D16-4B89-A3DC-37911FC5E0B4}" type="slidenum">
              <a:rPr lang="en-US" smtClean="0"/>
              <a:t>‹#›</a:t>
            </a:fld>
            <a:endParaRPr lang="en-US"/>
          </a:p>
        </p:txBody>
      </p:sp>
    </p:spTree>
    <p:extLst>
      <p:ext uri="{BB962C8B-B14F-4D97-AF65-F5344CB8AC3E}">
        <p14:creationId xmlns:p14="http://schemas.microsoft.com/office/powerpoint/2010/main" val="3972437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4B2F8-DC37-CC3F-3EF0-1EC2095346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883AA4-4DFF-4ACB-B348-2938CA41DF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EB5B3B-F027-12A3-01ED-24AFD78747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46A2BA-8551-A5AB-CEB6-1E9CDD7D6C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EBB272-0BA2-9D28-7343-60D966CCFA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7D4619-2E74-1FF8-25BA-AF40E7A6C657}"/>
              </a:ext>
            </a:extLst>
          </p:cNvPr>
          <p:cNvSpPr>
            <a:spLocks noGrp="1"/>
          </p:cNvSpPr>
          <p:nvPr>
            <p:ph type="dt" sz="half" idx="10"/>
          </p:nvPr>
        </p:nvSpPr>
        <p:spPr/>
        <p:txBody>
          <a:bodyPr/>
          <a:lstStyle/>
          <a:p>
            <a:fld id="{4D4F5469-DAF8-465A-BF53-313BF3D0C60C}" type="datetimeFigureOut">
              <a:rPr lang="en-US" smtClean="0"/>
              <a:t>11/1/2025</a:t>
            </a:fld>
            <a:endParaRPr lang="en-US"/>
          </a:p>
        </p:txBody>
      </p:sp>
      <p:sp>
        <p:nvSpPr>
          <p:cNvPr id="8" name="Footer Placeholder 7">
            <a:extLst>
              <a:ext uri="{FF2B5EF4-FFF2-40B4-BE49-F238E27FC236}">
                <a16:creationId xmlns:a16="http://schemas.microsoft.com/office/drawing/2014/main" id="{44D2A34B-8E97-9B1B-181B-EACD11AC2E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6798A99-025B-85AC-6C62-DF3F4F66EF44}"/>
              </a:ext>
            </a:extLst>
          </p:cNvPr>
          <p:cNvSpPr>
            <a:spLocks noGrp="1"/>
          </p:cNvSpPr>
          <p:nvPr>
            <p:ph type="sldNum" sz="quarter" idx="12"/>
          </p:nvPr>
        </p:nvSpPr>
        <p:spPr/>
        <p:txBody>
          <a:bodyPr/>
          <a:lstStyle/>
          <a:p>
            <a:fld id="{020550D2-4D16-4B89-A3DC-37911FC5E0B4}" type="slidenum">
              <a:rPr lang="en-US" smtClean="0"/>
              <a:t>‹#›</a:t>
            </a:fld>
            <a:endParaRPr lang="en-US"/>
          </a:p>
        </p:txBody>
      </p:sp>
    </p:spTree>
    <p:extLst>
      <p:ext uri="{BB962C8B-B14F-4D97-AF65-F5344CB8AC3E}">
        <p14:creationId xmlns:p14="http://schemas.microsoft.com/office/powerpoint/2010/main" val="1976920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8D205-C203-A4CC-D553-51A873C85C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536C01-6B15-12E7-AC0A-759B477447E8}"/>
              </a:ext>
            </a:extLst>
          </p:cNvPr>
          <p:cNvSpPr>
            <a:spLocks noGrp="1"/>
          </p:cNvSpPr>
          <p:nvPr>
            <p:ph type="dt" sz="half" idx="10"/>
          </p:nvPr>
        </p:nvSpPr>
        <p:spPr/>
        <p:txBody>
          <a:bodyPr/>
          <a:lstStyle/>
          <a:p>
            <a:fld id="{4D4F5469-DAF8-465A-BF53-313BF3D0C60C}" type="datetimeFigureOut">
              <a:rPr lang="en-US" smtClean="0"/>
              <a:t>11/1/2025</a:t>
            </a:fld>
            <a:endParaRPr lang="en-US"/>
          </a:p>
        </p:txBody>
      </p:sp>
      <p:sp>
        <p:nvSpPr>
          <p:cNvPr id="4" name="Footer Placeholder 3">
            <a:extLst>
              <a:ext uri="{FF2B5EF4-FFF2-40B4-BE49-F238E27FC236}">
                <a16:creationId xmlns:a16="http://schemas.microsoft.com/office/drawing/2014/main" id="{9DF5333D-54AA-B65D-2A06-8D13C9868E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A0853D-E10A-BE44-F702-39715D4E6DA8}"/>
              </a:ext>
            </a:extLst>
          </p:cNvPr>
          <p:cNvSpPr>
            <a:spLocks noGrp="1"/>
          </p:cNvSpPr>
          <p:nvPr>
            <p:ph type="sldNum" sz="quarter" idx="12"/>
          </p:nvPr>
        </p:nvSpPr>
        <p:spPr/>
        <p:txBody>
          <a:bodyPr/>
          <a:lstStyle/>
          <a:p>
            <a:fld id="{020550D2-4D16-4B89-A3DC-37911FC5E0B4}" type="slidenum">
              <a:rPr lang="en-US" smtClean="0"/>
              <a:t>‹#›</a:t>
            </a:fld>
            <a:endParaRPr lang="en-US"/>
          </a:p>
        </p:txBody>
      </p:sp>
    </p:spTree>
    <p:extLst>
      <p:ext uri="{BB962C8B-B14F-4D97-AF65-F5344CB8AC3E}">
        <p14:creationId xmlns:p14="http://schemas.microsoft.com/office/powerpoint/2010/main" val="195697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EBBBD0-9B29-8FC8-E6A4-1098449F4A0D}"/>
              </a:ext>
            </a:extLst>
          </p:cNvPr>
          <p:cNvSpPr>
            <a:spLocks noGrp="1"/>
          </p:cNvSpPr>
          <p:nvPr>
            <p:ph type="dt" sz="half" idx="10"/>
          </p:nvPr>
        </p:nvSpPr>
        <p:spPr/>
        <p:txBody>
          <a:bodyPr/>
          <a:lstStyle/>
          <a:p>
            <a:fld id="{4D4F5469-DAF8-465A-BF53-313BF3D0C60C}" type="datetimeFigureOut">
              <a:rPr lang="en-US" smtClean="0"/>
              <a:t>11/1/2025</a:t>
            </a:fld>
            <a:endParaRPr lang="en-US"/>
          </a:p>
        </p:txBody>
      </p:sp>
      <p:sp>
        <p:nvSpPr>
          <p:cNvPr id="3" name="Footer Placeholder 2">
            <a:extLst>
              <a:ext uri="{FF2B5EF4-FFF2-40B4-BE49-F238E27FC236}">
                <a16:creationId xmlns:a16="http://schemas.microsoft.com/office/drawing/2014/main" id="{2970CFC6-6C0B-D23A-B362-D30CD15ADA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63A0FB-DD36-AE98-E585-70B158C62A73}"/>
              </a:ext>
            </a:extLst>
          </p:cNvPr>
          <p:cNvSpPr>
            <a:spLocks noGrp="1"/>
          </p:cNvSpPr>
          <p:nvPr>
            <p:ph type="sldNum" sz="quarter" idx="12"/>
          </p:nvPr>
        </p:nvSpPr>
        <p:spPr/>
        <p:txBody>
          <a:bodyPr/>
          <a:lstStyle/>
          <a:p>
            <a:fld id="{020550D2-4D16-4B89-A3DC-37911FC5E0B4}" type="slidenum">
              <a:rPr lang="en-US" smtClean="0"/>
              <a:t>‹#›</a:t>
            </a:fld>
            <a:endParaRPr lang="en-US"/>
          </a:p>
        </p:txBody>
      </p:sp>
    </p:spTree>
    <p:extLst>
      <p:ext uri="{BB962C8B-B14F-4D97-AF65-F5344CB8AC3E}">
        <p14:creationId xmlns:p14="http://schemas.microsoft.com/office/powerpoint/2010/main" val="2459491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4962B-94FB-6A13-C215-D65D3051AB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5F02B9-90DB-C2DA-43DD-4A3B1E2261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5373E1-33B6-830B-43B8-7EF6E01B11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C330F6-CA5A-80B8-A726-BB71A248E25D}"/>
              </a:ext>
            </a:extLst>
          </p:cNvPr>
          <p:cNvSpPr>
            <a:spLocks noGrp="1"/>
          </p:cNvSpPr>
          <p:nvPr>
            <p:ph type="dt" sz="half" idx="10"/>
          </p:nvPr>
        </p:nvSpPr>
        <p:spPr/>
        <p:txBody>
          <a:bodyPr/>
          <a:lstStyle/>
          <a:p>
            <a:fld id="{4D4F5469-DAF8-465A-BF53-313BF3D0C60C}" type="datetimeFigureOut">
              <a:rPr lang="en-US" smtClean="0"/>
              <a:t>11/1/2025</a:t>
            </a:fld>
            <a:endParaRPr lang="en-US"/>
          </a:p>
        </p:txBody>
      </p:sp>
      <p:sp>
        <p:nvSpPr>
          <p:cNvPr id="6" name="Footer Placeholder 5">
            <a:extLst>
              <a:ext uri="{FF2B5EF4-FFF2-40B4-BE49-F238E27FC236}">
                <a16:creationId xmlns:a16="http://schemas.microsoft.com/office/drawing/2014/main" id="{6B0374BF-703E-23D7-B09C-07B610F5FB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172248-CC36-3D49-E382-F823940DC6F3}"/>
              </a:ext>
            </a:extLst>
          </p:cNvPr>
          <p:cNvSpPr>
            <a:spLocks noGrp="1"/>
          </p:cNvSpPr>
          <p:nvPr>
            <p:ph type="sldNum" sz="quarter" idx="12"/>
          </p:nvPr>
        </p:nvSpPr>
        <p:spPr/>
        <p:txBody>
          <a:bodyPr/>
          <a:lstStyle/>
          <a:p>
            <a:fld id="{020550D2-4D16-4B89-A3DC-37911FC5E0B4}" type="slidenum">
              <a:rPr lang="en-US" smtClean="0"/>
              <a:t>‹#›</a:t>
            </a:fld>
            <a:endParaRPr lang="en-US"/>
          </a:p>
        </p:txBody>
      </p:sp>
    </p:spTree>
    <p:extLst>
      <p:ext uri="{BB962C8B-B14F-4D97-AF65-F5344CB8AC3E}">
        <p14:creationId xmlns:p14="http://schemas.microsoft.com/office/powerpoint/2010/main" val="1637765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C5CA7-B719-0F6D-722D-5C087456AD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D39A33-E02A-26BE-3E8F-578F59AD1F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D973F7-8ADF-9A92-130B-67190422D2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EF8DE7-197C-2625-F7B2-17DA30A8F09B}"/>
              </a:ext>
            </a:extLst>
          </p:cNvPr>
          <p:cNvSpPr>
            <a:spLocks noGrp="1"/>
          </p:cNvSpPr>
          <p:nvPr>
            <p:ph type="dt" sz="half" idx="10"/>
          </p:nvPr>
        </p:nvSpPr>
        <p:spPr/>
        <p:txBody>
          <a:bodyPr/>
          <a:lstStyle/>
          <a:p>
            <a:fld id="{4D4F5469-DAF8-465A-BF53-313BF3D0C60C}" type="datetimeFigureOut">
              <a:rPr lang="en-US" smtClean="0"/>
              <a:t>11/1/2025</a:t>
            </a:fld>
            <a:endParaRPr lang="en-US"/>
          </a:p>
        </p:txBody>
      </p:sp>
      <p:sp>
        <p:nvSpPr>
          <p:cNvPr id="6" name="Footer Placeholder 5">
            <a:extLst>
              <a:ext uri="{FF2B5EF4-FFF2-40B4-BE49-F238E27FC236}">
                <a16:creationId xmlns:a16="http://schemas.microsoft.com/office/drawing/2014/main" id="{11B232C8-FBE6-9597-2E25-A410804FB6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F32ED-B46B-5101-A3F0-AEC611C2F544}"/>
              </a:ext>
            </a:extLst>
          </p:cNvPr>
          <p:cNvSpPr>
            <a:spLocks noGrp="1"/>
          </p:cNvSpPr>
          <p:nvPr>
            <p:ph type="sldNum" sz="quarter" idx="12"/>
          </p:nvPr>
        </p:nvSpPr>
        <p:spPr/>
        <p:txBody>
          <a:bodyPr/>
          <a:lstStyle/>
          <a:p>
            <a:fld id="{020550D2-4D16-4B89-A3DC-37911FC5E0B4}" type="slidenum">
              <a:rPr lang="en-US" smtClean="0"/>
              <a:t>‹#›</a:t>
            </a:fld>
            <a:endParaRPr lang="en-US"/>
          </a:p>
        </p:txBody>
      </p:sp>
    </p:spTree>
    <p:extLst>
      <p:ext uri="{BB962C8B-B14F-4D97-AF65-F5344CB8AC3E}">
        <p14:creationId xmlns:p14="http://schemas.microsoft.com/office/powerpoint/2010/main" val="3235781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02ACF-D014-5C8D-4848-00CFE5FC0E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BDC039-499E-285C-30DF-9C6ABF29E4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18A374-F62D-26AC-6299-365560F7D821}"/>
              </a:ext>
            </a:extLst>
          </p:cNvPr>
          <p:cNvSpPr>
            <a:spLocks noGrp="1"/>
          </p:cNvSpPr>
          <p:nvPr>
            <p:ph type="dt" sz="half" idx="10"/>
          </p:nvPr>
        </p:nvSpPr>
        <p:spPr/>
        <p:txBody>
          <a:bodyPr/>
          <a:lstStyle/>
          <a:p>
            <a:fld id="{4D4F5469-DAF8-465A-BF53-313BF3D0C60C}" type="datetimeFigureOut">
              <a:rPr lang="en-US" smtClean="0"/>
              <a:t>11/1/2025</a:t>
            </a:fld>
            <a:endParaRPr lang="en-US"/>
          </a:p>
        </p:txBody>
      </p:sp>
      <p:sp>
        <p:nvSpPr>
          <p:cNvPr id="5" name="Footer Placeholder 4">
            <a:extLst>
              <a:ext uri="{FF2B5EF4-FFF2-40B4-BE49-F238E27FC236}">
                <a16:creationId xmlns:a16="http://schemas.microsoft.com/office/drawing/2014/main" id="{2A86FBAB-D4ED-37E6-DCD6-F21D1F806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A8BE31-8568-F3D4-93FE-F375EE13272A}"/>
              </a:ext>
            </a:extLst>
          </p:cNvPr>
          <p:cNvSpPr>
            <a:spLocks noGrp="1"/>
          </p:cNvSpPr>
          <p:nvPr>
            <p:ph type="sldNum" sz="quarter" idx="12"/>
          </p:nvPr>
        </p:nvSpPr>
        <p:spPr/>
        <p:txBody>
          <a:bodyPr/>
          <a:lstStyle/>
          <a:p>
            <a:fld id="{020550D2-4D16-4B89-A3DC-37911FC5E0B4}" type="slidenum">
              <a:rPr lang="en-US" smtClean="0"/>
              <a:t>‹#›</a:t>
            </a:fld>
            <a:endParaRPr lang="en-US"/>
          </a:p>
        </p:txBody>
      </p:sp>
    </p:spTree>
    <p:extLst>
      <p:ext uri="{BB962C8B-B14F-4D97-AF65-F5344CB8AC3E}">
        <p14:creationId xmlns:p14="http://schemas.microsoft.com/office/powerpoint/2010/main" val="1079537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11ECB8-1D28-FB38-0EEE-A57A289E22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9BEB1B-ED5A-8D20-F6F9-5500DB0273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E88F94-D212-6ED5-9C85-B1FFF322EA74}"/>
              </a:ext>
            </a:extLst>
          </p:cNvPr>
          <p:cNvSpPr>
            <a:spLocks noGrp="1"/>
          </p:cNvSpPr>
          <p:nvPr>
            <p:ph type="dt" sz="half" idx="10"/>
          </p:nvPr>
        </p:nvSpPr>
        <p:spPr/>
        <p:txBody>
          <a:bodyPr/>
          <a:lstStyle/>
          <a:p>
            <a:fld id="{4D4F5469-DAF8-465A-BF53-313BF3D0C60C}" type="datetimeFigureOut">
              <a:rPr lang="en-US" smtClean="0"/>
              <a:t>11/1/2025</a:t>
            </a:fld>
            <a:endParaRPr lang="en-US"/>
          </a:p>
        </p:txBody>
      </p:sp>
      <p:sp>
        <p:nvSpPr>
          <p:cNvPr id="5" name="Footer Placeholder 4">
            <a:extLst>
              <a:ext uri="{FF2B5EF4-FFF2-40B4-BE49-F238E27FC236}">
                <a16:creationId xmlns:a16="http://schemas.microsoft.com/office/drawing/2014/main" id="{CAEE144B-12EA-59B8-6A15-F274130C85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C4F329-EADE-F517-DD05-1C772DCD85EB}"/>
              </a:ext>
            </a:extLst>
          </p:cNvPr>
          <p:cNvSpPr>
            <a:spLocks noGrp="1"/>
          </p:cNvSpPr>
          <p:nvPr>
            <p:ph type="sldNum" sz="quarter" idx="12"/>
          </p:nvPr>
        </p:nvSpPr>
        <p:spPr/>
        <p:txBody>
          <a:bodyPr/>
          <a:lstStyle/>
          <a:p>
            <a:fld id="{020550D2-4D16-4B89-A3DC-37911FC5E0B4}" type="slidenum">
              <a:rPr lang="en-US" smtClean="0"/>
              <a:t>‹#›</a:t>
            </a:fld>
            <a:endParaRPr lang="en-US"/>
          </a:p>
        </p:txBody>
      </p:sp>
    </p:spTree>
    <p:extLst>
      <p:ext uri="{BB962C8B-B14F-4D97-AF65-F5344CB8AC3E}">
        <p14:creationId xmlns:p14="http://schemas.microsoft.com/office/powerpoint/2010/main" val="1934681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able Placeholder 2"/>
          <p:cNvSpPr>
            <a:spLocks noGrp="1"/>
          </p:cNvSpPr>
          <p:nvPr>
            <p:ph type="tbl" idx="1"/>
          </p:nvPr>
        </p:nvSpPr>
        <p:spPr>
          <a:xfrm>
            <a:off x="609600" y="1600201"/>
            <a:ext cx="10972800" cy="4525963"/>
          </a:xfrm>
        </p:spPr>
        <p:txBody>
          <a:bodyPr rtlCol="0">
            <a:normAutofit/>
          </a:bodyPr>
          <a:lstStyle/>
          <a:p>
            <a:pPr lvl="0"/>
            <a:endParaRPr lang="en-US" noProof="0"/>
          </a:p>
        </p:txBody>
      </p:sp>
      <p:sp>
        <p:nvSpPr>
          <p:cNvPr id="4" name="Date Placeholder 3"/>
          <p:cNvSpPr>
            <a:spLocks noGrp="1"/>
          </p:cNvSpPr>
          <p:nvPr>
            <p:ph type="dt" sz="half" idx="10"/>
          </p:nvPr>
        </p:nvSpPr>
        <p:spPr>
          <a:xfrm>
            <a:off x="609600" y="6245225"/>
            <a:ext cx="2844800" cy="476250"/>
          </a:xfrm>
        </p:spPr>
        <p:txBody>
          <a:bodyPr/>
          <a:lstStyle>
            <a:lvl1pPr>
              <a:defRPr smtClean="0"/>
            </a:lvl1pPr>
          </a:lstStyle>
          <a:p>
            <a:pPr>
              <a:defRPr/>
            </a:pPr>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smtClean="0"/>
            </a:lvl1pPr>
          </a:lstStyle>
          <a:p>
            <a:pPr>
              <a:defRPr/>
            </a:pPr>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smtClean="0"/>
            </a:lvl1pPr>
          </a:lstStyle>
          <a:p>
            <a:pPr>
              <a:defRPr/>
            </a:pPr>
            <a:fld id="{51E8C451-0ADB-48E4-89A4-291FF75E592A}" type="slidenum">
              <a:rPr lang="en-US"/>
              <a:pPr>
                <a:defRPr/>
              </a:pPr>
              <a:t>‹#›</a:t>
            </a:fld>
            <a:endParaRPr lang="en-US"/>
          </a:p>
        </p:txBody>
      </p:sp>
    </p:spTree>
    <p:extLst>
      <p:ext uri="{BB962C8B-B14F-4D97-AF65-F5344CB8AC3E}">
        <p14:creationId xmlns:p14="http://schemas.microsoft.com/office/powerpoint/2010/main" val="2985449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10972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 y="3938589"/>
            <a:ext cx="10972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5225"/>
            <a:ext cx="2844800" cy="476250"/>
          </a:xfrm>
        </p:spPr>
        <p:txBody>
          <a:bodyPr/>
          <a:lstStyle>
            <a:lvl1pPr>
              <a:defRPr smtClean="0"/>
            </a:lvl1pPr>
          </a:lstStyle>
          <a:p>
            <a:pPr>
              <a:defRPr/>
            </a:pPr>
            <a:endParaRPr lang="en-US"/>
          </a:p>
        </p:txBody>
      </p:sp>
      <p:sp>
        <p:nvSpPr>
          <p:cNvPr id="6" name="Footer Placeholder 5"/>
          <p:cNvSpPr>
            <a:spLocks noGrp="1"/>
          </p:cNvSpPr>
          <p:nvPr>
            <p:ph type="ftr" sz="quarter" idx="11"/>
          </p:nvPr>
        </p:nvSpPr>
        <p:spPr>
          <a:xfrm>
            <a:off x="4165600" y="6245225"/>
            <a:ext cx="3860800" cy="476250"/>
          </a:xfrm>
        </p:spPr>
        <p:txBody>
          <a:bodyPr/>
          <a:lstStyle>
            <a:lvl1pPr>
              <a:defRPr smtClean="0"/>
            </a:lvl1pPr>
          </a:lstStyle>
          <a:p>
            <a:pPr>
              <a:defRPr/>
            </a:pPr>
            <a:endParaRPr lang="en-US"/>
          </a:p>
        </p:txBody>
      </p:sp>
      <p:sp>
        <p:nvSpPr>
          <p:cNvPr id="7" name="Slide Number Placeholder 6"/>
          <p:cNvSpPr>
            <a:spLocks noGrp="1"/>
          </p:cNvSpPr>
          <p:nvPr>
            <p:ph type="sldNum" sz="quarter" idx="12"/>
          </p:nvPr>
        </p:nvSpPr>
        <p:spPr>
          <a:xfrm>
            <a:off x="8737600" y="6245225"/>
            <a:ext cx="2844800" cy="476250"/>
          </a:xfrm>
        </p:spPr>
        <p:txBody>
          <a:bodyPr/>
          <a:lstStyle>
            <a:lvl1pPr>
              <a:defRPr smtClean="0"/>
            </a:lvl1pPr>
          </a:lstStyle>
          <a:p>
            <a:pPr>
              <a:defRPr/>
            </a:pPr>
            <a:fld id="{A37A6E72-9F7C-4D56-8287-09D3E9DF2D62}" type="slidenum">
              <a:rPr lang="en-US"/>
              <a:pPr>
                <a:defRPr/>
              </a:pPr>
              <a:t>‹#›</a:t>
            </a:fld>
            <a:endParaRPr lang="en-US"/>
          </a:p>
        </p:txBody>
      </p:sp>
    </p:spTree>
    <p:extLst>
      <p:ext uri="{BB962C8B-B14F-4D97-AF65-F5344CB8AC3E}">
        <p14:creationId xmlns:p14="http://schemas.microsoft.com/office/powerpoint/2010/main" val="37182809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BDAE5DEA-9ED0-43AA-B69F-D98F1C863A54}" type="slidenum">
              <a:rPr lang="en-US"/>
              <a:pPr>
                <a:defRPr/>
              </a:pPr>
              <a:t>‹#›</a:t>
            </a:fld>
            <a:endParaRPr lang="en-US"/>
          </a:p>
        </p:txBody>
      </p:sp>
    </p:spTree>
    <p:extLst>
      <p:ext uri="{BB962C8B-B14F-4D97-AF65-F5344CB8AC3E}">
        <p14:creationId xmlns:p14="http://schemas.microsoft.com/office/powerpoint/2010/main" val="352484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0"/>
            <a:ext cx="10972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3938589"/>
            <a:ext cx="10972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5225"/>
            <a:ext cx="2844800" cy="476250"/>
          </a:xfrm>
        </p:spPr>
        <p:txBody>
          <a:bodyPr/>
          <a:lstStyle>
            <a:lvl1pPr>
              <a:defRPr smtClean="0"/>
            </a:lvl1pPr>
          </a:lstStyle>
          <a:p>
            <a:pPr>
              <a:defRPr/>
            </a:pPr>
            <a:endParaRPr lang="en-US"/>
          </a:p>
        </p:txBody>
      </p:sp>
      <p:sp>
        <p:nvSpPr>
          <p:cNvPr id="6" name="Footer Placeholder 5"/>
          <p:cNvSpPr>
            <a:spLocks noGrp="1"/>
          </p:cNvSpPr>
          <p:nvPr>
            <p:ph type="ftr" sz="quarter" idx="11"/>
          </p:nvPr>
        </p:nvSpPr>
        <p:spPr>
          <a:xfrm>
            <a:off x="4165600" y="6245225"/>
            <a:ext cx="3860800" cy="476250"/>
          </a:xfrm>
        </p:spPr>
        <p:txBody>
          <a:bodyPr/>
          <a:lstStyle>
            <a:lvl1pPr>
              <a:defRPr smtClean="0"/>
            </a:lvl1pPr>
          </a:lstStyle>
          <a:p>
            <a:pPr>
              <a:defRPr/>
            </a:pPr>
            <a:endParaRPr lang="en-US"/>
          </a:p>
        </p:txBody>
      </p:sp>
      <p:sp>
        <p:nvSpPr>
          <p:cNvPr id="7" name="Slide Number Placeholder 6"/>
          <p:cNvSpPr>
            <a:spLocks noGrp="1"/>
          </p:cNvSpPr>
          <p:nvPr>
            <p:ph type="sldNum" sz="quarter" idx="12"/>
          </p:nvPr>
        </p:nvSpPr>
        <p:spPr>
          <a:xfrm>
            <a:off x="8737600" y="6245225"/>
            <a:ext cx="2844800" cy="476250"/>
          </a:xfrm>
        </p:spPr>
        <p:txBody>
          <a:bodyPr/>
          <a:lstStyle>
            <a:lvl1pPr>
              <a:defRPr smtClean="0"/>
            </a:lvl1pPr>
          </a:lstStyle>
          <a:p>
            <a:pPr>
              <a:defRPr/>
            </a:pPr>
            <a:fld id="{E9B0AE8B-FB0A-49C5-92F1-9DF51FC22C01}" type="slidenum">
              <a:rPr lang="en-US"/>
              <a:pPr>
                <a:defRPr/>
              </a:pPr>
              <a:t>‹#›</a:t>
            </a:fld>
            <a:endParaRPr lang="en-US"/>
          </a:p>
        </p:txBody>
      </p:sp>
    </p:spTree>
    <p:extLst>
      <p:ext uri="{BB962C8B-B14F-4D97-AF65-F5344CB8AC3E}">
        <p14:creationId xmlns:p14="http://schemas.microsoft.com/office/powerpoint/2010/main" val="1493647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0506A1-A712-A702-D620-79780BAB48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0ACAE4-80EE-F9E6-5529-8ABAAC8E3D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3CA7B1-CA78-61DA-206E-C17E0CA39D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D4F5469-DAF8-465A-BF53-313BF3D0C60C}" type="datetimeFigureOut">
              <a:rPr lang="en-US" smtClean="0"/>
              <a:t>11/1/2025</a:t>
            </a:fld>
            <a:endParaRPr lang="en-US"/>
          </a:p>
        </p:txBody>
      </p:sp>
      <p:sp>
        <p:nvSpPr>
          <p:cNvPr id="5" name="Footer Placeholder 4">
            <a:extLst>
              <a:ext uri="{FF2B5EF4-FFF2-40B4-BE49-F238E27FC236}">
                <a16:creationId xmlns:a16="http://schemas.microsoft.com/office/drawing/2014/main" id="{E9047DDA-DC94-86D7-DAAF-0C67A3E3B6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0BD1AB-D4CF-B6B3-5E81-E700B927FA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0550D2-4D16-4B89-A3DC-37911FC5E0B4}" type="slidenum">
              <a:rPr lang="en-US" smtClean="0"/>
              <a:t>‹#›</a:t>
            </a:fld>
            <a:endParaRPr lang="en-US"/>
          </a:p>
        </p:txBody>
      </p:sp>
    </p:spTree>
    <p:extLst>
      <p:ext uri="{BB962C8B-B14F-4D97-AF65-F5344CB8AC3E}">
        <p14:creationId xmlns:p14="http://schemas.microsoft.com/office/powerpoint/2010/main" val="16186398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 id="214748366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974AF-3DD6-7C62-082A-EA95C021EE9B}"/>
              </a:ext>
            </a:extLst>
          </p:cNvPr>
          <p:cNvSpPr>
            <a:spLocks noGrp="1"/>
          </p:cNvSpPr>
          <p:nvPr>
            <p:ph type="title"/>
          </p:nvPr>
        </p:nvSpPr>
        <p:spPr/>
        <p:txBody>
          <a:bodyPr/>
          <a:lstStyle/>
          <a:p>
            <a:r>
              <a:rPr lang="en-US" dirty="0"/>
              <a:t>301, Nov 10, Class 24</a:t>
            </a:r>
          </a:p>
        </p:txBody>
      </p:sp>
      <p:sp>
        <p:nvSpPr>
          <p:cNvPr id="3" name="Content Placeholder 2">
            <a:extLst>
              <a:ext uri="{FF2B5EF4-FFF2-40B4-BE49-F238E27FC236}">
                <a16:creationId xmlns:a16="http://schemas.microsoft.com/office/drawing/2014/main" id="{4FD17050-1308-D0A2-1760-A46AA25D53F5}"/>
              </a:ext>
            </a:extLst>
          </p:cNvPr>
          <p:cNvSpPr>
            <a:spLocks noGrp="1"/>
          </p:cNvSpPr>
          <p:nvPr>
            <p:ph idx="1"/>
          </p:nvPr>
        </p:nvSpPr>
        <p:spPr/>
        <p:txBody>
          <a:bodyPr/>
          <a:lstStyle/>
          <a:p>
            <a:r>
              <a:rPr lang="en-US" dirty="0"/>
              <a:t>Statistics 3</a:t>
            </a:r>
          </a:p>
          <a:p>
            <a:pPr lvl="1"/>
            <a:r>
              <a:rPr lang="en-US" dirty="0"/>
              <a:t>Correlation and Chi-squared</a:t>
            </a:r>
          </a:p>
        </p:txBody>
      </p:sp>
    </p:spTree>
    <p:extLst>
      <p:ext uri="{BB962C8B-B14F-4D97-AF65-F5344CB8AC3E}">
        <p14:creationId xmlns:p14="http://schemas.microsoft.com/office/powerpoint/2010/main" val="887390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Correlation example</a:t>
            </a:r>
          </a:p>
        </p:txBody>
      </p:sp>
      <p:sp>
        <p:nvSpPr>
          <p:cNvPr id="19459" name="Rectangle 3"/>
          <p:cNvSpPr>
            <a:spLocks noGrp="1" noChangeArrowheads="1"/>
          </p:cNvSpPr>
          <p:nvPr>
            <p:ph type="body" idx="1"/>
          </p:nvPr>
        </p:nvSpPr>
        <p:spPr/>
        <p:txBody>
          <a:bodyPr>
            <a:normAutofit/>
          </a:bodyPr>
          <a:lstStyle/>
          <a:p>
            <a:pPr eaLnBrk="1" hangingPunct="1"/>
            <a:r>
              <a:rPr lang="en-US" sz="3600" dirty="0"/>
              <a:t>How does watching TV affect vocabulary size?</a:t>
            </a:r>
          </a:p>
          <a:p>
            <a:pPr eaLnBrk="1" hangingPunct="1"/>
            <a:endParaRPr lang="en-US" sz="3600" dirty="0"/>
          </a:p>
          <a:p>
            <a:pPr eaLnBrk="1" hangingPunct="1"/>
            <a:r>
              <a:rPr lang="en-US" sz="3600" dirty="0"/>
              <a:t>Survey</a:t>
            </a:r>
          </a:p>
          <a:p>
            <a:pPr lvl="1" eaLnBrk="1" hangingPunct="1"/>
            <a:r>
              <a:rPr lang="en-US" sz="3200" dirty="0"/>
              <a:t>How many hours of TV do you watch each week?</a:t>
            </a:r>
          </a:p>
          <a:p>
            <a:pPr lvl="1" eaLnBrk="1" hangingPunct="1"/>
            <a:r>
              <a:rPr lang="en-US" sz="3200" dirty="0"/>
              <a:t>Measure of vocabulary size</a:t>
            </a:r>
          </a:p>
          <a:p>
            <a:pPr lvl="2" eaLnBrk="1" hangingPunct="1"/>
            <a:r>
              <a:rPr lang="en-US" sz="2800" dirty="0"/>
              <a:t>Verbal SAT or similar</a:t>
            </a:r>
          </a:p>
        </p:txBody>
      </p:sp>
    </p:spTree>
    <p:extLst>
      <p:ext uri="{BB962C8B-B14F-4D97-AF65-F5344CB8AC3E}">
        <p14:creationId xmlns:p14="http://schemas.microsoft.com/office/powerpoint/2010/main" val="3040352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endParaRPr lang="en-US"/>
          </a:p>
        </p:txBody>
      </p:sp>
      <p:sp>
        <p:nvSpPr>
          <p:cNvPr id="1028" name="Rectangle 3"/>
          <p:cNvSpPr>
            <a:spLocks noGrp="1" noChangeArrowheads="1"/>
          </p:cNvSpPr>
          <p:nvPr>
            <p:ph type="body" sz="half" idx="1"/>
          </p:nvPr>
        </p:nvSpPr>
        <p:spPr/>
        <p:txBody>
          <a:bodyPr>
            <a:normAutofit/>
          </a:bodyPr>
          <a:lstStyle/>
          <a:p>
            <a:pPr eaLnBrk="1" hangingPunct="1"/>
            <a:r>
              <a:rPr lang="en-US" sz="3200" dirty="0"/>
              <a:t>A significant positive correlation was found between hours of TV viewing and vocabulary, </a:t>
            </a:r>
            <a:r>
              <a:rPr lang="en-US" sz="3200" i="1" dirty="0"/>
              <a:t>r</a:t>
            </a:r>
            <a:r>
              <a:rPr lang="en-US" sz="3200" dirty="0"/>
              <a:t> = 0.62 </a:t>
            </a:r>
          </a:p>
        </p:txBody>
      </p:sp>
      <p:graphicFrame>
        <p:nvGraphicFramePr>
          <p:cNvPr id="1026" name="Object 5"/>
          <p:cNvGraphicFramePr>
            <a:graphicFrameLocks noGrp="1" noChangeAspect="1"/>
          </p:cNvGraphicFramePr>
          <p:nvPr>
            <p:ph sz="quarter" idx="2"/>
          </p:nvPr>
        </p:nvGraphicFramePr>
        <p:xfrm>
          <a:off x="6991350" y="1639889"/>
          <a:ext cx="4572000" cy="4009572"/>
        </p:xfrm>
        <a:graphic>
          <a:graphicData uri="http://schemas.openxmlformats.org/presentationml/2006/ole">
            <mc:AlternateContent xmlns:mc="http://schemas.openxmlformats.org/markup-compatibility/2006">
              <mc:Choice xmlns:v="urn:schemas-microsoft-com:vml" Requires="v">
                <p:oleObj name="Chart" r:id="rId3" imgW="2400220" imgH="2105045" progId="Excel.Chart.8">
                  <p:embed/>
                </p:oleObj>
              </mc:Choice>
              <mc:Fallback>
                <p:oleObj name="Chart" r:id="rId3" imgW="2400220" imgH="2105045" progId="Excel.Chart.8">
                  <p:embed/>
                  <p:pic>
                    <p:nvPicPr>
                      <p:cNvPr id="102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1350" y="1639889"/>
                        <a:ext cx="4572000" cy="4009572"/>
                      </a:xfrm>
                      <a:prstGeom prst="rect">
                        <a:avLst/>
                      </a:prstGeom>
                      <a:noFill/>
                    </p:spPr>
                  </p:pic>
                </p:oleObj>
              </mc:Fallback>
            </mc:AlternateContent>
          </a:graphicData>
        </a:graphic>
      </p:graphicFrame>
      <p:sp>
        <p:nvSpPr>
          <p:cNvPr id="1030" name="Text Box 6"/>
          <p:cNvSpPr txBox="1">
            <a:spLocks noChangeArrowheads="1"/>
          </p:cNvSpPr>
          <p:nvPr/>
        </p:nvSpPr>
        <p:spPr bwMode="auto">
          <a:xfrm rot="16200000">
            <a:off x="5878546" y="3468361"/>
            <a:ext cx="1856277" cy="369332"/>
          </a:xfrm>
          <a:prstGeom prst="rect">
            <a:avLst/>
          </a:prstGeom>
          <a:noFill/>
          <a:ln w="9525">
            <a:noFill/>
            <a:miter lim="800000"/>
            <a:headEnd/>
            <a:tailEnd/>
          </a:ln>
        </p:spPr>
        <p:txBody>
          <a:bodyPr wrap="none">
            <a:spAutoFit/>
          </a:bodyPr>
          <a:lstStyle/>
          <a:p>
            <a:r>
              <a:rPr lang="en-US" dirty="0"/>
              <a:t>Hours of TV/week</a:t>
            </a:r>
          </a:p>
        </p:txBody>
      </p:sp>
      <p:sp>
        <p:nvSpPr>
          <p:cNvPr id="1031" name="Text Box 7"/>
          <p:cNvSpPr txBox="1">
            <a:spLocks noChangeArrowheads="1"/>
          </p:cNvSpPr>
          <p:nvPr/>
        </p:nvSpPr>
        <p:spPr bwMode="auto">
          <a:xfrm>
            <a:off x="8716489" y="5666167"/>
            <a:ext cx="1624547" cy="369332"/>
          </a:xfrm>
          <a:prstGeom prst="rect">
            <a:avLst/>
          </a:prstGeom>
          <a:noFill/>
          <a:ln w="9525">
            <a:noFill/>
            <a:miter lim="800000"/>
            <a:headEnd/>
            <a:tailEnd/>
          </a:ln>
        </p:spPr>
        <p:txBody>
          <a:bodyPr wrap="none">
            <a:spAutoFit/>
          </a:bodyPr>
          <a:lstStyle/>
          <a:p>
            <a:r>
              <a:rPr lang="en-US" dirty="0"/>
              <a:t>Vocabulary size</a:t>
            </a:r>
          </a:p>
        </p:txBody>
      </p:sp>
    </p:spTree>
    <p:extLst>
      <p:ext uri="{BB962C8B-B14F-4D97-AF65-F5344CB8AC3E}">
        <p14:creationId xmlns:p14="http://schemas.microsoft.com/office/powerpoint/2010/main" val="813614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endParaRPr lang="en-US"/>
          </a:p>
        </p:txBody>
      </p:sp>
      <p:sp>
        <p:nvSpPr>
          <p:cNvPr id="2052" name="Rectangle 3"/>
          <p:cNvSpPr>
            <a:spLocks noGrp="1" noChangeArrowheads="1"/>
          </p:cNvSpPr>
          <p:nvPr>
            <p:ph type="body" sz="half" idx="1"/>
          </p:nvPr>
        </p:nvSpPr>
        <p:spPr/>
        <p:txBody>
          <a:bodyPr>
            <a:normAutofit/>
          </a:bodyPr>
          <a:lstStyle/>
          <a:p>
            <a:pPr eaLnBrk="1" hangingPunct="1"/>
            <a:r>
              <a:rPr lang="en-US" sz="3200" dirty="0"/>
              <a:t>A significant negative correlation was found between hours of TV viewing and vocabulary, </a:t>
            </a:r>
            <a:r>
              <a:rPr lang="en-US" sz="3200" i="1" dirty="0"/>
              <a:t>r</a:t>
            </a:r>
            <a:r>
              <a:rPr lang="en-US" sz="3200" dirty="0"/>
              <a:t> = -0.54 </a:t>
            </a:r>
          </a:p>
        </p:txBody>
      </p:sp>
      <p:sp>
        <p:nvSpPr>
          <p:cNvPr id="2054" name="Text Box 5"/>
          <p:cNvSpPr txBox="1">
            <a:spLocks noChangeArrowheads="1"/>
          </p:cNvSpPr>
          <p:nvPr/>
        </p:nvSpPr>
        <p:spPr bwMode="auto">
          <a:xfrm rot="16200000">
            <a:off x="5782579" y="3506328"/>
            <a:ext cx="1856277" cy="369332"/>
          </a:xfrm>
          <a:prstGeom prst="rect">
            <a:avLst/>
          </a:prstGeom>
          <a:noFill/>
          <a:ln w="9525">
            <a:noFill/>
            <a:miter lim="800000"/>
            <a:headEnd/>
            <a:tailEnd/>
          </a:ln>
        </p:spPr>
        <p:txBody>
          <a:bodyPr wrap="none">
            <a:spAutoFit/>
          </a:bodyPr>
          <a:lstStyle/>
          <a:p>
            <a:r>
              <a:rPr lang="en-US" dirty="0"/>
              <a:t>Hours of TV/week</a:t>
            </a:r>
          </a:p>
        </p:txBody>
      </p:sp>
      <p:sp>
        <p:nvSpPr>
          <p:cNvPr id="2055" name="Text Box 6"/>
          <p:cNvSpPr txBox="1">
            <a:spLocks noChangeArrowheads="1"/>
          </p:cNvSpPr>
          <p:nvPr/>
        </p:nvSpPr>
        <p:spPr bwMode="auto">
          <a:xfrm>
            <a:off x="8394950" y="5595020"/>
            <a:ext cx="1624547" cy="369332"/>
          </a:xfrm>
          <a:prstGeom prst="rect">
            <a:avLst/>
          </a:prstGeom>
          <a:noFill/>
          <a:ln w="9525">
            <a:noFill/>
            <a:miter lim="800000"/>
            <a:headEnd/>
            <a:tailEnd/>
          </a:ln>
        </p:spPr>
        <p:txBody>
          <a:bodyPr wrap="none">
            <a:spAutoFit/>
          </a:bodyPr>
          <a:lstStyle/>
          <a:p>
            <a:r>
              <a:rPr lang="en-US" dirty="0"/>
              <a:t>Vocabulary size</a:t>
            </a:r>
          </a:p>
        </p:txBody>
      </p:sp>
      <p:graphicFrame>
        <p:nvGraphicFramePr>
          <p:cNvPr id="2050" name="Object 7"/>
          <p:cNvGraphicFramePr>
            <a:graphicFrameLocks noGrp="1" noChangeAspect="1"/>
          </p:cNvGraphicFramePr>
          <p:nvPr>
            <p:ph sz="quarter" idx="2"/>
          </p:nvPr>
        </p:nvGraphicFramePr>
        <p:xfrm>
          <a:off x="6921224" y="1748386"/>
          <a:ext cx="4572000" cy="3885218"/>
        </p:xfrm>
        <a:graphic>
          <a:graphicData uri="http://schemas.openxmlformats.org/presentationml/2006/ole">
            <mc:AlternateContent xmlns:mc="http://schemas.openxmlformats.org/markup-compatibility/2006">
              <mc:Choice xmlns:v="urn:schemas-microsoft-com:vml" Requires="v">
                <p:oleObj name="Chart" r:id="rId3" imgW="2219265" imgH="1885910" progId="Excel.Chart.8">
                  <p:embed/>
                </p:oleObj>
              </mc:Choice>
              <mc:Fallback>
                <p:oleObj name="Chart" r:id="rId3" imgW="2219265" imgH="1885910" progId="Excel.Chart.8">
                  <p:embed/>
                  <p:pic>
                    <p:nvPicPr>
                      <p:cNvPr id="2050" name="Object 7"/>
                      <p:cNvPicPr>
                        <a:picLocks noRot="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1224" y="1748386"/>
                        <a:ext cx="4572000" cy="3885218"/>
                      </a:xfrm>
                      <a:prstGeom prst="rect">
                        <a:avLst/>
                      </a:prstGeom>
                      <a:noFill/>
                      <a:ln>
                        <a:noFill/>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0">
                            <a:solidFill>
                              <a:srgbClr val="FFFFFF"/>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59521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endParaRPr lang="en-US"/>
          </a:p>
        </p:txBody>
      </p:sp>
      <p:sp>
        <p:nvSpPr>
          <p:cNvPr id="3076" name="Rectangle 3"/>
          <p:cNvSpPr>
            <a:spLocks noGrp="1" noChangeArrowheads="1"/>
          </p:cNvSpPr>
          <p:nvPr>
            <p:ph type="body" sz="half" idx="1"/>
          </p:nvPr>
        </p:nvSpPr>
        <p:spPr/>
        <p:txBody>
          <a:bodyPr>
            <a:normAutofit/>
          </a:bodyPr>
          <a:lstStyle/>
          <a:p>
            <a:pPr eaLnBrk="1" hangingPunct="1"/>
            <a:r>
              <a:rPr lang="en-US" sz="3200" dirty="0"/>
              <a:t>No correlation was found between hours of TV viewing and vocabulary,</a:t>
            </a:r>
            <a:br>
              <a:rPr lang="en-US" sz="3200" dirty="0"/>
            </a:br>
            <a:r>
              <a:rPr lang="en-US" sz="3200" i="1" dirty="0"/>
              <a:t>r</a:t>
            </a:r>
            <a:r>
              <a:rPr lang="en-US" sz="3200" dirty="0"/>
              <a:t> = .08.</a:t>
            </a:r>
          </a:p>
        </p:txBody>
      </p:sp>
      <p:sp>
        <p:nvSpPr>
          <p:cNvPr id="3077" name="Text Box 4"/>
          <p:cNvSpPr txBox="1">
            <a:spLocks noChangeArrowheads="1"/>
          </p:cNvSpPr>
          <p:nvPr/>
        </p:nvSpPr>
        <p:spPr bwMode="auto">
          <a:xfrm rot="16200000">
            <a:off x="5869725" y="3419997"/>
            <a:ext cx="1856277" cy="369332"/>
          </a:xfrm>
          <a:prstGeom prst="rect">
            <a:avLst/>
          </a:prstGeom>
          <a:noFill/>
          <a:ln w="9525">
            <a:noFill/>
            <a:miter lim="800000"/>
            <a:headEnd/>
            <a:tailEnd/>
          </a:ln>
        </p:spPr>
        <p:txBody>
          <a:bodyPr wrap="none">
            <a:spAutoFit/>
          </a:bodyPr>
          <a:lstStyle/>
          <a:p>
            <a:r>
              <a:rPr lang="en-US"/>
              <a:t>Hours of TV/week</a:t>
            </a:r>
          </a:p>
        </p:txBody>
      </p:sp>
      <p:sp>
        <p:nvSpPr>
          <p:cNvPr id="3078" name="Text Box 5"/>
          <p:cNvSpPr txBox="1">
            <a:spLocks noChangeArrowheads="1"/>
          </p:cNvSpPr>
          <p:nvPr/>
        </p:nvSpPr>
        <p:spPr bwMode="auto">
          <a:xfrm>
            <a:off x="8285688" y="5607024"/>
            <a:ext cx="1624547" cy="369332"/>
          </a:xfrm>
          <a:prstGeom prst="rect">
            <a:avLst/>
          </a:prstGeom>
          <a:noFill/>
          <a:ln w="9525">
            <a:noFill/>
            <a:miter lim="800000"/>
            <a:headEnd/>
            <a:tailEnd/>
          </a:ln>
        </p:spPr>
        <p:txBody>
          <a:bodyPr wrap="none">
            <a:spAutoFit/>
          </a:bodyPr>
          <a:lstStyle/>
          <a:p>
            <a:r>
              <a:rPr lang="en-US" dirty="0"/>
              <a:t>Vocabulary size</a:t>
            </a:r>
          </a:p>
        </p:txBody>
      </p:sp>
      <p:graphicFrame>
        <p:nvGraphicFramePr>
          <p:cNvPr id="3074" name="Object 7"/>
          <p:cNvGraphicFramePr>
            <a:graphicFrameLocks noGrp="1" noChangeAspect="1"/>
          </p:cNvGraphicFramePr>
          <p:nvPr>
            <p:ph sz="quarter" idx="2"/>
          </p:nvPr>
        </p:nvGraphicFramePr>
        <p:xfrm>
          <a:off x="6997968" y="1532229"/>
          <a:ext cx="4199989" cy="4144870"/>
        </p:xfrm>
        <a:graphic>
          <a:graphicData uri="http://schemas.openxmlformats.org/presentationml/2006/ole">
            <mc:AlternateContent xmlns:mc="http://schemas.openxmlformats.org/markup-compatibility/2006">
              <mc:Choice xmlns:v="urn:schemas-microsoft-com:vml" Requires="v">
                <p:oleObj name="Chart" r:id="rId3" imgW="2123975" imgH="2095420" progId="Excel.Chart.8">
                  <p:embed/>
                </p:oleObj>
              </mc:Choice>
              <mc:Fallback>
                <p:oleObj name="Chart" r:id="rId3" imgW="2123975" imgH="2095420" progId="Excel.Chart.8">
                  <p:embed/>
                  <p:pic>
                    <p:nvPicPr>
                      <p:cNvPr id="3074" name="Object 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7968" y="1532229"/>
                        <a:ext cx="4199989" cy="4144870"/>
                      </a:xfrm>
                      <a:prstGeom prst="rect">
                        <a:avLst/>
                      </a:prstGeom>
                      <a:noFill/>
                    </p:spPr>
                  </p:pic>
                </p:oleObj>
              </mc:Fallback>
            </mc:AlternateContent>
          </a:graphicData>
        </a:graphic>
      </p:graphicFrame>
    </p:spTree>
    <p:extLst>
      <p:ext uri="{BB962C8B-B14F-4D97-AF65-F5344CB8AC3E}">
        <p14:creationId xmlns:p14="http://schemas.microsoft.com/office/powerpoint/2010/main" val="3040826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C24680F-6134-4A97-BD91-53E158F1805E}"/>
              </a:ext>
            </a:extLst>
          </p:cNvPr>
          <p:cNvSpPr>
            <a:spLocks noGrp="1"/>
          </p:cNvSpPr>
          <p:nvPr>
            <p:ph type="title"/>
          </p:nvPr>
        </p:nvSpPr>
        <p:spPr/>
        <p:txBody>
          <a:bodyPr/>
          <a:lstStyle/>
          <a:p>
            <a:r>
              <a:rPr lang="en-US" dirty="0"/>
              <a:t>Correlation analysis</a:t>
            </a:r>
          </a:p>
        </p:txBody>
      </p:sp>
      <p:sp>
        <p:nvSpPr>
          <p:cNvPr id="9" name="Content Placeholder 8">
            <a:extLst>
              <a:ext uri="{FF2B5EF4-FFF2-40B4-BE49-F238E27FC236}">
                <a16:creationId xmlns:a16="http://schemas.microsoft.com/office/drawing/2014/main" id="{36D8337B-AEF6-498F-A96F-41A831FE3602}"/>
              </a:ext>
            </a:extLst>
          </p:cNvPr>
          <p:cNvSpPr>
            <a:spLocks noGrp="1"/>
          </p:cNvSpPr>
          <p:nvPr>
            <p:ph idx="1"/>
          </p:nvPr>
        </p:nvSpPr>
        <p:spPr/>
        <p:txBody>
          <a:bodyPr>
            <a:normAutofit/>
          </a:bodyPr>
          <a:lstStyle/>
          <a:p>
            <a:r>
              <a:rPr lang="en-US" sz="3200" dirty="0"/>
              <a:t>Measure of association between two continuous variables</a:t>
            </a:r>
          </a:p>
          <a:p>
            <a:pPr lvl="1"/>
            <a:r>
              <a:rPr lang="en-US" sz="2800" dirty="0"/>
              <a:t>Range -1.0 to 1.0</a:t>
            </a:r>
          </a:p>
          <a:p>
            <a:pPr lvl="2"/>
            <a:r>
              <a:rPr lang="en-US" sz="2400" dirty="0"/>
              <a:t>Null hypothesis is zero</a:t>
            </a:r>
          </a:p>
          <a:p>
            <a:pPr lvl="2"/>
            <a:endParaRPr lang="en-US" sz="2400" dirty="0"/>
          </a:p>
          <a:p>
            <a:r>
              <a:rPr lang="en-US" sz="3200" dirty="0"/>
              <a:t>Most frequently done in non-experimental research</a:t>
            </a:r>
          </a:p>
          <a:p>
            <a:pPr lvl="1"/>
            <a:r>
              <a:rPr lang="en-US" sz="2800" dirty="0"/>
              <a:t>Correlation does not imply causation</a:t>
            </a:r>
          </a:p>
          <a:p>
            <a:pPr lvl="2"/>
            <a:r>
              <a:rPr lang="en-US" sz="2400" dirty="0"/>
              <a:t>But also does not guarantee not being causal</a:t>
            </a:r>
          </a:p>
          <a:p>
            <a:pPr lvl="1"/>
            <a:r>
              <a:rPr lang="en-US" sz="2800" dirty="0"/>
              <a:t>Alternate hypotheses: Y -&gt; X, Z -&gt; (X, Y)</a:t>
            </a:r>
          </a:p>
        </p:txBody>
      </p:sp>
    </p:spTree>
    <p:extLst>
      <p:ext uri="{BB962C8B-B14F-4D97-AF65-F5344CB8AC3E}">
        <p14:creationId xmlns:p14="http://schemas.microsoft.com/office/powerpoint/2010/main" val="2483085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3BF17BD-820C-F3F8-442D-9A847D815D50}"/>
              </a:ext>
            </a:extLst>
          </p:cNvPr>
          <p:cNvSpPr>
            <a:spLocks noGrp="1"/>
          </p:cNvSpPr>
          <p:nvPr>
            <p:ph type="title"/>
          </p:nvPr>
        </p:nvSpPr>
        <p:spPr/>
        <p:txBody>
          <a:bodyPr/>
          <a:lstStyle/>
          <a:p>
            <a:r>
              <a:rPr lang="en-US" dirty="0"/>
              <a:t>Chapter 16 Assignment</a:t>
            </a:r>
          </a:p>
        </p:txBody>
      </p:sp>
      <p:sp>
        <p:nvSpPr>
          <p:cNvPr id="6" name="Content Placeholder 5">
            <a:extLst>
              <a:ext uri="{FF2B5EF4-FFF2-40B4-BE49-F238E27FC236}">
                <a16:creationId xmlns:a16="http://schemas.microsoft.com/office/drawing/2014/main" id="{40261A22-8D14-4392-3C9A-3E9240723C17}"/>
              </a:ext>
            </a:extLst>
          </p:cNvPr>
          <p:cNvSpPr>
            <a:spLocks noGrp="1"/>
          </p:cNvSpPr>
          <p:nvPr>
            <p:ph idx="1"/>
          </p:nvPr>
        </p:nvSpPr>
        <p:spPr/>
        <p:txBody>
          <a:bodyPr>
            <a:normAutofit/>
          </a:bodyPr>
          <a:lstStyle/>
          <a:p>
            <a:pPr algn="l"/>
            <a:r>
              <a:rPr lang="en-US" b="0" i="0" dirty="0">
                <a:solidFill>
                  <a:srgbClr val="2D3B45"/>
                </a:solidFill>
                <a:effectLst/>
                <a:latin typeface="Lato Extended"/>
              </a:rPr>
              <a:t>Q1. A colleague helping with a research project comes to tell us in that the latest statistical analysis, they found an</a:t>
            </a:r>
            <a:r>
              <a:rPr lang="en-US" b="0" i="1" dirty="0">
                <a:solidFill>
                  <a:srgbClr val="2D3B45"/>
                </a:solidFill>
                <a:effectLst/>
                <a:latin typeface="Lato Extended"/>
              </a:rPr>
              <a:t> r</a:t>
            </a:r>
            <a:r>
              <a:rPr lang="en-US" b="0" i="0" dirty="0">
                <a:solidFill>
                  <a:srgbClr val="2D3B45"/>
                </a:solidFill>
                <a:effectLst/>
                <a:latin typeface="Lato Extended"/>
              </a:rPr>
              <a:t> = 2.30? Should we be excited?</a:t>
            </a:r>
          </a:p>
          <a:p>
            <a:pPr lvl="1"/>
            <a:endParaRPr lang="en-US" b="0" i="0" dirty="0">
              <a:solidFill>
                <a:srgbClr val="2D3B45"/>
              </a:solidFill>
              <a:effectLst/>
              <a:latin typeface="Lato Extended"/>
            </a:endParaRPr>
          </a:p>
          <a:p>
            <a:pPr algn="l"/>
            <a:r>
              <a:rPr lang="en-US" b="0" i="0" dirty="0">
                <a:solidFill>
                  <a:srgbClr val="2D3B45"/>
                </a:solidFill>
                <a:effectLst/>
                <a:latin typeface="Lato Extended"/>
              </a:rPr>
              <a:t>Q2. A college administrator is choosing between 2 admissions tests, one that correlates with subsequent college performance </a:t>
            </a:r>
            <a:r>
              <a:rPr lang="en-US" b="0" i="1" dirty="0">
                <a:solidFill>
                  <a:srgbClr val="2D3B45"/>
                </a:solidFill>
                <a:effectLst/>
                <a:latin typeface="Lato Extended"/>
              </a:rPr>
              <a:t>r</a:t>
            </a:r>
            <a:r>
              <a:rPr lang="en-US" b="0" i="0" dirty="0">
                <a:solidFill>
                  <a:srgbClr val="2D3B45"/>
                </a:solidFill>
                <a:effectLst/>
                <a:latin typeface="Lato Extended"/>
              </a:rPr>
              <a:t> = -.54, and one for which, </a:t>
            </a:r>
            <a:r>
              <a:rPr lang="en-US" b="0" i="1" dirty="0">
                <a:solidFill>
                  <a:srgbClr val="2D3B45"/>
                </a:solidFill>
                <a:effectLst/>
                <a:latin typeface="Lato Extended"/>
              </a:rPr>
              <a:t>r</a:t>
            </a:r>
            <a:r>
              <a:rPr lang="en-US" b="0" i="0" dirty="0">
                <a:solidFill>
                  <a:srgbClr val="2D3B45"/>
                </a:solidFill>
                <a:effectLst/>
                <a:latin typeface="Lato Extended"/>
              </a:rPr>
              <a:t> = +.45. Which test should be preferred and why? </a:t>
            </a:r>
          </a:p>
          <a:p>
            <a:endParaRPr lang="en-US" dirty="0"/>
          </a:p>
        </p:txBody>
      </p:sp>
    </p:spTree>
    <p:extLst>
      <p:ext uri="{BB962C8B-B14F-4D97-AF65-F5344CB8AC3E}">
        <p14:creationId xmlns:p14="http://schemas.microsoft.com/office/powerpoint/2010/main" val="2791046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2F016-3F9F-435E-DC65-ED990E1BAF34}"/>
              </a:ext>
            </a:extLst>
          </p:cNvPr>
          <p:cNvSpPr>
            <a:spLocks noGrp="1"/>
          </p:cNvSpPr>
          <p:nvPr>
            <p:ph type="title"/>
          </p:nvPr>
        </p:nvSpPr>
        <p:spPr/>
        <p:txBody>
          <a:bodyPr/>
          <a:lstStyle/>
          <a:p>
            <a:r>
              <a:rPr lang="en-US" dirty="0"/>
              <a:t>Related analyses</a:t>
            </a:r>
          </a:p>
        </p:txBody>
      </p:sp>
      <p:sp>
        <p:nvSpPr>
          <p:cNvPr id="3" name="Content Placeholder 2">
            <a:extLst>
              <a:ext uri="{FF2B5EF4-FFF2-40B4-BE49-F238E27FC236}">
                <a16:creationId xmlns:a16="http://schemas.microsoft.com/office/drawing/2014/main" id="{E83C6A88-0692-5DB9-1DE4-584300149F70}"/>
              </a:ext>
            </a:extLst>
          </p:cNvPr>
          <p:cNvSpPr>
            <a:spLocks noGrp="1"/>
          </p:cNvSpPr>
          <p:nvPr>
            <p:ph idx="1"/>
          </p:nvPr>
        </p:nvSpPr>
        <p:spPr/>
        <p:txBody>
          <a:bodyPr>
            <a:normAutofit/>
          </a:bodyPr>
          <a:lstStyle/>
          <a:p>
            <a:r>
              <a:rPr lang="en-US" dirty="0"/>
              <a:t>Spearman’s rank correlation</a:t>
            </a:r>
          </a:p>
          <a:p>
            <a:pPr lvl="1"/>
            <a:r>
              <a:rPr lang="en-US" dirty="0"/>
              <a:t>For unusual distributions</a:t>
            </a:r>
          </a:p>
          <a:p>
            <a:r>
              <a:rPr lang="en-US" dirty="0"/>
              <a:t>Linear Regression</a:t>
            </a:r>
          </a:p>
          <a:p>
            <a:pPr lvl="1"/>
            <a:r>
              <a:rPr lang="en-US" dirty="0"/>
              <a:t>General linear modeling (GLM)</a:t>
            </a:r>
          </a:p>
          <a:p>
            <a:pPr lvl="2"/>
            <a:r>
              <a:rPr lang="en-US" dirty="0"/>
              <a:t>Multiple IV’s, predictor variables</a:t>
            </a:r>
          </a:p>
          <a:p>
            <a:pPr lvl="1"/>
            <a:r>
              <a:rPr lang="en-US" dirty="0"/>
              <a:t>Percentage of variance accounted for: r</a:t>
            </a:r>
            <a:r>
              <a:rPr lang="en-US" baseline="30000" dirty="0"/>
              <a:t>2</a:t>
            </a:r>
          </a:p>
          <a:p>
            <a:pPr lvl="1"/>
            <a:r>
              <a:rPr lang="en-US" dirty="0"/>
              <a:t>ANCOVA: ANOVA with a correlated predictor variable</a:t>
            </a:r>
          </a:p>
          <a:p>
            <a:r>
              <a:rPr lang="en-US" dirty="0"/>
              <a:t>Multivariate techniques</a:t>
            </a:r>
          </a:p>
          <a:p>
            <a:pPr lvl="1"/>
            <a:r>
              <a:rPr lang="en-US" dirty="0"/>
              <a:t>Multiple DV’s</a:t>
            </a:r>
          </a:p>
          <a:p>
            <a:pPr lvl="1"/>
            <a:r>
              <a:rPr lang="en-US" dirty="0"/>
              <a:t>Correlation matrices, Factor analysis, Structural equation modeling</a:t>
            </a:r>
          </a:p>
        </p:txBody>
      </p:sp>
    </p:spTree>
    <p:extLst>
      <p:ext uri="{BB962C8B-B14F-4D97-AF65-F5344CB8AC3E}">
        <p14:creationId xmlns:p14="http://schemas.microsoft.com/office/powerpoint/2010/main" val="560953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Mum effect</a:t>
            </a:r>
          </a:p>
        </p:txBody>
      </p:sp>
      <p:sp>
        <p:nvSpPr>
          <p:cNvPr id="5123" name="Rectangle 3"/>
          <p:cNvSpPr>
            <a:spLocks noGrp="1" noChangeArrowheads="1"/>
          </p:cNvSpPr>
          <p:nvPr>
            <p:ph type="body" idx="1"/>
          </p:nvPr>
        </p:nvSpPr>
        <p:spPr>
          <a:xfrm>
            <a:off x="838200" y="1371600"/>
            <a:ext cx="9372600" cy="5105400"/>
          </a:xfrm>
        </p:spPr>
        <p:txBody>
          <a:bodyPr>
            <a:normAutofit fontScale="92500" lnSpcReduction="10000"/>
          </a:bodyPr>
          <a:lstStyle/>
          <a:p>
            <a:pPr>
              <a:lnSpc>
                <a:spcPct val="80000"/>
              </a:lnSpc>
            </a:pPr>
            <a:r>
              <a:rPr lang="en-US" sz="2400" dirty="0"/>
              <a:t>A “lost postcard” technique was employed to examine attitudes towards informing people of their romantic partner’s apparent infidelity.  Stamped and addressed postcards were left on the windshields of 180 cars parked near mailboxes, with an accompanying handwritten note reading “Found this by your car – is it yours?”</a:t>
            </a:r>
          </a:p>
          <a:p>
            <a:pPr>
              <a:lnSpc>
                <a:spcPct val="80000"/>
              </a:lnSpc>
            </a:pPr>
            <a:r>
              <a:rPr lang="en-US" sz="2400" dirty="0"/>
              <a:t>One-third (60) of the cards had a neutral/good news (control) message, “Glad to hear you’ve working things out.  We’re getting along better too.  Keep in touch.”  Thirty of these were addressed to a male, 30 to a female.</a:t>
            </a:r>
          </a:p>
          <a:p>
            <a:pPr>
              <a:lnSpc>
                <a:spcPct val="80000"/>
              </a:lnSpc>
            </a:pPr>
            <a:r>
              <a:rPr lang="en-US" sz="2400" dirty="0"/>
              <a:t>The other 120 cards, equally divided by gender, informed the addressee of his (her) girlfriend’s (boyfriend’s) apparent infidelity, in the following message: “Dear Bob [Judy], I hate to be the one to tell you this, but I think I saw you girlfriend Ann [boyfriend Bob] coming out of the Travelodge off El Cajon Blvd with another guy (woman) on Thursday.  It might not be important, but I didn’t know how to tell you in person – Barry [Beth]”</a:t>
            </a:r>
          </a:p>
          <a:p>
            <a:pPr lvl="1">
              <a:lnSpc>
                <a:spcPct val="80000"/>
              </a:lnSpc>
            </a:pPr>
            <a:r>
              <a:rPr lang="en-US" dirty="0"/>
              <a:t>35 good news postcards were returned</a:t>
            </a:r>
          </a:p>
          <a:p>
            <a:pPr lvl="1">
              <a:lnSpc>
                <a:spcPct val="80000"/>
              </a:lnSpc>
            </a:pPr>
            <a:r>
              <a:rPr lang="en-US" dirty="0"/>
              <a:t>23 bad news postcards were returned: </a:t>
            </a:r>
          </a:p>
          <a:p>
            <a:pPr lvl="1">
              <a:lnSpc>
                <a:spcPct val="80000"/>
              </a:lnSpc>
            </a:pPr>
            <a:r>
              <a:rPr lang="en-US" dirty="0"/>
              <a:t>19 to addressed to Bob, 4 to Judy</a:t>
            </a:r>
          </a:p>
        </p:txBody>
      </p:sp>
    </p:spTree>
    <p:extLst>
      <p:ext uri="{BB962C8B-B14F-4D97-AF65-F5344CB8AC3E}">
        <p14:creationId xmlns:p14="http://schemas.microsoft.com/office/powerpoint/2010/main" val="3542977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Chi</a:t>
            </a:r>
            <a:r>
              <a:rPr lang="en-US" baseline="30000"/>
              <a:t>2</a:t>
            </a:r>
          </a:p>
        </p:txBody>
      </p:sp>
      <p:sp>
        <p:nvSpPr>
          <p:cNvPr id="6147" name="Rectangle 3"/>
          <p:cNvSpPr>
            <a:spLocks noGrp="1" noChangeArrowheads="1"/>
          </p:cNvSpPr>
          <p:nvPr>
            <p:ph type="body" idx="1"/>
          </p:nvPr>
        </p:nvSpPr>
        <p:spPr/>
        <p:txBody>
          <a:bodyPr>
            <a:normAutofit/>
          </a:bodyPr>
          <a:lstStyle/>
          <a:p>
            <a:r>
              <a:rPr lang="en-US" sz="3600" dirty="0"/>
              <a:t>Doing a Chi</a:t>
            </a:r>
            <a:r>
              <a:rPr lang="en-US" sz="3600" baseline="30000" dirty="0"/>
              <a:t>2</a:t>
            </a:r>
            <a:r>
              <a:rPr lang="en-US" sz="3600" dirty="0"/>
              <a:t> Analysis: </a:t>
            </a:r>
          </a:p>
          <a:p>
            <a:pPr lvl="1"/>
            <a:r>
              <a:rPr lang="en-US" sz="3200" dirty="0"/>
              <a:t>Step 1: Contingency table</a:t>
            </a:r>
          </a:p>
          <a:p>
            <a:pPr lvl="2"/>
            <a:r>
              <a:rPr lang="en-US" sz="2800" dirty="0"/>
              <a:t>Calculate rates</a:t>
            </a:r>
          </a:p>
          <a:p>
            <a:pPr lvl="1"/>
            <a:r>
              <a:rPr lang="en-US" sz="3200" dirty="0"/>
              <a:t>Step 2: Test hypotheses</a:t>
            </a:r>
          </a:p>
          <a:p>
            <a:pPr lvl="2"/>
            <a:r>
              <a:rPr lang="en-US" sz="2800" dirty="0"/>
              <a:t>Do the rates differ across conditions?</a:t>
            </a:r>
          </a:p>
        </p:txBody>
      </p:sp>
    </p:spTree>
    <p:extLst>
      <p:ext uri="{BB962C8B-B14F-4D97-AF65-F5344CB8AC3E}">
        <p14:creationId xmlns:p14="http://schemas.microsoft.com/office/powerpoint/2010/main" val="1077995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Contingency Table with Rates</a:t>
            </a:r>
          </a:p>
        </p:txBody>
      </p:sp>
      <p:graphicFrame>
        <p:nvGraphicFramePr>
          <p:cNvPr id="9219" name="Group 3"/>
          <p:cNvGraphicFramePr>
            <a:graphicFrameLocks noGrp="1"/>
          </p:cNvGraphicFramePr>
          <p:nvPr>
            <p:ph idx="1"/>
          </p:nvPr>
        </p:nvGraphicFramePr>
        <p:xfrm>
          <a:off x="1981199" y="1600201"/>
          <a:ext cx="7744691" cy="3826821"/>
        </p:xfrm>
        <a:graphic>
          <a:graphicData uri="http://schemas.openxmlformats.org/drawingml/2006/table">
            <a:tbl>
              <a:tblPr/>
              <a:tblGrid>
                <a:gridCol w="1566342">
                  <a:extLst>
                    <a:ext uri="{9D8B030D-6E8A-4147-A177-3AD203B41FA5}">
                      <a16:colId xmlns:a16="http://schemas.microsoft.com/office/drawing/2014/main" val="20000"/>
                    </a:ext>
                  </a:extLst>
                </a:gridCol>
                <a:gridCol w="2175475">
                  <a:extLst>
                    <a:ext uri="{9D8B030D-6E8A-4147-A177-3AD203B41FA5}">
                      <a16:colId xmlns:a16="http://schemas.microsoft.com/office/drawing/2014/main" val="20001"/>
                    </a:ext>
                  </a:extLst>
                </a:gridCol>
                <a:gridCol w="2349513">
                  <a:extLst>
                    <a:ext uri="{9D8B030D-6E8A-4147-A177-3AD203B41FA5}">
                      <a16:colId xmlns:a16="http://schemas.microsoft.com/office/drawing/2014/main" val="20002"/>
                    </a:ext>
                  </a:extLst>
                </a:gridCol>
                <a:gridCol w="1653361">
                  <a:extLst>
                    <a:ext uri="{9D8B030D-6E8A-4147-A177-3AD203B41FA5}">
                      <a16:colId xmlns:a16="http://schemas.microsoft.com/office/drawing/2014/main" val="20003"/>
                    </a:ext>
                  </a:extLst>
                </a:gridCol>
              </a:tblGrid>
              <a:tr h="77822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Returned</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Not returned</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Total</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199">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Good news</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35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(.583)</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25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(.417)</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60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199">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Bad news</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23</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(.192)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97</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(.808)</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120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199">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Total</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58</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(.322)</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122</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(.678)</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180</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198" name="Text Box 30"/>
          <p:cNvSpPr txBox="1">
            <a:spLocks noChangeArrowheads="1"/>
          </p:cNvSpPr>
          <p:nvPr/>
        </p:nvSpPr>
        <p:spPr bwMode="auto">
          <a:xfrm>
            <a:off x="1981200" y="4876801"/>
            <a:ext cx="8077200" cy="366713"/>
          </a:xfrm>
          <a:prstGeom prst="rect">
            <a:avLst/>
          </a:prstGeom>
          <a:noFill/>
          <a:ln w="9525">
            <a:noFill/>
            <a:miter lim="800000"/>
            <a:headEnd/>
            <a:tailEnd/>
          </a:ln>
        </p:spPr>
        <p:txBody>
          <a:bodyPr>
            <a:spAutoFit/>
          </a:bodyPr>
          <a:lstStyle/>
          <a:p>
            <a:endParaRPr lang="en-US">
              <a:latin typeface="Calibri" pitchFamily="34" charset="0"/>
            </a:endParaRPr>
          </a:p>
        </p:txBody>
      </p:sp>
    </p:spTree>
    <p:extLst>
      <p:ext uri="{BB962C8B-B14F-4D97-AF65-F5344CB8AC3E}">
        <p14:creationId xmlns:p14="http://schemas.microsoft.com/office/powerpoint/2010/main" val="2293286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endParaRPr lang="en-US"/>
          </a:p>
        </p:txBody>
      </p:sp>
      <p:sp>
        <p:nvSpPr>
          <p:cNvPr id="8195" name="Rectangle 3"/>
          <p:cNvSpPr>
            <a:spLocks noGrp="1" noChangeArrowheads="1"/>
          </p:cNvSpPr>
          <p:nvPr>
            <p:ph type="body" idx="1"/>
          </p:nvPr>
        </p:nvSpPr>
        <p:spPr/>
        <p:txBody>
          <a:bodyPr>
            <a:normAutofit/>
          </a:bodyPr>
          <a:lstStyle/>
          <a:p>
            <a:pPr>
              <a:lnSpc>
                <a:spcPct val="90000"/>
              </a:lnSpc>
            </a:pPr>
            <a:r>
              <a:rPr lang="en-US" dirty="0"/>
              <a:t>If Good news=Bad news, then expected return rate for both good news and bad news should be the same </a:t>
            </a:r>
          </a:p>
          <a:p>
            <a:pPr lvl="1">
              <a:lnSpc>
                <a:spcPct val="90000"/>
              </a:lnSpc>
            </a:pPr>
            <a:r>
              <a:rPr lang="en-US" dirty="0"/>
              <a:t>.322 (58/180) </a:t>
            </a:r>
          </a:p>
          <a:p>
            <a:pPr lvl="1">
              <a:lnSpc>
                <a:spcPct val="90000"/>
              </a:lnSpc>
            </a:pPr>
            <a:r>
              <a:rPr lang="en-US" dirty="0"/>
              <a:t>19.3 for Good news (of 60)</a:t>
            </a:r>
          </a:p>
          <a:p>
            <a:pPr lvl="1">
              <a:lnSpc>
                <a:spcPct val="90000"/>
              </a:lnSpc>
            </a:pPr>
            <a:r>
              <a:rPr lang="en-US" dirty="0"/>
              <a:t>38.6 for Bad news (of 120)</a:t>
            </a:r>
          </a:p>
          <a:p>
            <a:pPr>
              <a:lnSpc>
                <a:spcPct val="90000"/>
              </a:lnSpc>
            </a:pPr>
            <a:r>
              <a:rPr lang="en-US" dirty="0"/>
              <a:t>Х</a:t>
            </a:r>
            <a:r>
              <a:rPr lang="en-US" baseline="30000" dirty="0"/>
              <a:t>2</a:t>
            </a:r>
            <a:r>
              <a:rPr lang="en-US" dirty="0"/>
              <a:t> is calculated from the difference between the observed rates and the expected rates.</a:t>
            </a:r>
          </a:p>
          <a:p>
            <a:pPr>
              <a:lnSpc>
                <a:spcPct val="90000"/>
              </a:lnSpc>
            </a:pPr>
            <a:r>
              <a:rPr lang="en-US" dirty="0"/>
              <a:t>Actual return rates are much different, Х</a:t>
            </a:r>
            <a:r>
              <a:rPr lang="en-US" baseline="30000" dirty="0"/>
              <a:t>2</a:t>
            </a:r>
            <a:r>
              <a:rPr lang="en-US" dirty="0"/>
              <a:t>=28.1, p&lt;0.001</a:t>
            </a:r>
          </a:p>
          <a:p>
            <a:pPr>
              <a:lnSpc>
                <a:spcPct val="90000"/>
              </a:lnSpc>
            </a:pPr>
            <a:r>
              <a:rPr lang="en-US" dirty="0"/>
              <a:t>“Postcards reporting good news were returned at a higher rate than postcards reporting bad news, X</a:t>
            </a:r>
            <a:r>
              <a:rPr lang="en-US" baseline="30000" dirty="0"/>
              <a:t>2</a:t>
            </a:r>
            <a:r>
              <a:rPr lang="en-US" dirty="0"/>
              <a:t>=28.1, p&lt;.001.” </a:t>
            </a:r>
          </a:p>
        </p:txBody>
      </p:sp>
    </p:spTree>
    <p:extLst>
      <p:ext uri="{BB962C8B-B14F-4D97-AF65-F5344CB8AC3E}">
        <p14:creationId xmlns:p14="http://schemas.microsoft.com/office/powerpoint/2010/main" val="1641693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endParaRPr lang="en-US"/>
          </a:p>
        </p:txBody>
      </p:sp>
      <p:sp>
        <p:nvSpPr>
          <p:cNvPr id="9219" name="Rectangle 3"/>
          <p:cNvSpPr>
            <a:spLocks noGrp="1" noChangeArrowheads="1"/>
          </p:cNvSpPr>
          <p:nvPr>
            <p:ph type="body" sz="half" idx="1"/>
          </p:nvPr>
        </p:nvSpPr>
        <p:spPr/>
        <p:txBody>
          <a:bodyPr/>
          <a:lstStyle/>
          <a:p>
            <a:r>
              <a:rPr lang="en-US"/>
              <a:t>Was there a difference in the rate of “bad news” cards being returned addressed to men (Bob) or women (Judy)? </a:t>
            </a:r>
          </a:p>
        </p:txBody>
      </p:sp>
      <p:graphicFrame>
        <p:nvGraphicFramePr>
          <p:cNvPr id="13316" name="Group 4"/>
          <p:cNvGraphicFramePr>
            <a:graphicFrameLocks noGrp="1"/>
          </p:cNvGraphicFramePr>
          <p:nvPr>
            <p:ph sz="half" idx="2"/>
          </p:nvPr>
        </p:nvGraphicFramePr>
        <p:xfrm>
          <a:off x="1672442" y="2822308"/>
          <a:ext cx="8229600" cy="3352800"/>
        </p:xfrm>
        <a:graphic>
          <a:graphicData uri="http://schemas.openxmlformats.org/drawingml/2006/table">
            <a:tbl>
              <a:tblPr/>
              <a:tblGrid>
                <a:gridCol w="1341438">
                  <a:extLst>
                    <a:ext uri="{9D8B030D-6E8A-4147-A177-3AD203B41FA5}">
                      <a16:colId xmlns:a16="http://schemas.microsoft.com/office/drawing/2014/main" val="20000"/>
                    </a:ext>
                  </a:extLst>
                </a:gridCol>
                <a:gridCol w="2295525">
                  <a:extLst>
                    <a:ext uri="{9D8B030D-6E8A-4147-A177-3AD203B41FA5}">
                      <a16:colId xmlns:a16="http://schemas.microsoft.com/office/drawing/2014/main" val="20001"/>
                    </a:ext>
                  </a:extLst>
                </a:gridCol>
                <a:gridCol w="2297112">
                  <a:extLst>
                    <a:ext uri="{9D8B030D-6E8A-4147-A177-3AD203B41FA5}">
                      <a16:colId xmlns:a16="http://schemas.microsoft.com/office/drawing/2014/main" val="20002"/>
                    </a:ext>
                  </a:extLst>
                </a:gridCol>
                <a:gridCol w="2295525">
                  <a:extLst>
                    <a:ext uri="{9D8B030D-6E8A-4147-A177-3AD203B41FA5}">
                      <a16:colId xmlns:a16="http://schemas.microsoft.com/office/drawing/2014/main" val="20003"/>
                    </a:ext>
                  </a:extLst>
                </a:gridCol>
              </a:tblGrid>
              <a:tr h="463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Returned</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Not returned</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Totals</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4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Men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19</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(.317)</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41</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(.683)</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60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4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Women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4</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(.067)</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56</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(.933)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60</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4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Total</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23</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(.192)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97</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(.808)</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120</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35678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37A18-331F-101C-EDA2-3ABA4CB2C969}"/>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B7949F0A-0EB9-070B-41AA-687C308577A8}"/>
              </a:ext>
            </a:extLst>
          </p:cNvPr>
          <p:cNvSpPr>
            <a:spLocks noGrp="1" noChangeArrowheads="1"/>
          </p:cNvSpPr>
          <p:nvPr>
            <p:ph type="title"/>
          </p:nvPr>
        </p:nvSpPr>
        <p:spPr/>
        <p:txBody>
          <a:bodyPr/>
          <a:lstStyle/>
          <a:p>
            <a:r>
              <a:rPr lang="en-US" sz="4000"/>
              <a:t>A Science Fair’s Teachable Moment </a:t>
            </a:r>
          </a:p>
        </p:txBody>
      </p:sp>
      <p:sp>
        <p:nvSpPr>
          <p:cNvPr id="6147" name="Rectangle 3">
            <a:extLst>
              <a:ext uri="{FF2B5EF4-FFF2-40B4-BE49-F238E27FC236}">
                <a16:creationId xmlns:a16="http://schemas.microsoft.com/office/drawing/2014/main" id="{3D8AF5E4-B952-95FB-9E39-99F115D7C2BF}"/>
              </a:ext>
            </a:extLst>
          </p:cNvPr>
          <p:cNvSpPr>
            <a:spLocks noGrp="1" noChangeArrowheads="1"/>
          </p:cNvSpPr>
          <p:nvPr>
            <p:ph type="body" idx="1"/>
          </p:nvPr>
        </p:nvSpPr>
        <p:spPr/>
        <p:txBody>
          <a:bodyPr>
            <a:normAutofit lnSpcReduction="10000"/>
          </a:bodyPr>
          <a:lstStyle/>
          <a:p>
            <a:pPr>
              <a:lnSpc>
                <a:spcPct val="90000"/>
              </a:lnSpc>
            </a:pPr>
            <a:r>
              <a:rPr lang="en-US" dirty="0"/>
              <a:t>A science fair project done by an 8yo girl, “Does Skin Color Make a Difference?” (Boulder, Colorado)</a:t>
            </a:r>
          </a:p>
          <a:p>
            <a:pPr lvl="1">
              <a:lnSpc>
                <a:spcPct val="90000"/>
              </a:lnSpc>
            </a:pPr>
            <a:r>
              <a:rPr lang="en-US" dirty="0"/>
              <a:t>2001 school science fair</a:t>
            </a:r>
          </a:p>
          <a:p>
            <a:pPr lvl="1">
              <a:lnSpc>
                <a:spcPct val="90000"/>
              </a:lnSpc>
            </a:pPr>
            <a:r>
              <a:rPr lang="en-US" dirty="0"/>
              <a:t>School board panicked and censored the results for fear of “insensitivity”</a:t>
            </a:r>
          </a:p>
          <a:p>
            <a:pPr>
              <a:lnSpc>
                <a:spcPct val="90000"/>
              </a:lnSpc>
            </a:pPr>
            <a:r>
              <a:rPr lang="en-US" dirty="0"/>
              <a:t>Design: Two Barbie dolls, one white and one black.  One Barbie is wearing a lavender (preferred) dress.  The question is “which doll do you prefer?”</a:t>
            </a:r>
          </a:p>
          <a:p>
            <a:pPr>
              <a:lnSpc>
                <a:spcPct val="90000"/>
              </a:lnSpc>
            </a:pPr>
            <a:r>
              <a:rPr lang="en-US" dirty="0"/>
              <a:t>30 adults and children were asked.  Adults consistently preferred the lavender dress (e.g., 27 of 30 times).  </a:t>
            </a:r>
          </a:p>
          <a:p>
            <a:pPr>
              <a:lnSpc>
                <a:spcPct val="90000"/>
              </a:lnSpc>
            </a:pPr>
            <a:r>
              <a:rPr lang="en-US" dirty="0"/>
              <a:t>Among children, only 6 picked the lavender dress if the Black Barbie wore the dress.</a:t>
            </a:r>
          </a:p>
        </p:txBody>
      </p:sp>
    </p:spTree>
    <p:extLst>
      <p:ext uri="{BB962C8B-B14F-4D97-AF65-F5344CB8AC3E}">
        <p14:creationId xmlns:p14="http://schemas.microsoft.com/office/powerpoint/2010/main" val="4054426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BDA65-FE5F-CA55-6CB1-0AB8FB5B2DAF}"/>
            </a:ext>
          </a:extLst>
        </p:cNvPr>
        <p:cNvGrpSpPr/>
        <p:nvPr/>
      </p:nvGrpSpPr>
      <p:grpSpPr>
        <a:xfrm>
          <a:off x="0" y="0"/>
          <a:ext cx="0" cy="0"/>
          <a:chOff x="0" y="0"/>
          <a:chExt cx="0" cy="0"/>
        </a:xfrm>
      </p:grpSpPr>
      <p:sp>
        <p:nvSpPr>
          <p:cNvPr id="7170" name="Rectangle 68">
            <a:extLst>
              <a:ext uri="{FF2B5EF4-FFF2-40B4-BE49-F238E27FC236}">
                <a16:creationId xmlns:a16="http://schemas.microsoft.com/office/drawing/2014/main" id="{B6F562AD-FE84-4345-68D8-8007D5112B22}"/>
              </a:ext>
            </a:extLst>
          </p:cNvPr>
          <p:cNvSpPr>
            <a:spLocks noGrp="1" noChangeArrowheads="1"/>
          </p:cNvSpPr>
          <p:nvPr>
            <p:ph type="title"/>
          </p:nvPr>
        </p:nvSpPr>
        <p:spPr/>
        <p:txBody>
          <a:bodyPr/>
          <a:lstStyle/>
          <a:p>
            <a:r>
              <a:rPr lang="en-US"/>
              <a:t>Adults’ preference</a:t>
            </a:r>
          </a:p>
        </p:txBody>
      </p:sp>
      <p:graphicFrame>
        <p:nvGraphicFramePr>
          <p:cNvPr id="4163" name="Group 67">
            <a:extLst>
              <a:ext uri="{FF2B5EF4-FFF2-40B4-BE49-F238E27FC236}">
                <a16:creationId xmlns:a16="http://schemas.microsoft.com/office/drawing/2014/main" id="{BAA97342-7E84-7598-AA3C-011191E75504}"/>
              </a:ext>
            </a:extLst>
          </p:cNvPr>
          <p:cNvGraphicFramePr>
            <a:graphicFrameLocks noGrp="1"/>
          </p:cNvGraphicFramePr>
          <p:nvPr>
            <p:ph sz="half" idx="1"/>
          </p:nvPr>
        </p:nvGraphicFramePr>
        <p:xfrm>
          <a:off x="1221180" y="1661160"/>
          <a:ext cx="8229600" cy="240792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87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Adults</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Lavender</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Other</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63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Black-Lavender</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13</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(.867)</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2</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(.133)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63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White-Lavender</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14</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(.933)</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(.067)</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189" name="Rectangle 69">
            <a:extLst>
              <a:ext uri="{FF2B5EF4-FFF2-40B4-BE49-F238E27FC236}">
                <a16:creationId xmlns:a16="http://schemas.microsoft.com/office/drawing/2014/main" id="{99712D1B-6F66-08CC-F615-B416C473FE69}"/>
              </a:ext>
            </a:extLst>
          </p:cNvPr>
          <p:cNvSpPr>
            <a:spLocks noGrp="1" noChangeArrowheads="1"/>
          </p:cNvSpPr>
          <p:nvPr>
            <p:ph type="body" sz="half" idx="2"/>
          </p:nvPr>
        </p:nvSpPr>
        <p:spPr>
          <a:xfrm>
            <a:off x="609600" y="4607626"/>
            <a:ext cx="10972800" cy="1518538"/>
          </a:xfrm>
        </p:spPr>
        <p:txBody>
          <a:bodyPr/>
          <a:lstStyle/>
          <a:p>
            <a:r>
              <a:rPr lang="en-US" dirty="0"/>
              <a:t>X</a:t>
            </a:r>
            <a:r>
              <a:rPr lang="en-US" baseline="30000" dirty="0"/>
              <a:t>2</a:t>
            </a:r>
            <a:r>
              <a:rPr lang="en-US" dirty="0"/>
              <a:t>&lt;1.00, p&gt;0.50</a:t>
            </a:r>
          </a:p>
        </p:txBody>
      </p:sp>
    </p:spTree>
    <p:extLst>
      <p:ext uri="{BB962C8B-B14F-4D97-AF65-F5344CB8AC3E}">
        <p14:creationId xmlns:p14="http://schemas.microsoft.com/office/powerpoint/2010/main" val="374715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24F36-E62A-DA68-712D-7144B88E8FC7}"/>
            </a:ext>
          </a:extLst>
        </p:cNvPr>
        <p:cNvGrpSpPr/>
        <p:nvPr/>
      </p:nvGrpSpPr>
      <p:grpSpPr>
        <a:xfrm>
          <a:off x="0" y="0"/>
          <a:ext cx="0" cy="0"/>
          <a:chOff x="0" y="0"/>
          <a:chExt cx="0" cy="0"/>
        </a:xfrm>
      </p:grpSpPr>
      <p:sp>
        <p:nvSpPr>
          <p:cNvPr id="8194" name="Rectangle 4">
            <a:extLst>
              <a:ext uri="{FF2B5EF4-FFF2-40B4-BE49-F238E27FC236}">
                <a16:creationId xmlns:a16="http://schemas.microsoft.com/office/drawing/2014/main" id="{9C456B5B-1267-93DF-BF42-226E7A498730}"/>
              </a:ext>
            </a:extLst>
          </p:cNvPr>
          <p:cNvSpPr>
            <a:spLocks noGrp="1" noChangeArrowheads="1"/>
          </p:cNvSpPr>
          <p:nvPr>
            <p:ph type="title"/>
          </p:nvPr>
        </p:nvSpPr>
        <p:spPr/>
        <p:txBody>
          <a:bodyPr/>
          <a:lstStyle/>
          <a:p>
            <a:r>
              <a:rPr lang="en-US"/>
              <a:t>Children’s preference</a:t>
            </a:r>
          </a:p>
        </p:txBody>
      </p:sp>
      <p:sp>
        <p:nvSpPr>
          <p:cNvPr id="8195" name="Rectangle 6">
            <a:extLst>
              <a:ext uri="{FF2B5EF4-FFF2-40B4-BE49-F238E27FC236}">
                <a16:creationId xmlns:a16="http://schemas.microsoft.com/office/drawing/2014/main" id="{3B06DC57-EE1E-D390-7C6D-B8074208F34F}"/>
              </a:ext>
            </a:extLst>
          </p:cNvPr>
          <p:cNvSpPr>
            <a:spLocks noGrp="1" noChangeArrowheads="1"/>
          </p:cNvSpPr>
          <p:nvPr>
            <p:ph type="body" sz="half" idx="2"/>
          </p:nvPr>
        </p:nvSpPr>
        <p:spPr>
          <a:xfrm>
            <a:off x="609600" y="4441371"/>
            <a:ext cx="10972800" cy="1684793"/>
          </a:xfrm>
        </p:spPr>
        <p:txBody>
          <a:bodyPr/>
          <a:lstStyle/>
          <a:p>
            <a:pPr>
              <a:lnSpc>
                <a:spcPct val="80000"/>
              </a:lnSpc>
            </a:pPr>
            <a:r>
              <a:rPr lang="en-US" sz="2400" dirty="0"/>
              <a:t>Average rate choosing the Lavender dress is 21/30 = 0.70</a:t>
            </a:r>
          </a:p>
          <a:p>
            <a:pPr lvl="1">
              <a:lnSpc>
                <a:spcPct val="80000"/>
              </a:lnSpc>
            </a:pPr>
            <a:r>
              <a:rPr lang="en-US" sz="2000" dirty="0"/>
              <a:t>Expected value (null hypothesis) = 10.5 Lavender, 4.5 Other</a:t>
            </a:r>
          </a:p>
          <a:p>
            <a:pPr>
              <a:lnSpc>
                <a:spcPct val="80000"/>
              </a:lnSpc>
            </a:pPr>
            <a:r>
              <a:rPr lang="en-US" sz="2400" dirty="0"/>
              <a:t>X</a:t>
            </a:r>
            <a:r>
              <a:rPr lang="en-US" sz="2400" baseline="30000" dirty="0"/>
              <a:t>2</a:t>
            </a:r>
            <a:r>
              <a:rPr lang="en-US" sz="2400" dirty="0"/>
              <a:t>=12.86, p&lt;0.001</a:t>
            </a:r>
          </a:p>
        </p:txBody>
      </p:sp>
      <p:graphicFrame>
        <p:nvGraphicFramePr>
          <p:cNvPr id="8255" name="Group 63">
            <a:extLst>
              <a:ext uri="{FF2B5EF4-FFF2-40B4-BE49-F238E27FC236}">
                <a16:creationId xmlns:a16="http://schemas.microsoft.com/office/drawing/2014/main" id="{C26BC1E3-1B6E-DD82-DE91-0561C6305927}"/>
              </a:ext>
            </a:extLst>
          </p:cNvPr>
          <p:cNvGraphicFramePr>
            <a:graphicFrameLocks noGrp="1"/>
          </p:cNvGraphicFramePr>
          <p:nvPr>
            <p:ph sz="half" idx="1"/>
          </p:nvPr>
        </p:nvGraphicFramePr>
        <p:xfrm>
          <a:off x="936172" y="1766455"/>
          <a:ext cx="8229600" cy="240792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857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Children</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Lavender</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Other</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09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Black-Lavender</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6</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(.40)</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9</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(.60)</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493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White-Lavender</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15</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(1.0)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(.00)</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62422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11797-FCBD-BF3D-E721-CC3C914E8F1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F52E9BD-7939-9BB5-E658-9146678A6909}"/>
              </a:ext>
            </a:extLst>
          </p:cNvPr>
          <p:cNvSpPr>
            <a:spLocks noGrp="1" noChangeArrowheads="1"/>
          </p:cNvSpPr>
          <p:nvPr>
            <p:ph type="title"/>
          </p:nvPr>
        </p:nvSpPr>
        <p:spPr/>
        <p:txBody>
          <a:bodyPr rtlCol="0">
            <a:normAutofit/>
          </a:bodyPr>
          <a:lstStyle/>
          <a:p>
            <a:pPr>
              <a:defRPr/>
            </a:pPr>
            <a:r>
              <a:rPr lang="en-US" sz="4000"/>
              <a:t>Do Adults and Children react differently?</a:t>
            </a:r>
          </a:p>
        </p:txBody>
      </p:sp>
      <p:sp>
        <p:nvSpPr>
          <p:cNvPr id="9219" name="Rectangle 5">
            <a:extLst>
              <a:ext uri="{FF2B5EF4-FFF2-40B4-BE49-F238E27FC236}">
                <a16:creationId xmlns:a16="http://schemas.microsoft.com/office/drawing/2014/main" id="{B8242CC1-6E9D-E061-1243-B0BC2279A461}"/>
              </a:ext>
            </a:extLst>
          </p:cNvPr>
          <p:cNvSpPr>
            <a:spLocks noGrp="1" noChangeArrowheads="1"/>
          </p:cNvSpPr>
          <p:nvPr>
            <p:ph type="body" sz="half" idx="2"/>
          </p:nvPr>
        </p:nvSpPr>
        <p:spPr>
          <a:xfrm>
            <a:off x="983673" y="5064310"/>
            <a:ext cx="8229600" cy="990602"/>
          </a:xfrm>
        </p:spPr>
        <p:txBody>
          <a:bodyPr/>
          <a:lstStyle/>
          <a:p>
            <a:r>
              <a:rPr lang="en-US" dirty="0"/>
              <a:t>X</a:t>
            </a:r>
            <a:r>
              <a:rPr lang="en-US" baseline="30000" dirty="0"/>
              <a:t>2</a:t>
            </a:r>
            <a:r>
              <a:rPr lang="en-US" dirty="0"/>
              <a:t>=7.02, p&lt;0.01 </a:t>
            </a:r>
          </a:p>
        </p:txBody>
      </p:sp>
      <p:graphicFrame>
        <p:nvGraphicFramePr>
          <p:cNvPr id="10323" name="Group 83">
            <a:extLst>
              <a:ext uri="{FF2B5EF4-FFF2-40B4-BE49-F238E27FC236}">
                <a16:creationId xmlns:a16="http://schemas.microsoft.com/office/drawing/2014/main" id="{DA34036B-E1D5-97FC-241E-06820203FCB4}"/>
              </a:ext>
            </a:extLst>
          </p:cNvPr>
          <p:cNvGraphicFramePr>
            <a:graphicFrameLocks noGrp="1"/>
          </p:cNvGraphicFramePr>
          <p:nvPr>
            <p:ph sz="half" idx="1"/>
          </p:nvPr>
        </p:nvGraphicFramePr>
        <p:xfrm>
          <a:off x="841169" y="1417638"/>
          <a:ext cx="8229600" cy="3352800"/>
        </p:xfrm>
        <a:graphic>
          <a:graphicData uri="http://schemas.openxmlformats.org/drawingml/2006/table">
            <a:tbl>
              <a:tblPr/>
              <a:tblGrid>
                <a:gridCol w="2809875">
                  <a:extLst>
                    <a:ext uri="{9D8B030D-6E8A-4147-A177-3AD203B41FA5}">
                      <a16:colId xmlns:a16="http://schemas.microsoft.com/office/drawing/2014/main" val="20000"/>
                    </a:ext>
                  </a:extLst>
                </a:gridCol>
                <a:gridCol w="2709863">
                  <a:extLst>
                    <a:ext uri="{9D8B030D-6E8A-4147-A177-3AD203B41FA5}">
                      <a16:colId xmlns:a16="http://schemas.microsoft.com/office/drawing/2014/main" val="20001"/>
                    </a:ext>
                  </a:extLst>
                </a:gridCol>
                <a:gridCol w="2709862">
                  <a:extLst>
                    <a:ext uri="{9D8B030D-6E8A-4147-A177-3AD203B41FA5}">
                      <a16:colId xmlns:a16="http://schemas.microsoft.com/office/drawing/2014/main" val="20002"/>
                    </a:ext>
                  </a:extLst>
                </a:gridCol>
              </a:tblGrid>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Lavender</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Other</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46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Adults</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13</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(.867)</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(.133)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30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Children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6</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(.40)</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9</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(.60)</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46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Total</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19</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(.633)</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11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cs typeface="Times New Roman" pitchFamily="18" charset="0"/>
                        </a:rPr>
                        <a:t>(.367)</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07704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A9318-E640-492C-345D-CED26C0DBD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3C8849-0782-C2D0-4906-977069C9FA2D}"/>
              </a:ext>
            </a:extLst>
          </p:cNvPr>
          <p:cNvSpPr>
            <a:spLocks noGrp="1"/>
          </p:cNvSpPr>
          <p:nvPr>
            <p:ph idx="1"/>
          </p:nvPr>
        </p:nvSpPr>
        <p:spPr/>
        <p:txBody>
          <a:bodyPr>
            <a:normAutofit fontScale="85000" lnSpcReduction="10000"/>
          </a:bodyPr>
          <a:lstStyle/>
          <a:p>
            <a:pPr algn="l"/>
            <a:r>
              <a:rPr lang="en-US" b="0" i="0" dirty="0">
                <a:solidFill>
                  <a:srgbClr val="2D3B45"/>
                </a:solidFill>
                <a:effectLst/>
                <a:latin typeface="Lato Extended"/>
              </a:rPr>
              <a:t>Q3. Of all the statistical tests we have covered in class so far, explain which is appropriate for each of the following hypothetical designs and why:</a:t>
            </a:r>
          </a:p>
          <a:p>
            <a:pPr lvl="1"/>
            <a:r>
              <a:rPr lang="en-US" b="0" i="0" dirty="0">
                <a:solidFill>
                  <a:srgbClr val="2D3B45"/>
                </a:solidFill>
                <a:effectLst/>
                <a:latin typeface="Lato Extended"/>
              </a:rPr>
              <a:t>Older people (age in years) are found to exercise less (in hours per week) than middle aged people</a:t>
            </a:r>
          </a:p>
          <a:p>
            <a:pPr lvl="1"/>
            <a:r>
              <a:rPr lang="en-US" b="0" i="0" dirty="0">
                <a:solidFill>
                  <a:srgbClr val="2D3B45"/>
                </a:solidFill>
                <a:effectLst/>
                <a:latin typeface="Lato Extended"/>
              </a:rPr>
              <a:t>At a car dealership, people planning to buy a car are either shown a documentary on climate change or not and then they are scored as to whether they purchased an electric vehicle or gas vehicle</a:t>
            </a:r>
          </a:p>
          <a:p>
            <a:pPr lvl="1"/>
            <a:r>
              <a:rPr lang="en-US" b="0" i="0" dirty="0">
                <a:solidFill>
                  <a:srgbClr val="2D3B45"/>
                </a:solidFill>
                <a:effectLst/>
                <a:latin typeface="Lato Extended"/>
              </a:rPr>
              <a:t>Hospitalization rate (percent of people hospitalized) due to COVID infection differ in counties that voted red (Republican) or blue (Democrat) in the 2020 election</a:t>
            </a:r>
          </a:p>
          <a:p>
            <a:pPr lvl="1"/>
            <a:r>
              <a:rPr lang="en-US" b="0" i="0" dirty="0">
                <a:solidFill>
                  <a:srgbClr val="2D3B45"/>
                </a:solidFill>
                <a:effectLst/>
                <a:latin typeface="Lato Extended"/>
              </a:rPr>
              <a:t>The relationship of first year salary post-graduation with average GPA in sophomore year during college</a:t>
            </a:r>
          </a:p>
          <a:p>
            <a:pPr lvl="1"/>
            <a:r>
              <a:rPr lang="en-US" b="0" i="0" dirty="0">
                <a:solidFill>
                  <a:srgbClr val="2D3B45"/>
                </a:solidFill>
                <a:effectLst/>
                <a:latin typeface="Lato Extended"/>
              </a:rPr>
              <a:t>Number of social media posts made by people who either took research methods in college or did not</a:t>
            </a:r>
          </a:p>
          <a:p>
            <a:pPr lvl="1"/>
            <a:r>
              <a:rPr lang="en-US" b="0" i="0" dirty="0">
                <a:solidFill>
                  <a:srgbClr val="2D3B45"/>
                </a:solidFill>
                <a:effectLst/>
                <a:latin typeface="Lato Extended"/>
              </a:rPr>
              <a:t>An analysis of scores on the Oxford Happiness Scale based on participants diet (vegetarian/not) and whether they have a Facebook account.</a:t>
            </a:r>
          </a:p>
          <a:p>
            <a:endParaRPr lang="en-US" dirty="0"/>
          </a:p>
        </p:txBody>
      </p:sp>
    </p:spTree>
    <p:extLst>
      <p:ext uri="{BB962C8B-B14F-4D97-AF65-F5344CB8AC3E}">
        <p14:creationId xmlns:p14="http://schemas.microsoft.com/office/powerpoint/2010/main" val="2103033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D370-03E5-BA31-A0D8-3D627F9A843E}"/>
              </a:ext>
            </a:extLst>
          </p:cNvPr>
          <p:cNvSpPr>
            <a:spLocks noGrp="1"/>
          </p:cNvSpPr>
          <p:nvPr>
            <p:ph type="title"/>
          </p:nvPr>
        </p:nvSpPr>
        <p:spPr/>
        <p:txBody>
          <a:bodyPr/>
          <a:lstStyle/>
          <a:p>
            <a:r>
              <a:rPr lang="en-US" dirty="0"/>
              <a:t>For Wed 11/12</a:t>
            </a:r>
          </a:p>
        </p:txBody>
      </p:sp>
      <p:sp>
        <p:nvSpPr>
          <p:cNvPr id="3" name="Content Placeholder 2">
            <a:extLst>
              <a:ext uri="{FF2B5EF4-FFF2-40B4-BE49-F238E27FC236}">
                <a16:creationId xmlns:a16="http://schemas.microsoft.com/office/drawing/2014/main" id="{23992F6A-4F2F-5773-FC36-1A17A895ECD0}"/>
              </a:ext>
            </a:extLst>
          </p:cNvPr>
          <p:cNvSpPr>
            <a:spLocks noGrp="1"/>
          </p:cNvSpPr>
          <p:nvPr>
            <p:ph idx="1"/>
          </p:nvPr>
        </p:nvSpPr>
        <p:spPr/>
        <p:txBody>
          <a:bodyPr>
            <a:normAutofit lnSpcReduction="10000"/>
          </a:bodyPr>
          <a:lstStyle/>
          <a:p>
            <a:r>
              <a:rPr lang="en-US" sz="3200" dirty="0"/>
              <a:t>Chapter 17, </a:t>
            </a:r>
            <a:r>
              <a:rPr lang="en-US" sz="2800" dirty="0"/>
              <a:t>Qualitative research</a:t>
            </a:r>
          </a:p>
          <a:p>
            <a:r>
              <a:rPr lang="en-US" sz="2800" dirty="0"/>
              <a:t>Prinzing (2024)</a:t>
            </a:r>
          </a:p>
          <a:p>
            <a:r>
              <a:rPr lang="en-US" dirty="0"/>
              <a:t>Questions on Canvas</a:t>
            </a:r>
          </a:p>
          <a:p>
            <a:endParaRPr lang="en-US" sz="2800" dirty="0"/>
          </a:p>
          <a:p>
            <a:r>
              <a:rPr lang="en-US" dirty="0"/>
              <a:t>Final Projects</a:t>
            </a:r>
          </a:p>
          <a:p>
            <a:pPr lvl="1"/>
            <a:r>
              <a:rPr lang="en-US" dirty="0"/>
              <a:t>Methods description on Canvas by Tuesday 11/11</a:t>
            </a:r>
          </a:p>
          <a:p>
            <a:endParaRPr lang="en-US" sz="2800" dirty="0"/>
          </a:p>
          <a:p>
            <a:r>
              <a:rPr lang="en-US" dirty="0"/>
              <a:t>Exam 2 on Monday 11/17</a:t>
            </a:r>
          </a:p>
          <a:p>
            <a:pPr lvl="1"/>
            <a:r>
              <a:rPr lang="en-US" dirty="0"/>
              <a:t>Exams from previous years posted on Canvas</a:t>
            </a:r>
          </a:p>
          <a:p>
            <a:pPr marL="0" indent="0">
              <a:buNone/>
            </a:pPr>
            <a:endParaRPr lang="en-US" sz="3200" dirty="0"/>
          </a:p>
        </p:txBody>
      </p:sp>
    </p:spTree>
    <p:extLst>
      <p:ext uri="{BB962C8B-B14F-4D97-AF65-F5344CB8AC3E}">
        <p14:creationId xmlns:p14="http://schemas.microsoft.com/office/powerpoint/2010/main" val="1875401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14214</TotalTime>
  <Words>1202</Words>
  <Application>Microsoft Office PowerPoint</Application>
  <PresentationFormat>Widescreen</PresentationFormat>
  <Paragraphs>195</Paragraphs>
  <Slides>19</Slides>
  <Notes>13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7" baseType="lpstr">
      <vt:lpstr>Aptos</vt:lpstr>
      <vt:lpstr>Aptos Display</vt:lpstr>
      <vt:lpstr>Arial</vt:lpstr>
      <vt:lpstr>Calibri</vt:lpstr>
      <vt:lpstr>Lato Extended</vt:lpstr>
      <vt:lpstr>Times New Roman</vt:lpstr>
      <vt:lpstr>Office Theme</vt:lpstr>
      <vt:lpstr>Chart</vt:lpstr>
      <vt:lpstr>301, Nov 10, Class 24</vt:lpstr>
      <vt:lpstr>Correlation example</vt:lpstr>
      <vt:lpstr>PowerPoint Presentation</vt:lpstr>
      <vt:lpstr>PowerPoint Presentation</vt:lpstr>
      <vt:lpstr>PowerPoint Presentation</vt:lpstr>
      <vt:lpstr>Correlation analysis</vt:lpstr>
      <vt:lpstr>Chapter 16 Assignment</vt:lpstr>
      <vt:lpstr>Related analyses</vt:lpstr>
      <vt:lpstr>Mum effect</vt:lpstr>
      <vt:lpstr>Chi2</vt:lpstr>
      <vt:lpstr>Contingency Table with Rates</vt:lpstr>
      <vt:lpstr>PowerPoint Presentation</vt:lpstr>
      <vt:lpstr>PowerPoint Presentation</vt:lpstr>
      <vt:lpstr>A Science Fair’s Teachable Moment </vt:lpstr>
      <vt:lpstr>Adults’ preference</vt:lpstr>
      <vt:lpstr>Children’s preference</vt:lpstr>
      <vt:lpstr>Do Adults and Children react differently?</vt:lpstr>
      <vt:lpstr>PowerPoint Presentation</vt:lpstr>
      <vt:lpstr>For Wed 11/12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Reber</dc:creator>
  <cp:lastModifiedBy>Paul Reber</cp:lastModifiedBy>
  <cp:revision>9</cp:revision>
  <cp:lastPrinted>2025-11-10T02:08:23Z</cp:lastPrinted>
  <dcterms:created xsi:type="dcterms:W3CDTF">2025-11-01T21:37:16Z</dcterms:created>
  <dcterms:modified xsi:type="dcterms:W3CDTF">2025-11-11T18:32:04Z</dcterms:modified>
</cp:coreProperties>
</file>