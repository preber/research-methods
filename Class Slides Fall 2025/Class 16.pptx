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3" r:id="rId2"/>
    <p:sldId id="283" r:id="rId3"/>
    <p:sldId id="334" r:id="rId4"/>
    <p:sldId id="410" r:id="rId5"/>
    <p:sldId id="285" r:id="rId6"/>
    <p:sldId id="404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409" r:id="rId15"/>
    <p:sldId id="294" r:id="rId16"/>
    <p:sldId id="295" r:id="rId17"/>
    <p:sldId id="258" r:id="rId18"/>
    <p:sldId id="408" r:id="rId19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2" autoAdjust="0"/>
    <p:restoredTop sz="94660"/>
  </p:normalViewPr>
  <p:slideViewPr>
    <p:cSldViewPr snapToGrid="0">
      <p:cViewPr varScale="1">
        <p:scale>
          <a:sx n="97" d="100"/>
          <a:sy n="97" d="100"/>
        </p:scale>
        <p:origin x="3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Sheet1!$C$53:$D$53</c:f>
              <c:numCache>
                <c:formatCode>General</c:formatCode>
                <c:ptCount val="2"/>
                <c:pt idx="0">
                  <c:v>3.27</c:v>
                </c:pt>
                <c:pt idx="1">
                  <c:v>7.09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EF-43BD-B707-B39FE46337A1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Sheet1!$C$54:$D$54</c:f>
              <c:numCache>
                <c:formatCode>General</c:formatCode>
                <c:ptCount val="2"/>
                <c:pt idx="0">
                  <c:v>3.65</c:v>
                </c:pt>
                <c:pt idx="1">
                  <c:v>7.44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2EF-43BD-B707-B39FE4633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Sheet1!$B$53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Sheet1!$C$53:$D$53</c:f>
              <c:numCache>
                <c:formatCode>General</c:formatCode>
                <c:ptCount val="2"/>
                <c:pt idx="0">
                  <c:v>3.27</c:v>
                </c:pt>
                <c:pt idx="1">
                  <c:v>7.09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1E-4E63-A7F9-B6E99F958458}"/>
            </c:ext>
          </c:extLst>
        </c:ser>
        <c:ser>
          <c:idx val="1"/>
          <c:order val="1"/>
          <c:tx>
            <c:strRef>
              <c:f>Sheet1!$B$54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Sheet1!$C$54:$D$54</c:f>
              <c:numCache>
                <c:formatCode>General</c:formatCode>
                <c:ptCount val="2"/>
                <c:pt idx="0">
                  <c:v>3.65</c:v>
                </c:pt>
                <c:pt idx="1">
                  <c:v>7.44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1E-4E63-A7F9-B6E99F9584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Sheet1!$C$3:$D$3</c:f>
              <c:numCache>
                <c:formatCode>General</c:formatCode>
                <c:ptCount val="2"/>
                <c:pt idx="0">
                  <c:v>2.36</c:v>
                </c:pt>
                <c:pt idx="1">
                  <c:v>4.7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B3-4693-BC8E-520FD41E03FF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Sheet1!$C$4:$D$4</c:f>
              <c:numCache>
                <c:formatCode>General</c:formatCode>
                <c:ptCount val="2"/>
                <c:pt idx="0">
                  <c:v>4</c:v>
                </c:pt>
                <c:pt idx="1">
                  <c:v>6.38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B3-4693-BC8E-520FD41E03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548381452318461"/>
          <c:y val="5.0925925925925923E-2"/>
          <c:w val="0.77019247594050744"/>
          <c:h val="0.84167468649752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Sheet1!$C$3:$D$3</c:f>
              <c:numCache>
                <c:formatCode>General</c:formatCode>
                <c:ptCount val="2"/>
                <c:pt idx="0">
                  <c:v>2.36</c:v>
                </c:pt>
                <c:pt idx="1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91-46FC-9794-21EB8944521D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Sheet1!$C$4:$D$4</c:f>
              <c:numCache>
                <c:formatCode>General</c:formatCode>
                <c:ptCount val="2"/>
                <c:pt idx="0">
                  <c:v>4</c:v>
                </c:pt>
                <c:pt idx="1">
                  <c:v>6.38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91-46FC-9794-21EB894452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Sheet1!$B$20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Sheet1!$C$20:$D$20</c:f>
              <c:numCache>
                <c:formatCode>General</c:formatCode>
                <c:ptCount val="2"/>
                <c:pt idx="0">
                  <c:v>1.43</c:v>
                </c:pt>
                <c:pt idx="1">
                  <c:v>4.43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CA-445E-BBEC-8F4640937E6F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Sheet1!$C$21:$D$21</c:f>
              <c:numCache>
                <c:formatCode>General</c:formatCode>
                <c:ptCount val="2"/>
                <c:pt idx="0">
                  <c:v>3.56</c:v>
                </c:pt>
                <c:pt idx="1">
                  <c:v>9.31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CA-445E-BBEC-8F4640937E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Sheet1!$C$20:$D$20</c:f>
              <c:numCache>
                <c:formatCode>General</c:formatCode>
                <c:ptCount val="2"/>
                <c:pt idx="0">
                  <c:v>1.43</c:v>
                </c:pt>
                <c:pt idx="1">
                  <c:v>4.43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85-478B-B9E8-C0AF61B7A995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Sheet1!$C$21:$D$21</c:f>
              <c:numCache>
                <c:formatCode>General</c:formatCode>
                <c:ptCount val="2"/>
                <c:pt idx="0">
                  <c:v>3.56</c:v>
                </c:pt>
                <c:pt idx="1">
                  <c:v>9.31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85-478B-B9E8-C0AF61B7A9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Sheet1!$B$70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Sheet1!$C$70:$D$70</c:f>
              <c:numCache>
                <c:formatCode>General</c:formatCode>
                <c:ptCount val="2"/>
                <c:pt idx="0">
                  <c:v>6.7</c:v>
                </c:pt>
                <c:pt idx="1">
                  <c:v>4.34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BC-47C9-823C-86D8FDCEA81E}"/>
            </c:ext>
          </c:extLst>
        </c:ser>
        <c:ser>
          <c:idx val="1"/>
          <c:order val="1"/>
          <c:tx>
            <c:strRef>
              <c:f>Sheet1!$B$71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Sheet1!$C$71:$D$71</c:f>
              <c:numCache>
                <c:formatCode>General</c:formatCode>
                <c:ptCount val="2"/>
                <c:pt idx="0">
                  <c:v>3.92</c:v>
                </c:pt>
                <c:pt idx="1">
                  <c:v>4.51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BC-47C9-823C-86D8FDCEA8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Sheet1!$B$70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Sheet1!$C$70:$D$70</c:f>
              <c:numCache>
                <c:formatCode>General</c:formatCode>
                <c:ptCount val="2"/>
                <c:pt idx="0">
                  <c:v>6.7</c:v>
                </c:pt>
                <c:pt idx="1">
                  <c:v>4.34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1E-4EB9-8922-1A1EDC1D76DE}"/>
            </c:ext>
          </c:extLst>
        </c:ser>
        <c:ser>
          <c:idx val="1"/>
          <c:order val="1"/>
          <c:tx>
            <c:strRef>
              <c:f>Sheet1!$B$71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Sheet1!$C$71:$D$71</c:f>
              <c:numCache>
                <c:formatCode>General</c:formatCode>
                <c:ptCount val="2"/>
                <c:pt idx="0">
                  <c:v>3.92</c:v>
                </c:pt>
                <c:pt idx="1">
                  <c:v>4.51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1E-4EB9-8922-1A1EDC1D7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Sheet1!$B$87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Sheet1!$C$87:$D$87</c:f>
              <c:numCache>
                <c:formatCode>General</c:formatCode>
                <c:ptCount val="2"/>
                <c:pt idx="0">
                  <c:v>3.29</c:v>
                </c:pt>
                <c:pt idx="1">
                  <c:v>5.87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06-49DD-A42E-C9CCB8E83E0E}"/>
            </c:ext>
          </c:extLst>
        </c:ser>
        <c:ser>
          <c:idx val="1"/>
          <c:order val="1"/>
          <c:tx>
            <c:strRef>
              <c:f>Sheet1!$B$88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Sheet1!$C$88:$D$88</c:f>
              <c:numCache>
                <c:formatCode>General</c:formatCode>
                <c:ptCount val="2"/>
                <c:pt idx="0">
                  <c:v>6.59</c:v>
                </c:pt>
                <c:pt idx="1">
                  <c:v>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06-49DD-A42E-C9CCB8E83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Sheet1!$B$87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Sheet1!$C$87:$D$87</c:f>
              <c:numCache>
                <c:formatCode>General</c:formatCode>
                <c:ptCount val="2"/>
                <c:pt idx="0">
                  <c:v>3.29</c:v>
                </c:pt>
                <c:pt idx="1">
                  <c:v>5.87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98-48F8-BFF7-FE77DD4300E0}"/>
            </c:ext>
          </c:extLst>
        </c:ser>
        <c:ser>
          <c:idx val="1"/>
          <c:order val="1"/>
          <c:tx>
            <c:strRef>
              <c:f>Sheet1!$B$88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Sheet1!$C$88:$D$88</c:f>
              <c:numCache>
                <c:formatCode>General</c:formatCode>
                <c:ptCount val="2"/>
                <c:pt idx="0">
                  <c:v>6.59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98-48F8-BFF7-FE77DD430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D7197-1F45-4782-8710-0B3DF9D35C4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07F76-5E52-4939-94DC-89B1D206A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6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4D5B-D15F-9423-C6A3-2067D9952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5B286-583D-2A65-4A33-35D4C0E7D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17B64-533B-D9CF-BCED-A3B078C3D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FBB07-CBCC-A21F-9CC3-215EE91D2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C7FEF-DDF3-5AC3-30C0-AE6660D7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9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C980-128F-051A-D70E-EC422E82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04B16-B282-C988-6541-A8486589F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A8D20-F076-2D01-BD95-C00F68CB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A8E0D-3303-A7A3-D929-310074C4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E930C-B406-CA54-B397-12756364E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21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D95FE-EC92-C866-3B6A-AC5940337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3C1B5-30F0-3371-2E91-4B646BEF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2AFC5-647A-7398-6398-EC8F55B07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06FCC-A4D1-F804-231A-2E000CF6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8D91E-4E1D-948B-DAD1-24E0DC55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44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3F89-EE09-507E-C6E9-3E6E96E26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C050-65C2-D2BA-1523-E88F114E6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49DA3-1CCB-88D3-AAAE-277D4835B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62292-45B6-288E-E7FC-BEE10B204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D13C9-17E6-50EF-46FE-A378D2B90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C413E-D174-7450-BD74-6FDC2A7F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6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1158-D1E0-CC31-B89B-D2705BBD6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33B45-BBEF-A7A3-C17C-BB68BD275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6BFCC-4EE8-66A8-C885-9B2B88724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7483A-B03E-A252-3326-E46852126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69E65-B651-FDD9-2F89-9E17A98CD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399991-BADE-F142-B656-8955F5B35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F052FD-EEAE-8504-C6B8-F83139D4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C2653-B4F9-2830-B101-BD67CBB1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3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A249-F0C7-9BFE-B205-2ACC5704F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9A0FF-153D-4670-0B7A-8DECB6AE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D8315-80BD-7D3F-965C-8AAF96590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907D1-5074-B563-70D6-D0EB66C4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3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FC5CA-A20E-2BC8-DB09-3D82A8929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33A0A-07C1-8EA9-0D3A-8EF0C4D7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5C186-835E-6C13-6922-19D21AE8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8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8728C-5634-8CD1-0A87-E8AF6030D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E8866-6FBA-9D87-926A-D489863C5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FD9C7-9886-C26A-3984-8C64650A8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BE934-2547-1D1C-8469-A02A8600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93F87-42B6-9B9F-4084-A5DE2C5D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138CC-D5F5-77E2-DB5E-3CB68144F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DE7C2-922E-095C-B39C-CE0EB2CE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1F1215-5F4F-003B-C229-978C385CF7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0AA8A-59E0-7E3F-BF3A-C5A42A859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9E92B-A0D8-7422-1B72-DA3B9D9E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273EA-F70B-46F6-DA25-7D2FD977C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E6514-7FE5-005D-792F-D612433D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85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9FA64-B29A-6906-DFE8-55AC58658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4A177-E938-9290-95E6-6DE0E899F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F1D5A-2403-599D-EFDE-E5153F73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4F215-4477-E2CE-062F-2193DA36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24FDD-E118-75F8-B892-2E83A9A8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2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96DD2-8D57-2046-EFAC-E66F1DE57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798C7-D29D-1F7D-D452-E5031AD4B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2B0D-4F77-57C6-673D-69CD37712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CEE4C-B228-32EE-4570-8968634E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A04DA-4761-F4E6-4DC4-D67EB2D9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99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47ACF7-CA39-2097-39D9-76848D6D1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2E99A-61EA-1D18-6762-88CA94EBE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1B5FD-BEC7-2615-0056-6E459E32D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4C55F-4834-4336-AECA-0FA60B406C4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7B93F-06AE-22B8-6C64-E4396C268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AD032-7A8E-7A0D-11DD-ACAE5D850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CEA2C-6055-4CFF-BC22-75167046D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6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2D78F4-AA70-107D-1BB4-37CBF6C7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301 Oct 22, Class 16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10EF73-7D3C-63E3-55E1-8E1B04738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of Experiment 2 data</a:t>
            </a:r>
          </a:p>
          <a:p>
            <a:endParaRPr lang="en-US" dirty="0"/>
          </a:p>
          <a:p>
            <a:r>
              <a:rPr lang="en-US" dirty="0"/>
              <a:t>Examples of 2x2 outcomes continued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71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B4BE-0C68-96D7-E7B1-F49147AB7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60531-B36A-3035-4298-B9057990C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Datafile: Exp2_Fall2024.csv</a:t>
            </a:r>
          </a:p>
          <a:p>
            <a:r>
              <a:rPr lang="en-US" dirty="0"/>
              <a:t>Running the analysis in R</a:t>
            </a:r>
          </a:p>
          <a:p>
            <a:r>
              <a:rPr lang="en-US" dirty="0"/>
              <a:t>Reporting the results</a:t>
            </a:r>
          </a:p>
          <a:p>
            <a:r>
              <a:rPr lang="en-US" dirty="0"/>
              <a:t>Making a graph with Excel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FD66-C342-FAA7-9D87-E0930698A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F13A6-1A8A-2DE3-3D4E-90F1D46B9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effect of stimulus meaning</a:t>
            </a:r>
          </a:p>
          <a:p>
            <a:pPr lvl="1"/>
            <a:r>
              <a:rPr lang="en-US" dirty="0"/>
              <a:t>F(1,128) = 69.6, p&lt;0.0001</a:t>
            </a:r>
          </a:p>
          <a:p>
            <a:r>
              <a:rPr lang="en-US" dirty="0"/>
              <a:t>Main effect of deep/shallow encoding</a:t>
            </a:r>
          </a:p>
          <a:p>
            <a:pPr lvl="1"/>
            <a:r>
              <a:rPr lang="en-US" dirty="0"/>
              <a:t>F(1,128) = 8.4, p&lt;0.01</a:t>
            </a:r>
          </a:p>
          <a:p>
            <a:r>
              <a:rPr lang="en-US" dirty="0"/>
              <a:t>Interaction</a:t>
            </a:r>
          </a:p>
          <a:p>
            <a:pPr lvl="1"/>
            <a:r>
              <a:rPr lang="en-US" dirty="0"/>
              <a:t>F(1,128) = 2.43, p=0.12</a:t>
            </a:r>
          </a:p>
          <a:p>
            <a:pPr lvl="1"/>
            <a:endParaRPr lang="en-US" dirty="0"/>
          </a:p>
          <a:p>
            <a:r>
              <a:rPr lang="en-US" dirty="0"/>
              <a:t>Making a 2x2 figure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69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1807C-BAA8-F9E4-F15E-4A37B1CB7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EEC75-B1EF-496F-33BF-768E6F8F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48D7-08B1-ED3E-5346-534A85105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effect of stimulus meaning</a:t>
            </a:r>
          </a:p>
          <a:p>
            <a:pPr lvl="1"/>
            <a:r>
              <a:rPr lang="en-US" dirty="0"/>
              <a:t>F(1,128) = 69.6, p&lt;.0001</a:t>
            </a:r>
          </a:p>
          <a:p>
            <a:r>
              <a:rPr lang="en-US" dirty="0"/>
              <a:t>Main effect of deep/shallow encoding</a:t>
            </a:r>
          </a:p>
          <a:p>
            <a:pPr lvl="1"/>
            <a:r>
              <a:rPr lang="en-US" dirty="0"/>
              <a:t>F(1,128) = 8.4, p&lt;.005</a:t>
            </a:r>
          </a:p>
          <a:p>
            <a:r>
              <a:rPr lang="en-US" dirty="0"/>
              <a:t>Interaction</a:t>
            </a:r>
          </a:p>
          <a:p>
            <a:pPr lvl="1"/>
            <a:r>
              <a:rPr lang="en-US" dirty="0"/>
              <a:t>F(1,28) = 2.42, p=0.12</a:t>
            </a:r>
          </a:p>
          <a:p>
            <a:pPr lvl="1"/>
            <a:endParaRPr lang="en-US" dirty="0"/>
          </a:p>
          <a:p>
            <a:r>
              <a:rPr lang="en-US" dirty="0"/>
              <a:t>Making a 2x2 figure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54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621981-79D2-4619-9C32-4BF72D18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2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0A0DE5A-A49E-7C3E-6F11-248BE58A6C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06328"/>
          <a:ext cx="8151422" cy="38013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99703">
                  <a:extLst>
                    <a:ext uri="{9D8B030D-6E8A-4147-A177-3AD203B41FA5}">
                      <a16:colId xmlns:a16="http://schemas.microsoft.com/office/drawing/2014/main" val="435612330"/>
                    </a:ext>
                  </a:extLst>
                </a:gridCol>
                <a:gridCol w="1699703">
                  <a:extLst>
                    <a:ext uri="{9D8B030D-6E8A-4147-A177-3AD203B41FA5}">
                      <a16:colId xmlns:a16="http://schemas.microsoft.com/office/drawing/2014/main" val="1189507972"/>
                    </a:ext>
                  </a:extLst>
                </a:gridCol>
                <a:gridCol w="1714598">
                  <a:extLst>
                    <a:ext uri="{9D8B030D-6E8A-4147-A177-3AD203B41FA5}">
                      <a16:colId xmlns:a16="http://schemas.microsoft.com/office/drawing/2014/main" val="369667880"/>
                    </a:ext>
                  </a:extLst>
                </a:gridCol>
                <a:gridCol w="1714598">
                  <a:extLst>
                    <a:ext uri="{9D8B030D-6E8A-4147-A177-3AD203B41FA5}">
                      <a16:colId xmlns:a16="http://schemas.microsoft.com/office/drawing/2014/main" val="3877185348"/>
                    </a:ext>
                  </a:extLst>
                </a:gridCol>
                <a:gridCol w="1322820">
                  <a:extLst>
                    <a:ext uri="{9D8B030D-6E8A-4147-A177-3AD203B41FA5}">
                      <a16:colId xmlns:a16="http://schemas.microsoft.com/office/drawing/2014/main" val="2665827853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Means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Table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3281323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4618543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X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3.27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(1.51)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7.09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(1.35)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5.18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(2.39)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7204217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3.65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(1.08)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7.44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(1.44)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5.55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(2.28)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29318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3.46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7.26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(1.41)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6777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543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7551E9-F903-F133-42A3-4E7A08C98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terms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64BB6-3AFB-5327-204F-156E05392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Condition or cell means</a:t>
            </a:r>
          </a:p>
          <a:p>
            <a:pPr lvl="1"/>
            <a:r>
              <a:rPr lang="en-US" dirty="0"/>
              <a:t>Performance of the participants in specific conditions</a:t>
            </a:r>
          </a:p>
          <a:p>
            <a:pPr lvl="1"/>
            <a:r>
              <a:rPr lang="en-US" dirty="0"/>
              <a:t>AX, AY, BX, BY</a:t>
            </a:r>
          </a:p>
          <a:p>
            <a:r>
              <a:rPr lang="en-US" dirty="0"/>
              <a:t>Marginal means</a:t>
            </a:r>
          </a:p>
          <a:p>
            <a:pPr lvl="1"/>
            <a:r>
              <a:rPr lang="en-US" dirty="0"/>
              <a:t>Average performance of participants by factor</a:t>
            </a:r>
          </a:p>
          <a:p>
            <a:pPr lvl="1"/>
            <a:r>
              <a:rPr lang="en-US" dirty="0"/>
              <a:t>Factor 1: A vs B</a:t>
            </a:r>
          </a:p>
          <a:p>
            <a:pPr lvl="2"/>
            <a:r>
              <a:rPr lang="en-US" dirty="0"/>
              <a:t>Average(AX,AY) and Average (BX,BY)</a:t>
            </a:r>
          </a:p>
          <a:p>
            <a:pPr lvl="1"/>
            <a:r>
              <a:rPr lang="en-US" dirty="0"/>
              <a:t>Factor 2: X vs Y</a:t>
            </a:r>
          </a:p>
          <a:p>
            <a:pPr lvl="2"/>
            <a:r>
              <a:rPr lang="en-US" dirty="0"/>
              <a:t>Average(AX,BX) and Average (AY,BY)</a:t>
            </a:r>
          </a:p>
          <a:p>
            <a:r>
              <a:rPr lang="en-US" dirty="0"/>
              <a:t>Effect size</a:t>
            </a:r>
          </a:p>
          <a:p>
            <a:pPr lvl="1"/>
            <a:r>
              <a:rPr lang="en-US" dirty="0"/>
              <a:t>Difference in the marginal means across the factor</a:t>
            </a:r>
          </a:p>
          <a:p>
            <a:pPr lvl="1"/>
            <a:r>
              <a:rPr lang="en-US" dirty="0"/>
              <a:t>“Unstandardized” = actual DV difference</a:t>
            </a:r>
          </a:p>
        </p:txBody>
      </p:sp>
    </p:spTree>
    <p:extLst>
      <p:ext uri="{BB962C8B-B14F-4D97-AF65-F5344CB8AC3E}">
        <p14:creationId xmlns:p14="http://schemas.microsoft.com/office/powerpoint/2010/main" val="317440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235D46-1D18-3412-3A0A-EBACA2118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2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82DAAA7-6924-420E-A5D6-F0B11A93CC8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4D0A0DA-DC21-4B7C-898A-A931FDC4C93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0099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A405-E9B3-5EC3-D31B-6E66F8C4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3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04F4B3B-3728-DD3D-B4C9-312623021B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8234547" cy="38013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17036">
                  <a:extLst>
                    <a:ext uri="{9D8B030D-6E8A-4147-A177-3AD203B41FA5}">
                      <a16:colId xmlns:a16="http://schemas.microsoft.com/office/drawing/2014/main" val="2525116432"/>
                    </a:ext>
                  </a:extLst>
                </a:gridCol>
                <a:gridCol w="1717036">
                  <a:extLst>
                    <a:ext uri="{9D8B030D-6E8A-4147-A177-3AD203B41FA5}">
                      <a16:colId xmlns:a16="http://schemas.microsoft.com/office/drawing/2014/main" val="317592664"/>
                    </a:ext>
                  </a:extLst>
                </a:gridCol>
                <a:gridCol w="1732083">
                  <a:extLst>
                    <a:ext uri="{9D8B030D-6E8A-4147-A177-3AD203B41FA5}">
                      <a16:colId xmlns:a16="http://schemas.microsoft.com/office/drawing/2014/main" val="3546420314"/>
                    </a:ext>
                  </a:extLst>
                </a:gridCol>
                <a:gridCol w="1732083">
                  <a:extLst>
                    <a:ext uri="{9D8B030D-6E8A-4147-A177-3AD203B41FA5}">
                      <a16:colId xmlns:a16="http://schemas.microsoft.com/office/drawing/2014/main" val="1320630623"/>
                    </a:ext>
                  </a:extLst>
                </a:gridCol>
                <a:gridCol w="1336309">
                  <a:extLst>
                    <a:ext uri="{9D8B030D-6E8A-4147-A177-3AD203B41FA5}">
                      <a16:colId xmlns:a16="http://schemas.microsoft.com/office/drawing/2014/main" val="1247467942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Means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Table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070355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5238142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X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2.36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(1.54)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4.70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(1.54)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3.53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(1.93)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5119661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4.00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(1.08)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6.38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(1.44)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5.19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(1.84)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513742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3.18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(1.63)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5.54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(1.74)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6924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093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7B443-551D-9C9D-5DC1-ADE7100E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3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8ED6A06-9A47-8C86-35CE-0A115A012A5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5E920EF-F614-DA19-F139-76362E9709F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5956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0653-3467-4A3A-6F38-CF97B834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4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B50275-A92D-BB5C-7F79-996A63FC0D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8567058" cy="38013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86370">
                  <a:extLst>
                    <a:ext uri="{9D8B030D-6E8A-4147-A177-3AD203B41FA5}">
                      <a16:colId xmlns:a16="http://schemas.microsoft.com/office/drawing/2014/main" val="3377958318"/>
                    </a:ext>
                  </a:extLst>
                </a:gridCol>
                <a:gridCol w="1786370">
                  <a:extLst>
                    <a:ext uri="{9D8B030D-6E8A-4147-A177-3AD203B41FA5}">
                      <a16:colId xmlns:a16="http://schemas.microsoft.com/office/drawing/2014/main" val="2099104786"/>
                    </a:ext>
                  </a:extLst>
                </a:gridCol>
                <a:gridCol w="1802024">
                  <a:extLst>
                    <a:ext uri="{9D8B030D-6E8A-4147-A177-3AD203B41FA5}">
                      <a16:colId xmlns:a16="http://schemas.microsoft.com/office/drawing/2014/main" val="4063273605"/>
                    </a:ext>
                  </a:extLst>
                </a:gridCol>
                <a:gridCol w="1802024">
                  <a:extLst>
                    <a:ext uri="{9D8B030D-6E8A-4147-A177-3AD203B41FA5}">
                      <a16:colId xmlns:a16="http://schemas.microsoft.com/office/drawing/2014/main" val="1561812349"/>
                    </a:ext>
                  </a:extLst>
                </a:gridCol>
                <a:gridCol w="1390270">
                  <a:extLst>
                    <a:ext uri="{9D8B030D-6E8A-4147-A177-3AD203B41FA5}">
                      <a16:colId xmlns:a16="http://schemas.microsoft.com/office/drawing/2014/main" val="963407833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Means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Table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5574665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9387539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X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1.43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(1.32)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4.43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(2.00)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2.93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(2.26)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2066081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3.56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(1.39)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9.31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6.43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(3.19)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238744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2.50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(1.72)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6.87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(2.98)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5996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818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19B99-9CC4-6B27-B1BD-B6C52360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4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B3DA39A-1B60-48ED-B00A-A058003077E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D58DCC2-6BED-489B-9E48-8E429DC4773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63434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677F2-AFCE-DE55-4EEB-33924C76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5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117EA2-D07E-52A6-C54F-5B30F5E150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8092045" cy="38013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87322">
                  <a:extLst>
                    <a:ext uri="{9D8B030D-6E8A-4147-A177-3AD203B41FA5}">
                      <a16:colId xmlns:a16="http://schemas.microsoft.com/office/drawing/2014/main" val="3928674859"/>
                    </a:ext>
                  </a:extLst>
                </a:gridCol>
                <a:gridCol w="1687322">
                  <a:extLst>
                    <a:ext uri="{9D8B030D-6E8A-4147-A177-3AD203B41FA5}">
                      <a16:colId xmlns:a16="http://schemas.microsoft.com/office/drawing/2014/main" val="3487325813"/>
                    </a:ext>
                  </a:extLst>
                </a:gridCol>
                <a:gridCol w="1702108">
                  <a:extLst>
                    <a:ext uri="{9D8B030D-6E8A-4147-A177-3AD203B41FA5}">
                      <a16:colId xmlns:a16="http://schemas.microsoft.com/office/drawing/2014/main" val="3155438810"/>
                    </a:ext>
                  </a:extLst>
                </a:gridCol>
                <a:gridCol w="1702108">
                  <a:extLst>
                    <a:ext uri="{9D8B030D-6E8A-4147-A177-3AD203B41FA5}">
                      <a16:colId xmlns:a16="http://schemas.microsoft.com/office/drawing/2014/main" val="3716069301"/>
                    </a:ext>
                  </a:extLst>
                </a:gridCol>
                <a:gridCol w="1313185">
                  <a:extLst>
                    <a:ext uri="{9D8B030D-6E8A-4147-A177-3AD203B41FA5}">
                      <a16:colId xmlns:a16="http://schemas.microsoft.com/office/drawing/2014/main" val="1578893992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Means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Table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8397448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824348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X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6.70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(1.76)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4.34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(1.58)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5.52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(2.04)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0508429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3.92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(1.42)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4.51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(1.29)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4.21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(1.39)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05575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5.31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(2.11)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4.43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(1.45)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4877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067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7ED3-CD4E-B846-85C3-C0E67BDB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5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AB12AB-BF00-4E02-8470-5DA5DF4D0B1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96A313-5FC0-485D-A6F5-B28D67BDADE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54981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C5F4-D89A-2D6A-F142-7AD1ABFE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6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D2175D3-81C0-4F8E-1878-3801076B45E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15567"/>
          <a:ext cx="8685811" cy="38013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11132">
                  <a:extLst>
                    <a:ext uri="{9D8B030D-6E8A-4147-A177-3AD203B41FA5}">
                      <a16:colId xmlns:a16="http://schemas.microsoft.com/office/drawing/2014/main" val="2604552184"/>
                    </a:ext>
                  </a:extLst>
                </a:gridCol>
                <a:gridCol w="1811132">
                  <a:extLst>
                    <a:ext uri="{9D8B030D-6E8A-4147-A177-3AD203B41FA5}">
                      <a16:colId xmlns:a16="http://schemas.microsoft.com/office/drawing/2014/main" val="3664444023"/>
                    </a:ext>
                  </a:extLst>
                </a:gridCol>
                <a:gridCol w="1827003">
                  <a:extLst>
                    <a:ext uri="{9D8B030D-6E8A-4147-A177-3AD203B41FA5}">
                      <a16:colId xmlns:a16="http://schemas.microsoft.com/office/drawing/2014/main" val="463607112"/>
                    </a:ext>
                  </a:extLst>
                </a:gridCol>
                <a:gridCol w="1827003">
                  <a:extLst>
                    <a:ext uri="{9D8B030D-6E8A-4147-A177-3AD203B41FA5}">
                      <a16:colId xmlns:a16="http://schemas.microsoft.com/office/drawing/2014/main" val="2125234978"/>
                    </a:ext>
                  </a:extLst>
                </a:gridCol>
                <a:gridCol w="1409541">
                  <a:extLst>
                    <a:ext uri="{9D8B030D-6E8A-4147-A177-3AD203B41FA5}">
                      <a16:colId xmlns:a16="http://schemas.microsoft.com/office/drawing/2014/main" val="4290430288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Means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Table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243908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9670532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X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3.29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(1.07)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5.87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(1.54)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4.58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(1.85)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3728225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6.59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(1.63)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3.20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(1.31)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4.90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(2.25)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6125194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4.94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(2.15)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4.53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(1.96)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1898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805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0DD8-6627-FD97-4F27-C134EB24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6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EBF3A39-0FD6-4FB5-934B-9D48935E9FC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E18A1DD-C440-49CA-B800-8737DACB2DD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99325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50DF20-6F65-DEC2-7871-CA12A5A0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2x2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6BF33-8F36-C8C4-56A7-B66ECF370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Main effects</a:t>
            </a:r>
          </a:p>
          <a:p>
            <a:pPr lvl="1"/>
            <a:r>
              <a:rPr lang="en-US" dirty="0"/>
              <a:t>Factor 1: effect on performance ignoring Factor 2</a:t>
            </a:r>
          </a:p>
          <a:p>
            <a:pPr lvl="1"/>
            <a:r>
              <a:rPr lang="en-US" dirty="0"/>
              <a:t>Factor 2: effect on performance ignoring Factor 1</a:t>
            </a:r>
          </a:p>
          <a:p>
            <a:pPr lvl="1"/>
            <a:r>
              <a:rPr lang="en-US" dirty="0"/>
              <a:t>Possible outcomes: both, either one alone, or neither</a:t>
            </a:r>
          </a:p>
          <a:p>
            <a:r>
              <a:rPr lang="en-US" dirty="0"/>
              <a:t>Interactions</a:t>
            </a:r>
          </a:p>
          <a:p>
            <a:pPr lvl="1"/>
            <a:r>
              <a:rPr lang="en-US" dirty="0"/>
              <a:t>The factors affect each other</a:t>
            </a:r>
          </a:p>
          <a:p>
            <a:pPr lvl="1"/>
            <a:r>
              <a:rPr lang="en-US" dirty="0"/>
              <a:t>The effect of Factor 1 was different across levels of Factor 2</a:t>
            </a:r>
          </a:p>
          <a:p>
            <a:pPr lvl="1"/>
            <a:r>
              <a:rPr lang="en-US" dirty="0"/>
              <a:t>The effect of Factor 2 was different across levels of Factor 1</a:t>
            </a:r>
          </a:p>
          <a:p>
            <a:pPr lvl="1"/>
            <a:r>
              <a:rPr lang="en-US" dirty="0"/>
              <a:t>“Different”</a:t>
            </a:r>
          </a:p>
          <a:p>
            <a:pPr lvl="2"/>
            <a:r>
              <a:rPr lang="en-US" dirty="0"/>
              <a:t>Accelerator: super-additive factors</a:t>
            </a:r>
          </a:p>
          <a:p>
            <a:pPr lvl="2"/>
            <a:r>
              <a:rPr lang="en-US" dirty="0"/>
              <a:t>Reducer: can give a 3:1 shape</a:t>
            </a:r>
          </a:p>
          <a:p>
            <a:pPr lvl="2"/>
            <a:r>
              <a:rPr lang="en-US" dirty="0"/>
              <a:t>Inverter: effect goes in different directions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58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13CA6-56CA-0247-AD7B-1D6FD788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2x2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9DF3F-5476-9147-B217-84670AFF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Two manipulated factors, between participants</a:t>
            </a:r>
          </a:p>
          <a:p>
            <a:pPr lvl="1"/>
            <a:r>
              <a:rPr lang="en-US" dirty="0"/>
              <a:t>Experimenter assigns participants to one of the four conditions</a:t>
            </a:r>
          </a:p>
          <a:p>
            <a:r>
              <a:rPr lang="en-US" dirty="0"/>
              <a:t>One manipulated factor, one participant variable</a:t>
            </a:r>
          </a:p>
          <a:p>
            <a:pPr lvl="1"/>
            <a:r>
              <a:rPr lang="en-US" dirty="0"/>
              <a:t>Measure or recruit based on participant variable</a:t>
            </a:r>
          </a:p>
          <a:p>
            <a:pPr lvl="2"/>
            <a:r>
              <a:rPr lang="en-US" dirty="0"/>
              <a:t>Split into 2 groups by median or pre-defined criterion</a:t>
            </a:r>
          </a:p>
          <a:p>
            <a:pPr lvl="1"/>
            <a:r>
              <a:rPr lang="en-US" dirty="0"/>
              <a:t>Random assignment across manipulated factor</a:t>
            </a:r>
          </a:p>
          <a:p>
            <a:r>
              <a:rPr lang="en-US" dirty="0"/>
              <a:t>Two within-participant factors</a:t>
            </a:r>
          </a:p>
          <a:p>
            <a:pPr lvl="1"/>
            <a:r>
              <a:rPr lang="en-US" dirty="0"/>
              <a:t>Participants each do all four conditions, counterbalanced order</a:t>
            </a:r>
          </a:p>
          <a:p>
            <a:r>
              <a:rPr lang="en-US" dirty="0"/>
              <a:t>One within-participant factor, Repeated Measures</a:t>
            </a:r>
          </a:p>
          <a:p>
            <a:pPr lvl="1"/>
            <a:r>
              <a:rPr lang="en-US" dirty="0"/>
              <a:t>Participants randomly assigned to AX,AY or BX,BY</a:t>
            </a:r>
          </a:p>
          <a:p>
            <a:pPr lvl="2"/>
            <a:r>
              <a:rPr lang="en-US" dirty="0"/>
              <a:t>Order counterbalanced</a:t>
            </a:r>
          </a:p>
          <a:p>
            <a:pPr lvl="1"/>
            <a:r>
              <a:rPr lang="en-US" dirty="0"/>
              <a:t>Mixed-model design</a:t>
            </a:r>
          </a:p>
        </p:txBody>
      </p:sp>
    </p:spTree>
    <p:extLst>
      <p:ext uri="{BB962C8B-B14F-4D97-AF65-F5344CB8AC3E}">
        <p14:creationId xmlns:p14="http://schemas.microsoft.com/office/powerpoint/2010/main" val="1585127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531263-9C85-8028-4A63-A0E2FDD1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Fri 10/24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FC9114D-41C8-F1B4-19FC-4D7CB5BF3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outside reading </a:t>
            </a:r>
            <a:r>
              <a:rPr lang="en-US"/>
              <a:t>with questions</a:t>
            </a:r>
          </a:p>
          <a:p>
            <a:pPr lvl="1"/>
            <a:r>
              <a:rPr lang="en-US"/>
              <a:t>Assefi</a:t>
            </a:r>
            <a:r>
              <a:rPr lang="en-US" dirty="0"/>
              <a:t> &amp; Garry (2003)</a:t>
            </a:r>
          </a:p>
          <a:p>
            <a:endParaRPr lang="en-US" dirty="0"/>
          </a:p>
          <a:p>
            <a:r>
              <a:rPr lang="en-US" dirty="0"/>
              <a:t>Start preparing the second writeup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862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32169</TotalTime>
  <Words>707</Words>
  <Application>Microsoft Office PowerPoint</Application>
  <PresentationFormat>Widescreen</PresentationFormat>
  <Paragraphs>187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Times New Roman</vt:lpstr>
      <vt:lpstr>Office Theme</vt:lpstr>
      <vt:lpstr>301 Oct 22, Class 16</vt:lpstr>
      <vt:lpstr>Experiment 2 data</vt:lpstr>
      <vt:lpstr>Results</vt:lpstr>
      <vt:lpstr>Results</vt:lpstr>
      <vt:lpstr>Data 2</vt:lpstr>
      <vt:lpstr>Data terms</vt:lpstr>
      <vt:lpstr>Data 2</vt:lpstr>
      <vt:lpstr>Data 3</vt:lpstr>
      <vt:lpstr>Data 3</vt:lpstr>
      <vt:lpstr>Data 4</vt:lpstr>
      <vt:lpstr>Data 4</vt:lpstr>
      <vt:lpstr>Data 5</vt:lpstr>
      <vt:lpstr>Data 5</vt:lpstr>
      <vt:lpstr>Data 6</vt:lpstr>
      <vt:lpstr>Data 6</vt:lpstr>
      <vt:lpstr>2x2 Data</vt:lpstr>
      <vt:lpstr>Types of 2x2 designs</vt:lpstr>
      <vt:lpstr>For Fri 10/24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Nov 2, Class 18</dc:title>
  <dc:creator>Paul Reber</dc:creator>
  <cp:lastModifiedBy>Paul Reber</cp:lastModifiedBy>
  <cp:revision>25</cp:revision>
  <cp:lastPrinted>2024-02-12T15:04:08Z</cp:lastPrinted>
  <dcterms:created xsi:type="dcterms:W3CDTF">2022-10-31T14:41:49Z</dcterms:created>
  <dcterms:modified xsi:type="dcterms:W3CDTF">2025-10-24T16:49:49Z</dcterms:modified>
</cp:coreProperties>
</file>