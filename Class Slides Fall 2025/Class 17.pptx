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33" r:id="rId3"/>
    <p:sldId id="501" r:id="rId4"/>
    <p:sldId id="503" r:id="rId5"/>
    <p:sldId id="272" r:id="rId6"/>
    <p:sldId id="407" r:id="rId7"/>
    <p:sldId id="494" r:id="rId8"/>
    <p:sldId id="282" r:id="rId9"/>
    <p:sldId id="404" r:id="rId10"/>
    <p:sldId id="373" r:id="rId11"/>
    <p:sldId id="361" r:id="rId12"/>
    <p:sldId id="294" r:id="rId13"/>
    <p:sldId id="362" r:id="rId14"/>
    <p:sldId id="405" r:id="rId15"/>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5" autoAdjust="0"/>
    <p:restoredTop sz="94660"/>
  </p:normalViewPr>
  <p:slideViewPr>
    <p:cSldViewPr snapToGrid="0">
      <p:cViewPr varScale="1">
        <p:scale>
          <a:sx n="97" d="100"/>
          <a:sy n="97" d="100"/>
        </p:scale>
        <p:origin x="1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720637F1-4DE2-4332-B8DB-64E0862AC60E}" type="datetimeFigureOut">
              <a:rPr lang="en-US" smtClean="0"/>
              <a:t>10/24/2025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0A9DA5B8-3707-4800-B798-5565D886879B}" type="slidenum">
              <a:rPr lang="en-US" smtClean="0"/>
              <a:t>‹#›</a:t>
            </a:fld>
            <a:endParaRPr lang="en-US"/>
          </a:p>
        </p:txBody>
      </p:sp>
    </p:spTree>
    <p:extLst>
      <p:ext uri="{BB962C8B-B14F-4D97-AF65-F5344CB8AC3E}">
        <p14:creationId xmlns:p14="http://schemas.microsoft.com/office/powerpoint/2010/main" val="1340942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cs typeface="Arial" charset="0"/>
              </a:defRPr>
            </a:lvl1pPr>
            <a:lvl2pPr marL="765545" indent="-294440" eaLnBrk="0" hangingPunct="0">
              <a:defRPr>
                <a:solidFill>
                  <a:schemeClr val="tx1"/>
                </a:solidFill>
                <a:latin typeface="Arial" charset="0"/>
                <a:cs typeface="Arial" charset="0"/>
              </a:defRPr>
            </a:lvl2pPr>
            <a:lvl3pPr marL="1177762" indent="-235552" eaLnBrk="0" hangingPunct="0">
              <a:defRPr>
                <a:solidFill>
                  <a:schemeClr val="tx1"/>
                </a:solidFill>
                <a:latin typeface="Arial" charset="0"/>
                <a:cs typeface="Arial" charset="0"/>
              </a:defRPr>
            </a:lvl3pPr>
            <a:lvl4pPr marL="1648867" indent="-235552" eaLnBrk="0" hangingPunct="0">
              <a:defRPr>
                <a:solidFill>
                  <a:schemeClr val="tx1"/>
                </a:solidFill>
                <a:latin typeface="Arial" charset="0"/>
                <a:cs typeface="Arial" charset="0"/>
              </a:defRPr>
            </a:lvl4pPr>
            <a:lvl5pPr marL="2119972" indent="-235552" eaLnBrk="0" hangingPunct="0">
              <a:defRPr>
                <a:solidFill>
                  <a:schemeClr val="tx1"/>
                </a:solidFill>
                <a:latin typeface="Arial" charset="0"/>
                <a:cs typeface="Arial" charset="0"/>
              </a:defRPr>
            </a:lvl5pPr>
            <a:lvl6pPr marL="2591076" indent="-235552" eaLnBrk="0" fontAlgn="base" hangingPunct="0">
              <a:spcBef>
                <a:spcPct val="0"/>
              </a:spcBef>
              <a:spcAft>
                <a:spcPct val="0"/>
              </a:spcAft>
              <a:defRPr>
                <a:solidFill>
                  <a:schemeClr val="tx1"/>
                </a:solidFill>
                <a:latin typeface="Arial" charset="0"/>
                <a:cs typeface="Arial" charset="0"/>
              </a:defRPr>
            </a:lvl6pPr>
            <a:lvl7pPr marL="3062181" indent="-235552" eaLnBrk="0" fontAlgn="base" hangingPunct="0">
              <a:spcBef>
                <a:spcPct val="0"/>
              </a:spcBef>
              <a:spcAft>
                <a:spcPct val="0"/>
              </a:spcAft>
              <a:defRPr>
                <a:solidFill>
                  <a:schemeClr val="tx1"/>
                </a:solidFill>
                <a:latin typeface="Arial" charset="0"/>
                <a:cs typeface="Arial" charset="0"/>
              </a:defRPr>
            </a:lvl7pPr>
            <a:lvl8pPr marL="3533285" indent="-235552" eaLnBrk="0" fontAlgn="base" hangingPunct="0">
              <a:spcBef>
                <a:spcPct val="0"/>
              </a:spcBef>
              <a:spcAft>
                <a:spcPct val="0"/>
              </a:spcAft>
              <a:defRPr>
                <a:solidFill>
                  <a:schemeClr val="tx1"/>
                </a:solidFill>
                <a:latin typeface="Arial" charset="0"/>
                <a:cs typeface="Arial" charset="0"/>
              </a:defRPr>
            </a:lvl8pPr>
            <a:lvl9pPr marL="4004390" indent="-235552" eaLnBrk="0" fontAlgn="base" hangingPunct="0">
              <a:spcBef>
                <a:spcPct val="0"/>
              </a:spcBef>
              <a:spcAft>
                <a:spcPct val="0"/>
              </a:spcAft>
              <a:defRPr>
                <a:solidFill>
                  <a:schemeClr val="tx1"/>
                </a:solidFill>
                <a:latin typeface="Arial" charset="0"/>
                <a:cs typeface="Arial" charset="0"/>
              </a:defRPr>
            </a:lvl9pPr>
          </a:lstStyle>
          <a:p>
            <a:pPr eaLnBrk="1" hangingPunct="1"/>
            <a:fld id="{8C6454AF-A3F4-4654-85C8-8D53AD94A576}" type="slidenum">
              <a:rPr lang="en-US" smtClean="0"/>
              <a:pPr eaLnBrk="1" hangingPunct="1"/>
              <a:t>6</a:t>
            </a:fld>
            <a:endParaRPr lang="en-US"/>
          </a:p>
        </p:txBody>
      </p:sp>
      <p:sp>
        <p:nvSpPr>
          <p:cNvPr id="204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Tree>
    <p:extLst>
      <p:ext uri="{BB962C8B-B14F-4D97-AF65-F5344CB8AC3E}">
        <p14:creationId xmlns:p14="http://schemas.microsoft.com/office/powerpoint/2010/main" val="1674862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C154D0B-DC44-4C1E-97E0-B1CAE7CC5A07}" type="slidenum">
              <a:rPr lang="en-US"/>
              <a:pPr fontAlgn="base">
                <a:spcBef>
                  <a:spcPct val="0"/>
                </a:spcBef>
                <a:spcAft>
                  <a:spcPct val="0"/>
                </a:spcAft>
              </a:pPr>
              <a:t>8</a:t>
            </a:fld>
            <a:endParaRPr lang="en-US"/>
          </a:p>
        </p:txBody>
      </p:sp>
      <p:sp>
        <p:nvSpPr>
          <p:cNvPr id="163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3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088985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8C81E9C-B8A6-47B9-ACF0-E501EA7A4928}" type="slidenum">
              <a:rPr lang="en-US"/>
              <a:pPr fontAlgn="base">
                <a:spcBef>
                  <a:spcPct val="0"/>
                </a:spcBef>
                <a:spcAft>
                  <a:spcPct val="0"/>
                </a:spcAft>
              </a:pPr>
              <a:t>11</a:t>
            </a:fld>
            <a:endParaRPr lang="en-US"/>
          </a:p>
        </p:txBody>
      </p:sp>
      <p:sp>
        <p:nvSpPr>
          <p:cNvPr id="1741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41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899217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F56A2-03E6-5D3E-9D12-9D130D34C9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18C696-DC7E-649B-2B6D-9F0E7A704C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50662B-2F28-DA8D-3E9A-F599722B1E7F}"/>
              </a:ext>
            </a:extLst>
          </p:cNvPr>
          <p:cNvSpPr>
            <a:spLocks noGrp="1"/>
          </p:cNvSpPr>
          <p:nvPr>
            <p:ph type="dt" sz="half" idx="10"/>
          </p:nvPr>
        </p:nvSpPr>
        <p:spPr/>
        <p:txBody>
          <a:bodyPr/>
          <a:lstStyle/>
          <a:p>
            <a:fld id="{D2A8EFA5-8421-4A95-940C-214B2CECF242}" type="datetimeFigureOut">
              <a:rPr lang="en-US" smtClean="0"/>
              <a:t>10/24/2025</a:t>
            </a:fld>
            <a:endParaRPr lang="en-US"/>
          </a:p>
        </p:txBody>
      </p:sp>
      <p:sp>
        <p:nvSpPr>
          <p:cNvPr id="5" name="Footer Placeholder 4">
            <a:extLst>
              <a:ext uri="{FF2B5EF4-FFF2-40B4-BE49-F238E27FC236}">
                <a16:creationId xmlns:a16="http://schemas.microsoft.com/office/drawing/2014/main" id="{D6BD7BFA-2613-EE2C-BB50-BA0EACA3D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DA864E-607F-3D24-7752-BCD6B0AEF1E0}"/>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689179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C76CE-D5E8-3682-0BE4-09622ED90E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6266CB-0056-2D59-5925-4B53D64596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65A551-D355-0D06-9976-BC16DF995630}"/>
              </a:ext>
            </a:extLst>
          </p:cNvPr>
          <p:cNvSpPr>
            <a:spLocks noGrp="1"/>
          </p:cNvSpPr>
          <p:nvPr>
            <p:ph type="dt" sz="half" idx="10"/>
          </p:nvPr>
        </p:nvSpPr>
        <p:spPr/>
        <p:txBody>
          <a:bodyPr/>
          <a:lstStyle/>
          <a:p>
            <a:fld id="{D2A8EFA5-8421-4A95-940C-214B2CECF242}" type="datetimeFigureOut">
              <a:rPr lang="en-US" smtClean="0"/>
              <a:t>10/24/2025</a:t>
            </a:fld>
            <a:endParaRPr lang="en-US"/>
          </a:p>
        </p:txBody>
      </p:sp>
      <p:sp>
        <p:nvSpPr>
          <p:cNvPr id="5" name="Footer Placeholder 4">
            <a:extLst>
              <a:ext uri="{FF2B5EF4-FFF2-40B4-BE49-F238E27FC236}">
                <a16:creationId xmlns:a16="http://schemas.microsoft.com/office/drawing/2014/main" id="{403B8EA0-5F98-16DF-FC6A-F92841973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BA03C0-DE9E-84DB-B23F-3FDF94E664CE}"/>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862381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5D505-AE23-20B7-ACEA-ADCA5BEC1F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A57A9B-5AF5-DD7F-C1C6-28900E97AF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F402E6-A483-1F0B-E0E5-D4E2DA9EBE28}"/>
              </a:ext>
            </a:extLst>
          </p:cNvPr>
          <p:cNvSpPr>
            <a:spLocks noGrp="1"/>
          </p:cNvSpPr>
          <p:nvPr>
            <p:ph type="dt" sz="half" idx="10"/>
          </p:nvPr>
        </p:nvSpPr>
        <p:spPr/>
        <p:txBody>
          <a:bodyPr/>
          <a:lstStyle/>
          <a:p>
            <a:fld id="{D2A8EFA5-8421-4A95-940C-214B2CECF242}" type="datetimeFigureOut">
              <a:rPr lang="en-US" smtClean="0"/>
              <a:t>10/24/2025</a:t>
            </a:fld>
            <a:endParaRPr lang="en-US"/>
          </a:p>
        </p:txBody>
      </p:sp>
      <p:sp>
        <p:nvSpPr>
          <p:cNvPr id="5" name="Footer Placeholder 4">
            <a:extLst>
              <a:ext uri="{FF2B5EF4-FFF2-40B4-BE49-F238E27FC236}">
                <a16:creationId xmlns:a16="http://schemas.microsoft.com/office/drawing/2014/main" id="{D505B39C-E1AB-DD40-46BD-22CA0B66A9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3E305-2743-7BE5-CC74-EB1D36D8CF61}"/>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3022405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CB424-170A-A849-AB68-CC5902F9A7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7044C4-8B77-D7C9-6BE2-69D703370F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8EB323-98E9-63F7-1456-53FBA46ABA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ACB3C5-E582-3034-2842-82E1461BAACD}"/>
              </a:ext>
            </a:extLst>
          </p:cNvPr>
          <p:cNvSpPr>
            <a:spLocks noGrp="1"/>
          </p:cNvSpPr>
          <p:nvPr>
            <p:ph type="dt" sz="half" idx="10"/>
          </p:nvPr>
        </p:nvSpPr>
        <p:spPr/>
        <p:txBody>
          <a:bodyPr/>
          <a:lstStyle/>
          <a:p>
            <a:fld id="{D2A8EFA5-8421-4A95-940C-214B2CECF242}" type="datetimeFigureOut">
              <a:rPr lang="en-US" smtClean="0"/>
              <a:t>10/24/2025</a:t>
            </a:fld>
            <a:endParaRPr lang="en-US"/>
          </a:p>
        </p:txBody>
      </p:sp>
      <p:sp>
        <p:nvSpPr>
          <p:cNvPr id="6" name="Footer Placeholder 5">
            <a:extLst>
              <a:ext uri="{FF2B5EF4-FFF2-40B4-BE49-F238E27FC236}">
                <a16:creationId xmlns:a16="http://schemas.microsoft.com/office/drawing/2014/main" id="{F90F08EC-E929-E351-99AC-8363C8F5DA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92A821-8B71-21CF-8B12-EA7141DE0918}"/>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2766096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AFA5A-E47E-4801-5102-C1C965E63B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B3DBD9A-105C-2943-67D2-8DF5130BE7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929792-CE45-CD6C-E52F-C3F5B9D99B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E763D-8E90-71FA-441D-718D41D583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DDE7D9-E323-D31B-4CAD-7CB298D7B5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30FC90-93BB-4CB5-095F-6B09D27AEC51}"/>
              </a:ext>
            </a:extLst>
          </p:cNvPr>
          <p:cNvSpPr>
            <a:spLocks noGrp="1"/>
          </p:cNvSpPr>
          <p:nvPr>
            <p:ph type="dt" sz="half" idx="10"/>
          </p:nvPr>
        </p:nvSpPr>
        <p:spPr/>
        <p:txBody>
          <a:bodyPr/>
          <a:lstStyle/>
          <a:p>
            <a:fld id="{D2A8EFA5-8421-4A95-940C-214B2CECF242}" type="datetimeFigureOut">
              <a:rPr lang="en-US" smtClean="0"/>
              <a:t>10/24/2025</a:t>
            </a:fld>
            <a:endParaRPr lang="en-US"/>
          </a:p>
        </p:txBody>
      </p:sp>
      <p:sp>
        <p:nvSpPr>
          <p:cNvPr id="8" name="Footer Placeholder 7">
            <a:extLst>
              <a:ext uri="{FF2B5EF4-FFF2-40B4-BE49-F238E27FC236}">
                <a16:creationId xmlns:a16="http://schemas.microsoft.com/office/drawing/2014/main" id="{6C9CCCA9-2858-A0E2-4034-664824937E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6BBB3F-6190-6BDE-B901-8A8D1B3C9630}"/>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349541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8D619-667E-461B-C06B-31DB4CC39D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80A9C4-77D1-C8A7-E91D-675C98F86FCF}"/>
              </a:ext>
            </a:extLst>
          </p:cNvPr>
          <p:cNvSpPr>
            <a:spLocks noGrp="1"/>
          </p:cNvSpPr>
          <p:nvPr>
            <p:ph type="dt" sz="half" idx="10"/>
          </p:nvPr>
        </p:nvSpPr>
        <p:spPr/>
        <p:txBody>
          <a:bodyPr/>
          <a:lstStyle/>
          <a:p>
            <a:fld id="{D2A8EFA5-8421-4A95-940C-214B2CECF242}" type="datetimeFigureOut">
              <a:rPr lang="en-US" smtClean="0"/>
              <a:t>10/24/2025</a:t>
            </a:fld>
            <a:endParaRPr lang="en-US"/>
          </a:p>
        </p:txBody>
      </p:sp>
      <p:sp>
        <p:nvSpPr>
          <p:cNvPr id="4" name="Footer Placeholder 3">
            <a:extLst>
              <a:ext uri="{FF2B5EF4-FFF2-40B4-BE49-F238E27FC236}">
                <a16:creationId xmlns:a16="http://schemas.microsoft.com/office/drawing/2014/main" id="{6DD75059-27DD-1FC4-6828-F448D2B8E3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6FB0B8-7458-D6CD-52FE-18E20B1C9868}"/>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139525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9F3B40-5DE1-9506-D16E-7DA23DF0EAA3}"/>
              </a:ext>
            </a:extLst>
          </p:cNvPr>
          <p:cNvSpPr>
            <a:spLocks noGrp="1"/>
          </p:cNvSpPr>
          <p:nvPr>
            <p:ph type="dt" sz="half" idx="10"/>
          </p:nvPr>
        </p:nvSpPr>
        <p:spPr/>
        <p:txBody>
          <a:bodyPr/>
          <a:lstStyle/>
          <a:p>
            <a:fld id="{D2A8EFA5-8421-4A95-940C-214B2CECF242}" type="datetimeFigureOut">
              <a:rPr lang="en-US" smtClean="0"/>
              <a:t>10/24/2025</a:t>
            </a:fld>
            <a:endParaRPr lang="en-US"/>
          </a:p>
        </p:txBody>
      </p:sp>
      <p:sp>
        <p:nvSpPr>
          <p:cNvPr id="3" name="Footer Placeholder 2">
            <a:extLst>
              <a:ext uri="{FF2B5EF4-FFF2-40B4-BE49-F238E27FC236}">
                <a16:creationId xmlns:a16="http://schemas.microsoft.com/office/drawing/2014/main" id="{E670AE0B-4374-6555-46BB-0238401F13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17858E-EDA5-0BAC-DA9E-D14CEC36B8D6}"/>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2131857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F58E3-2A08-A0F5-49F5-92AD9937DA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92456E-3DCD-CC5C-0A58-1E3F983099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DDA767-B7F4-F0D3-6AEA-8C1CF8FD7C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41B1D5-53D2-7CA6-1C62-10F35BBEA3C0}"/>
              </a:ext>
            </a:extLst>
          </p:cNvPr>
          <p:cNvSpPr>
            <a:spLocks noGrp="1"/>
          </p:cNvSpPr>
          <p:nvPr>
            <p:ph type="dt" sz="half" idx="10"/>
          </p:nvPr>
        </p:nvSpPr>
        <p:spPr/>
        <p:txBody>
          <a:bodyPr/>
          <a:lstStyle/>
          <a:p>
            <a:fld id="{D2A8EFA5-8421-4A95-940C-214B2CECF242}" type="datetimeFigureOut">
              <a:rPr lang="en-US" smtClean="0"/>
              <a:t>10/24/2025</a:t>
            </a:fld>
            <a:endParaRPr lang="en-US"/>
          </a:p>
        </p:txBody>
      </p:sp>
      <p:sp>
        <p:nvSpPr>
          <p:cNvPr id="6" name="Footer Placeholder 5">
            <a:extLst>
              <a:ext uri="{FF2B5EF4-FFF2-40B4-BE49-F238E27FC236}">
                <a16:creationId xmlns:a16="http://schemas.microsoft.com/office/drawing/2014/main" id="{D2CAE992-3179-CB81-4D93-AF80EFF488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EDE75F-361B-5195-F154-2F2131EF533A}"/>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2991038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0BBFE-4F22-3346-3669-480D4AF1E4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179461-832D-A5AA-9379-EF78C59CF0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61FE3A-12AC-FBE6-2151-FACF115095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726B18-74E0-65F7-46C4-D4AAEFCA7E11}"/>
              </a:ext>
            </a:extLst>
          </p:cNvPr>
          <p:cNvSpPr>
            <a:spLocks noGrp="1"/>
          </p:cNvSpPr>
          <p:nvPr>
            <p:ph type="dt" sz="half" idx="10"/>
          </p:nvPr>
        </p:nvSpPr>
        <p:spPr/>
        <p:txBody>
          <a:bodyPr/>
          <a:lstStyle/>
          <a:p>
            <a:fld id="{D2A8EFA5-8421-4A95-940C-214B2CECF242}" type="datetimeFigureOut">
              <a:rPr lang="en-US" smtClean="0"/>
              <a:t>10/24/2025</a:t>
            </a:fld>
            <a:endParaRPr lang="en-US"/>
          </a:p>
        </p:txBody>
      </p:sp>
      <p:sp>
        <p:nvSpPr>
          <p:cNvPr id="6" name="Footer Placeholder 5">
            <a:extLst>
              <a:ext uri="{FF2B5EF4-FFF2-40B4-BE49-F238E27FC236}">
                <a16:creationId xmlns:a16="http://schemas.microsoft.com/office/drawing/2014/main" id="{E9D53A7C-8450-A8F8-6AF4-E5D44CDFCE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0D5A16-0570-1352-4E67-A731EB5666A1}"/>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2812227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6A20F-973D-C76F-2F08-BD732127B6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E8555E-B659-A7C5-8BB7-CD5725BBA0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82B59F-D1A8-614B-E301-EE7BAD2C9E3A}"/>
              </a:ext>
            </a:extLst>
          </p:cNvPr>
          <p:cNvSpPr>
            <a:spLocks noGrp="1"/>
          </p:cNvSpPr>
          <p:nvPr>
            <p:ph type="dt" sz="half" idx="10"/>
          </p:nvPr>
        </p:nvSpPr>
        <p:spPr/>
        <p:txBody>
          <a:bodyPr/>
          <a:lstStyle/>
          <a:p>
            <a:fld id="{D2A8EFA5-8421-4A95-940C-214B2CECF242}" type="datetimeFigureOut">
              <a:rPr lang="en-US" smtClean="0"/>
              <a:t>10/24/2025</a:t>
            </a:fld>
            <a:endParaRPr lang="en-US"/>
          </a:p>
        </p:txBody>
      </p:sp>
      <p:sp>
        <p:nvSpPr>
          <p:cNvPr id="5" name="Footer Placeholder 4">
            <a:extLst>
              <a:ext uri="{FF2B5EF4-FFF2-40B4-BE49-F238E27FC236}">
                <a16:creationId xmlns:a16="http://schemas.microsoft.com/office/drawing/2014/main" id="{4B531600-47DC-3B7E-C978-B93C3333B7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AB243-56B3-818D-8643-4760F37ABECF}"/>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101174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F206F4-5E4C-4BCA-04E2-4F7117FE92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A34745-9E0A-6955-8430-E581A5350E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4F9A45-BE59-B971-95AD-6CAFB1C23345}"/>
              </a:ext>
            </a:extLst>
          </p:cNvPr>
          <p:cNvSpPr>
            <a:spLocks noGrp="1"/>
          </p:cNvSpPr>
          <p:nvPr>
            <p:ph type="dt" sz="half" idx="10"/>
          </p:nvPr>
        </p:nvSpPr>
        <p:spPr/>
        <p:txBody>
          <a:bodyPr/>
          <a:lstStyle/>
          <a:p>
            <a:fld id="{D2A8EFA5-8421-4A95-940C-214B2CECF242}" type="datetimeFigureOut">
              <a:rPr lang="en-US" smtClean="0"/>
              <a:t>10/24/2025</a:t>
            </a:fld>
            <a:endParaRPr lang="en-US"/>
          </a:p>
        </p:txBody>
      </p:sp>
      <p:sp>
        <p:nvSpPr>
          <p:cNvPr id="5" name="Footer Placeholder 4">
            <a:extLst>
              <a:ext uri="{FF2B5EF4-FFF2-40B4-BE49-F238E27FC236}">
                <a16:creationId xmlns:a16="http://schemas.microsoft.com/office/drawing/2014/main" id="{B6ACAC00-DAFA-C7EE-BFBD-99EFC09471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C8FCB-E33B-3572-D263-700F6C5B053F}"/>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239940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96F4C5-6623-7C48-5C01-297219583C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7A5D95-C65F-008A-40C8-B96989D66A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5F13C-A5C1-738A-006A-E395963E3E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A8EFA5-8421-4A95-940C-214B2CECF242}" type="datetimeFigureOut">
              <a:rPr lang="en-US" smtClean="0"/>
              <a:t>10/24/2025</a:t>
            </a:fld>
            <a:endParaRPr lang="en-US"/>
          </a:p>
        </p:txBody>
      </p:sp>
      <p:sp>
        <p:nvSpPr>
          <p:cNvPr id="5" name="Footer Placeholder 4">
            <a:extLst>
              <a:ext uri="{FF2B5EF4-FFF2-40B4-BE49-F238E27FC236}">
                <a16:creationId xmlns:a16="http://schemas.microsoft.com/office/drawing/2014/main" id="{4E8A25DC-BE7D-4F80-0E1C-EA0123BD98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4919907-DDB8-93C4-8524-ECAF19E240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751BD9-19F0-4F08-B5BD-8E0D78F9D43F}" type="slidenum">
              <a:rPr lang="en-US" smtClean="0"/>
              <a:t>‹#›</a:t>
            </a:fld>
            <a:endParaRPr lang="en-US"/>
          </a:p>
        </p:txBody>
      </p:sp>
    </p:spTree>
    <p:extLst>
      <p:ext uri="{BB962C8B-B14F-4D97-AF65-F5344CB8AC3E}">
        <p14:creationId xmlns:p14="http://schemas.microsoft.com/office/powerpoint/2010/main" val="3970017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AF300F-2339-DC46-3D78-30080386C97E}"/>
              </a:ext>
            </a:extLst>
          </p:cNvPr>
          <p:cNvSpPr>
            <a:spLocks noGrp="1"/>
          </p:cNvSpPr>
          <p:nvPr>
            <p:ph type="title"/>
          </p:nvPr>
        </p:nvSpPr>
        <p:spPr/>
        <p:txBody>
          <a:bodyPr/>
          <a:lstStyle/>
          <a:p>
            <a:r>
              <a:rPr lang="en-US" dirty="0"/>
              <a:t>301 Oct 24, Class 17</a:t>
            </a:r>
          </a:p>
        </p:txBody>
      </p:sp>
      <p:sp>
        <p:nvSpPr>
          <p:cNvPr id="5" name="Content Placeholder 4">
            <a:extLst>
              <a:ext uri="{FF2B5EF4-FFF2-40B4-BE49-F238E27FC236}">
                <a16:creationId xmlns:a16="http://schemas.microsoft.com/office/drawing/2014/main" id="{38B73460-479C-E872-7202-FEA38AB5931B}"/>
              </a:ext>
            </a:extLst>
          </p:cNvPr>
          <p:cNvSpPr>
            <a:spLocks noGrp="1"/>
          </p:cNvSpPr>
          <p:nvPr>
            <p:ph idx="1"/>
          </p:nvPr>
        </p:nvSpPr>
        <p:spPr/>
        <p:txBody>
          <a:bodyPr/>
          <a:lstStyle/>
          <a:p>
            <a:r>
              <a:rPr lang="en-US" dirty="0"/>
              <a:t>Experiment 2 Writing Overview</a:t>
            </a:r>
          </a:p>
          <a:p>
            <a:pPr lvl="1"/>
            <a:r>
              <a:rPr lang="en-US" dirty="0"/>
              <a:t>Multi-experiment reporting</a:t>
            </a:r>
          </a:p>
          <a:p>
            <a:pPr lvl="1"/>
            <a:endParaRPr lang="en-US" dirty="0"/>
          </a:p>
          <a:p>
            <a:r>
              <a:rPr lang="en-US" dirty="0" err="1"/>
              <a:t>Assefi</a:t>
            </a:r>
            <a:r>
              <a:rPr lang="en-US" dirty="0"/>
              <a:t> &amp; Gary (2003)</a:t>
            </a:r>
          </a:p>
          <a:p>
            <a:endParaRPr lang="en-US" dirty="0"/>
          </a:p>
          <a:p>
            <a:pPr marL="457200" lvl="1" indent="0">
              <a:buNone/>
            </a:pPr>
            <a:r>
              <a:rPr lang="en-US" dirty="0"/>
              <a:t>	</a:t>
            </a:r>
          </a:p>
        </p:txBody>
      </p:sp>
    </p:spTree>
    <p:extLst>
      <p:ext uri="{BB962C8B-B14F-4D97-AF65-F5344CB8AC3E}">
        <p14:creationId xmlns:p14="http://schemas.microsoft.com/office/powerpoint/2010/main" val="1540814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F7BEA-E67B-5421-022B-0785083B13D4}"/>
              </a:ext>
            </a:extLst>
          </p:cNvPr>
          <p:cNvSpPr>
            <a:spLocks noGrp="1"/>
          </p:cNvSpPr>
          <p:nvPr>
            <p:ph type="title"/>
          </p:nvPr>
        </p:nvSpPr>
        <p:spPr/>
        <p:txBody>
          <a:bodyPr/>
          <a:lstStyle/>
          <a:p>
            <a:r>
              <a:rPr lang="en-US" dirty="0"/>
              <a:t>Experiment 2 methods</a:t>
            </a:r>
          </a:p>
        </p:txBody>
      </p:sp>
      <p:sp>
        <p:nvSpPr>
          <p:cNvPr id="3" name="Content Placeholder 2">
            <a:extLst>
              <a:ext uri="{FF2B5EF4-FFF2-40B4-BE49-F238E27FC236}">
                <a16:creationId xmlns:a16="http://schemas.microsoft.com/office/drawing/2014/main" id="{396A17BA-7DB4-F1CC-E4A3-344742CD104C}"/>
              </a:ext>
            </a:extLst>
          </p:cNvPr>
          <p:cNvSpPr>
            <a:spLocks noGrp="1"/>
          </p:cNvSpPr>
          <p:nvPr>
            <p:ph idx="1"/>
          </p:nvPr>
        </p:nvSpPr>
        <p:spPr/>
        <p:txBody>
          <a:bodyPr>
            <a:normAutofit fontScale="92500" lnSpcReduction="20000"/>
          </a:bodyPr>
          <a:lstStyle/>
          <a:p>
            <a:r>
              <a:rPr lang="en-US" dirty="0"/>
              <a:t>Participants</a:t>
            </a:r>
          </a:p>
          <a:p>
            <a:pPr lvl="1"/>
            <a:r>
              <a:rPr lang="en-US" dirty="0"/>
              <a:t>Two sections of Research Methods recruited participants</a:t>
            </a:r>
          </a:p>
          <a:p>
            <a:pPr lvl="1"/>
            <a:r>
              <a:rPr lang="en-US" dirty="0"/>
              <a:t>132 participants provided data.</a:t>
            </a:r>
          </a:p>
          <a:p>
            <a:r>
              <a:rPr lang="en-US" dirty="0"/>
              <a:t>Materials</a:t>
            </a:r>
          </a:p>
          <a:p>
            <a:pPr lvl="1"/>
            <a:r>
              <a:rPr lang="en-US" dirty="0"/>
              <a:t>Use the images to illustrate the stimuli with a Figure</a:t>
            </a:r>
          </a:p>
          <a:p>
            <a:pPr lvl="1"/>
            <a:r>
              <a:rPr lang="en-US" dirty="0"/>
              <a:t>Do not forget the caption/note for this Figure as well</a:t>
            </a:r>
          </a:p>
          <a:p>
            <a:r>
              <a:rPr lang="en-US" dirty="0"/>
              <a:t>Procedure</a:t>
            </a:r>
          </a:p>
          <a:p>
            <a:pPr lvl="1"/>
            <a:r>
              <a:rPr lang="en-US" dirty="0"/>
              <a:t>40 items studied for 4s each</a:t>
            </a:r>
          </a:p>
          <a:p>
            <a:pPr lvl="1"/>
            <a:r>
              <a:rPr lang="en-US" dirty="0"/>
              <a:t>Deep encoding just as Experiment 1</a:t>
            </a:r>
          </a:p>
          <a:p>
            <a:pPr lvl="1"/>
            <a:r>
              <a:rPr lang="en-US" dirty="0"/>
              <a:t>Shallow encoding: For each picture, indicate which colors of the five listed below are most prominent in the image</a:t>
            </a:r>
          </a:p>
          <a:p>
            <a:pPr lvl="2"/>
            <a:r>
              <a:rPr lang="en-US" sz="1800" dirty="0">
                <a:effectLst/>
                <a:latin typeface="Calibri" panose="020F0502020204030204" pitchFamily="34" charset="0"/>
                <a:ea typeface="Calibri" panose="020F0502020204030204" pitchFamily="34" charset="0"/>
                <a:cs typeface="Times New Roman" panose="02020603050405020304" pitchFamily="18" charset="0"/>
              </a:rPr>
              <a:t>1 = black or gray, 2 = red or brown, 3 = blue or purple, 4 = green or pink, 5 = yellow or white</a:t>
            </a:r>
          </a:p>
          <a:p>
            <a:pPr lvl="1"/>
            <a:r>
              <a:rPr lang="en-US" dirty="0">
                <a:latin typeface="Calibri" panose="020F0502020204030204" pitchFamily="34" charset="0"/>
                <a:cs typeface="Times New Roman" panose="02020603050405020304" pitchFamily="18" charset="0"/>
              </a:rPr>
              <a:t>40-tiem Recognition test was based on 2AFC with one old and one new/lure/foil</a:t>
            </a:r>
            <a:endParaRPr lang="en-US" dirty="0"/>
          </a:p>
        </p:txBody>
      </p:sp>
    </p:spTree>
    <p:extLst>
      <p:ext uri="{BB962C8B-B14F-4D97-AF65-F5344CB8AC3E}">
        <p14:creationId xmlns:p14="http://schemas.microsoft.com/office/powerpoint/2010/main" val="2683521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8EA21-E797-A483-29B9-394D21CE5F41}"/>
              </a:ext>
            </a:extLst>
          </p:cNvPr>
          <p:cNvSpPr>
            <a:spLocks noGrp="1"/>
          </p:cNvSpPr>
          <p:nvPr>
            <p:ph type="title"/>
          </p:nvPr>
        </p:nvSpPr>
        <p:spPr/>
        <p:txBody>
          <a:bodyPr/>
          <a:lstStyle/>
          <a:p>
            <a:r>
              <a:rPr lang="en-US" dirty="0"/>
              <a:t>Post-hoc t-tests for Experiment 2</a:t>
            </a:r>
          </a:p>
        </p:txBody>
      </p:sp>
      <p:sp>
        <p:nvSpPr>
          <p:cNvPr id="3" name="Content Placeholder 2">
            <a:extLst>
              <a:ext uri="{FF2B5EF4-FFF2-40B4-BE49-F238E27FC236}">
                <a16:creationId xmlns:a16="http://schemas.microsoft.com/office/drawing/2014/main" id="{BF922BFC-B4FA-DB34-31BC-34CBC3365A42}"/>
              </a:ext>
            </a:extLst>
          </p:cNvPr>
          <p:cNvSpPr>
            <a:spLocks noGrp="1"/>
          </p:cNvSpPr>
          <p:nvPr>
            <p:ph idx="1"/>
          </p:nvPr>
        </p:nvSpPr>
        <p:spPr/>
        <p:txBody>
          <a:bodyPr>
            <a:normAutofit/>
          </a:bodyPr>
          <a:lstStyle/>
          <a:p>
            <a:r>
              <a:rPr lang="en-US" dirty="0"/>
              <a:t>Targeted comparisons</a:t>
            </a:r>
          </a:p>
          <a:p>
            <a:pPr lvl="1"/>
            <a:r>
              <a:rPr lang="en-US" dirty="0"/>
              <a:t>Deep vs Shallow for just Abstract stim</a:t>
            </a:r>
          </a:p>
          <a:p>
            <a:pPr lvl="2"/>
            <a:r>
              <a:rPr lang="en-US" dirty="0"/>
              <a:t>t(</a:t>
            </a:r>
            <a:r>
              <a:rPr lang="en-US" dirty="0" err="1"/>
              <a:t>df</a:t>
            </a:r>
            <a:r>
              <a:rPr lang="en-US" dirty="0"/>
              <a:t>) = X.XX, p&lt;.0y</a:t>
            </a:r>
          </a:p>
          <a:p>
            <a:pPr lvl="1"/>
            <a:r>
              <a:rPr lang="en-US" dirty="0"/>
              <a:t>Deep vs Shallow for just Meaningful stim</a:t>
            </a:r>
          </a:p>
          <a:p>
            <a:pPr lvl="2"/>
            <a:r>
              <a:rPr lang="en-US" dirty="0"/>
              <a:t>t(</a:t>
            </a:r>
            <a:r>
              <a:rPr lang="en-US" dirty="0" err="1"/>
              <a:t>df</a:t>
            </a:r>
            <a:r>
              <a:rPr lang="en-US" dirty="0"/>
              <a:t>) = X.XX, p&lt;.0y</a:t>
            </a:r>
          </a:p>
          <a:p>
            <a:endParaRPr lang="en-US" dirty="0"/>
          </a:p>
          <a:p>
            <a:r>
              <a:rPr lang="en-US" dirty="0"/>
              <a:t>Tukey test</a:t>
            </a:r>
          </a:p>
          <a:p>
            <a:pPr lvl="1"/>
            <a:r>
              <a:rPr lang="en-US" dirty="0"/>
              <a:t>Runs all possible contrasts</a:t>
            </a:r>
          </a:p>
          <a:p>
            <a:pPr lvl="1"/>
            <a:r>
              <a:rPr lang="en-US" dirty="0"/>
              <a:t>Adjusts for “multiple comparisons”</a:t>
            </a:r>
          </a:p>
        </p:txBody>
      </p:sp>
      <p:pic>
        <p:nvPicPr>
          <p:cNvPr id="4" name="Picture 3">
            <a:extLst>
              <a:ext uri="{FF2B5EF4-FFF2-40B4-BE49-F238E27FC236}">
                <a16:creationId xmlns:a16="http://schemas.microsoft.com/office/drawing/2014/main" id="{F72A8C22-D21A-9BB4-E369-F930119F887A}"/>
              </a:ext>
            </a:extLst>
          </p:cNvPr>
          <p:cNvPicPr>
            <a:picLocks noChangeAspect="1"/>
          </p:cNvPicPr>
          <p:nvPr/>
        </p:nvPicPr>
        <p:blipFill>
          <a:blip r:embed="rId2"/>
          <a:stretch>
            <a:fillRect/>
          </a:stretch>
        </p:blipFill>
        <p:spPr>
          <a:xfrm>
            <a:off x="7642581" y="2541800"/>
            <a:ext cx="4467225" cy="3171825"/>
          </a:xfrm>
          <a:prstGeom prst="rect">
            <a:avLst/>
          </a:prstGeom>
        </p:spPr>
      </p:pic>
    </p:spTree>
    <p:extLst>
      <p:ext uri="{BB962C8B-B14F-4D97-AF65-F5344CB8AC3E}">
        <p14:creationId xmlns:p14="http://schemas.microsoft.com/office/powerpoint/2010/main" val="1890790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407EF-4A3F-3635-4F63-2459C1BAABF7}"/>
              </a:ext>
            </a:extLst>
          </p:cNvPr>
          <p:cNvSpPr>
            <a:spLocks noGrp="1"/>
          </p:cNvSpPr>
          <p:nvPr>
            <p:ph type="title"/>
          </p:nvPr>
        </p:nvSpPr>
        <p:spPr/>
        <p:txBody>
          <a:bodyPr/>
          <a:lstStyle/>
          <a:p>
            <a:r>
              <a:rPr lang="en-US" dirty="0"/>
              <a:t>R code for analysis</a:t>
            </a:r>
          </a:p>
        </p:txBody>
      </p:sp>
      <p:sp>
        <p:nvSpPr>
          <p:cNvPr id="3" name="Content Placeholder 2">
            <a:extLst>
              <a:ext uri="{FF2B5EF4-FFF2-40B4-BE49-F238E27FC236}">
                <a16:creationId xmlns:a16="http://schemas.microsoft.com/office/drawing/2014/main" id="{3DCBE9E0-FC76-CD87-2E94-F709D19E8285}"/>
              </a:ext>
            </a:extLst>
          </p:cNvPr>
          <p:cNvSpPr>
            <a:spLocks noGrp="1"/>
          </p:cNvSpPr>
          <p:nvPr>
            <p:ph sz="half" idx="1"/>
          </p:nvPr>
        </p:nvSpPr>
        <p:spPr/>
        <p:txBody>
          <a:bodyPr>
            <a:normAutofit fontScale="47500" lnSpcReduction="20000"/>
          </a:bodyPr>
          <a:lstStyle/>
          <a:p>
            <a:pPr marL="0" indent="0">
              <a:buNone/>
            </a:pPr>
            <a:r>
              <a:rPr lang="en-US" dirty="0" err="1">
                <a:latin typeface="Courier New" panose="02070309020205020404" pitchFamily="49" charset="0"/>
                <a:cs typeface="Courier New" panose="02070309020205020404" pitchFamily="49" charset="0"/>
              </a:rPr>
              <a:t>anova_result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ezANOVA</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exp2</a:t>
            </a:r>
          </a:p>
          <a:p>
            <a:pPr marL="0" indent="0">
              <a:buNone/>
            </a:pPr>
            <a:r>
              <a:rPr lang="en-US" dirty="0">
                <a:latin typeface="Courier New" panose="02070309020205020404" pitchFamily="49" charset="0"/>
                <a:cs typeface="Courier New" panose="02070309020205020404" pitchFamily="49" charset="0"/>
              </a:rPr>
              <a:t>  , dv = .(Recognition)</a:t>
            </a:r>
          </a:p>
          <a:p>
            <a:pPr marL="0" indent="0">
              <a:buNone/>
            </a:pP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wid</a:t>
            </a:r>
            <a:r>
              <a:rPr lang="en-US" dirty="0">
                <a:latin typeface="Courier New" panose="02070309020205020404" pitchFamily="49" charset="0"/>
                <a:cs typeface="Courier New" panose="02070309020205020404" pitchFamily="49" charset="0"/>
              </a:rPr>
              <a:t> = .(P)</a:t>
            </a:r>
          </a:p>
          <a:p>
            <a:pPr marL="0" indent="0">
              <a:buNone/>
            </a:pPr>
            <a:r>
              <a:rPr lang="en-US" dirty="0">
                <a:latin typeface="Courier New" panose="02070309020205020404" pitchFamily="49" charset="0"/>
                <a:cs typeface="Courier New" panose="02070309020205020404" pitchFamily="49" charset="0"/>
              </a:rPr>
              <a:t>  , within = NULL # NULL if no within factors</a:t>
            </a:r>
          </a:p>
          <a:p>
            <a:pPr marL="0" indent="0">
              <a:buNone/>
            </a:pPr>
            <a:r>
              <a:rPr lang="en-US" dirty="0">
                <a:latin typeface="Courier New" panose="02070309020205020404" pitchFamily="49" charset="0"/>
                <a:cs typeface="Courier New" panose="02070309020205020404" pitchFamily="49" charset="0"/>
              </a:rPr>
              <a:t>  , between = .(Depth, Stimulus) # NULL if no between factors</a:t>
            </a:r>
          </a:p>
          <a:p>
            <a:pPr marL="0" indent="0">
              <a:buNone/>
            </a:pPr>
            <a:r>
              <a:rPr lang="en-US" dirty="0">
                <a:latin typeface="Courier New" panose="02070309020205020404" pitchFamily="49" charset="0"/>
                <a:cs typeface="Courier New" panose="02070309020205020404" pitchFamily="49" charset="0"/>
              </a:rPr>
              <a:t>  , observed = NULL</a:t>
            </a:r>
          </a:p>
          <a:p>
            <a:pPr marL="0" indent="0">
              <a:buNone/>
            </a:pPr>
            <a:r>
              <a:rPr lang="en-US" dirty="0">
                <a:latin typeface="Courier New" panose="02070309020205020404" pitchFamily="49" charset="0"/>
                <a:cs typeface="Courier New" panose="02070309020205020404" pitchFamily="49" charset="0"/>
              </a:rPr>
              <a:t>  , diff = NULL</a:t>
            </a:r>
          </a:p>
          <a:p>
            <a:pPr marL="0" indent="0">
              <a:buNone/>
            </a:pP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reverse_diff</a:t>
            </a:r>
            <a:r>
              <a:rPr lang="en-US" dirty="0">
                <a:latin typeface="Courier New" panose="02070309020205020404" pitchFamily="49" charset="0"/>
                <a:cs typeface="Courier New" panose="02070309020205020404" pitchFamily="49" charset="0"/>
              </a:rPr>
              <a:t> = FALSE</a:t>
            </a:r>
          </a:p>
          <a:p>
            <a:pPr marL="0" indent="0">
              <a:buNone/>
            </a:pPr>
            <a:r>
              <a:rPr lang="en-US" dirty="0">
                <a:latin typeface="Courier New" panose="02070309020205020404" pitchFamily="49" charset="0"/>
                <a:cs typeface="Courier New" panose="02070309020205020404" pitchFamily="49" charset="0"/>
              </a:rPr>
              <a:t>  , type = 3</a:t>
            </a:r>
          </a:p>
          <a:p>
            <a:pPr marL="0" indent="0">
              <a:buNone/>
            </a:pP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white.adjust</a:t>
            </a:r>
            <a:r>
              <a:rPr lang="en-US" dirty="0">
                <a:latin typeface="Courier New" panose="02070309020205020404" pitchFamily="49" charset="0"/>
                <a:cs typeface="Courier New" panose="02070309020205020404" pitchFamily="49" charset="0"/>
              </a:rPr>
              <a:t> = FALSE</a:t>
            </a:r>
          </a:p>
          <a:p>
            <a:pPr marL="0" indent="0">
              <a:buNone/>
            </a:pPr>
            <a:r>
              <a:rPr lang="en-US" dirty="0">
                <a:latin typeface="Courier New" panose="02070309020205020404" pitchFamily="49" charset="0"/>
                <a:cs typeface="Courier New" panose="02070309020205020404" pitchFamily="49" charset="0"/>
              </a:rPr>
              <a:t>  , detailed = FALSE</a:t>
            </a:r>
          </a:p>
          <a:p>
            <a:pPr marL="0" indent="0">
              <a:buNone/>
            </a:pP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return_aov</a:t>
            </a:r>
            <a:r>
              <a:rPr lang="en-US" dirty="0">
                <a:latin typeface="Courier New" panose="02070309020205020404" pitchFamily="49" charset="0"/>
                <a:cs typeface="Courier New" panose="02070309020205020404" pitchFamily="49" charset="0"/>
              </a:rPr>
              <a:t> = FALSE # TRUE for showing details</a:t>
            </a:r>
          </a:p>
          <a:p>
            <a:pPr marL="0" indent="0">
              <a:buNone/>
            </a:pP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anova_result</a:t>
            </a:r>
            <a:r>
              <a:rPr lang="en-US" dirty="0">
                <a:latin typeface="Courier New" panose="02070309020205020404" pitchFamily="49" charset="0"/>
                <a:cs typeface="Courier New" panose="02070309020205020404" pitchFamily="49" charset="0"/>
              </a:rPr>
              <a:t>)</a:t>
            </a:r>
          </a:p>
        </p:txBody>
      </p:sp>
      <p:sp>
        <p:nvSpPr>
          <p:cNvPr id="4" name="Content Placeholder 3">
            <a:extLst>
              <a:ext uri="{FF2B5EF4-FFF2-40B4-BE49-F238E27FC236}">
                <a16:creationId xmlns:a16="http://schemas.microsoft.com/office/drawing/2014/main" id="{E95CFFF9-254D-6FB2-7486-91553AC50D50}"/>
              </a:ext>
            </a:extLst>
          </p:cNvPr>
          <p:cNvSpPr>
            <a:spLocks noGrp="1"/>
          </p:cNvSpPr>
          <p:nvPr>
            <p:ph sz="half" idx="2"/>
          </p:nvPr>
        </p:nvSpPr>
        <p:spPr/>
        <p:txBody>
          <a:bodyPr>
            <a:normAutofit fontScale="47500" lnSpcReduction="20000"/>
          </a:bodyPr>
          <a:lstStyle/>
          <a:p>
            <a:pPr marL="0" indent="0">
              <a:buNone/>
            </a:pPr>
            <a:r>
              <a:rPr lang="en-US" dirty="0" err="1">
                <a:latin typeface="Courier New" panose="02070309020205020404" pitchFamily="49" charset="0"/>
                <a:cs typeface="Courier New" panose="02070309020205020404" pitchFamily="49" charset="0"/>
              </a:rPr>
              <a:t>just_abstract</a:t>
            </a:r>
            <a:r>
              <a:rPr lang="en-US" dirty="0">
                <a:latin typeface="Courier New" panose="02070309020205020404" pitchFamily="49" charset="0"/>
                <a:cs typeface="Courier New" panose="02070309020205020404" pitchFamily="49" charset="0"/>
              </a:rPr>
              <a:t> = subset(exp2,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exp2$Stimulus == "abstract")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err="1">
                <a:latin typeface="Courier New" panose="02070309020205020404" pitchFamily="49" charset="0"/>
                <a:cs typeface="Courier New" panose="02070309020205020404" pitchFamily="49" charset="0"/>
              </a:rPr>
              <a:t>t.test</a:t>
            </a:r>
            <a:r>
              <a:rPr lang="en-US" dirty="0">
                <a:latin typeface="Courier New" panose="02070309020205020404" pitchFamily="49" charset="0"/>
                <a:cs typeface="Courier New" panose="02070309020205020404" pitchFamily="49" charset="0"/>
              </a:rPr>
              <a:t>(Recognition ~ Depth,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just_abstract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var.equal</a:t>
            </a:r>
            <a:r>
              <a:rPr lang="en-US" dirty="0">
                <a:latin typeface="Courier New" panose="02070309020205020404" pitchFamily="49" charset="0"/>
                <a:cs typeface="Courier New" panose="02070309020205020404" pitchFamily="49" charset="0"/>
              </a:rPr>
              <a:t> = TRUE)</a:t>
            </a:r>
          </a:p>
          <a:p>
            <a:pPr marL="0" indent="0">
              <a:buNone/>
            </a:pPr>
            <a:endParaRPr lang="en-US" dirty="0">
              <a:latin typeface="Courier New" panose="02070309020205020404" pitchFamily="49" charset="0"/>
              <a:cs typeface="Courier New" panose="02070309020205020404" pitchFamily="49" charset="0"/>
            </a:endParaRP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err="1">
                <a:latin typeface="Courier New" panose="02070309020205020404" pitchFamily="49" charset="0"/>
                <a:cs typeface="Courier New" panose="02070309020205020404" pitchFamily="49" charset="0"/>
              </a:rPr>
              <a:t>just_meaningful</a:t>
            </a:r>
            <a:r>
              <a:rPr lang="en-US" dirty="0">
                <a:latin typeface="Courier New" panose="02070309020205020404" pitchFamily="49" charset="0"/>
                <a:cs typeface="Courier New" panose="02070309020205020404" pitchFamily="49" charset="0"/>
              </a:rPr>
              <a:t> = subset(exp2,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exp2$Stimulus == "meaningful")</a:t>
            </a:r>
          </a:p>
          <a:p>
            <a:pPr marL="0" indent="0">
              <a:buNone/>
            </a:pPr>
            <a:endParaRPr lang="en-US">
              <a:latin typeface="Courier New" panose="02070309020205020404" pitchFamily="49" charset="0"/>
              <a:cs typeface="Courier New" panose="02070309020205020404" pitchFamily="49" charset="0"/>
            </a:endParaRPr>
          </a:p>
          <a:p>
            <a:pPr marL="0" indent="0">
              <a:buNone/>
            </a:pPr>
            <a:r>
              <a:rPr lang="en-US">
                <a:latin typeface="Courier New" panose="02070309020205020404" pitchFamily="49" charset="0"/>
                <a:cs typeface="Courier New" panose="02070309020205020404" pitchFamily="49" charset="0"/>
              </a:rPr>
              <a:t>t</a:t>
            </a:r>
            <a:r>
              <a:rPr lang="en-US" dirty="0" err="1">
                <a:latin typeface="Courier New" panose="02070309020205020404" pitchFamily="49" charset="0"/>
                <a:cs typeface="Courier New" panose="02070309020205020404" pitchFamily="49" charset="0"/>
              </a:rPr>
              <a:t>.test</a:t>
            </a:r>
            <a:r>
              <a:rPr lang="en-US" dirty="0">
                <a:latin typeface="Courier New" panose="02070309020205020404" pitchFamily="49" charset="0"/>
                <a:cs typeface="Courier New" panose="02070309020205020404" pitchFamily="49" charset="0"/>
              </a:rPr>
              <a:t>(Recognition ~ Depth,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just_meaningful</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var.equal</a:t>
            </a:r>
            <a:r>
              <a:rPr lang="en-US" dirty="0">
                <a:latin typeface="Courier New" panose="02070309020205020404" pitchFamily="49" charset="0"/>
                <a:cs typeface="Courier New" panose="02070309020205020404" pitchFamily="49" charset="0"/>
              </a:rPr>
              <a:t> = TRUE)</a:t>
            </a:r>
          </a:p>
          <a:p>
            <a:endParaRPr lang="en-US" dirty="0"/>
          </a:p>
        </p:txBody>
      </p:sp>
    </p:spTree>
    <p:extLst>
      <p:ext uri="{BB962C8B-B14F-4D97-AF65-F5344CB8AC3E}">
        <p14:creationId xmlns:p14="http://schemas.microsoft.com/office/powerpoint/2010/main" val="3379875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19D8C-96B4-0483-B366-28A447FF4ADF}"/>
              </a:ext>
            </a:extLst>
          </p:cNvPr>
          <p:cNvSpPr>
            <a:spLocks noGrp="1"/>
          </p:cNvSpPr>
          <p:nvPr>
            <p:ph type="title"/>
          </p:nvPr>
        </p:nvSpPr>
        <p:spPr/>
        <p:txBody>
          <a:bodyPr/>
          <a:lstStyle/>
          <a:p>
            <a:r>
              <a:rPr lang="en-US" dirty="0"/>
              <a:t>Writeup #2</a:t>
            </a:r>
          </a:p>
        </p:txBody>
      </p:sp>
      <p:sp>
        <p:nvSpPr>
          <p:cNvPr id="3" name="Content Placeholder 2">
            <a:extLst>
              <a:ext uri="{FF2B5EF4-FFF2-40B4-BE49-F238E27FC236}">
                <a16:creationId xmlns:a16="http://schemas.microsoft.com/office/drawing/2014/main" id="{1B0D8871-5910-7D64-EC6F-2DF43B696AB2}"/>
              </a:ext>
            </a:extLst>
          </p:cNvPr>
          <p:cNvSpPr>
            <a:spLocks noGrp="1"/>
          </p:cNvSpPr>
          <p:nvPr>
            <p:ph idx="1"/>
          </p:nvPr>
        </p:nvSpPr>
        <p:spPr/>
        <p:txBody>
          <a:bodyPr>
            <a:normAutofit lnSpcReduction="10000"/>
          </a:bodyPr>
          <a:lstStyle/>
          <a:p>
            <a:r>
              <a:rPr lang="en-US" dirty="0"/>
              <a:t>Include both Experiment 1 and Experiment 2</a:t>
            </a:r>
          </a:p>
          <a:p>
            <a:pPr lvl="1"/>
            <a:r>
              <a:rPr lang="en-US" dirty="0"/>
              <a:t>Methods for Experiment 2 available on Canvas</a:t>
            </a:r>
          </a:p>
          <a:p>
            <a:pPr lvl="1"/>
            <a:r>
              <a:rPr lang="en-US" dirty="0"/>
              <a:t>Make corrections to Experiment 1</a:t>
            </a:r>
          </a:p>
          <a:p>
            <a:r>
              <a:rPr lang="en-US" dirty="0"/>
              <a:t>Expand the Introduction</a:t>
            </a:r>
          </a:p>
          <a:p>
            <a:pPr lvl="1"/>
            <a:r>
              <a:rPr lang="en-US" dirty="0"/>
              <a:t>What is “deep” encoding?</a:t>
            </a:r>
          </a:p>
          <a:p>
            <a:pPr lvl="1"/>
            <a:r>
              <a:rPr lang="en-US" u="sng" dirty="0"/>
              <a:t>Why</a:t>
            </a:r>
            <a:r>
              <a:rPr lang="en-US" dirty="0"/>
              <a:t> do we hypothesize that “deep” encoding leads to better memory?</a:t>
            </a:r>
          </a:p>
          <a:p>
            <a:pPr lvl="1"/>
            <a:r>
              <a:rPr lang="en-US" dirty="0"/>
              <a:t>What is new about the studies you are reporting?</a:t>
            </a:r>
          </a:p>
          <a:p>
            <a:r>
              <a:rPr lang="en-US" dirty="0"/>
              <a:t>Expand the Discussion</a:t>
            </a:r>
          </a:p>
          <a:p>
            <a:pPr lvl="1"/>
            <a:r>
              <a:rPr lang="en-US" dirty="0"/>
              <a:t>Summarize results of both experiments</a:t>
            </a:r>
          </a:p>
          <a:p>
            <a:pPr lvl="1"/>
            <a:r>
              <a:rPr lang="en-US" dirty="0"/>
              <a:t>What do they mean with respect to the hypothesis?</a:t>
            </a:r>
          </a:p>
          <a:p>
            <a:pPr lvl="2"/>
            <a:r>
              <a:rPr lang="en-US" dirty="0"/>
              <a:t>Refer back to theory from the Introduction</a:t>
            </a:r>
          </a:p>
          <a:p>
            <a:pPr lvl="1"/>
            <a:endParaRPr lang="en-US" dirty="0"/>
          </a:p>
        </p:txBody>
      </p:sp>
    </p:spTree>
    <p:extLst>
      <p:ext uri="{BB962C8B-B14F-4D97-AF65-F5344CB8AC3E}">
        <p14:creationId xmlns:p14="http://schemas.microsoft.com/office/powerpoint/2010/main" val="2027407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dirty="0"/>
              <a:t>APA Report Sections</a:t>
            </a:r>
          </a:p>
        </p:txBody>
      </p:sp>
      <p:sp>
        <p:nvSpPr>
          <p:cNvPr id="10243" name="Rectangle 3"/>
          <p:cNvSpPr>
            <a:spLocks noGrp="1" noChangeArrowheads="1"/>
          </p:cNvSpPr>
          <p:nvPr>
            <p:ph type="body" idx="1"/>
          </p:nvPr>
        </p:nvSpPr>
        <p:spPr/>
        <p:txBody>
          <a:bodyPr>
            <a:normAutofit lnSpcReduction="10000"/>
          </a:bodyPr>
          <a:lstStyle/>
          <a:p>
            <a:pPr eaLnBrk="1" hangingPunct="1">
              <a:lnSpc>
                <a:spcPct val="80000"/>
              </a:lnSpc>
            </a:pPr>
            <a:r>
              <a:rPr lang="en-US" dirty="0"/>
              <a:t>Abstract</a:t>
            </a:r>
          </a:p>
          <a:p>
            <a:pPr lvl="1" eaLnBrk="1" hangingPunct="1">
              <a:lnSpc>
                <a:spcPct val="80000"/>
              </a:lnSpc>
            </a:pPr>
            <a:r>
              <a:rPr lang="en-US" dirty="0"/>
              <a:t>Very concise summary, ~200 words</a:t>
            </a:r>
          </a:p>
          <a:p>
            <a:pPr eaLnBrk="1" hangingPunct="1">
              <a:lnSpc>
                <a:spcPct val="80000"/>
              </a:lnSpc>
            </a:pPr>
            <a:r>
              <a:rPr lang="en-US" dirty="0"/>
              <a:t>Introduction</a:t>
            </a:r>
          </a:p>
          <a:p>
            <a:pPr lvl="1" eaLnBrk="1" hangingPunct="1">
              <a:lnSpc>
                <a:spcPct val="80000"/>
              </a:lnSpc>
            </a:pPr>
            <a:r>
              <a:rPr lang="en-US" dirty="0"/>
              <a:t>Construct, background, hypothesis</a:t>
            </a:r>
          </a:p>
          <a:p>
            <a:pPr eaLnBrk="1" hangingPunct="1">
              <a:lnSpc>
                <a:spcPct val="80000"/>
              </a:lnSpc>
            </a:pPr>
            <a:r>
              <a:rPr lang="en-US" dirty="0">
                <a:solidFill>
                  <a:schemeClr val="accent1"/>
                </a:solidFill>
              </a:rPr>
              <a:t>Methods</a:t>
            </a:r>
          </a:p>
          <a:p>
            <a:pPr lvl="1" eaLnBrk="1" hangingPunct="1">
              <a:lnSpc>
                <a:spcPct val="80000"/>
              </a:lnSpc>
            </a:pPr>
            <a:r>
              <a:rPr lang="en-US" dirty="0">
                <a:solidFill>
                  <a:schemeClr val="accent1"/>
                </a:solidFill>
              </a:rPr>
              <a:t>Participants, materials, procedure</a:t>
            </a:r>
          </a:p>
          <a:p>
            <a:pPr eaLnBrk="1" hangingPunct="1">
              <a:lnSpc>
                <a:spcPct val="80000"/>
              </a:lnSpc>
            </a:pPr>
            <a:r>
              <a:rPr lang="en-US" dirty="0">
                <a:solidFill>
                  <a:schemeClr val="accent1"/>
                </a:solidFill>
              </a:rPr>
              <a:t>Results</a:t>
            </a:r>
          </a:p>
          <a:p>
            <a:pPr lvl="1" eaLnBrk="1" hangingPunct="1">
              <a:lnSpc>
                <a:spcPct val="80000"/>
              </a:lnSpc>
            </a:pPr>
            <a:r>
              <a:rPr lang="en-US" dirty="0">
                <a:solidFill>
                  <a:schemeClr val="accent1"/>
                </a:solidFill>
              </a:rPr>
              <a:t>Figure</a:t>
            </a:r>
          </a:p>
          <a:p>
            <a:pPr eaLnBrk="1" hangingPunct="1">
              <a:lnSpc>
                <a:spcPct val="80000"/>
              </a:lnSpc>
            </a:pPr>
            <a:r>
              <a:rPr lang="en-US" dirty="0"/>
              <a:t>Discussion</a:t>
            </a:r>
          </a:p>
          <a:p>
            <a:pPr lvl="1" eaLnBrk="1" hangingPunct="1">
              <a:lnSpc>
                <a:spcPct val="80000"/>
              </a:lnSpc>
            </a:pPr>
            <a:r>
              <a:rPr lang="en-US" dirty="0"/>
              <a:t>Conclusion, interpretation, limitations</a:t>
            </a:r>
          </a:p>
          <a:p>
            <a:pPr eaLnBrk="1" hangingPunct="1">
              <a:lnSpc>
                <a:spcPct val="80000"/>
              </a:lnSpc>
            </a:pPr>
            <a:r>
              <a:rPr lang="en-US" dirty="0"/>
              <a:t>References</a:t>
            </a:r>
          </a:p>
        </p:txBody>
      </p:sp>
      <p:sp>
        <p:nvSpPr>
          <p:cNvPr id="2" name="TextBox 1">
            <a:extLst>
              <a:ext uri="{FF2B5EF4-FFF2-40B4-BE49-F238E27FC236}">
                <a16:creationId xmlns:a16="http://schemas.microsoft.com/office/drawing/2014/main" id="{2EBDFC65-7CA6-E10A-67E6-C6983A5859BD}"/>
              </a:ext>
            </a:extLst>
          </p:cNvPr>
          <p:cNvSpPr txBox="1"/>
          <p:nvPr/>
        </p:nvSpPr>
        <p:spPr>
          <a:xfrm>
            <a:off x="8286536" y="3319926"/>
            <a:ext cx="2527443" cy="1569660"/>
          </a:xfrm>
          <a:prstGeom prst="rect">
            <a:avLst/>
          </a:prstGeom>
          <a:noFill/>
        </p:spPr>
        <p:txBody>
          <a:bodyPr wrap="square" rtlCol="0">
            <a:spAutoFit/>
          </a:bodyPr>
          <a:lstStyle/>
          <a:p>
            <a:r>
              <a:rPr lang="en-US" sz="2400" dirty="0"/>
              <a:t>Repeat as necessary with segue paragraphs between</a:t>
            </a:r>
          </a:p>
        </p:txBody>
      </p:sp>
      <p:sp>
        <p:nvSpPr>
          <p:cNvPr id="3" name="Right Brace 2">
            <a:extLst>
              <a:ext uri="{FF2B5EF4-FFF2-40B4-BE49-F238E27FC236}">
                <a16:creationId xmlns:a16="http://schemas.microsoft.com/office/drawing/2014/main" id="{CE06513D-8897-774C-7A74-22212AA0B470}"/>
              </a:ext>
            </a:extLst>
          </p:cNvPr>
          <p:cNvSpPr/>
          <p:nvPr/>
        </p:nvSpPr>
        <p:spPr>
          <a:xfrm>
            <a:off x="6924782" y="3319926"/>
            <a:ext cx="821933" cy="134454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081586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12001-3D27-43D1-4747-AEBEFEC86E97}"/>
              </a:ext>
            </a:extLst>
          </p:cNvPr>
          <p:cNvSpPr>
            <a:spLocks noGrp="1"/>
          </p:cNvSpPr>
          <p:nvPr>
            <p:ph type="title"/>
          </p:nvPr>
        </p:nvSpPr>
        <p:spPr/>
        <p:txBody>
          <a:bodyPr/>
          <a:lstStyle/>
          <a:p>
            <a:r>
              <a:rPr lang="en-US" dirty="0"/>
              <a:t>Writeup #2</a:t>
            </a:r>
          </a:p>
        </p:txBody>
      </p:sp>
      <p:sp>
        <p:nvSpPr>
          <p:cNvPr id="3" name="Content Placeholder 2">
            <a:extLst>
              <a:ext uri="{FF2B5EF4-FFF2-40B4-BE49-F238E27FC236}">
                <a16:creationId xmlns:a16="http://schemas.microsoft.com/office/drawing/2014/main" id="{51B5BE94-62DA-3D1D-D72B-4118AA4B0D58}"/>
              </a:ext>
            </a:extLst>
          </p:cNvPr>
          <p:cNvSpPr>
            <a:spLocks noGrp="1"/>
          </p:cNvSpPr>
          <p:nvPr>
            <p:ph idx="1"/>
          </p:nvPr>
        </p:nvSpPr>
        <p:spPr/>
        <p:txBody>
          <a:bodyPr>
            <a:normAutofit fontScale="85000" lnSpcReduction="20000"/>
          </a:bodyPr>
          <a:lstStyle/>
          <a:p>
            <a:r>
              <a:rPr lang="en-US" dirty="0"/>
              <a:t>Abstract</a:t>
            </a:r>
          </a:p>
          <a:p>
            <a:r>
              <a:rPr lang="en-US" dirty="0"/>
              <a:t>Introduction</a:t>
            </a:r>
          </a:p>
          <a:p>
            <a:r>
              <a:rPr lang="en-US" dirty="0"/>
              <a:t>Experiment 1</a:t>
            </a:r>
          </a:p>
          <a:p>
            <a:pPr lvl="1"/>
            <a:r>
              <a:rPr lang="en-US" dirty="0"/>
              <a:t>Method</a:t>
            </a:r>
          </a:p>
          <a:p>
            <a:pPr lvl="1"/>
            <a:r>
              <a:rPr lang="en-US" dirty="0"/>
              <a:t>Results (Figure 1)</a:t>
            </a:r>
          </a:p>
          <a:p>
            <a:pPr lvl="1"/>
            <a:r>
              <a:rPr lang="en-US" dirty="0"/>
              <a:t>Discussion (short, segue)</a:t>
            </a:r>
          </a:p>
          <a:p>
            <a:r>
              <a:rPr lang="en-US" dirty="0"/>
              <a:t>Experiment 2</a:t>
            </a:r>
          </a:p>
          <a:p>
            <a:pPr lvl="1"/>
            <a:r>
              <a:rPr lang="en-US" dirty="0"/>
              <a:t>Method (Figure 2)</a:t>
            </a:r>
          </a:p>
          <a:p>
            <a:pPr lvl="1"/>
            <a:r>
              <a:rPr lang="en-US" dirty="0"/>
              <a:t>Results (Figure 3)</a:t>
            </a:r>
          </a:p>
          <a:p>
            <a:pPr lvl="1"/>
            <a:r>
              <a:rPr lang="en-US" dirty="0"/>
              <a:t>Discussion (optional)</a:t>
            </a:r>
          </a:p>
          <a:p>
            <a:r>
              <a:rPr lang="en-US" dirty="0"/>
              <a:t>General Discussion</a:t>
            </a:r>
          </a:p>
          <a:p>
            <a:pPr lvl="1"/>
            <a:r>
              <a:rPr lang="en-US" dirty="0"/>
              <a:t>Limitations, applications of findings across studies</a:t>
            </a:r>
          </a:p>
          <a:p>
            <a:r>
              <a:rPr lang="en-US" dirty="0"/>
              <a:t>References</a:t>
            </a:r>
          </a:p>
        </p:txBody>
      </p:sp>
    </p:spTree>
    <p:extLst>
      <p:ext uri="{BB962C8B-B14F-4D97-AF65-F5344CB8AC3E}">
        <p14:creationId xmlns:p14="http://schemas.microsoft.com/office/powerpoint/2010/main" val="1250086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Absolut Memory Distortions</a:t>
            </a:r>
          </a:p>
        </p:txBody>
      </p:sp>
      <p:sp>
        <p:nvSpPr>
          <p:cNvPr id="7171" name="Rectangle 3"/>
          <p:cNvSpPr>
            <a:spLocks noGrp="1" noChangeArrowheads="1"/>
          </p:cNvSpPr>
          <p:nvPr>
            <p:ph type="body" idx="1"/>
          </p:nvPr>
        </p:nvSpPr>
        <p:spPr/>
        <p:txBody>
          <a:bodyPr>
            <a:normAutofit fontScale="92500" lnSpcReduction="10000"/>
          </a:bodyPr>
          <a:lstStyle/>
          <a:p>
            <a:pPr>
              <a:lnSpc>
                <a:spcPct val="80000"/>
              </a:lnSpc>
            </a:pPr>
            <a:r>
              <a:rPr lang="en-US" dirty="0"/>
              <a:t>Can the simple suggestion that you have consumed alcohol affect your memory for an event?  Alcohol placebos affect social behaviors, but not non-social ones, and have not previously been shown to affect memory.  We investigated the effect of alcohol placebos using materials that revealed both the social and the nonsocial influences of memory.  Subjects drank plain tonic water, but half were told it was a vodka and tonic; then all subjects took part in an eyewitness memory experiment.  Subjects who were told they drank alcohol were more swayed by misleading </a:t>
            </a:r>
            <a:r>
              <a:rPr lang="en-US" dirty="0" err="1"/>
              <a:t>postevent</a:t>
            </a:r>
            <a:r>
              <a:rPr lang="en-US" dirty="0"/>
              <a:t> information than were those who were told they drank tonic water, and were also more confident about the accuracy of their responses.  Our results show that the mere suggestion of alcohol consumption may make subjects more susceptible to misleading information and inappropriately confident.  These results also provide additional confirmation that eyewitness memory is influenced by both nonsocial and social factors.</a:t>
            </a:r>
          </a:p>
        </p:txBody>
      </p:sp>
    </p:spTree>
    <p:extLst>
      <p:ext uri="{BB962C8B-B14F-4D97-AF65-F5344CB8AC3E}">
        <p14:creationId xmlns:p14="http://schemas.microsoft.com/office/powerpoint/2010/main" val="2422115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45723"/>
            <a:ext cx="3733800" cy="3235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172065"/>
            <a:ext cx="4188912" cy="63799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3293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B5145-BBA5-558E-E568-CE8AAD78443E}"/>
              </a:ext>
            </a:extLst>
          </p:cNvPr>
          <p:cNvSpPr>
            <a:spLocks noGrp="1"/>
          </p:cNvSpPr>
          <p:nvPr>
            <p:ph type="title"/>
          </p:nvPr>
        </p:nvSpPr>
        <p:spPr/>
        <p:txBody>
          <a:bodyPr/>
          <a:lstStyle/>
          <a:p>
            <a:r>
              <a:rPr lang="en-US" dirty="0"/>
              <a:t>Assignment questions</a:t>
            </a:r>
          </a:p>
        </p:txBody>
      </p:sp>
      <p:sp>
        <p:nvSpPr>
          <p:cNvPr id="3" name="Content Placeholder 2">
            <a:extLst>
              <a:ext uri="{FF2B5EF4-FFF2-40B4-BE49-F238E27FC236}">
                <a16:creationId xmlns:a16="http://schemas.microsoft.com/office/drawing/2014/main" id="{7BC082BD-86D9-F956-081F-E6DCB36C35FD}"/>
              </a:ext>
            </a:extLst>
          </p:cNvPr>
          <p:cNvSpPr>
            <a:spLocks noGrp="1"/>
          </p:cNvSpPr>
          <p:nvPr>
            <p:ph idx="1"/>
          </p:nvPr>
        </p:nvSpPr>
        <p:spPr/>
        <p:txBody>
          <a:bodyPr/>
          <a:lstStyle/>
          <a:p>
            <a:r>
              <a:rPr lang="en-US" dirty="0"/>
              <a:t>What are the two factors and levels of each factor in the design?</a:t>
            </a:r>
          </a:p>
          <a:p>
            <a:r>
              <a:rPr lang="en-US" dirty="0"/>
              <a:t>What is the main dependent variable of the design?</a:t>
            </a:r>
          </a:p>
          <a:p>
            <a:r>
              <a:rPr lang="en-US" dirty="0"/>
              <a:t>What are the 3 hypotheses tested by this factorial design?</a:t>
            </a:r>
          </a:p>
          <a:p>
            <a:r>
              <a:rPr lang="en-US" dirty="0"/>
              <a:t>What kind of interaction is shown in Figure 1?</a:t>
            </a:r>
          </a:p>
        </p:txBody>
      </p:sp>
    </p:spTree>
    <p:extLst>
      <p:ext uri="{BB962C8B-B14F-4D97-AF65-F5344CB8AC3E}">
        <p14:creationId xmlns:p14="http://schemas.microsoft.com/office/powerpoint/2010/main" val="179186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t>Diagram</a:t>
            </a:r>
          </a:p>
        </p:txBody>
      </p:sp>
      <p:sp>
        <p:nvSpPr>
          <p:cNvPr id="8195" name="Rectangle 3"/>
          <p:cNvSpPr>
            <a:spLocks noGrp="1" noChangeArrowheads="1"/>
          </p:cNvSpPr>
          <p:nvPr>
            <p:ph type="body" idx="1"/>
          </p:nvPr>
        </p:nvSpPr>
        <p:spPr/>
        <p:txBody>
          <a:bodyPr/>
          <a:lstStyle/>
          <a:p>
            <a:r>
              <a:rPr lang="en-US"/>
              <a:t>2x2 mixed design</a:t>
            </a:r>
          </a:p>
          <a:p>
            <a:pPr lvl="1"/>
            <a:r>
              <a:rPr lang="en-US"/>
              <a:t>Placebo/control between groups</a:t>
            </a:r>
          </a:p>
          <a:p>
            <a:pPr lvl="1"/>
            <a:r>
              <a:rPr lang="en-US"/>
              <a:t>Misleading/control information within groups</a:t>
            </a:r>
          </a:p>
          <a:p>
            <a:r>
              <a:rPr lang="en-US"/>
              <a:t>148 original participants (31 eliminated)</a:t>
            </a:r>
          </a:p>
          <a:p>
            <a:pPr lvl="1"/>
            <a:r>
              <a:rPr lang="en-US"/>
              <a:t>74 subjects per group planned</a:t>
            </a:r>
          </a:p>
        </p:txBody>
      </p:sp>
      <p:graphicFrame>
        <p:nvGraphicFramePr>
          <p:cNvPr id="21508" name="Group 4"/>
          <p:cNvGraphicFramePr>
            <a:graphicFrameLocks noGrp="1"/>
          </p:cNvGraphicFramePr>
          <p:nvPr/>
        </p:nvGraphicFramePr>
        <p:xfrm>
          <a:off x="1981201" y="4495801"/>
          <a:ext cx="5624513" cy="1743075"/>
        </p:xfrm>
        <a:graphic>
          <a:graphicData uri="http://schemas.openxmlformats.org/drawingml/2006/table">
            <a:tbl>
              <a:tblPr/>
              <a:tblGrid>
                <a:gridCol w="1874838">
                  <a:extLst>
                    <a:ext uri="{9D8B030D-6E8A-4147-A177-3AD203B41FA5}">
                      <a16:colId xmlns:a16="http://schemas.microsoft.com/office/drawing/2014/main" val="20000"/>
                    </a:ext>
                  </a:extLst>
                </a:gridCol>
                <a:gridCol w="1874837">
                  <a:extLst>
                    <a:ext uri="{9D8B030D-6E8A-4147-A177-3AD203B41FA5}">
                      <a16:colId xmlns:a16="http://schemas.microsoft.com/office/drawing/2014/main" val="20001"/>
                    </a:ext>
                  </a:extLst>
                </a:gridCol>
                <a:gridCol w="1874838">
                  <a:extLst>
                    <a:ext uri="{9D8B030D-6E8A-4147-A177-3AD203B41FA5}">
                      <a16:colId xmlns:a16="http://schemas.microsoft.com/office/drawing/2014/main" val="20002"/>
                    </a:ext>
                  </a:extLst>
                </a:gridCol>
              </a:tblGrid>
              <a:tr h="5810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Misleading PEI</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Control PEI</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10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Alcohol placebo</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N=74</a:t>
                      </a:r>
                      <a:endParaRPr kumimoji="0" lang="en-US" sz="10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1.45</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N=74</a:t>
                      </a:r>
                      <a:endParaRPr kumimoji="0" lang="en-US" sz="10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2.45</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Control</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N=74</a:t>
                      </a:r>
                      <a:endParaRPr kumimoji="0" lang="en-US" sz="10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1.80</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N=74</a:t>
                      </a:r>
                      <a:endParaRPr kumimoji="0" lang="en-US" sz="1000" b="0" i="0" u="none" strike="noStrike" cap="none" normalizeH="0" baseline="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2.50</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58568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533401"/>
            <a:ext cx="4724400" cy="164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286001"/>
            <a:ext cx="5638800" cy="435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31778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1" y="1395413"/>
            <a:ext cx="5610225" cy="4067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6539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4C294-4B96-1276-1BAF-3BDA11605B91}"/>
              </a:ext>
            </a:extLst>
          </p:cNvPr>
          <p:cNvSpPr>
            <a:spLocks noGrp="1"/>
          </p:cNvSpPr>
          <p:nvPr>
            <p:ph type="title"/>
          </p:nvPr>
        </p:nvSpPr>
        <p:spPr/>
        <p:txBody>
          <a:bodyPr/>
          <a:lstStyle/>
          <a:p>
            <a:r>
              <a:rPr lang="en-US" dirty="0"/>
              <a:t>For Monday 10/27</a:t>
            </a:r>
          </a:p>
        </p:txBody>
      </p:sp>
      <p:sp>
        <p:nvSpPr>
          <p:cNvPr id="3" name="Content Placeholder 2">
            <a:extLst>
              <a:ext uri="{FF2B5EF4-FFF2-40B4-BE49-F238E27FC236}">
                <a16:creationId xmlns:a16="http://schemas.microsoft.com/office/drawing/2014/main" id="{ABB838E5-D707-8776-132F-075BA78662C2}"/>
              </a:ext>
            </a:extLst>
          </p:cNvPr>
          <p:cNvSpPr>
            <a:spLocks noGrp="1"/>
          </p:cNvSpPr>
          <p:nvPr>
            <p:ph idx="1"/>
          </p:nvPr>
        </p:nvSpPr>
        <p:spPr/>
        <p:txBody>
          <a:bodyPr/>
          <a:lstStyle/>
          <a:p>
            <a:r>
              <a:rPr lang="en-US" dirty="0"/>
              <a:t>Operations Manual Chapter 7: Preparing a Research Proposal</a:t>
            </a:r>
          </a:p>
          <a:p>
            <a:pPr lvl="1"/>
            <a:r>
              <a:rPr lang="en-US" dirty="0"/>
              <a:t>Finding a group</a:t>
            </a:r>
          </a:p>
          <a:p>
            <a:pPr lvl="1"/>
            <a:r>
              <a:rPr lang="en-US" dirty="0"/>
              <a:t>Initial brainstorming ideas</a:t>
            </a:r>
          </a:p>
          <a:p>
            <a:pPr lvl="2"/>
            <a:r>
              <a:rPr lang="en-US" dirty="0"/>
              <a:t>Submit first idea by Tuesday evening (late submissions accepted)</a:t>
            </a:r>
          </a:p>
          <a:p>
            <a:pPr lvl="1"/>
            <a:endParaRPr lang="en-US" dirty="0"/>
          </a:p>
          <a:p>
            <a:r>
              <a:rPr lang="en-US" dirty="0"/>
              <a:t>Reading #8 </a:t>
            </a:r>
            <a:r>
              <a:rPr lang="en-US" dirty="0" err="1"/>
              <a:t>Salovich</a:t>
            </a:r>
            <a:r>
              <a:rPr lang="en-US" dirty="0"/>
              <a:t>, Mason &amp; Rapp (2025)</a:t>
            </a:r>
          </a:p>
          <a:p>
            <a:pPr lvl="1"/>
            <a:r>
              <a:rPr lang="en-US" dirty="0"/>
              <a:t>Brief questions on Canvas</a:t>
            </a:r>
          </a:p>
        </p:txBody>
      </p:sp>
    </p:spTree>
    <p:extLst>
      <p:ext uri="{BB962C8B-B14F-4D97-AF65-F5344CB8AC3E}">
        <p14:creationId xmlns:p14="http://schemas.microsoft.com/office/powerpoint/2010/main" val="1925055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15488</TotalTime>
  <Words>849</Words>
  <Application>Microsoft Office PowerPoint</Application>
  <PresentationFormat>Widescreen</PresentationFormat>
  <Paragraphs>130</Paragraphs>
  <Slides>14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Courier New</vt:lpstr>
      <vt:lpstr>Times New Roman</vt:lpstr>
      <vt:lpstr>Office Theme</vt:lpstr>
      <vt:lpstr>301 Oct 24, Class 17</vt:lpstr>
      <vt:lpstr>Experiment 2 methods</vt:lpstr>
      <vt:lpstr>Post-hoc t-tests for Experiment 2</vt:lpstr>
      <vt:lpstr>R code for analysis</vt:lpstr>
      <vt:lpstr>Writeup #2</vt:lpstr>
      <vt:lpstr>APA Report Sections</vt:lpstr>
      <vt:lpstr>Writeup #2</vt:lpstr>
      <vt:lpstr>Absolut Memory Distortions</vt:lpstr>
      <vt:lpstr>PowerPoint Presentation</vt:lpstr>
      <vt:lpstr>Assignment questions</vt:lpstr>
      <vt:lpstr>Diagram</vt:lpstr>
      <vt:lpstr>PowerPoint Presentation</vt:lpstr>
      <vt:lpstr>PowerPoint Presentation</vt:lpstr>
      <vt:lpstr>For Monday 10/27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Nov 4, Class 19</dc:title>
  <dc:creator>Paul Reber</dc:creator>
  <cp:lastModifiedBy>Paul Reber</cp:lastModifiedBy>
  <cp:revision>34</cp:revision>
  <cp:lastPrinted>2025-10-24T14:35:20Z</cp:lastPrinted>
  <dcterms:created xsi:type="dcterms:W3CDTF">2022-11-02T13:45:19Z</dcterms:created>
  <dcterms:modified xsi:type="dcterms:W3CDTF">2025-10-24T16:54:50Z</dcterms:modified>
</cp:coreProperties>
</file>