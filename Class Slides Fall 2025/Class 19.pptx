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490" r:id="rId2"/>
    <p:sldId id="815" r:id="rId3"/>
    <p:sldId id="816" r:id="rId4"/>
    <p:sldId id="817" r:id="rId5"/>
    <p:sldId id="818" r:id="rId6"/>
    <p:sldId id="819" r:id="rId7"/>
    <p:sldId id="269" r:id="rId8"/>
    <p:sldId id="828" r:id="rId9"/>
    <p:sldId id="830" r:id="rId10"/>
    <p:sldId id="823" r:id="rId11"/>
    <p:sldId id="829" r:id="rId12"/>
    <p:sldId id="280" r:id="rId13"/>
    <p:sldId id="277" r:id="rId14"/>
    <p:sldId id="831" r:id="rId15"/>
    <p:sldId id="271" r:id="rId16"/>
    <p:sldId id="832" r:id="rId17"/>
    <p:sldId id="268" r:id="rId18"/>
    <p:sldId id="827" r:id="rId19"/>
    <p:sldId id="270" r:id="rId20"/>
    <p:sldId id="826" r:id="rId21"/>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8" autoAdjust="0"/>
    <p:restoredTop sz="94660"/>
  </p:normalViewPr>
  <p:slideViewPr>
    <p:cSldViewPr snapToGrid="0">
      <p:cViewPr varScale="1">
        <p:scale>
          <a:sx n="97" d="100"/>
          <a:sy n="97" d="100"/>
        </p:scale>
        <p:origin x="1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65895C0F-0B69-4CF9-8748-D8C97CC97B53}" type="datetimeFigureOut">
              <a:rPr lang="en-US" smtClean="0"/>
              <a:t>10/28/2025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D58A3BBF-4875-442B-AC97-5C1C1136366C}" type="slidenum">
              <a:rPr lang="en-US" smtClean="0"/>
              <a:t>‹#›</a:t>
            </a:fld>
            <a:endParaRPr lang="en-US"/>
          </a:p>
        </p:txBody>
      </p:sp>
    </p:spTree>
    <p:extLst>
      <p:ext uri="{BB962C8B-B14F-4D97-AF65-F5344CB8AC3E}">
        <p14:creationId xmlns:p14="http://schemas.microsoft.com/office/powerpoint/2010/main" val="609593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10B7135-5148-4ACD-B305-0394EBD9F4EA}" type="slidenum">
              <a:rPr lang="en-US"/>
              <a:pPr fontAlgn="base">
                <a:spcBef>
                  <a:spcPct val="0"/>
                </a:spcBef>
                <a:spcAft>
                  <a:spcPct val="0"/>
                </a:spcAft>
              </a:pPr>
              <a:t>7</a:t>
            </a:fld>
            <a:endParaRPr lang="en-US"/>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0AF9E-A713-B324-EF5C-9353FAC0C0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192294-FC79-4B99-F41D-80DE422E5B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EAEA76-F56D-2315-8B95-AAEE68028E0D}"/>
              </a:ext>
            </a:extLst>
          </p:cNvPr>
          <p:cNvSpPr>
            <a:spLocks noGrp="1"/>
          </p:cNvSpPr>
          <p:nvPr>
            <p:ph type="dt" sz="half" idx="10"/>
          </p:nvPr>
        </p:nvSpPr>
        <p:spPr/>
        <p:txBody>
          <a:bodyPr/>
          <a:lstStyle/>
          <a:p>
            <a:fld id="{E2079159-2AE6-4966-8700-B913E8558492}" type="datetimeFigureOut">
              <a:rPr lang="en-US" smtClean="0"/>
              <a:t>10/28/2025</a:t>
            </a:fld>
            <a:endParaRPr lang="en-US"/>
          </a:p>
        </p:txBody>
      </p:sp>
      <p:sp>
        <p:nvSpPr>
          <p:cNvPr id="5" name="Footer Placeholder 4">
            <a:extLst>
              <a:ext uri="{FF2B5EF4-FFF2-40B4-BE49-F238E27FC236}">
                <a16:creationId xmlns:a16="http://schemas.microsoft.com/office/drawing/2014/main" id="{19F8CD70-9B9B-5780-F5F5-85664B13B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CBCB09-1E3F-4DBD-71AD-454E17223296}"/>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1566430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36449-41FB-3805-7521-F94AD4BC74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EB7D5B-5123-9BB1-9956-238CBD96FA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DF926-79FF-7B2B-F2F5-6596B0D5EAC7}"/>
              </a:ext>
            </a:extLst>
          </p:cNvPr>
          <p:cNvSpPr>
            <a:spLocks noGrp="1"/>
          </p:cNvSpPr>
          <p:nvPr>
            <p:ph type="dt" sz="half" idx="10"/>
          </p:nvPr>
        </p:nvSpPr>
        <p:spPr/>
        <p:txBody>
          <a:bodyPr/>
          <a:lstStyle/>
          <a:p>
            <a:fld id="{E2079159-2AE6-4966-8700-B913E8558492}" type="datetimeFigureOut">
              <a:rPr lang="en-US" smtClean="0"/>
              <a:t>10/28/2025</a:t>
            </a:fld>
            <a:endParaRPr lang="en-US"/>
          </a:p>
        </p:txBody>
      </p:sp>
      <p:sp>
        <p:nvSpPr>
          <p:cNvPr id="5" name="Footer Placeholder 4">
            <a:extLst>
              <a:ext uri="{FF2B5EF4-FFF2-40B4-BE49-F238E27FC236}">
                <a16:creationId xmlns:a16="http://schemas.microsoft.com/office/drawing/2014/main" id="{1EBC17BB-481D-EF6A-9ED3-5EB92356C0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85C679-006F-F977-115D-39B4D14E54E2}"/>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2249866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A7484-D503-B21C-3F68-4ADC141430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CFDAF7-CE0D-7E53-573B-6D79F833E8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4C29AD-2F64-9A6C-06D0-391F573590F3}"/>
              </a:ext>
            </a:extLst>
          </p:cNvPr>
          <p:cNvSpPr>
            <a:spLocks noGrp="1"/>
          </p:cNvSpPr>
          <p:nvPr>
            <p:ph type="dt" sz="half" idx="10"/>
          </p:nvPr>
        </p:nvSpPr>
        <p:spPr/>
        <p:txBody>
          <a:bodyPr/>
          <a:lstStyle/>
          <a:p>
            <a:fld id="{E2079159-2AE6-4966-8700-B913E8558492}" type="datetimeFigureOut">
              <a:rPr lang="en-US" smtClean="0"/>
              <a:t>10/28/2025</a:t>
            </a:fld>
            <a:endParaRPr lang="en-US"/>
          </a:p>
        </p:txBody>
      </p:sp>
      <p:sp>
        <p:nvSpPr>
          <p:cNvPr id="5" name="Footer Placeholder 4">
            <a:extLst>
              <a:ext uri="{FF2B5EF4-FFF2-40B4-BE49-F238E27FC236}">
                <a16:creationId xmlns:a16="http://schemas.microsoft.com/office/drawing/2014/main" id="{39A12B5F-085F-672A-FDC4-1B20D6573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3A04B7-4EEF-935C-2E41-9AD33C2748A1}"/>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123023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FE35B-A408-DBE7-982E-586096904F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CE1F5D-D8E3-0A4A-888C-FF65A19A15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90B84C-88B3-2329-D7E1-2E94D0A5D1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8BBC5D-6205-C5DD-FFDB-4D1DDF198C3C}"/>
              </a:ext>
            </a:extLst>
          </p:cNvPr>
          <p:cNvSpPr>
            <a:spLocks noGrp="1"/>
          </p:cNvSpPr>
          <p:nvPr>
            <p:ph type="dt" sz="half" idx="10"/>
          </p:nvPr>
        </p:nvSpPr>
        <p:spPr/>
        <p:txBody>
          <a:bodyPr/>
          <a:lstStyle/>
          <a:p>
            <a:fld id="{E2079159-2AE6-4966-8700-B913E8558492}" type="datetimeFigureOut">
              <a:rPr lang="en-US" smtClean="0"/>
              <a:t>10/28/2025</a:t>
            </a:fld>
            <a:endParaRPr lang="en-US"/>
          </a:p>
        </p:txBody>
      </p:sp>
      <p:sp>
        <p:nvSpPr>
          <p:cNvPr id="6" name="Footer Placeholder 5">
            <a:extLst>
              <a:ext uri="{FF2B5EF4-FFF2-40B4-BE49-F238E27FC236}">
                <a16:creationId xmlns:a16="http://schemas.microsoft.com/office/drawing/2014/main" id="{17CF2E3D-C73C-3DEC-5CF6-64EE855C74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71D09-18E9-4CCA-01C6-3FDB35956A16}"/>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2685341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65E32-CDB5-0C84-4109-B1F3E25B59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64C1FB-4E68-A4E4-A883-89DDE597D0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074CEC-07F2-A5ED-DCD4-BC0B6005FE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8A1A8E-8D3E-C138-A5B3-94A1C3B91F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F873EA-2AAF-51A6-DA72-57752811A8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A5397B-D146-9D11-3DAE-7F052884BCC8}"/>
              </a:ext>
            </a:extLst>
          </p:cNvPr>
          <p:cNvSpPr>
            <a:spLocks noGrp="1"/>
          </p:cNvSpPr>
          <p:nvPr>
            <p:ph type="dt" sz="half" idx="10"/>
          </p:nvPr>
        </p:nvSpPr>
        <p:spPr/>
        <p:txBody>
          <a:bodyPr/>
          <a:lstStyle/>
          <a:p>
            <a:fld id="{E2079159-2AE6-4966-8700-B913E8558492}" type="datetimeFigureOut">
              <a:rPr lang="en-US" smtClean="0"/>
              <a:t>10/28/2025</a:t>
            </a:fld>
            <a:endParaRPr lang="en-US"/>
          </a:p>
        </p:txBody>
      </p:sp>
      <p:sp>
        <p:nvSpPr>
          <p:cNvPr id="8" name="Footer Placeholder 7">
            <a:extLst>
              <a:ext uri="{FF2B5EF4-FFF2-40B4-BE49-F238E27FC236}">
                <a16:creationId xmlns:a16="http://schemas.microsoft.com/office/drawing/2014/main" id="{BDB293A0-C39C-BD00-8B3A-FC69FED2A6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04BD09-8037-BB7B-76A5-C38774217B46}"/>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1791239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569E8-2DA5-A957-6825-AAE403498F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42AB32-CDC8-4B56-B2C0-868C1BBA42F9}"/>
              </a:ext>
            </a:extLst>
          </p:cNvPr>
          <p:cNvSpPr>
            <a:spLocks noGrp="1"/>
          </p:cNvSpPr>
          <p:nvPr>
            <p:ph type="dt" sz="half" idx="10"/>
          </p:nvPr>
        </p:nvSpPr>
        <p:spPr/>
        <p:txBody>
          <a:bodyPr/>
          <a:lstStyle/>
          <a:p>
            <a:fld id="{E2079159-2AE6-4966-8700-B913E8558492}" type="datetimeFigureOut">
              <a:rPr lang="en-US" smtClean="0"/>
              <a:t>10/28/2025</a:t>
            </a:fld>
            <a:endParaRPr lang="en-US"/>
          </a:p>
        </p:txBody>
      </p:sp>
      <p:sp>
        <p:nvSpPr>
          <p:cNvPr id="4" name="Footer Placeholder 3">
            <a:extLst>
              <a:ext uri="{FF2B5EF4-FFF2-40B4-BE49-F238E27FC236}">
                <a16:creationId xmlns:a16="http://schemas.microsoft.com/office/drawing/2014/main" id="{758BCA5A-3682-CD92-B758-933EC1D9FF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AE16C5-3A34-8004-D820-F36EB9CA36C1}"/>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2625969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255CAC-3041-5393-DC64-CFC6DD648EDB}"/>
              </a:ext>
            </a:extLst>
          </p:cNvPr>
          <p:cNvSpPr>
            <a:spLocks noGrp="1"/>
          </p:cNvSpPr>
          <p:nvPr>
            <p:ph type="dt" sz="half" idx="10"/>
          </p:nvPr>
        </p:nvSpPr>
        <p:spPr/>
        <p:txBody>
          <a:bodyPr/>
          <a:lstStyle/>
          <a:p>
            <a:fld id="{E2079159-2AE6-4966-8700-B913E8558492}" type="datetimeFigureOut">
              <a:rPr lang="en-US" smtClean="0"/>
              <a:t>10/28/2025</a:t>
            </a:fld>
            <a:endParaRPr lang="en-US"/>
          </a:p>
        </p:txBody>
      </p:sp>
      <p:sp>
        <p:nvSpPr>
          <p:cNvPr id="3" name="Footer Placeholder 2">
            <a:extLst>
              <a:ext uri="{FF2B5EF4-FFF2-40B4-BE49-F238E27FC236}">
                <a16:creationId xmlns:a16="http://schemas.microsoft.com/office/drawing/2014/main" id="{D70E1B97-29E2-222E-71C0-2E20E9C891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60BF94-3166-19FF-9AC7-3B5685838597}"/>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2361233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4F013-AF8C-49D8-A97F-92E6E06876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104FEA-67AB-1F61-6B9D-DA713B65D4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9A6400-EC9E-2446-71DD-4CB5BE216F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259C1-5908-140A-8C69-000691CB84C8}"/>
              </a:ext>
            </a:extLst>
          </p:cNvPr>
          <p:cNvSpPr>
            <a:spLocks noGrp="1"/>
          </p:cNvSpPr>
          <p:nvPr>
            <p:ph type="dt" sz="half" idx="10"/>
          </p:nvPr>
        </p:nvSpPr>
        <p:spPr/>
        <p:txBody>
          <a:bodyPr/>
          <a:lstStyle/>
          <a:p>
            <a:fld id="{E2079159-2AE6-4966-8700-B913E8558492}" type="datetimeFigureOut">
              <a:rPr lang="en-US" smtClean="0"/>
              <a:t>10/28/2025</a:t>
            </a:fld>
            <a:endParaRPr lang="en-US"/>
          </a:p>
        </p:txBody>
      </p:sp>
      <p:sp>
        <p:nvSpPr>
          <p:cNvPr id="6" name="Footer Placeholder 5">
            <a:extLst>
              <a:ext uri="{FF2B5EF4-FFF2-40B4-BE49-F238E27FC236}">
                <a16:creationId xmlns:a16="http://schemas.microsoft.com/office/drawing/2014/main" id="{BF47647B-EEB2-CB29-3381-714EC7C2C8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D0B0B1-B2BF-08A0-F69D-75845CCC007B}"/>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3297463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54F48-ED0F-9533-5126-8F77CC6DB7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4F3694-6B70-9CF8-5415-413343DFDF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FC429C-3380-8047-11B0-42D353EAEE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0D36FB-AD0A-FF8C-C4DD-76B474C1DBF8}"/>
              </a:ext>
            </a:extLst>
          </p:cNvPr>
          <p:cNvSpPr>
            <a:spLocks noGrp="1"/>
          </p:cNvSpPr>
          <p:nvPr>
            <p:ph type="dt" sz="half" idx="10"/>
          </p:nvPr>
        </p:nvSpPr>
        <p:spPr/>
        <p:txBody>
          <a:bodyPr/>
          <a:lstStyle/>
          <a:p>
            <a:fld id="{E2079159-2AE6-4966-8700-B913E8558492}" type="datetimeFigureOut">
              <a:rPr lang="en-US" smtClean="0"/>
              <a:t>10/28/2025</a:t>
            </a:fld>
            <a:endParaRPr lang="en-US"/>
          </a:p>
        </p:txBody>
      </p:sp>
      <p:sp>
        <p:nvSpPr>
          <p:cNvPr id="6" name="Footer Placeholder 5">
            <a:extLst>
              <a:ext uri="{FF2B5EF4-FFF2-40B4-BE49-F238E27FC236}">
                <a16:creationId xmlns:a16="http://schemas.microsoft.com/office/drawing/2014/main" id="{80756BF8-C131-CDFB-0FF0-45D6EAF8EC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051D91-180D-8911-5842-FD439B173359}"/>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1013554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ED3B1-96D4-C6CC-E1A9-49C7652232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1706AA-5CFD-FC8E-8E31-73039AB4E8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237B93-20B9-16B8-7B1F-11EA6AE446B1}"/>
              </a:ext>
            </a:extLst>
          </p:cNvPr>
          <p:cNvSpPr>
            <a:spLocks noGrp="1"/>
          </p:cNvSpPr>
          <p:nvPr>
            <p:ph type="dt" sz="half" idx="10"/>
          </p:nvPr>
        </p:nvSpPr>
        <p:spPr/>
        <p:txBody>
          <a:bodyPr/>
          <a:lstStyle/>
          <a:p>
            <a:fld id="{E2079159-2AE6-4966-8700-B913E8558492}" type="datetimeFigureOut">
              <a:rPr lang="en-US" smtClean="0"/>
              <a:t>10/28/2025</a:t>
            </a:fld>
            <a:endParaRPr lang="en-US"/>
          </a:p>
        </p:txBody>
      </p:sp>
      <p:sp>
        <p:nvSpPr>
          <p:cNvPr id="5" name="Footer Placeholder 4">
            <a:extLst>
              <a:ext uri="{FF2B5EF4-FFF2-40B4-BE49-F238E27FC236}">
                <a16:creationId xmlns:a16="http://schemas.microsoft.com/office/drawing/2014/main" id="{6E74972E-DAE8-7EAC-3CD5-092CCA423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E12019-BF15-437D-8439-F141B647566D}"/>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1219517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B0DE4B-5177-70C6-7159-D8E5BB7FB6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3FCCC9-95FF-BE97-2704-6C100735D3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B14124-F5B0-54B1-C365-EB995357E1E6}"/>
              </a:ext>
            </a:extLst>
          </p:cNvPr>
          <p:cNvSpPr>
            <a:spLocks noGrp="1"/>
          </p:cNvSpPr>
          <p:nvPr>
            <p:ph type="dt" sz="half" idx="10"/>
          </p:nvPr>
        </p:nvSpPr>
        <p:spPr/>
        <p:txBody>
          <a:bodyPr/>
          <a:lstStyle/>
          <a:p>
            <a:fld id="{E2079159-2AE6-4966-8700-B913E8558492}" type="datetimeFigureOut">
              <a:rPr lang="en-US" smtClean="0"/>
              <a:t>10/28/2025</a:t>
            </a:fld>
            <a:endParaRPr lang="en-US"/>
          </a:p>
        </p:txBody>
      </p:sp>
      <p:sp>
        <p:nvSpPr>
          <p:cNvPr id="5" name="Footer Placeholder 4">
            <a:extLst>
              <a:ext uri="{FF2B5EF4-FFF2-40B4-BE49-F238E27FC236}">
                <a16:creationId xmlns:a16="http://schemas.microsoft.com/office/drawing/2014/main" id="{BE360B3A-8A99-53F5-06F6-64F3487BA5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157128-D25E-947F-5CA4-8435B5797A0E}"/>
              </a:ext>
            </a:extLst>
          </p:cNvPr>
          <p:cNvSpPr>
            <a:spLocks noGrp="1"/>
          </p:cNvSpPr>
          <p:nvPr>
            <p:ph type="sldNum" sz="quarter" idx="12"/>
          </p:nvPr>
        </p:nvSpPr>
        <p:spPr/>
        <p:txBody>
          <a:bodyPr/>
          <a:lstStyle/>
          <a:p>
            <a:fld id="{6738E92D-0BFF-44AD-AC6D-620650181601}" type="slidenum">
              <a:rPr lang="en-US" smtClean="0"/>
              <a:t>‹#›</a:t>
            </a:fld>
            <a:endParaRPr lang="en-US"/>
          </a:p>
        </p:txBody>
      </p:sp>
    </p:spTree>
    <p:extLst>
      <p:ext uri="{BB962C8B-B14F-4D97-AF65-F5344CB8AC3E}">
        <p14:creationId xmlns:p14="http://schemas.microsoft.com/office/powerpoint/2010/main" val="783867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B7CF6F-35F9-6366-704F-AA11BA4A9A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786796-E878-3371-8330-56EA891B14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348B34-43EE-39C3-3569-07FC682D75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079159-2AE6-4966-8700-B913E8558492}" type="datetimeFigureOut">
              <a:rPr lang="en-US" smtClean="0"/>
              <a:t>10/28/2025</a:t>
            </a:fld>
            <a:endParaRPr lang="en-US"/>
          </a:p>
        </p:txBody>
      </p:sp>
      <p:sp>
        <p:nvSpPr>
          <p:cNvPr id="5" name="Footer Placeholder 4">
            <a:extLst>
              <a:ext uri="{FF2B5EF4-FFF2-40B4-BE49-F238E27FC236}">
                <a16:creationId xmlns:a16="http://schemas.microsoft.com/office/drawing/2014/main" id="{B9F64D0F-DAE2-9746-A363-5AC0058F9B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6F3AB7B-1886-E0FD-9500-DBBB536DE6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38E92D-0BFF-44AD-AC6D-620650181601}" type="slidenum">
              <a:rPr lang="en-US" smtClean="0"/>
              <a:t>‹#›</a:t>
            </a:fld>
            <a:endParaRPr lang="en-US"/>
          </a:p>
        </p:txBody>
      </p:sp>
    </p:spTree>
    <p:extLst>
      <p:ext uri="{BB962C8B-B14F-4D97-AF65-F5344CB8AC3E}">
        <p14:creationId xmlns:p14="http://schemas.microsoft.com/office/powerpoint/2010/main" val="1255359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4FB0D-3708-203B-85A8-3682D3CC1AC6}"/>
              </a:ext>
            </a:extLst>
          </p:cNvPr>
          <p:cNvSpPr>
            <a:spLocks noGrp="1"/>
          </p:cNvSpPr>
          <p:nvPr>
            <p:ph type="title"/>
          </p:nvPr>
        </p:nvSpPr>
        <p:spPr/>
        <p:txBody>
          <a:bodyPr/>
          <a:lstStyle/>
          <a:p>
            <a:r>
              <a:rPr lang="en-US" dirty="0"/>
              <a:t>301, Oct 29, Class 19</a:t>
            </a:r>
          </a:p>
        </p:txBody>
      </p:sp>
      <p:sp>
        <p:nvSpPr>
          <p:cNvPr id="3" name="Content Placeholder 2">
            <a:extLst>
              <a:ext uri="{FF2B5EF4-FFF2-40B4-BE49-F238E27FC236}">
                <a16:creationId xmlns:a16="http://schemas.microsoft.com/office/drawing/2014/main" id="{765E2C59-A6BD-6E7A-CF8D-F5509FC6373E}"/>
              </a:ext>
            </a:extLst>
          </p:cNvPr>
          <p:cNvSpPr>
            <a:spLocks noGrp="1"/>
          </p:cNvSpPr>
          <p:nvPr>
            <p:ph idx="1"/>
          </p:nvPr>
        </p:nvSpPr>
        <p:spPr/>
        <p:txBody>
          <a:bodyPr/>
          <a:lstStyle/>
          <a:p>
            <a:r>
              <a:rPr lang="en-US" dirty="0"/>
              <a:t>Responsible Conduct of Research</a:t>
            </a:r>
          </a:p>
          <a:p>
            <a:pPr lvl="1"/>
            <a:r>
              <a:rPr lang="en-US" dirty="0"/>
              <a:t>Chapter 18</a:t>
            </a:r>
          </a:p>
          <a:p>
            <a:pPr lvl="1"/>
            <a:endParaRPr lang="en-US" dirty="0"/>
          </a:p>
          <a:p>
            <a:pPr lvl="1"/>
            <a:r>
              <a:rPr lang="en-US" dirty="0"/>
              <a:t>Why we have new practices in scientific reporting related to rigorous research</a:t>
            </a:r>
          </a:p>
        </p:txBody>
      </p:sp>
    </p:spTree>
    <p:extLst>
      <p:ext uri="{BB962C8B-B14F-4D97-AF65-F5344CB8AC3E}">
        <p14:creationId xmlns:p14="http://schemas.microsoft.com/office/powerpoint/2010/main" val="3096899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A1FFC-DC31-F58B-1226-D2C57626C8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788BBB-5A00-FE6E-0FE5-FFBC32BEC273}"/>
              </a:ext>
            </a:extLst>
          </p:cNvPr>
          <p:cNvSpPr>
            <a:spLocks noGrp="1"/>
          </p:cNvSpPr>
          <p:nvPr>
            <p:ph idx="1"/>
          </p:nvPr>
        </p:nvSpPr>
        <p:spPr/>
        <p:txBody>
          <a:bodyPr/>
          <a:lstStyle/>
          <a:p>
            <a:endParaRPr lang="en-US" dirty="0"/>
          </a:p>
        </p:txBody>
      </p:sp>
      <p:pic>
        <p:nvPicPr>
          <p:cNvPr id="4" name="Picture 3" descr="Significant">
            <a:extLst>
              <a:ext uri="{FF2B5EF4-FFF2-40B4-BE49-F238E27FC236}">
                <a16:creationId xmlns:a16="http://schemas.microsoft.com/office/drawing/2014/main" id="{7C8AB4F2-0C4F-90D6-BFE3-25FCE0FBB960}"/>
              </a:ext>
            </a:extLst>
          </p:cNvPr>
          <p:cNvPicPr>
            <a:picLocks noChangeAspect="1"/>
          </p:cNvPicPr>
          <p:nvPr/>
        </p:nvPicPr>
        <p:blipFill rotWithShape="1">
          <a:blip r:embed="rId2">
            <a:extLst>
              <a:ext uri="{28A0092B-C50C-407E-A947-70E740481C1C}">
                <a14:useLocalDpi xmlns:a14="http://schemas.microsoft.com/office/drawing/2010/main" val="0"/>
              </a:ext>
            </a:extLst>
          </a:blip>
          <a:srcRect t="47574"/>
          <a:stretch/>
        </p:blipFill>
        <p:spPr bwMode="auto">
          <a:xfrm>
            <a:off x="5570621" y="295892"/>
            <a:ext cx="4379495" cy="6369074"/>
          </a:xfrm>
          <a:prstGeom prst="rect">
            <a:avLst/>
          </a:prstGeom>
          <a:noFill/>
          <a:ln>
            <a:noFill/>
          </a:ln>
        </p:spPr>
      </p:pic>
      <p:pic>
        <p:nvPicPr>
          <p:cNvPr id="5" name="Picture 4" descr="Significant">
            <a:extLst>
              <a:ext uri="{FF2B5EF4-FFF2-40B4-BE49-F238E27FC236}">
                <a16:creationId xmlns:a16="http://schemas.microsoft.com/office/drawing/2014/main" id="{39964DC8-9C0D-C3F4-0C65-E71441419ACE}"/>
              </a:ext>
            </a:extLst>
          </p:cNvPr>
          <p:cNvPicPr>
            <a:picLocks noChangeAspect="1"/>
          </p:cNvPicPr>
          <p:nvPr/>
        </p:nvPicPr>
        <p:blipFill rotWithShape="1">
          <a:blip r:embed="rId2">
            <a:extLst>
              <a:ext uri="{28A0092B-C50C-407E-A947-70E740481C1C}">
                <a14:useLocalDpi xmlns:a14="http://schemas.microsoft.com/office/drawing/2010/main" val="0"/>
              </a:ext>
            </a:extLst>
          </a:blip>
          <a:srcRect b="51925"/>
          <a:stretch/>
        </p:blipFill>
        <p:spPr bwMode="auto">
          <a:xfrm>
            <a:off x="838200" y="365125"/>
            <a:ext cx="4106779" cy="5476681"/>
          </a:xfrm>
          <a:prstGeom prst="rect">
            <a:avLst/>
          </a:prstGeom>
          <a:noFill/>
          <a:ln>
            <a:noFill/>
          </a:ln>
        </p:spPr>
      </p:pic>
    </p:spTree>
    <p:extLst>
      <p:ext uri="{BB962C8B-B14F-4D97-AF65-F5344CB8AC3E}">
        <p14:creationId xmlns:p14="http://schemas.microsoft.com/office/powerpoint/2010/main" val="2921879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10D89-2222-3096-8184-CFB0EF42D1F4}"/>
              </a:ext>
            </a:extLst>
          </p:cNvPr>
          <p:cNvSpPr>
            <a:spLocks noGrp="1"/>
          </p:cNvSpPr>
          <p:nvPr>
            <p:ph type="title"/>
          </p:nvPr>
        </p:nvSpPr>
        <p:spPr/>
        <p:txBody>
          <a:bodyPr/>
          <a:lstStyle/>
          <a:p>
            <a:r>
              <a:rPr lang="en-US" dirty="0"/>
              <a:t>Vaccine skepticism</a:t>
            </a:r>
          </a:p>
        </p:txBody>
      </p:sp>
      <p:sp>
        <p:nvSpPr>
          <p:cNvPr id="3" name="Content Placeholder 2">
            <a:extLst>
              <a:ext uri="{FF2B5EF4-FFF2-40B4-BE49-F238E27FC236}">
                <a16:creationId xmlns:a16="http://schemas.microsoft.com/office/drawing/2014/main" id="{E8873607-1467-006C-E219-40338376298B}"/>
              </a:ext>
            </a:extLst>
          </p:cNvPr>
          <p:cNvSpPr>
            <a:spLocks noGrp="1"/>
          </p:cNvSpPr>
          <p:nvPr>
            <p:ph idx="1"/>
          </p:nvPr>
        </p:nvSpPr>
        <p:spPr/>
        <p:txBody>
          <a:bodyPr/>
          <a:lstStyle/>
          <a:p>
            <a:r>
              <a:rPr lang="en-US" b="0" i="0" dirty="0">
                <a:solidFill>
                  <a:srgbClr val="212121"/>
                </a:solidFill>
                <a:effectLst/>
                <a:latin typeface="Cambria" panose="02040503050406030204" pitchFamily="18" charset="0"/>
              </a:rPr>
              <a:t>In 1998, Andrew Wakefield and 12 of his colleagues published a case series in the </a:t>
            </a:r>
            <a:r>
              <a:rPr lang="en-US" b="0" i="1" dirty="0">
                <a:solidFill>
                  <a:srgbClr val="212121"/>
                </a:solidFill>
                <a:effectLst/>
                <a:latin typeface="Cambria" panose="02040503050406030204" pitchFamily="18" charset="0"/>
              </a:rPr>
              <a:t>Lancet</a:t>
            </a:r>
            <a:r>
              <a:rPr lang="en-US" b="0" i="0" dirty="0">
                <a:solidFill>
                  <a:srgbClr val="212121"/>
                </a:solidFill>
                <a:effectLst/>
                <a:latin typeface="Cambria" panose="02040503050406030204" pitchFamily="18" charset="0"/>
              </a:rPr>
              <a:t>, which suggested that the measles, mumps, and rubella (MMR) vaccine may predispose to behavioral regression and pervasive developmental disorder in children.</a:t>
            </a:r>
          </a:p>
          <a:p>
            <a:r>
              <a:rPr lang="en-US" b="0" i="0" dirty="0">
                <a:solidFill>
                  <a:srgbClr val="212121"/>
                </a:solidFill>
                <a:effectLst/>
                <a:latin typeface="Cambria" panose="02040503050406030204" pitchFamily="18" charset="0"/>
              </a:rPr>
              <a:t>Despite the small sample size (</a:t>
            </a:r>
            <a:r>
              <a:rPr lang="en-US" b="0" i="1" dirty="0">
                <a:solidFill>
                  <a:srgbClr val="212121"/>
                </a:solidFill>
                <a:effectLst/>
                <a:latin typeface="Cambria" panose="02040503050406030204" pitchFamily="18" charset="0"/>
              </a:rPr>
              <a:t>n</a:t>
            </a:r>
            <a:r>
              <a:rPr lang="en-US" b="0" i="0" dirty="0">
                <a:solidFill>
                  <a:srgbClr val="212121"/>
                </a:solidFill>
                <a:effectLst/>
                <a:latin typeface="Cambria" panose="02040503050406030204" pitchFamily="18" charset="0"/>
              </a:rPr>
              <a:t>=12), the uncontrolled design, and the speculative nature of the conclusions, the paper received wide publicity, and MMR vaccination rates began to drop because parents were concerned about the risk of autism after vaccination.</a:t>
            </a:r>
            <a:endParaRPr lang="en-US" dirty="0"/>
          </a:p>
        </p:txBody>
      </p:sp>
    </p:spTree>
    <p:extLst>
      <p:ext uri="{BB962C8B-B14F-4D97-AF65-F5344CB8AC3E}">
        <p14:creationId xmlns:p14="http://schemas.microsoft.com/office/powerpoint/2010/main" val="3163183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C8EF2-BF3F-D0D6-0A71-A6BB7913EB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6892571-45EA-88A9-1B3F-A293B3682D01}"/>
              </a:ext>
            </a:extLst>
          </p:cNvPr>
          <p:cNvSpPr>
            <a:spLocks noGrp="1"/>
          </p:cNvSpPr>
          <p:nvPr>
            <p:ph idx="1"/>
          </p:nvPr>
        </p:nvSpPr>
        <p:spPr/>
        <p:txBody>
          <a:bodyPr/>
          <a:lstStyle/>
          <a:p>
            <a:r>
              <a:rPr lang="en-US" dirty="0"/>
              <a:t>Taylor et al (1999) examined 498 cases of autism</a:t>
            </a:r>
          </a:p>
          <a:p>
            <a:pPr lvl="1"/>
            <a:r>
              <a:rPr lang="en-US" b="0" i="0" dirty="0">
                <a:solidFill>
                  <a:srgbClr val="212121"/>
                </a:solidFill>
                <a:effectLst/>
                <a:latin typeface="BlinkMacSystemFont"/>
              </a:rPr>
              <a:t>There was no difference in age at diagnosis between the cases vaccinated before or after 18 months of age and those never vaccinated. </a:t>
            </a:r>
          </a:p>
          <a:p>
            <a:pPr lvl="1"/>
            <a:r>
              <a:rPr lang="en-US" b="0" i="0" dirty="0">
                <a:solidFill>
                  <a:srgbClr val="212121"/>
                </a:solidFill>
                <a:effectLst/>
                <a:latin typeface="BlinkMacSystemFont"/>
              </a:rPr>
              <a:t>There was no temporal association between onset of autism within 1 or 2 years after vaccination with MMR (relative incidence compared with control period 0.94 [95% CI 0.60-1.47] and 1.09 [0.79-1.52]).</a:t>
            </a:r>
          </a:p>
          <a:p>
            <a:r>
              <a:rPr lang="en-US" dirty="0">
                <a:solidFill>
                  <a:srgbClr val="212121"/>
                </a:solidFill>
                <a:latin typeface="BlinkMacSystemFont"/>
              </a:rPr>
              <a:t>Lancet (2004) reviewed allegations against Wakefield</a:t>
            </a:r>
          </a:p>
          <a:p>
            <a:pPr lvl="1"/>
            <a:r>
              <a:rPr lang="en-US" dirty="0">
                <a:solidFill>
                  <a:srgbClr val="212121"/>
                </a:solidFill>
                <a:latin typeface="BlinkMacSystemFont"/>
              </a:rPr>
              <a:t>Acknowledged that Wakefield had a significant “conflict of interest”</a:t>
            </a:r>
          </a:p>
          <a:p>
            <a:pPr lvl="1"/>
            <a:r>
              <a:rPr lang="en-US" dirty="0">
                <a:solidFill>
                  <a:srgbClr val="212121"/>
                </a:solidFill>
                <a:latin typeface="BlinkMacSystemFont"/>
              </a:rPr>
              <a:t>Dismissed allegations of improper recruiting, patient selection</a:t>
            </a:r>
            <a:endParaRPr lang="en-US" dirty="0"/>
          </a:p>
        </p:txBody>
      </p:sp>
    </p:spTree>
    <p:extLst>
      <p:ext uri="{BB962C8B-B14F-4D97-AF65-F5344CB8AC3E}">
        <p14:creationId xmlns:p14="http://schemas.microsoft.com/office/powerpoint/2010/main" val="3519365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46581-93BB-D4C7-925A-F14C1CEA2A4D}"/>
              </a:ext>
            </a:extLst>
          </p:cNvPr>
          <p:cNvSpPr>
            <a:spLocks noGrp="1"/>
          </p:cNvSpPr>
          <p:nvPr>
            <p:ph type="title"/>
          </p:nvPr>
        </p:nvSpPr>
        <p:spPr/>
        <p:txBody>
          <a:bodyPr/>
          <a:lstStyle/>
          <a:p>
            <a:r>
              <a:rPr lang="en-US" dirty="0"/>
              <a:t>Full Investigation</a:t>
            </a:r>
          </a:p>
        </p:txBody>
      </p:sp>
      <p:sp>
        <p:nvSpPr>
          <p:cNvPr id="3" name="Content Placeholder 2">
            <a:extLst>
              <a:ext uri="{FF2B5EF4-FFF2-40B4-BE49-F238E27FC236}">
                <a16:creationId xmlns:a16="http://schemas.microsoft.com/office/drawing/2014/main" id="{7AAFE7E4-5EDD-3E19-9AEE-C1660984E991}"/>
              </a:ext>
            </a:extLst>
          </p:cNvPr>
          <p:cNvSpPr>
            <a:spLocks noGrp="1"/>
          </p:cNvSpPr>
          <p:nvPr>
            <p:ph idx="1"/>
          </p:nvPr>
        </p:nvSpPr>
        <p:spPr/>
        <p:txBody>
          <a:bodyPr>
            <a:normAutofit fontScale="92500" lnSpcReduction="20000"/>
          </a:bodyPr>
          <a:lstStyle/>
          <a:p>
            <a:r>
              <a:rPr lang="en-US" dirty="0"/>
              <a:t>Wakefield was paid over £400k by lawyers trying to sue vaccine companies in the two years before the study</a:t>
            </a:r>
          </a:p>
          <a:p>
            <a:pPr lvl="1"/>
            <a:r>
              <a:rPr lang="en-US" dirty="0"/>
              <a:t>Had already asserted a vaccine/bowel/autism link before data were collected</a:t>
            </a:r>
          </a:p>
          <a:p>
            <a:pPr lvl="1"/>
            <a:r>
              <a:rPr lang="en-US" dirty="0"/>
              <a:t>Written communication asked him to find a “temporal link”</a:t>
            </a:r>
          </a:p>
          <a:p>
            <a:r>
              <a:rPr lang="en-US" dirty="0"/>
              <a:t>Analysis of the 12 patients revealed none matched their actual medical records</a:t>
            </a:r>
          </a:p>
          <a:p>
            <a:pPr lvl="1"/>
            <a:r>
              <a:rPr lang="en-US" dirty="0"/>
              <a:t>Patients mostly knew each other and were recruited due to vaccine concerns and were pre-interviewed for consistency with the hypothesis before enrolling in study</a:t>
            </a:r>
          </a:p>
          <a:p>
            <a:pPr lvl="1"/>
            <a:r>
              <a:rPr lang="en-US" dirty="0"/>
              <a:t>Several had documented symptoms pre-dating vaccination (developmental delays and/or GI problems)</a:t>
            </a:r>
          </a:p>
          <a:p>
            <a:pPr lvl="1"/>
            <a:r>
              <a:rPr lang="en-US" dirty="0"/>
              <a:t>Data linking the time from vaccination to diagnosis were incorrect, inconsistent data were excluded</a:t>
            </a:r>
          </a:p>
          <a:p>
            <a:r>
              <a:rPr lang="en-US" dirty="0"/>
              <a:t>Full retraction of the paper from Lancet in 2010</a:t>
            </a:r>
          </a:p>
          <a:p>
            <a:pPr lvl="1"/>
            <a:r>
              <a:rPr lang="en-US" dirty="0"/>
              <a:t>Wakefield lost medical license</a:t>
            </a:r>
          </a:p>
        </p:txBody>
      </p:sp>
    </p:spTree>
    <p:extLst>
      <p:ext uri="{BB962C8B-B14F-4D97-AF65-F5344CB8AC3E}">
        <p14:creationId xmlns:p14="http://schemas.microsoft.com/office/powerpoint/2010/main" val="1841456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8A7B0-1441-5D05-48C1-80EAB047F93A}"/>
              </a:ext>
            </a:extLst>
          </p:cNvPr>
          <p:cNvSpPr>
            <a:spLocks noGrp="1"/>
          </p:cNvSpPr>
          <p:nvPr>
            <p:ph type="title"/>
          </p:nvPr>
        </p:nvSpPr>
        <p:spPr/>
        <p:txBody>
          <a:bodyPr/>
          <a:lstStyle/>
          <a:p>
            <a:r>
              <a:rPr lang="en-US" dirty="0"/>
              <a:t>Research Integrity</a:t>
            </a:r>
          </a:p>
        </p:txBody>
      </p:sp>
      <p:sp>
        <p:nvSpPr>
          <p:cNvPr id="3" name="Content Placeholder 2">
            <a:extLst>
              <a:ext uri="{FF2B5EF4-FFF2-40B4-BE49-F238E27FC236}">
                <a16:creationId xmlns:a16="http://schemas.microsoft.com/office/drawing/2014/main" id="{D1E84582-D961-7706-7051-3B2C85D99990}"/>
              </a:ext>
            </a:extLst>
          </p:cNvPr>
          <p:cNvSpPr>
            <a:spLocks noGrp="1"/>
          </p:cNvSpPr>
          <p:nvPr>
            <p:ph idx="1"/>
          </p:nvPr>
        </p:nvSpPr>
        <p:spPr/>
        <p:txBody>
          <a:bodyPr/>
          <a:lstStyle/>
          <a:p>
            <a:r>
              <a:rPr lang="en-US" dirty="0"/>
              <a:t>Brian Deer, journalist, did most of the investigation uncovering the research fraud</a:t>
            </a:r>
          </a:p>
          <a:p>
            <a:pPr lvl="1"/>
            <a:r>
              <a:rPr lang="en-US" b="0" i="0" dirty="0">
                <a:solidFill>
                  <a:srgbClr val="333333"/>
                </a:solidFill>
                <a:effectLst/>
                <a:latin typeface="interfaceregular"/>
              </a:rPr>
              <a:t>Funded by the </a:t>
            </a:r>
            <a:r>
              <a:rPr lang="en-US" b="0" i="1" dirty="0">
                <a:solidFill>
                  <a:srgbClr val="333333"/>
                </a:solidFill>
                <a:effectLst/>
                <a:latin typeface="interfaceregular"/>
              </a:rPr>
              <a:t>Sunday Times</a:t>
            </a:r>
            <a:r>
              <a:rPr lang="en-US" b="0" i="0" dirty="0">
                <a:solidFill>
                  <a:srgbClr val="333333"/>
                </a:solidFill>
                <a:effectLst/>
                <a:latin typeface="interfaceregular"/>
              </a:rPr>
              <a:t> of London and the Channel 4 television network.</a:t>
            </a:r>
          </a:p>
          <a:p>
            <a:pPr lvl="1"/>
            <a:r>
              <a:rPr lang="en-US" b="0" i="0" dirty="0">
                <a:solidFill>
                  <a:srgbClr val="333333"/>
                </a:solidFill>
                <a:effectLst/>
                <a:latin typeface="interfaceregular"/>
              </a:rPr>
              <a:t>Reports by Deer in the </a:t>
            </a:r>
            <a:r>
              <a:rPr lang="en-US" b="0" i="1" dirty="0">
                <a:solidFill>
                  <a:srgbClr val="333333"/>
                </a:solidFill>
                <a:effectLst/>
                <a:latin typeface="interfaceregular"/>
              </a:rPr>
              <a:t>BMJ</a:t>
            </a:r>
            <a:r>
              <a:rPr lang="en-US" b="0" i="0" dirty="0">
                <a:solidFill>
                  <a:srgbClr val="333333"/>
                </a:solidFill>
                <a:effectLst/>
                <a:latin typeface="interfaceregular"/>
              </a:rPr>
              <a:t> were commissioned and paid for by the journal.</a:t>
            </a:r>
          </a:p>
          <a:p>
            <a:pPr lvl="1"/>
            <a:r>
              <a:rPr lang="en-US" b="0" i="0" dirty="0">
                <a:solidFill>
                  <a:srgbClr val="333333"/>
                </a:solidFill>
                <a:effectLst/>
                <a:latin typeface="interfaceregular"/>
              </a:rPr>
              <a:t>No other funding was received, apart from legal costs paid to Deer by the Medical Protection Society on behalf of Andrew Wakefield.</a:t>
            </a:r>
          </a:p>
          <a:p>
            <a:pPr lvl="1"/>
            <a:r>
              <a:rPr lang="en-US" dirty="0">
                <a:solidFill>
                  <a:srgbClr val="333333"/>
                </a:solidFill>
                <a:latin typeface="interfaceregular"/>
              </a:rPr>
              <a:t>All claims in Deer’s articles consistent with investigation from the British General Medical Counsel assessed by editors at the British Medical Journal</a:t>
            </a:r>
            <a:endParaRPr lang="en-US" b="0" i="0" dirty="0">
              <a:solidFill>
                <a:srgbClr val="333333"/>
              </a:solidFill>
              <a:effectLst/>
              <a:latin typeface="interfaceregular"/>
            </a:endParaRPr>
          </a:p>
          <a:p>
            <a:r>
              <a:rPr lang="en-US" dirty="0">
                <a:solidFill>
                  <a:srgbClr val="333333"/>
                </a:solidFill>
                <a:latin typeface="interfaceregular"/>
              </a:rPr>
              <a:t>Took 12 years to investigate, find fraud and retract paper</a:t>
            </a:r>
          </a:p>
          <a:p>
            <a:endParaRPr lang="en-US" dirty="0"/>
          </a:p>
        </p:txBody>
      </p:sp>
    </p:spTree>
    <p:extLst>
      <p:ext uri="{BB962C8B-B14F-4D97-AF65-F5344CB8AC3E}">
        <p14:creationId xmlns:p14="http://schemas.microsoft.com/office/powerpoint/2010/main" val="3062804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dirty="0"/>
              <a:t>Responsible Conduct of Research</a:t>
            </a:r>
          </a:p>
        </p:txBody>
      </p:sp>
      <p:sp>
        <p:nvSpPr>
          <p:cNvPr id="3075" name="Rectangle 3"/>
          <p:cNvSpPr>
            <a:spLocks noGrp="1" noChangeArrowheads="1"/>
          </p:cNvSpPr>
          <p:nvPr>
            <p:ph type="body" idx="1"/>
          </p:nvPr>
        </p:nvSpPr>
        <p:spPr/>
        <p:txBody>
          <a:bodyPr/>
          <a:lstStyle/>
          <a:p>
            <a:pPr>
              <a:lnSpc>
                <a:spcPct val="90000"/>
              </a:lnSpc>
            </a:pPr>
            <a:r>
              <a:rPr lang="en-US" dirty="0"/>
              <a:t>Researchers carry out research process with rigor and integrity</a:t>
            </a:r>
          </a:p>
          <a:p>
            <a:pPr lvl="1"/>
            <a:r>
              <a:rPr lang="en-US" dirty="0"/>
              <a:t>Don’t lie, cheat or steal</a:t>
            </a:r>
          </a:p>
          <a:p>
            <a:pPr lvl="1"/>
            <a:endParaRPr lang="en-US" dirty="0"/>
          </a:p>
          <a:p>
            <a:pPr>
              <a:lnSpc>
                <a:spcPct val="90000"/>
              </a:lnSpc>
            </a:pPr>
            <a:r>
              <a:rPr lang="en-US" dirty="0"/>
              <a:t>Improper handling of research data</a:t>
            </a:r>
          </a:p>
          <a:p>
            <a:pPr lvl="1">
              <a:lnSpc>
                <a:spcPct val="90000"/>
              </a:lnSpc>
            </a:pPr>
            <a:r>
              <a:rPr lang="en-US" dirty="0"/>
              <a:t>Forgery: fabrication or modification</a:t>
            </a:r>
          </a:p>
          <a:p>
            <a:pPr lvl="1">
              <a:lnSpc>
                <a:spcPct val="90000"/>
              </a:lnSpc>
            </a:pPr>
            <a:r>
              <a:rPr lang="en-US" dirty="0"/>
              <a:t>Data selection</a:t>
            </a:r>
          </a:p>
          <a:p>
            <a:pPr lvl="2"/>
            <a:r>
              <a:rPr lang="en-US" dirty="0"/>
              <a:t>Excluding data inconsistent with the hypothesis</a:t>
            </a:r>
          </a:p>
          <a:p>
            <a:pPr lvl="1"/>
            <a:r>
              <a:rPr lang="en-US" dirty="0"/>
              <a:t>Bias in recruiting, protocol administration or data scoring</a:t>
            </a:r>
          </a:p>
          <a:p>
            <a:pPr lvl="2"/>
            <a:r>
              <a:rPr lang="en-US" dirty="0"/>
              <a:t>Processes not accurately described in reporting</a:t>
            </a:r>
          </a:p>
          <a:p>
            <a:pPr lvl="2"/>
            <a:endParaRPr lang="en-US" u="sng" dirty="0"/>
          </a:p>
        </p:txBody>
      </p:sp>
    </p:spTree>
    <p:extLst>
      <p:ext uri="{BB962C8B-B14F-4D97-AF65-F5344CB8AC3E}">
        <p14:creationId xmlns:p14="http://schemas.microsoft.com/office/powerpoint/2010/main" val="2940309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48A75-2B3D-6C5F-4AAC-A7BAD8F3D223}"/>
              </a:ext>
            </a:extLst>
          </p:cNvPr>
          <p:cNvSpPr>
            <a:spLocks noGrp="1"/>
          </p:cNvSpPr>
          <p:nvPr>
            <p:ph type="title"/>
          </p:nvPr>
        </p:nvSpPr>
        <p:spPr/>
        <p:txBody>
          <a:bodyPr/>
          <a:lstStyle/>
          <a:p>
            <a:r>
              <a:rPr lang="en-US" dirty="0"/>
              <a:t>Scientific Misconduct</a:t>
            </a:r>
          </a:p>
        </p:txBody>
      </p:sp>
      <p:sp>
        <p:nvSpPr>
          <p:cNvPr id="3" name="Content Placeholder 2">
            <a:extLst>
              <a:ext uri="{FF2B5EF4-FFF2-40B4-BE49-F238E27FC236}">
                <a16:creationId xmlns:a16="http://schemas.microsoft.com/office/drawing/2014/main" id="{533CF8EC-A5CC-0103-8448-83D8F3E8D176}"/>
              </a:ext>
            </a:extLst>
          </p:cNvPr>
          <p:cNvSpPr>
            <a:spLocks noGrp="1"/>
          </p:cNvSpPr>
          <p:nvPr>
            <p:ph idx="1"/>
          </p:nvPr>
        </p:nvSpPr>
        <p:spPr/>
        <p:txBody>
          <a:bodyPr>
            <a:normAutofit/>
          </a:bodyPr>
          <a:lstStyle/>
          <a:p>
            <a:r>
              <a:rPr lang="en-US" dirty="0"/>
              <a:t>Data fabrication</a:t>
            </a:r>
          </a:p>
          <a:p>
            <a:pPr lvl="1"/>
            <a:r>
              <a:rPr lang="en-US" dirty="0"/>
              <a:t>Wholesale invention of data never collected from participants</a:t>
            </a:r>
          </a:p>
          <a:p>
            <a:r>
              <a:rPr lang="en-US" dirty="0"/>
              <a:t>Data manipulation</a:t>
            </a:r>
          </a:p>
          <a:p>
            <a:pPr lvl="1"/>
            <a:r>
              <a:rPr lang="en-US" dirty="0"/>
              <a:t>Excluding participants whose data is inconsistent with the hypothesis</a:t>
            </a:r>
          </a:p>
          <a:p>
            <a:pPr lvl="1"/>
            <a:r>
              <a:rPr lang="en-US" dirty="0"/>
              <a:t>Modifying a subset of data</a:t>
            </a:r>
          </a:p>
          <a:p>
            <a:pPr lvl="2"/>
            <a:r>
              <a:rPr lang="en-US" dirty="0"/>
              <a:t>Changing numbers, moving participants across groups</a:t>
            </a:r>
          </a:p>
          <a:p>
            <a:pPr lvl="1"/>
            <a:r>
              <a:rPr lang="en-US" dirty="0"/>
              <a:t>Small changes can have a large effect on analysis</a:t>
            </a:r>
          </a:p>
          <a:p>
            <a:pPr lvl="1"/>
            <a:r>
              <a:rPr lang="en-US" dirty="0"/>
              <a:t>Very hard to detect from standard reporting</a:t>
            </a:r>
          </a:p>
          <a:p>
            <a:r>
              <a:rPr lang="en-US" dirty="0"/>
              <a:t>Problems are usually identified based on reports from research team members</a:t>
            </a:r>
          </a:p>
        </p:txBody>
      </p:sp>
    </p:spTree>
    <p:extLst>
      <p:ext uri="{BB962C8B-B14F-4D97-AF65-F5344CB8AC3E}">
        <p14:creationId xmlns:p14="http://schemas.microsoft.com/office/powerpoint/2010/main" val="2387976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BDED5-932C-1D30-E19F-FCC0C5C27CD2}"/>
              </a:ext>
            </a:extLst>
          </p:cNvPr>
          <p:cNvSpPr>
            <a:spLocks noGrp="1"/>
          </p:cNvSpPr>
          <p:nvPr>
            <p:ph type="title"/>
          </p:nvPr>
        </p:nvSpPr>
        <p:spPr/>
        <p:txBody>
          <a:bodyPr/>
          <a:lstStyle/>
          <a:p>
            <a:r>
              <a:rPr lang="en-US" dirty="0"/>
              <a:t>Examples in Psychological Science</a:t>
            </a:r>
          </a:p>
        </p:txBody>
      </p:sp>
      <p:sp>
        <p:nvSpPr>
          <p:cNvPr id="3" name="Content Placeholder 2">
            <a:extLst>
              <a:ext uri="{FF2B5EF4-FFF2-40B4-BE49-F238E27FC236}">
                <a16:creationId xmlns:a16="http://schemas.microsoft.com/office/drawing/2014/main" id="{DD8A28B4-E6C8-3507-C1DC-470CCFED1DD0}"/>
              </a:ext>
            </a:extLst>
          </p:cNvPr>
          <p:cNvSpPr>
            <a:spLocks noGrp="1"/>
          </p:cNvSpPr>
          <p:nvPr>
            <p:ph idx="1"/>
          </p:nvPr>
        </p:nvSpPr>
        <p:spPr/>
        <p:txBody>
          <a:bodyPr>
            <a:normAutofit lnSpcReduction="10000"/>
          </a:bodyPr>
          <a:lstStyle/>
          <a:p>
            <a:r>
              <a:rPr lang="en-US" dirty="0"/>
              <a:t>Diedrik Stapel</a:t>
            </a:r>
          </a:p>
          <a:p>
            <a:pPr lvl="1"/>
            <a:r>
              <a:rPr lang="en-US" dirty="0"/>
              <a:t>Wholesale data fabrication</a:t>
            </a:r>
          </a:p>
          <a:p>
            <a:pPr lvl="1"/>
            <a:r>
              <a:rPr lang="en-US" dirty="0"/>
              <a:t>55 papers retracted</a:t>
            </a:r>
          </a:p>
          <a:p>
            <a:r>
              <a:rPr lang="en-US" dirty="0"/>
              <a:t>Marc Hauser</a:t>
            </a:r>
          </a:p>
          <a:p>
            <a:pPr lvl="1"/>
            <a:r>
              <a:rPr lang="en-US" dirty="0"/>
              <a:t>Animal cognition researcher modified data to fit hypotheses</a:t>
            </a:r>
          </a:p>
          <a:p>
            <a:r>
              <a:rPr lang="en-US" dirty="0"/>
              <a:t>Karen Ruggiero</a:t>
            </a:r>
          </a:p>
          <a:p>
            <a:pPr lvl="1"/>
            <a:r>
              <a:rPr lang="en-US" dirty="0"/>
              <a:t>Falsified/fabricated data</a:t>
            </a:r>
          </a:p>
          <a:p>
            <a:r>
              <a:rPr lang="en-US" dirty="0"/>
              <a:t>Francesca Gino</a:t>
            </a:r>
          </a:p>
          <a:p>
            <a:pPr lvl="1"/>
            <a:r>
              <a:rPr lang="en-US" dirty="0"/>
              <a:t>“Evil genius? How dishonesty can lead to greater creativity”</a:t>
            </a:r>
          </a:p>
          <a:p>
            <a:pPr lvl="1"/>
            <a:r>
              <a:rPr lang="en-US" dirty="0"/>
              <a:t>Suspected data modification</a:t>
            </a:r>
          </a:p>
        </p:txBody>
      </p:sp>
    </p:spTree>
    <p:extLst>
      <p:ext uri="{BB962C8B-B14F-4D97-AF65-F5344CB8AC3E}">
        <p14:creationId xmlns:p14="http://schemas.microsoft.com/office/powerpoint/2010/main" val="2112301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92E39-F9C9-03B5-2677-9550C0E803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80F575-5937-962E-B9B0-98C6478B280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66F0E9B-C06A-E36A-70C0-7D86739CDE1A}"/>
              </a:ext>
            </a:extLst>
          </p:cNvPr>
          <p:cNvPicPr>
            <a:picLocks noChangeAspect="1"/>
          </p:cNvPicPr>
          <p:nvPr/>
        </p:nvPicPr>
        <p:blipFill>
          <a:blip r:embed="rId2"/>
          <a:stretch>
            <a:fillRect/>
          </a:stretch>
        </p:blipFill>
        <p:spPr>
          <a:xfrm>
            <a:off x="609600" y="858221"/>
            <a:ext cx="5486400" cy="4609745"/>
          </a:xfrm>
          <a:prstGeom prst="rect">
            <a:avLst/>
          </a:prstGeom>
        </p:spPr>
      </p:pic>
      <p:pic>
        <p:nvPicPr>
          <p:cNvPr id="7" name="Picture 6">
            <a:extLst>
              <a:ext uri="{FF2B5EF4-FFF2-40B4-BE49-F238E27FC236}">
                <a16:creationId xmlns:a16="http://schemas.microsoft.com/office/drawing/2014/main" id="{9A7028F3-6672-B87D-45BC-036D28A23E37}"/>
              </a:ext>
            </a:extLst>
          </p:cNvPr>
          <p:cNvPicPr>
            <a:picLocks noChangeAspect="1"/>
          </p:cNvPicPr>
          <p:nvPr/>
        </p:nvPicPr>
        <p:blipFill>
          <a:blip r:embed="rId3"/>
          <a:stretch>
            <a:fillRect/>
          </a:stretch>
        </p:blipFill>
        <p:spPr>
          <a:xfrm>
            <a:off x="6096000" y="1299486"/>
            <a:ext cx="5486400" cy="4168480"/>
          </a:xfrm>
          <a:prstGeom prst="rect">
            <a:avLst/>
          </a:prstGeom>
        </p:spPr>
      </p:pic>
    </p:spTree>
    <p:extLst>
      <p:ext uri="{BB962C8B-B14F-4D97-AF65-F5344CB8AC3E}">
        <p14:creationId xmlns:p14="http://schemas.microsoft.com/office/powerpoint/2010/main" val="1753865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2A0E4-46E9-4A05-ACF7-39C36075EEB4}"/>
              </a:ext>
            </a:extLst>
          </p:cNvPr>
          <p:cNvSpPr>
            <a:spLocks noGrp="1"/>
          </p:cNvSpPr>
          <p:nvPr>
            <p:ph type="title"/>
          </p:nvPr>
        </p:nvSpPr>
        <p:spPr/>
        <p:txBody>
          <a:bodyPr/>
          <a:lstStyle/>
          <a:p>
            <a:r>
              <a:rPr lang="en-US" dirty="0"/>
              <a:t>Office of Research Integrity</a:t>
            </a:r>
          </a:p>
        </p:txBody>
      </p:sp>
      <p:sp>
        <p:nvSpPr>
          <p:cNvPr id="3" name="Content Placeholder 2">
            <a:extLst>
              <a:ext uri="{FF2B5EF4-FFF2-40B4-BE49-F238E27FC236}">
                <a16:creationId xmlns:a16="http://schemas.microsoft.com/office/drawing/2014/main" id="{46479659-8165-7985-BC66-8760B14ADA01}"/>
              </a:ext>
            </a:extLst>
          </p:cNvPr>
          <p:cNvSpPr>
            <a:spLocks noGrp="1"/>
          </p:cNvSpPr>
          <p:nvPr>
            <p:ph idx="1"/>
          </p:nvPr>
        </p:nvSpPr>
        <p:spPr/>
        <p:txBody>
          <a:bodyPr/>
          <a:lstStyle/>
          <a:p>
            <a:r>
              <a:rPr lang="en-US" dirty="0"/>
              <a:t>Oversight and investigation of suspected misconduct</a:t>
            </a:r>
          </a:p>
          <a:p>
            <a:pPr lvl="1"/>
            <a:r>
              <a:rPr lang="en-US" dirty="0"/>
              <a:t>Scientists asked to carry out review and investigation</a:t>
            </a:r>
          </a:p>
          <a:p>
            <a:pPr lvl="1"/>
            <a:r>
              <a:rPr lang="en-US" dirty="0"/>
              <a:t>Full respect for privacy of the researcher suspect</a:t>
            </a:r>
          </a:p>
          <a:p>
            <a:pPr lvl="2"/>
            <a:r>
              <a:rPr lang="en-US" dirty="0"/>
              <a:t>Innocent until proven guilty</a:t>
            </a:r>
          </a:p>
          <a:p>
            <a:pPr lvl="2"/>
            <a:r>
              <a:rPr lang="en-US" dirty="0"/>
              <a:t>Avoid damaging reputation</a:t>
            </a:r>
          </a:p>
          <a:p>
            <a:endParaRPr lang="en-US" dirty="0"/>
          </a:p>
          <a:p>
            <a:r>
              <a:rPr lang="en-US" dirty="0"/>
              <a:t>Sloppy research practices</a:t>
            </a:r>
          </a:p>
          <a:p>
            <a:pPr lvl="1"/>
            <a:r>
              <a:rPr lang="en-US" dirty="0"/>
              <a:t>Participants excluded for “experimenter error”</a:t>
            </a:r>
          </a:p>
          <a:p>
            <a:pPr lvl="1"/>
            <a:r>
              <a:rPr lang="en-US" dirty="0"/>
              <a:t>Inaccurate scoring, tracking</a:t>
            </a:r>
          </a:p>
          <a:p>
            <a:pPr lvl="1"/>
            <a:r>
              <a:rPr lang="en-US" dirty="0"/>
              <a:t>No process is perfect, when does imperfection become misconduct</a:t>
            </a:r>
          </a:p>
          <a:p>
            <a:endParaRPr lang="en-US" dirty="0"/>
          </a:p>
        </p:txBody>
      </p:sp>
    </p:spTree>
    <p:extLst>
      <p:ext uri="{BB962C8B-B14F-4D97-AF65-F5344CB8AC3E}">
        <p14:creationId xmlns:p14="http://schemas.microsoft.com/office/powerpoint/2010/main" val="3184661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0978C-1C8B-C6AD-963F-C26A84C0A7BA}"/>
              </a:ext>
            </a:extLst>
          </p:cNvPr>
          <p:cNvSpPr>
            <a:spLocks noGrp="1"/>
          </p:cNvSpPr>
          <p:nvPr>
            <p:ph type="title"/>
          </p:nvPr>
        </p:nvSpPr>
        <p:spPr/>
        <p:txBody>
          <a:bodyPr/>
          <a:lstStyle/>
          <a:p>
            <a:r>
              <a:rPr lang="en-US" dirty="0"/>
              <a:t>Transparency: Being Public</a:t>
            </a:r>
          </a:p>
        </p:txBody>
      </p:sp>
      <p:sp>
        <p:nvSpPr>
          <p:cNvPr id="3" name="Content Placeholder 2">
            <a:extLst>
              <a:ext uri="{FF2B5EF4-FFF2-40B4-BE49-F238E27FC236}">
                <a16:creationId xmlns:a16="http://schemas.microsoft.com/office/drawing/2014/main" id="{AA14E0C6-D422-84F0-8EFD-0F295FBE6574}"/>
              </a:ext>
            </a:extLst>
          </p:cNvPr>
          <p:cNvSpPr>
            <a:spLocks noGrp="1"/>
          </p:cNvSpPr>
          <p:nvPr>
            <p:ph idx="1"/>
          </p:nvPr>
        </p:nvSpPr>
        <p:spPr/>
        <p:txBody>
          <a:bodyPr/>
          <a:lstStyle/>
          <a:p>
            <a:pPr>
              <a:lnSpc>
                <a:spcPct val="90000"/>
              </a:lnSpc>
            </a:pPr>
            <a:r>
              <a:rPr lang="en-US" dirty="0"/>
              <a:t>All aspects of the research process are auditable</a:t>
            </a:r>
          </a:p>
          <a:p>
            <a:pPr lvl="1"/>
            <a:r>
              <a:rPr lang="en-US" dirty="0"/>
              <a:t>Participant privacy must still be protected</a:t>
            </a:r>
          </a:p>
          <a:p>
            <a:pPr lvl="1"/>
            <a:r>
              <a:rPr lang="en-US" dirty="0"/>
              <a:t>Researchers protected from exposure to competing labs</a:t>
            </a:r>
          </a:p>
          <a:p>
            <a:pPr lvl="1"/>
            <a:r>
              <a:rPr lang="en-US" dirty="0"/>
              <a:t>Patent, copyright, and invention privacy</a:t>
            </a:r>
          </a:p>
          <a:p>
            <a:pPr>
              <a:lnSpc>
                <a:spcPct val="90000"/>
              </a:lnSpc>
            </a:pPr>
            <a:r>
              <a:rPr lang="en-US" dirty="0"/>
              <a:t>Publication</a:t>
            </a:r>
          </a:p>
          <a:p>
            <a:pPr lvl="1">
              <a:lnSpc>
                <a:spcPct val="90000"/>
              </a:lnSpc>
            </a:pPr>
            <a:r>
              <a:rPr lang="en-US" dirty="0"/>
              <a:t>Full, fair &amp; accurate reporting, making all resources available </a:t>
            </a:r>
          </a:p>
          <a:p>
            <a:pPr lvl="2"/>
            <a:r>
              <a:rPr lang="en-US" dirty="0"/>
              <a:t>Not always practically effective</a:t>
            </a:r>
          </a:p>
          <a:p>
            <a:pPr lvl="1">
              <a:lnSpc>
                <a:spcPct val="90000"/>
              </a:lnSpc>
            </a:pPr>
            <a:r>
              <a:rPr lang="en-US" dirty="0"/>
              <a:t>Supplementary materials via journal website</a:t>
            </a:r>
          </a:p>
          <a:p>
            <a:pPr lvl="1">
              <a:lnSpc>
                <a:spcPct val="90000"/>
              </a:lnSpc>
            </a:pPr>
            <a:r>
              <a:rPr lang="en-US" dirty="0"/>
              <a:t>Public availability of de-identified data</a:t>
            </a:r>
          </a:p>
          <a:p>
            <a:pPr lvl="2"/>
            <a:r>
              <a:rPr lang="en-US" dirty="0"/>
              <a:t>Does not always include excluded data</a:t>
            </a:r>
          </a:p>
          <a:p>
            <a:endParaRPr lang="en-US" dirty="0"/>
          </a:p>
        </p:txBody>
      </p:sp>
    </p:spTree>
    <p:extLst>
      <p:ext uri="{BB962C8B-B14F-4D97-AF65-F5344CB8AC3E}">
        <p14:creationId xmlns:p14="http://schemas.microsoft.com/office/powerpoint/2010/main" val="1458181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CBAE7-CDEB-B7E0-409E-B6399FC44910}"/>
              </a:ext>
            </a:extLst>
          </p:cNvPr>
          <p:cNvSpPr>
            <a:spLocks noGrp="1"/>
          </p:cNvSpPr>
          <p:nvPr>
            <p:ph type="title"/>
          </p:nvPr>
        </p:nvSpPr>
        <p:spPr/>
        <p:txBody>
          <a:bodyPr/>
          <a:lstStyle/>
          <a:p>
            <a:r>
              <a:rPr lang="en-US" dirty="0"/>
              <a:t>Plagiarism</a:t>
            </a:r>
          </a:p>
        </p:txBody>
      </p:sp>
      <p:sp>
        <p:nvSpPr>
          <p:cNvPr id="3" name="Content Placeholder 2">
            <a:extLst>
              <a:ext uri="{FF2B5EF4-FFF2-40B4-BE49-F238E27FC236}">
                <a16:creationId xmlns:a16="http://schemas.microsoft.com/office/drawing/2014/main" id="{0521D31B-1514-59D3-3A29-85832CF72513}"/>
              </a:ext>
            </a:extLst>
          </p:cNvPr>
          <p:cNvSpPr>
            <a:spLocks noGrp="1"/>
          </p:cNvSpPr>
          <p:nvPr>
            <p:ph idx="1"/>
          </p:nvPr>
        </p:nvSpPr>
        <p:spPr/>
        <p:txBody>
          <a:bodyPr>
            <a:normAutofit/>
          </a:bodyPr>
          <a:lstStyle/>
          <a:p>
            <a:pPr>
              <a:lnSpc>
                <a:spcPct val="90000"/>
              </a:lnSpc>
            </a:pPr>
            <a:r>
              <a:rPr lang="en-US" dirty="0"/>
              <a:t>Actual appropriation of others’ ideas is rare</a:t>
            </a:r>
          </a:p>
          <a:p>
            <a:pPr>
              <a:lnSpc>
                <a:spcPct val="90000"/>
              </a:lnSpc>
            </a:pPr>
            <a:r>
              <a:rPr lang="en-US" dirty="0"/>
              <a:t>Scientific progress is mostly using data to build on ideas</a:t>
            </a:r>
          </a:p>
          <a:p>
            <a:pPr lvl="1"/>
            <a:r>
              <a:rPr lang="en-US" dirty="0"/>
              <a:t>Citations clarify and strengthen scientific reports</a:t>
            </a:r>
          </a:p>
          <a:p>
            <a:r>
              <a:rPr lang="en-US" dirty="0"/>
              <a:t>Authorial credit to collaborators and research team</a:t>
            </a:r>
          </a:p>
          <a:p>
            <a:pPr lvl="1"/>
            <a:r>
              <a:rPr lang="en-US" dirty="0"/>
              <a:t>Significant intellectual contribution</a:t>
            </a:r>
          </a:p>
          <a:p>
            <a:pPr lvl="1"/>
            <a:r>
              <a:rPr lang="en-US" dirty="0"/>
              <a:t>Definition varies across psychology, medicine for example</a:t>
            </a:r>
          </a:p>
          <a:p>
            <a:pPr lvl="1"/>
            <a:r>
              <a:rPr lang="en-US" dirty="0"/>
              <a:t>Not uncommon source of in-laboratory friction</a:t>
            </a:r>
          </a:p>
          <a:p>
            <a:r>
              <a:rPr lang="en-US" dirty="0"/>
              <a:t>“Scooping” other research groups</a:t>
            </a:r>
          </a:p>
          <a:p>
            <a:pPr lvl="1"/>
            <a:r>
              <a:rPr lang="en-US" dirty="0"/>
              <a:t>Multiple labs racing to complete a project for a high-profile publication</a:t>
            </a:r>
          </a:p>
          <a:p>
            <a:pPr lvl="1"/>
            <a:endParaRPr lang="en-US" dirty="0"/>
          </a:p>
          <a:p>
            <a:endParaRPr lang="en-US" dirty="0"/>
          </a:p>
        </p:txBody>
      </p:sp>
    </p:spTree>
    <p:extLst>
      <p:ext uri="{BB962C8B-B14F-4D97-AF65-F5344CB8AC3E}">
        <p14:creationId xmlns:p14="http://schemas.microsoft.com/office/powerpoint/2010/main" val="1961449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B3E8E-A76F-EFFA-0F79-3A00FEF62AF6}"/>
              </a:ext>
            </a:extLst>
          </p:cNvPr>
          <p:cNvSpPr>
            <a:spLocks noGrp="1"/>
          </p:cNvSpPr>
          <p:nvPr>
            <p:ph type="title"/>
          </p:nvPr>
        </p:nvSpPr>
        <p:spPr/>
        <p:txBody>
          <a:bodyPr/>
          <a:lstStyle/>
          <a:p>
            <a:r>
              <a:rPr lang="en-US" dirty="0"/>
              <a:t>RCR Questions</a:t>
            </a:r>
          </a:p>
        </p:txBody>
      </p:sp>
      <p:sp>
        <p:nvSpPr>
          <p:cNvPr id="3" name="Content Placeholder 2">
            <a:extLst>
              <a:ext uri="{FF2B5EF4-FFF2-40B4-BE49-F238E27FC236}">
                <a16:creationId xmlns:a16="http://schemas.microsoft.com/office/drawing/2014/main" id="{B04BE7BE-3D07-5F84-C3CA-C82A17104D22}"/>
              </a:ext>
            </a:extLst>
          </p:cNvPr>
          <p:cNvSpPr>
            <a:spLocks noGrp="1"/>
          </p:cNvSpPr>
          <p:nvPr>
            <p:ph idx="1"/>
          </p:nvPr>
        </p:nvSpPr>
        <p:spPr/>
        <p:txBody>
          <a:bodyPr/>
          <a:lstStyle/>
          <a:p>
            <a:r>
              <a:rPr lang="en-US" dirty="0"/>
              <a:t>Define each of the following forms of research misconduct: fabrication, falsification, and plagiarism. Provide an example of each.</a:t>
            </a:r>
          </a:p>
          <a:p>
            <a:r>
              <a:rPr lang="en-US" dirty="0"/>
              <a:t>A researcher selectively reports only the statistically significant results from a larger set of analyses. Is this considered misconduct or questionable research practice? Why?</a:t>
            </a:r>
          </a:p>
          <a:p>
            <a:r>
              <a:rPr lang="en-US" dirty="0"/>
              <a:t>What is a conflict of interest in research, and how should it be disclosed or managed? Give an example involving psychological research.</a:t>
            </a:r>
          </a:p>
          <a:p>
            <a:endParaRPr lang="en-US" dirty="0"/>
          </a:p>
        </p:txBody>
      </p:sp>
    </p:spTree>
    <p:extLst>
      <p:ext uri="{BB962C8B-B14F-4D97-AF65-F5344CB8AC3E}">
        <p14:creationId xmlns:p14="http://schemas.microsoft.com/office/powerpoint/2010/main" val="3312153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a:t>RCR Errors</a:t>
            </a:r>
          </a:p>
        </p:txBody>
      </p:sp>
      <p:sp>
        <p:nvSpPr>
          <p:cNvPr id="4099" name="Content Placeholder 2"/>
          <p:cNvSpPr>
            <a:spLocks noGrp="1"/>
          </p:cNvSpPr>
          <p:nvPr>
            <p:ph idx="1"/>
          </p:nvPr>
        </p:nvSpPr>
        <p:spPr/>
        <p:txBody>
          <a:bodyPr/>
          <a:lstStyle/>
          <a:p>
            <a:pPr algn="l"/>
            <a:r>
              <a:rPr lang="en-US" b="0" i="0" dirty="0">
                <a:solidFill>
                  <a:srgbClr val="2D3B45"/>
                </a:solidFill>
                <a:effectLst/>
                <a:latin typeface="Lato Extended"/>
              </a:rPr>
              <a:t>Suppose a friend doing a research project said to you, “I’m sure my hypothesis is correct, so I’ll just give my participants a hint here and there to make sure the data come out properly.”</a:t>
            </a:r>
          </a:p>
          <a:p>
            <a:pPr algn="l"/>
            <a:endParaRPr lang="en-US" b="0" i="0" dirty="0">
              <a:solidFill>
                <a:srgbClr val="2D3B45"/>
              </a:solidFill>
              <a:effectLst/>
              <a:latin typeface="Lato Extended"/>
            </a:endParaRPr>
          </a:p>
          <a:p>
            <a:r>
              <a:rPr lang="en-US" b="0" i="0" dirty="0">
                <a:solidFill>
                  <a:srgbClr val="2D3B45"/>
                </a:solidFill>
                <a:effectLst/>
                <a:latin typeface="Lato Extended"/>
              </a:rPr>
              <a:t>What kind of RCR violation is this?</a:t>
            </a:r>
          </a:p>
          <a:p>
            <a:r>
              <a:rPr lang="en-US" b="0" i="0" dirty="0">
                <a:solidFill>
                  <a:srgbClr val="2D3B45"/>
                </a:solidFill>
                <a:effectLst/>
                <a:latin typeface="Lato Extended"/>
              </a:rPr>
              <a:t>What methodological approach should be used by this research to avoid this problem?</a:t>
            </a:r>
          </a:p>
        </p:txBody>
      </p:sp>
    </p:spTree>
    <p:extLst>
      <p:ext uri="{BB962C8B-B14F-4D97-AF65-F5344CB8AC3E}">
        <p14:creationId xmlns:p14="http://schemas.microsoft.com/office/powerpoint/2010/main" val="1103811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C076A-5429-7C63-C7EB-538A848F93CE}"/>
              </a:ext>
            </a:extLst>
          </p:cNvPr>
          <p:cNvSpPr>
            <a:spLocks noGrp="1"/>
          </p:cNvSpPr>
          <p:nvPr>
            <p:ph type="title"/>
          </p:nvPr>
        </p:nvSpPr>
        <p:spPr/>
        <p:txBody>
          <a:bodyPr/>
          <a:lstStyle/>
          <a:p>
            <a:r>
              <a:rPr lang="en-US" dirty="0"/>
              <a:t>RCR Training</a:t>
            </a:r>
          </a:p>
        </p:txBody>
      </p:sp>
      <p:sp>
        <p:nvSpPr>
          <p:cNvPr id="3" name="Content Placeholder 2">
            <a:extLst>
              <a:ext uri="{FF2B5EF4-FFF2-40B4-BE49-F238E27FC236}">
                <a16:creationId xmlns:a16="http://schemas.microsoft.com/office/drawing/2014/main" id="{2B7B3253-6D67-C976-1B2C-41F2B5765AD1}"/>
              </a:ext>
            </a:extLst>
          </p:cNvPr>
          <p:cNvSpPr>
            <a:spLocks noGrp="1"/>
          </p:cNvSpPr>
          <p:nvPr>
            <p:ph idx="1"/>
          </p:nvPr>
        </p:nvSpPr>
        <p:spPr/>
        <p:txBody>
          <a:bodyPr/>
          <a:lstStyle/>
          <a:p>
            <a:r>
              <a:rPr lang="en-US" dirty="0"/>
              <a:t>All research staff, including graduate students, are required to complete training for any grant-funded research</a:t>
            </a:r>
          </a:p>
          <a:p>
            <a:pPr lvl="1"/>
            <a:r>
              <a:rPr lang="en-US" dirty="0"/>
              <a:t>Not necessarily because unethical researchers do not know what is unethical</a:t>
            </a:r>
          </a:p>
          <a:p>
            <a:pPr lvl="1"/>
            <a:r>
              <a:rPr lang="en-US" dirty="0"/>
              <a:t>Creates a culture where responsible researchers notice if others are not</a:t>
            </a:r>
          </a:p>
          <a:p>
            <a:r>
              <a:rPr lang="en-US" dirty="0"/>
              <a:t>All researchers need a strong respect for data integrity</a:t>
            </a:r>
          </a:p>
          <a:p>
            <a:r>
              <a:rPr lang="en-US" dirty="0"/>
              <a:t>Specific practices differ across labs</a:t>
            </a:r>
          </a:p>
          <a:p>
            <a:pPr lvl="1"/>
            <a:r>
              <a:rPr lang="en-US" dirty="0"/>
              <a:t>Rules for authorial credit on publications</a:t>
            </a:r>
          </a:p>
          <a:p>
            <a:pPr lvl="1"/>
            <a:r>
              <a:rPr lang="en-US" dirty="0"/>
              <a:t>Collaboration policies</a:t>
            </a:r>
          </a:p>
          <a:p>
            <a:pPr lvl="1"/>
            <a:r>
              <a:rPr lang="en-US" dirty="0"/>
              <a:t>Replication/pre-registration policies</a:t>
            </a:r>
          </a:p>
        </p:txBody>
      </p:sp>
    </p:spTree>
    <p:extLst>
      <p:ext uri="{BB962C8B-B14F-4D97-AF65-F5344CB8AC3E}">
        <p14:creationId xmlns:p14="http://schemas.microsoft.com/office/powerpoint/2010/main" val="1924947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7B66E-D989-1E88-76BB-FECA46C02E4D}"/>
              </a:ext>
            </a:extLst>
          </p:cNvPr>
          <p:cNvSpPr>
            <a:spLocks noGrp="1"/>
          </p:cNvSpPr>
          <p:nvPr>
            <p:ph type="title"/>
          </p:nvPr>
        </p:nvSpPr>
        <p:spPr/>
        <p:txBody>
          <a:bodyPr/>
          <a:lstStyle/>
          <a:p>
            <a:r>
              <a:rPr lang="en-US" dirty="0"/>
              <a:t>Final Project: Collaborative Research</a:t>
            </a:r>
          </a:p>
        </p:txBody>
      </p:sp>
      <p:sp>
        <p:nvSpPr>
          <p:cNvPr id="3" name="Content Placeholder 2">
            <a:extLst>
              <a:ext uri="{FF2B5EF4-FFF2-40B4-BE49-F238E27FC236}">
                <a16:creationId xmlns:a16="http://schemas.microsoft.com/office/drawing/2014/main" id="{71686D6B-EAD3-FB15-BA7B-B10A72F71B55}"/>
              </a:ext>
            </a:extLst>
          </p:cNvPr>
          <p:cNvSpPr>
            <a:spLocks noGrp="1"/>
          </p:cNvSpPr>
          <p:nvPr>
            <p:ph idx="1"/>
          </p:nvPr>
        </p:nvSpPr>
        <p:spPr/>
        <p:txBody>
          <a:bodyPr>
            <a:normAutofit lnSpcReduction="10000"/>
          </a:bodyPr>
          <a:lstStyle/>
          <a:p>
            <a:r>
              <a:rPr lang="en-US" dirty="0"/>
              <a:t>Work together on design, data collection, analysis</a:t>
            </a:r>
          </a:p>
          <a:p>
            <a:pPr lvl="1"/>
            <a:r>
              <a:rPr lang="en-US" dirty="0"/>
              <a:t>Shared Methods &amp; Results section</a:t>
            </a:r>
          </a:p>
          <a:p>
            <a:r>
              <a:rPr lang="en-US" dirty="0"/>
              <a:t>Work separately on Introduction, Discussion, Abstract</a:t>
            </a:r>
          </a:p>
          <a:p>
            <a:pPr lvl="1"/>
            <a:r>
              <a:rPr lang="en-US" dirty="0"/>
              <a:t>Make your own figures</a:t>
            </a:r>
          </a:p>
          <a:p>
            <a:pPr lvl="1"/>
            <a:r>
              <a:rPr lang="en-US" dirty="0"/>
              <a:t>Differing interpretations of the results are possible</a:t>
            </a:r>
          </a:p>
          <a:p>
            <a:pPr lvl="1"/>
            <a:r>
              <a:rPr lang="en-US" dirty="0"/>
              <a:t>Each paper is your own (first author)</a:t>
            </a:r>
          </a:p>
          <a:p>
            <a:pPr lvl="1"/>
            <a:endParaRPr lang="en-US" dirty="0"/>
          </a:p>
          <a:p>
            <a:r>
              <a:rPr lang="en-US" dirty="0"/>
              <a:t>Academic integrity</a:t>
            </a:r>
          </a:p>
          <a:p>
            <a:pPr lvl="1"/>
            <a:r>
              <a:rPr lang="en-US" dirty="0"/>
              <a:t>Building on other author’s ideas is </a:t>
            </a:r>
            <a:r>
              <a:rPr lang="en-US" u="sng" dirty="0"/>
              <a:t>not plagiarism</a:t>
            </a:r>
            <a:r>
              <a:rPr lang="en-US" dirty="0"/>
              <a:t>, citations strengthen papers</a:t>
            </a:r>
          </a:p>
          <a:p>
            <a:pPr lvl="1"/>
            <a:r>
              <a:rPr lang="en-US" dirty="0"/>
              <a:t>Taking other people’s words as your own is </a:t>
            </a:r>
            <a:r>
              <a:rPr lang="en-US" u="sng" dirty="0"/>
              <a:t>plagiarism</a:t>
            </a:r>
          </a:p>
          <a:p>
            <a:pPr lvl="1"/>
            <a:r>
              <a:rPr lang="en-US" dirty="0"/>
              <a:t>Data fabrication is </a:t>
            </a:r>
            <a:r>
              <a:rPr lang="en-US" u="sng" dirty="0"/>
              <a:t>fraud</a:t>
            </a:r>
          </a:p>
        </p:txBody>
      </p:sp>
    </p:spTree>
    <p:extLst>
      <p:ext uri="{BB962C8B-B14F-4D97-AF65-F5344CB8AC3E}">
        <p14:creationId xmlns:p14="http://schemas.microsoft.com/office/powerpoint/2010/main" val="2880029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9450E-8E03-F7BF-AB32-90B0294EF8BE}"/>
              </a:ext>
            </a:extLst>
          </p:cNvPr>
          <p:cNvSpPr>
            <a:spLocks noGrp="1"/>
          </p:cNvSpPr>
          <p:nvPr>
            <p:ph type="title"/>
          </p:nvPr>
        </p:nvSpPr>
        <p:spPr/>
        <p:txBody>
          <a:bodyPr/>
          <a:lstStyle/>
          <a:p>
            <a:r>
              <a:rPr lang="en-US" dirty="0"/>
              <a:t>Planning for Final Proposal</a:t>
            </a:r>
          </a:p>
        </p:txBody>
      </p:sp>
      <p:sp>
        <p:nvSpPr>
          <p:cNvPr id="3" name="Content Placeholder 2">
            <a:extLst>
              <a:ext uri="{FF2B5EF4-FFF2-40B4-BE49-F238E27FC236}">
                <a16:creationId xmlns:a16="http://schemas.microsoft.com/office/drawing/2014/main" id="{3A2AFEF8-7811-E2EA-CF81-4607B11F8F61}"/>
              </a:ext>
            </a:extLst>
          </p:cNvPr>
          <p:cNvSpPr>
            <a:spLocks noGrp="1"/>
          </p:cNvSpPr>
          <p:nvPr>
            <p:ph idx="1"/>
          </p:nvPr>
        </p:nvSpPr>
        <p:spPr/>
        <p:txBody>
          <a:bodyPr/>
          <a:lstStyle/>
          <a:p>
            <a:r>
              <a:rPr lang="en-US" dirty="0"/>
              <a:t>Submit to us as if we are the IRB</a:t>
            </a:r>
          </a:p>
          <a:p>
            <a:pPr lvl="1"/>
            <a:r>
              <a:rPr lang="en-US" dirty="0"/>
              <a:t>Present a full description of your protocol</a:t>
            </a:r>
          </a:p>
          <a:p>
            <a:pPr lvl="2"/>
            <a:r>
              <a:rPr lang="en-US" dirty="0"/>
              <a:t>Motivating hypothesis</a:t>
            </a:r>
          </a:p>
          <a:p>
            <a:pPr lvl="2"/>
            <a:r>
              <a:rPr lang="en-US" dirty="0"/>
              <a:t>Procedure as a draft of your Methods section</a:t>
            </a:r>
          </a:p>
          <a:p>
            <a:pPr lvl="1"/>
            <a:r>
              <a:rPr lang="en-US" dirty="0"/>
              <a:t>All stimuli to be used</a:t>
            </a:r>
          </a:p>
          <a:p>
            <a:pPr lvl="2"/>
            <a:r>
              <a:rPr lang="en-US" dirty="0"/>
              <a:t>Working version of an online survey including all conditions</a:t>
            </a:r>
          </a:p>
          <a:p>
            <a:pPr lvl="2"/>
            <a:endParaRPr lang="en-US" dirty="0"/>
          </a:p>
          <a:p>
            <a:r>
              <a:rPr lang="en-US" dirty="0"/>
              <a:t>No data collection until explicit approval</a:t>
            </a:r>
          </a:p>
          <a:p>
            <a:pPr lvl="1"/>
            <a:r>
              <a:rPr lang="en-US" dirty="0"/>
              <a:t>Once approved, go as quickly as possible</a:t>
            </a:r>
          </a:p>
        </p:txBody>
      </p:sp>
    </p:spTree>
    <p:extLst>
      <p:ext uri="{BB962C8B-B14F-4D97-AF65-F5344CB8AC3E}">
        <p14:creationId xmlns:p14="http://schemas.microsoft.com/office/powerpoint/2010/main" val="3631950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A84A2-DF5D-E286-9356-04044032B78B}"/>
              </a:ext>
            </a:extLst>
          </p:cNvPr>
          <p:cNvSpPr>
            <a:spLocks noGrp="1"/>
          </p:cNvSpPr>
          <p:nvPr>
            <p:ph type="title"/>
          </p:nvPr>
        </p:nvSpPr>
        <p:spPr/>
        <p:txBody>
          <a:bodyPr/>
          <a:lstStyle/>
          <a:p>
            <a:r>
              <a:rPr lang="en-US" dirty="0"/>
              <a:t>Practical points</a:t>
            </a:r>
          </a:p>
        </p:txBody>
      </p:sp>
      <p:sp>
        <p:nvSpPr>
          <p:cNvPr id="3" name="Content Placeholder 2">
            <a:extLst>
              <a:ext uri="{FF2B5EF4-FFF2-40B4-BE49-F238E27FC236}">
                <a16:creationId xmlns:a16="http://schemas.microsoft.com/office/drawing/2014/main" id="{DB8324B9-E925-585F-E1EE-E4D4F3A594AB}"/>
              </a:ext>
            </a:extLst>
          </p:cNvPr>
          <p:cNvSpPr>
            <a:spLocks noGrp="1"/>
          </p:cNvSpPr>
          <p:nvPr>
            <p:ph idx="1"/>
          </p:nvPr>
        </p:nvSpPr>
        <p:spPr/>
        <p:txBody>
          <a:bodyPr>
            <a:normAutofit fontScale="92500" lnSpcReduction="10000"/>
          </a:bodyPr>
          <a:lstStyle/>
          <a:p>
            <a:r>
              <a:rPr lang="en-US" dirty="0"/>
              <a:t>Design must be 2x2</a:t>
            </a:r>
          </a:p>
          <a:p>
            <a:pPr lvl="1"/>
            <a:r>
              <a:rPr lang="en-US" dirty="0"/>
              <a:t>At least one factor must be manipulated across groups</a:t>
            </a:r>
          </a:p>
          <a:p>
            <a:pPr lvl="1"/>
            <a:r>
              <a:rPr lang="en-US" dirty="0"/>
              <a:t>Randomly assigned</a:t>
            </a:r>
          </a:p>
          <a:p>
            <a:r>
              <a:rPr lang="en-US" dirty="0"/>
              <a:t>Minimal ethical risk to participants</a:t>
            </a:r>
          </a:p>
          <a:p>
            <a:pPr lvl="1"/>
            <a:r>
              <a:rPr lang="en-US" dirty="0"/>
              <a:t>No personal/private information</a:t>
            </a:r>
          </a:p>
          <a:p>
            <a:pPr lvl="1"/>
            <a:r>
              <a:rPr lang="en-US" dirty="0"/>
              <a:t>No deception other than blind to conditions</a:t>
            </a:r>
          </a:p>
          <a:p>
            <a:pPr lvl="1"/>
            <a:r>
              <a:rPr lang="en-US" dirty="0"/>
              <a:t>No emotional manipulations</a:t>
            </a:r>
          </a:p>
          <a:p>
            <a:r>
              <a:rPr lang="en-US" dirty="0"/>
              <a:t>Build on existing research</a:t>
            </a:r>
          </a:p>
          <a:p>
            <a:pPr lvl="1"/>
            <a:r>
              <a:rPr lang="en-US" dirty="0"/>
              <a:t>Add something new</a:t>
            </a:r>
          </a:p>
          <a:p>
            <a:r>
              <a:rPr lang="en-US" dirty="0"/>
              <a:t>Online data collection can be used</a:t>
            </a:r>
          </a:p>
          <a:p>
            <a:pPr lvl="1"/>
            <a:r>
              <a:rPr lang="en-US" dirty="0"/>
              <a:t>Qualtrics: https://www.it.northwestern.edu/software/qualtrics/index.html</a:t>
            </a:r>
          </a:p>
        </p:txBody>
      </p:sp>
    </p:spTree>
    <p:extLst>
      <p:ext uri="{BB962C8B-B14F-4D97-AF65-F5344CB8AC3E}">
        <p14:creationId xmlns:p14="http://schemas.microsoft.com/office/powerpoint/2010/main" val="2389824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CB80F-7CFD-12EB-F07A-5A0431DEC003}"/>
              </a:ext>
            </a:extLst>
          </p:cNvPr>
          <p:cNvSpPr>
            <a:spLocks noGrp="1"/>
          </p:cNvSpPr>
          <p:nvPr>
            <p:ph type="title"/>
          </p:nvPr>
        </p:nvSpPr>
        <p:spPr/>
        <p:txBody>
          <a:bodyPr/>
          <a:lstStyle/>
          <a:p>
            <a:r>
              <a:rPr lang="en-US" dirty="0"/>
              <a:t>For Friday, 10/31</a:t>
            </a:r>
          </a:p>
        </p:txBody>
      </p:sp>
      <p:sp>
        <p:nvSpPr>
          <p:cNvPr id="3" name="Content Placeholder 2">
            <a:extLst>
              <a:ext uri="{FF2B5EF4-FFF2-40B4-BE49-F238E27FC236}">
                <a16:creationId xmlns:a16="http://schemas.microsoft.com/office/drawing/2014/main" id="{D865B403-401B-302F-4740-D3F09E4A815F}"/>
              </a:ext>
            </a:extLst>
          </p:cNvPr>
          <p:cNvSpPr>
            <a:spLocks noGrp="1"/>
          </p:cNvSpPr>
          <p:nvPr>
            <p:ph idx="1"/>
          </p:nvPr>
        </p:nvSpPr>
        <p:spPr/>
        <p:txBody>
          <a:bodyPr/>
          <a:lstStyle/>
          <a:p>
            <a:r>
              <a:rPr lang="en-US" dirty="0"/>
              <a:t>Reading #10, Stephens et al. (2009)</a:t>
            </a:r>
          </a:p>
          <a:p>
            <a:pPr lvl="1"/>
            <a:r>
              <a:rPr lang="en-US" dirty="0"/>
              <a:t>Questions </a:t>
            </a:r>
            <a:r>
              <a:rPr lang="en-US"/>
              <a:t>on Canvas</a:t>
            </a:r>
            <a:endParaRPr lang="en-US" dirty="0"/>
          </a:p>
          <a:p>
            <a:pPr lvl="1"/>
            <a:r>
              <a:rPr lang="en-US" dirty="0"/>
              <a:t>Happy Halloween! </a:t>
            </a:r>
          </a:p>
        </p:txBody>
      </p:sp>
    </p:spTree>
    <p:extLst>
      <p:ext uri="{BB962C8B-B14F-4D97-AF65-F5344CB8AC3E}">
        <p14:creationId xmlns:p14="http://schemas.microsoft.com/office/powerpoint/2010/main" val="26559568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11495</TotalTime>
  <Words>1221</Words>
  <Application>Microsoft Office PowerPoint</Application>
  <PresentationFormat>Widescreen</PresentationFormat>
  <Paragraphs>151</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BlinkMacSystemFont</vt:lpstr>
      <vt:lpstr>Calibri</vt:lpstr>
      <vt:lpstr>Calibri Light</vt:lpstr>
      <vt:lpstr>Cambria</vt:lpstr>
      <vt:lpstr>interfaceregular</vt:lpstr>
      <vt:lpstr>Lato Extended</vt:lpstr>
      <vt:lpstr>Office Theme</vt:lpstr>
      <vt:lpstr>301, Oct 29, Class 19</vt:lpstr>
      <vt:lpstr>PowerPoint Presentation</vt:lpstr>
      <vt:lpstr>Vaccine skepticism</vt:lpstr>
      <vt:lpstr>PowerPoint Presentation</vt:lpstr>
      <vt:lpstr>Full Investigation</vt:lpstr>
      <vt:lpstr>Research Integrity</vt:lpstr>
      <vt:lpstr>Responsible Conduct of Research</vt:lpstr>
      <vt:lpstr>Scientific Misconduct</vt:lpstr>
      <vt:lpstr>Examples in Psychological Science</vt:lpstr>
      <vt:lpstr>PowerPoint Presentation</vt:lpstr>
      <vt:lpstr>Office of Research Integrity</vt:lpstr>
      <vt:lpstr>Transparency: Being Public</vt:lpstr>
      <vt:lpstr>Plagiarism</vt:lpstr>
      <vt:lpstr>RCR Questions</vt:lpstr>
      <vt:lpstr>RCR Errors</vt:lpstr>
      <vt:lpstr>RCR Training</vt:lpstr>
      <vt:lpstr>Final Project: Collaborative Research</vt:lpstr>
      <vt:lpstr>Planning for Final Proposal</vt:lpstr>
      <vt:lpstr>Practical points</vt:lpstr>
      <vt:lpstr>For Friday, 10/31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Nov 7, Class 20</dc:title>
  <dc:creator>Paul Reber</dc:creator>
  <cp:lastModifiedBy>Paul Reber</cp:lastModifiedBy>
  <cp:revision>19</cp:revision>
  <cp:lastPrinted>2025-10-29T14:31:48Z</cp:lastPrinted>
  <dcterms:created xsi:type="dcterms:W3CDTF">2022-11-06T00:06:01Z</dcterms:created>
  <dcterms:modified xsi:type="dcterms:W3CDTF">2025-10-30T04:11:18Z</dcterms:modified>
</cp:coreProperties>
</file>