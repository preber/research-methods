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63" r:id="rId3"/>
    <p:sldId id="364" r:id="rId4"/>
    <p:sldId id="363" r:id="rId5"/>
    <p:sldId id="377" r:id="rId6"/>
    <p:sldId id="378" r:id="rId7"/>
    <p:sldId id="367" r:id="rId8"/>
    <p:sldId id="368" r:id="rId9"/>
    <p:sldId id="365" r:id="rId10"/>
    <p:sldId id="366" r:id="rId11"/>
    <p:sldId id="370" r:id="rId12"/>
    <p:sldId id="369" r:id="rId13"/>
    <p:sldId id="374" r:id="rId14"/>
    <p:sldId id="371" r:id="rId15"/>
    <p:sldId id="376" r:id="rId16"/>
    <p:sldId id="375" r:id="rId17"/>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5" autoAdjust="0"/>
    <p:restoredTop sz="94660"/>
  </p:normalViewPr>
  <p:slideViewPr>
    <p:cSldViewPr snapToGrid="0">
      <p:cViewPr varScale="1">
        <p:scale>
          <a:sx n="97" d="100"/>
          <a:sy n="97" d="100"/>
        </p:scale>
        <p:origin x="12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816B64D0-3A3F-494C-816B-48A0F12153FC}" type="datetimeFigureOut">
              <a:rPr lang="en-US" smtClean="0"/>
              <a:t>9/29/2025</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8CC61841-6EE8-4D6F-9EA0-159CB6A0296E}" type="slidenum">
              <a:rPr lang="en-US" smtClean="0"/>
              <a:t>‹#›</a:t>
            </a:fld>
            <a:endParaRPr lang="en-US"/>
          </a:p>
        </p:txBody>
      </p:sp>
    </p:spTree>
    <p:extLst>
      <p:ext uri="{BB962C8B-B14F-4D97-AF65-F5344CB8AC3E}">
        <p14:creationId xmlns:p14="http://schemas.microsoft.com/office/powerpoint/2010/main" val="169963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p>
            <a:fld id="{7B6EEE36-1271-480F-9C1A-6EA022A36DB7}" type="slidenum">
              <a:rPr lang="en-US" smtClean="0"/>
              <a:pPr/>
              <a:t>2</a:t>
            </a:fld>
            <a:endParaRPr 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A650F-0D8D-5996-89E3-D2D1B5071F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D71C4AA-10B3-402B-50D9-ACB2F59387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962B4B-5B6A-F5A3-CF8B-4398667FA4F7}"/>
              </a:ext>
            </a:extLst>
          </p:cNvPr>
          <p:cNvSpPr>
            <a:spLocks noGrp="1"/>
          </p:cNvSpPr>
          <p:nvPr>
            <p:ph type="dt" sz="half" idx="10"/>
          </p:nvPr>
        </p:nvSpPr>
        <p:spPr/>
        <p:txBody>
          <a:bodyPr/>
          <a:lstStyle/>
          <a:p>
            <a:fld id="{9ECE2936-EF13-45A0-B380-C3B5047DF9EF}" type="datetimeFigureOut">
              <a:rPr lang="en-US" smtClean="0"/>
              <a:t>9/29/2025</a:t>
            </a:fld>
            <a:endParaRPr lang="en-US"/>
          </a:p>
        </p:txBody>
      </p:sp>
      <p:sp>
        <p:nvSpPr>
          <p:cNvPr id="5" name="Footer Placeholder 4">
            <a:extLst>
              <a:ext uri="{FF2B5EF4-FFF2-40B4-BE49-F238E27FC236}">
                <a16:creationId xmlns:a16="http://schemas.microsoft.com/office/drawing/2014/main" id="{6D6122EC-BC23-8D11-A088-ECE3915147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B239AD-EDA6-FF67-3934-92E41B8F33BC}"/>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645479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EA4FF-2BF5-FD1A-0CB1-1B8B6ECC1A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D5C384-7C81-9F00-90B5-D0465D1DDF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87122C-6A95-F210-EE36-ECC62C6CD6A5}"/>
              </a:ext>
            </a:extLst>
          </p:cNvPr>
          <p:cNvSpPr>
            <a:spLocks noGrp="1"/>
          </p:cNvSpPr>
          <p:nvPr>
            <p:ph type="dt" sz="half" idx="10"/>
          </p:nvPr>
        </p:nvSpPr>
        <p:spPr/>
        <p:txBody>
          <a:bodyPr/>
          <a:lstStyle/>
          <a:p>
            <a:fld id="{9ECE2936-EF13-45A0-B380-C3B5047DF9EF}" type="datetimeFigureOut">
              <a:rPr lang="en-US" smtClean="0"/>
              <a:t>9/29/2025</a:t>
            </a:fld>
            <a:endParaRPr lang="en-US"/>
          </a:p>
        </p:txBody>
      </p:sp>
      <p:sp>
        <p:nvSpPr>
          <p:cNvPr id="5" name="Footer Placeholder 4">
            <a:extLst>
              <a:ext uri="{FF2B5EF4-FFF2-40B4-BE49-F238E27FC236}">
                <a16:creationId xmlns:a16="http://schemas.microsoft.com/office/drawing/2014/main" id="{4FC9D51B-3CCE-3296-3D83-91AC950DF1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F04DFA-082A-8BE7-AA2F-7816A5A3BA1D}"/>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2756613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9BDE7-2B03-44C4-C03D-2CFD3A0A71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DA6D11-BC44-C5F2-7A8D-CF75877C35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1CF001-DFD5-DBCC-1D84-68B000E61A1F}"/>
              </a:ext>
            </a:extLst>
          </p:cNvPr>
          <p:cNvSpPr>
            <a:spLocks noGrp="1"/>
          </p:cNvSpPr>
          <p:nvPr>
            <p:ph type="dt" sz="half" idx="10"/>
          </p:nvPr>
        </p:nvSpPr>
        <p:spPr/>
        <p:txBody>
          <a:bodyPr/>
          <a:lstStyle/>
          <a:p>
            <a:fld id="{9ECE2936-EF13-45A0-B380-C3B5047DF9EF}" type="datetimeFigureOut">
              <a:rPr lang="en-US" smtClean="0"/>
              <a:t>9/29/2025</a:t>
            </a:fld>
            <a:endParaRPr lang="en-US"/>
          </a:p>
        </p:txBody>
      </p:sp>
      <p:sp>
        <p:nvSpPr>
          <p:cNvPr id="5" name="Footer Placeholder 4">
            <a:extLst>
              <a:ext uri="{FF2B5EF4-FFF2-40B4-BE49-F238E27FC236}">
                <a16:creationId xmlns:a16="http://schemas.microsoft.com/office/drawing/2014/main" id="{9F238098-9815-42F5-0B3C-6104EC078C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090EAC6-0118-6034-FB43-D961E3391030}"/>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2842702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EE85C-93D3-2DB0-9A4B-79516841CE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C5CC48-BD7C-4E81-B805-6EE0C5D3A65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17D902E-971C-51BD-9B85-7973179FE2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137C21-D198-F3FA-21F0-B712E7AF79C5}"/>
              </a:ext>
            </a:extLst>
          </p:cNvPr>
          <p:cNvSpPr>
            <a:spLocks noGrp="1"/>
          </p:cNvSpPr>
          <p:nvPr>
            <p:ph type="dt" sz="half" idx="10"/>
          </p:nvPr>
        </p:nvSpPr>
        <p:spPr/>
        <p:txBody>
          <a:bodyPr/>
          <a:lstStyle/>
          <a:p>
            <a:fld id="{9ECE2936-EF13-45A0-B380-C3B5047DF9EF}" type="datetimeFigureOut">
              <a:rPr lang="en-US" smtClean="0"/>
              <a:t>9/29/2025</a:t>
            </a:fld>
            <a:endParaRPr lang="en-US"/>
          </a:p>
        </p:txBody>
      </p:sp>
      <p:sp>
        <p:nvSpPr>
          <p:cNvPr id="6" name="Footer Placeholder 5">
            <a:extLst>
              <a:ext uri="{FF2B5EF4-FFF2-40B4-BE49-F238E27FC236}">
                <a16:creationId xmlns:a16="http://schemas.microsoft.com/office/drawing/2014/main" id="{F0ED1E3D-78A4-397D-5C5E-78B4B4838E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AF8149-7538-1F72-9E7A-51E31AB96DFD}"/>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3258743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68F85-7FB7-2A43-E5E3-AC47E145AD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C6B179-BFCD-C7B5-9235-ABAB790965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E4B929-1F98-FB41-2090-51B47E883D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B1B2C76-A086-0DAA-D5BD-C40D6EAA31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93EB57-DE6B-2803-F63F-C68F260167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1F7EE5-A40C-6E10-290C-E53BC267F1CD}"/>
              </a:ext>
            </a:extLst>
          </p:cNvPr>
          <p:cNvSpPr>
            <a:spLocks noGrp="1"/>
          </p:cNvSpPr>
          <p:nvPr>
            <p:ph type="dt" sz="half" idx="10"/>
          </p:nvPr>
        </p:nvSpPr>
        <p:spPr/>
        <p:txBody>
          <a:bodyPr/>
          <a:lstStyle/>
          <a:p>
            <a:fld id="{9ECE2936-EF13-45A0-B380-C3B5047DF9EF}" type="datetimeFigureOut">
              <a:rPr lang="en-US" smtClean="0"/>
              <a:t>9/29/2025</a:t>
            </a:fld>
            <a:endParaRPr lang="en-US"/>
          </a:p>
        </p:txBody>
      </p:sp>
      <p:sp>
        <p:nvSpPr>
          <p:cNvPr id="8" name="Footer Placeholder 7">
            <a:extLst>
              <a:ext uri="{FF2B5EF4-FFF2-40B4-BE49-F238E27FC236}">
                <a16:creationId xmlns:a16="http://schemas.microsoft.com/office/drawing/2014/main" id="{3A7D2DB4-D08D-9E79-C551-81B4D33D8F7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BB8D92B-5CD8-3BE0-6B0B-09C7552BF093}"/>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919160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DE558-9543-2948-C7E1-C39B65F2FC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6523AA-B923-0A1F-5B0C-3136DB76E8C4}"/>
              </a:ext>
            </a:extLst>
          </p:cNvPr>
          <p:cNvSpPr>
            <a:spLocks noGrp="1"/>
          </p:cNvSpPr>
          <p:nvPr>
            <p:ph type="dt" sz="half" idx="10"/>
          </p:nvPr>
        </p:nvSpPr>
        <p:spPr/>
        <p:txBody>
          <a:bodyPr/>
          <a:lstStyle/>
          <a:p>
            <a:fld id="{9ECE2936-EF13-45A0-B380-C3B5047DF9EF}" type="datetimeFigureOut">
              <a:rPr lang="en-US" smtClean="0"/>
              <a:t>9/29/2025</a:t>
            </a:fld>
            <a:endParaRPr lang="en-US"/>
          </a:p>
        </p:txBody>
      </p:sp>
      <p:sp>
        <p:nvSpPr>
          <p:cNvPr id="4" name="Footer Placeholder 3">
            <a:extLst>
              <a:ext uri="{FF2B5EF4-FFF2-40B4-BE49-F238E27FC236}">
                <a16:creationId xmlns:a16="http://schemas.microsoft.com/office/drawing/2014/main" id="{BED9A4D4-A774-8BF0-9F5F-70AE4B5FB3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6522DF-C584-2D88-1E9C-CC41954C5435}"/>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3510879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28099E-A2AF-BC9D-6F7A-77650FE05D42}"/>
              </a:ext>
            </a:extLst>
          </p:cNvPr>
          <p:cNvSpPr>
            <a:spLocks noGrp="1"/>
          </p:cNvSpPr>
          <p:nvPr>
            <p:ph type="dt" sz="half" idx="10"/>
          </p:nvPr>
        </p:nvSpPr>
        <p:spPr/>
        <p:txBody>
          <a:bodyPr/>
          <a:lstStyle/>
          <a:p>
            <a:fld id="{9ECE2936-EF13-45A0-B380-C3B5047DF9EF}" type="datetimeFigureOut">
              <a:rPr lang="en-US" smtClean="0"/>
              <a:t>9/29/2025</a:t>
            </a:fld>
            <a:endParaRPr lang="en-US"/>
          </a:p>
        </p:txBody>
      </p:sp>
      <p:sp>
        <p:nvSpPr>
          <p:cNvPr id="3" name="Footer Placeholder 2">
            <a:extLst>
              <a:ext uri="{FF2B5EF4-FFF2-40B4-BE49-F238E27FC236}">
                <a16:creationId xmlns:a16="http://schemas.microsoft.com/office/drawing/2014/main" id="{28612356-F988-68E6-7566-FA879C55585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147640-FB6F-DFE6-2559-64AB22466106}"/>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3075328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D56E-7A8D-7666-141D-7C51694F30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A36606-B2CF-8460-AF77-BE67F5476E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68FF1CF-0AFB-6F08-2E7A-2811C5717F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79A782-CFA2-6C5B-D0AB-77C03F82AA2D}"/>
              </a:ext>
            </a:extLst>
          </p:cNvPr>
          <p:cNvSpPr>
            <a:spLocks noGrp="1"/>
          </p:cNvSpPr>
          <p:nvPr>
            <p:ph type="dt" sz="half" idx="10"/>
          </p:nvPr>
        </p:nvSpPr>
        <p:spPr/>
        <p:txBody>
          <a:bodyPr/>
          <a:lstStyle/>
          <a:p>
            <a:fld id="{9ECE2936-EF13-45A0-B380-C3B5047DF9EF}" type="datetimeFigureOut">
              <a:rPr lang="en-US" smtClean="0"/>
              <a:t>9/29/2025</a:t>
            </a:fld>
            <a:endParaRPr lang="en-US"/>
          </a:p>
        </p:txBody>
      </p:sp>
      <p:sp>
        <p:nvSpPr>
          <p:cNvPr id="6" name="Footer Placeholder 5">
            <a:extLst>
              <a:ext uri="{FF2B5EF4-FFF2-40B4-BE49-F238E27FC236}">
                <a16:creationId xmlns:a16="http://schemas.microsoft.com/office/drawing/2014/main" id="{31A44622-24D4-4033-21C2-63BBEA5CEF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E37C46-5029-B9C6-EDF9-9FF9A05D27B9}"/>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3610442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760A6-42E6-A7F3-1ED5-5E75B947FF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D847AE6-3155-208E-B19C-4E22E66246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67641D-4098-7F36-B916-806C619D5E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90AAFF-88A6-0090-7C3C-CFBAC2B14AFE}"/>
              </a:ext>
            </a:extLst>
          </p:cNvPr>
          <p:cNvSpPr>
            <a:spLocks noGrp="1"/>
          </p:cNvSpPr>
          <p:nvPr>
            <p:ph type="dt" sz="half" idx="10"/>
          </p:nvPr>
        </p:nvSpPr>
        <p:spPr/>
        <p:txBody>
          <a:bodyPr/>
          <a:lstStyle/>
          <a:p>
            <a:fld id="{9ECE2936-EF13-45A0-B380-C3B5047DF9EF}" type="datetimeFigureOut">
              <a:rPr lang="en-US" smtClean="0"/>
              <a:t>9/29/2025</a:t>
            </a:fld>
            <a:endParaRPr lang="en-US"/>
          </a:p>
        </p:txBody>
      </p:sp>
      <p:sp>
        <p:nvSpPr>
          <p:cNvPr id="6" name="Footer Placeholder 5">
            <a:extLst>
              <a:ext uri="{FF2B5EF4-FFF2-40B4-BE49-F238E27FC236}">
                <a16:creationId xmlns:a16="http://schemas.microsoft.com/office/drawing/2014/main" id="{E670633D-A6CA-5AEE-E8CD-4AE2D3572A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0432CE-E19F-06F0-828B-8702F8A3D797}"/>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577381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78732-D2FF-F660-7986-60DF208928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4CA02A4-EA3C-BAB2-74EC-853BC7CE83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402FE8-32D2-82C2-2517-8F5EB1E15665}"/>
              </a:ext>
            </a:extLst>
          </p:cNvPr>
          <p:cNvSpPr>
            <a:spLocks noGrp="1"/>
          </p:cNvSpPr>
          <p:nvPr>
            <p:ph type="dt" sz="half" idx="10"/>
          </p:nvPr>
        </p:nvSpPr>
        <p:spPr/>
        <p:txBody>
          <a:bodyPr/>
          <a:lstStyle/>
          <a:p>
            <a:fld id="{9ECE2936-EF13-45A0-B380-C3B5047DF9EF}" type="datetimeFigureOut">
              <a:rPr lang="en-US" smtClean="0"/>
              <a:t>9/29/2025</a:t>
            </a:fld>
            <a:endParaRPr lang="en-US"/>
          </a:p>
        </p:txBody>
      </p:sp>
      <p:sp>
        <p:nvSpPr>
          <p:cNvPr id="5" name="Footer Placeholder 4">
            <a:extLst>
              <a:ext uri="{FF2B5EF4-FFF2-40B4-BE49-F238E27FC236}">
                <a16:creationId xmlns:a16="http://schemas.microsoft.com/office/drawing/2014/main" id="{FA1522A3-1062-42C1-BADB-738A82C552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7671F3-E100-3D51-E13F-4DEF76659322}"/>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8103585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530254-1F60-39D0-776B-A7D0B06DA68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2A27C8B-DF84-CE00-0C6C-C3254E28A6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543227-663D-FCAF-EECA-E804B2516E39}"/>
              </a:ext>
            </a:extLst>
          </p:cNvPr>
          <p:cNvSpPr>
            <a:spLocks noGrp="1"/>
          </p:cNvSpPr>
          <p:nvPr>
            <p:ph type="dt" sz="half" idx="10"/>
          </p:nvPr>
        </p:nvSpPr>
        <p:spPr/>
        <p:txBody>
          <a:bodyPr/>
          <a:lstStyle/>
          <a:p>
            <a:fld id="{9ECE2936-EF13-45A0-B380-C3B5047DF9EF}" type="datetimeFigureOut">
              <a:rPr lang="en-US" smtClean="0"/>
              <a:t>9/29/2025</a:t>
            </a:fld>
            <a:endParaRPr lang="en-US"/>
          </a:p>
        </p:txBody>
      </p:sp>
      <p:sp>
        <p:nvSpPr>
          <p:cNvPr id="5" name="Footer Placeholder 4">
            <a:extLst>
              <a:ext uri="{FF2B5EF4-FFF2-40B4-BE49-F238E27FC236}">
                <a16:creationId xmlns:a16="http://schemas.microsoft.com/office/drawing/2014/main" id="{B5A60B21-0667-A9D6-9CE1-59685306FB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D61C32-83C8-1CB0-E570-8CB75AD428F7}"/>
              </a:ext>
            </a:extLst>
          </p:cNvPr>
          <p:cNvSpPr>
            <a:spLocks noGrp="1"/>
          </p:cNvSpPr>
          <p:nvPr>
            <p:ph type="sldNum" sz="quarter" idx="12"/>
          </p:nvPr>
        </p:nvSpPr>
        <p:spPr/>
        <p:txBody>
          <a:bodyPr/>
          <a:lstStyle/>
          <a:p>
            <a:fld id="{3338865A-F742-4D33-A4F2-94293D484FB9}" type="slidenum">
              <a:rPr lang="en-US" smtClean="0"/>
              <a:t>‹#›</a:t>
            </a:fld>
            <a:endParaRPr lang="en-US"/>
          </a:p>
        </p:txBody>
      </p:sp>
    </p:spTree>
    <p:extLst>
      <p:ext uri="{BB962C8B-B14F-4D97-AF65-F5344CB8AC3E}">
        <p14:creationId xmlns:p14="http://schemas.microsoft.com/office/powerpoint/2010/main" val="132603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777B36F-5A35-0040-D1F0-B0ACE4C38D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F8C7B3-E817-8EE5-EFEE-49F39C5462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2235CE-8FE9-31FB-3E96-E83870170C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CE2936-EF13-45A0-B380-C3B5047DF9EF}" type="datetimeFigureOut">
              <a:rPr lang="en-US" smtClean="0"/>
              <a:t>9/29/2025</a:t>
            </a:fld>
            <a:endParaRPr lang="en-US"/>
          </a:p>
        </p:txBody>
      </p:sp>
      <p:sp>
        <p:nvSpPr>
          <p:cNvPr id="5" name="Footer Placeholder 4">
            <a:extLst>
              <a:ext uri="{FF2B5EF4-FFF2-40B4-BE49-F238E27FC236}">
                <a16:creationId xmlns:a16="http://schemas.microsoft.com/office/drawing/2014/main" id="{32D2E9CE-7E7A-187E-7EB8-F04F26D1DD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0B7D517-0135-DC2B-783E-9DAB737DDC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38865A-F742-4D33-A4F2-94293D484FB9}" type="slidenum">
              <a:rPr lang="en-US" smtClean="0"/>
              <a:t>‹#›</a:t>
            </a:fld>
            <a:endParaRPr lang="en-US"/>
          </a:p>
        </p:txBody>
      </p:sp>
    </p:spTree>
    <p:extLst>
      <p:ext uri="{BB962C8B-B14F-4D97-AF65-F5344CB8AC3E}">
        <p14:creationId xmlns:p14="http://schemas.microsoft.com/office/powerpoint/2010/main" val="6482610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C1E8F5-361F-69B0-8A06-DDD7C74BF4D3}"/>
              </a:ext>
            </a:extLst>
          </p:cNvPr>
          <p:cNvSpPr>
            <a:spLocks noGrp="1"/>
          </p:cNvSpPr>
          <p:nvPr>
            <p:ph type="title"/>
          </p:nvPr>
        </p:nvSpPr>
        <p:spPr/>
        <p:txBody>
          <a:bodyPr/>
          <a:lstStyle/>
          <a:p>
            <a:r>
              <a:rPr lang="en-US"/>
              <a:t>301 </a:t>
            </a:r>
            <a:r>
              <a:rPr lang="en-US" dirty="0"/>
              <a:t>Sep 26, Class 5</a:t>
            </a:r>
          </a:p>
        </p:txBody>
      </p:sp>
      <p:sp>
        <p:nvSpPr>
          <p:cNvPr id="5" name="Content Placeholder 4">
            <a:extLst>
              <a:ext uri="{FF2B5EF4-FFF2-40B4-BE49-F238E27FC236}">
                <a16:creationId xmlns:a16="http://schemas.microsoft.com/office/drawing/2014/main" id="{1B2C5B24-EB27-4561-BF0E-FA9D367D9760}"/>
              </a:ext>
            </a:extLst>
          </p:cNvPr>
          <p:cNvSpPr>
            <a:spLocks noGrp="1"/>
          </p:cNvSpPr>
          <p:nvPr>
            <p:ph idx="1"/>
          </p:nvPr>
        </p:nvSpPr>
        <p:spPr/>
        <p:txBody>
          <a:bodyPr/>
          <a:lstStyle/>
          <a:p>
            <a:r>
              <a:rPr lang="en-US" dirty="0"/>
              <a:t>Chapter 5, Sampling participants</a:t>
            </a:r>
          </a:p>
          <a:p>
            <a:endParaRPr lang="en-US" dirty="0"/>
          </a:p>
          <a:p>
            <a:endParaRPr lang="en-US" dirty="0"/>
          </a:p>
          <a:p>
            <a:r>
              <a:rPr lang="en-US" dirty="0"/>
              <a:t>Bonus thought question: What is the implication of the sampling in the large acetaminophen-development study being entirely Swedish?</a:t>
            </a:r>
          </a:p>
        </p:txBody>
      </p:sp>
    </p:spTree>
    <p:extLst>
      <p:ext uri="{BB962C8B-B14F-4D97-AF65-F5344CB8AC3E}">
        <p14:creationId xmlns:p14="http://schemas.microsoft.com/office/powerpoint/2010/main" val="10795933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p:cNvSpPr txBox="1">
            <a:spLocks noChangeArrowheads="1"/>
          </p:cNvSpPr>
          <p:nvPr/>
        </p:nvSpPr>
        <p:spPr bwMode="auto">
          <a:xfrm>
            <a:off x="1752600" y="381000"/>
            <a:ext cx="8534400" cy="6355586"/>
          </a:xfrm>
          <a:prstGeom prst="rect">
            <a:avLst/>
          </a:prstGeom>
          <a:noFill/>
          <a:ln w="9525">
            <a:noFill/>
            <a:miter lim="800000"/>
            <a:headEnd/>
            <a:tailEnd/>
          </a:ln>
        </p:spPr>
        <p:txBody>
          <a:bodyPr>
            <a:spAutoFit/>
          </a:bodyPr>
          <a:lstStyle/>
          <a:p>
            <a:pPr>
              <a:spcBef>
                <a:spcPct val="50000"/>
              </a:spcBef>
            </a:pPr>
            <a:r>
              <a:rPr lang="en-US" sz="2200" dirty="0">
                <a:latin typeface="Times New Roman" pitchFamily="18" charset="0"/>
              </a:rPr>
              <a:t>Blind people are very adept at avoiding obstacles; however little was known about how they do this.  One hypothesis was that blind people developed “facial vision”; that is, they react to air pressure on exposed parts of the skin.  A second theory was that the avoidance of obstacles comes through the use of auditory cues.  </a:t>
            </a:r>
            <a:r>
              <a:rPr lang="en-US" sz="2200" dirty="0" err="1">
                <a:latin typeface="Times New Roman" pitchFamily="18" charset="0"/>
              </a:rPr>
              <a:t>Supa</a:t>
            </a:r>
            <a:r>
              <a:rPr lang="en-US" sz="2200" dirty="0">
                <a:latin typeface="Times New Roman" pitchFamily="18" charset="0"/>
              </a:rPr>
              <a:t>, </a:t>
            </a:r>
            <a:r>
              <a:rPr lang="en-US" sz="2200" dirty="0" err="1">
                <a:latin typeface="Times New Roman" pitchFamily="18" charset="0"/>
              </a:rPr>
              <a:t>Cotzin</a:t>
            </a:r>
            <a:r>
              <a:rPr lang="en-US" sz="2200" dirty="0">
                <a:latin typeface="Times New Roman" pitchFamily="18" charset="0"/>
              </a:rPr>
              <a:t> &amp; </a:t>
            </a:r>
            <a:r>
              <a:rPr lang="en-US" sz="2200" dirty="0" err="1">
                <a:latin typeface="Times New Roman" pitchFamily="18" charset="0"/>
              </a:rPr>
              <a:t>Dallenbach</a:t>
            </a:r>
            <a:r>
              <a:rPr lang="en-US" sz="2200" dirty="0">
                <a:latin typeface="Times New Roman" pitchFamily="18" charset="0"/>
              </a:rPr>
              <a:t> (1944) set out to test these theories.</a:t>
            </a:r>
          </a:p>
          <a:p>
            <a:pPr>
              <a:spcBef>
                <a:spcPct val="50000"/>
              </a:spcBef>
            </a:pPr>
            <a:r>
              <a:rPr lang="en-US" sz="2200" dirty="0">
                <a:latin typeface="Times New Roman" pitchFamily="18" charset="0"/>
              </a:rPr>
              <a:t>They had blind people walk around in a large room in which obstacles (screens) had been set up.  Two experimental treatments were used.  In the first treatment, blind participants wore a felt veil over their face and gloves on their hands.  In the second treatment blind participants wore earplugs.</a:t>
            </a:r>
          </a:p>
          <a:p>
            <a:pPr>
              <a:spcBef>
                <a:spcPct val="50000"/>
              </a:spcBef>
            </a:pPr>
            <a:r>
              <a:rPr lang="en-US" sz="2200" dirty="0">
                <a:latin typeface="Times New Roman" pitchFamily="18" charset="0"/>
              </a:rPr>
              <a:t>The results indicated that participants in the felt-veil group avoided the obstacles every time, but the participants in the ear plugs group bumped into the obstacles every time.</a:t>
            </a:r>
          </a:p>
          <a:p>
            <a:pPr>
              <a:spcBef>
                <a:spcPct val="50000"/>
              </a:spcBef>
            </a:pPr>
            <a:r>
              <a:rPr lang="en-US" sz="2200" dirty="0">
                <a:latin typeface="Times New Roman" pitchFamily="18" charset="0"/>
              </a:rPr>
              <a:t>Based on these results the authors concluded that the adeptness of the blind in avoiding obstacles is due primarily to their use of auditory cues and not to any facial vision.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8B1CA-E7D9-D775-9F0A-74480A6B32AE}"/>
              </a:ext>
            </a:extLst>
          </p:cNvPr>
          <p:cNvSpPr>
            <a:spLocks noGrp="1"/>
          </p:cNvSpPr>
          <p:nvPr>
            <p:ph type="title"/>
          </p:nvPr>
        </p:nvSpPr>
        <p:spPr/>
        <p:txBody>
          <a:bodyPr/>
          <a:lstStyle/>
          <a:p>
            <a:r>
              <a:rPr lang="en-US" dirty="0"/>
              <a:t>Research sampling</a:t>
            </a:r>
          </a:p>
        </p:txBody>
      </p:sp>
      <p:sp>
        <p:nvSpPr>
          <p:cNvPr id="3" name="Content Placeholder 2">
            <a:extLst>
              <a:ext uri="{FF2B5EF4-FFF2-40B4-BE49-F238E27FC236}">
                <a16:creationId xmlns:a16="http://schemas.microsoft.com/office/drawing/2014/main" id="{C0F87C95-11CB-333D-061A-C0323B321E9A}"/>
              </a:ext>
            </a:extLst>
          </p:cNvPr>
          <p:cNvSpPr>
            <a:spLocks noGrp="1"/>
          </p:cNvSpPr>
          <p:nvPr>
            <p:ph idx="1"/>
          </p:nvPr>
        </p:nvSpPr>
        <p:spPr/>
        <p:txBody>
          <a:bodyPr/>
          <a:lstStyle/>
          <a:p>
            <a:r>
              <a:rPr lang="en-US" dirty="0"/>
              <a:t>Terms</a:t>
            </a:r>
          </a:p>
          <a:p>
            <a:pPr lvl="1"/>
            <a:r>
              <a:rPr lang="en-US" dirty="0"/>
              <a:t>Sample: participants, the people who actually participated in your study</a:t>
            </a:r>
          </a:p>
          <a:p>
            <a:pPr lvl="1"/>
            <a:r>
              <a:rPr lang="en-US" dirty="0"/>
              <a:t>Population: the general collection your participants were drawn from</a:t>
            </a:r>
          </a:p>
          <a:p>
            <a:pPr lvl="1"/>
            <a:endParaRPr lang="en-US" dirty="0"/>
          </a:p>
          <a:p>
            <a:r>
              <a:rPr lang="en-US" dirty="0"/>
              <a:t>Statistics</a:t>
            </a:r>
          </a:p>
          <a:p>
            <a:pPr lvl="1"/>
            <a:r>
              <a:rPr lang="en-US" dirty="0"/>
              <a:t>Measurements of your sample are noisy estimates of what you would get from measuring everybody in your population</a:t>
            </a:r>
          </a:p>
          <a:p>
            <a:pPr lvl="1"/>
            <a:r>
              <a:rPr lang="en-US" dirty="0"/>
              <a:t>Mean, SD are population descriptions</a:t>
            </a:r>
          </a:p>
          <a:p>
            <a:pPr lvl="1"/>
            <a:r>
              <a:rPr lang="en-US" dirty="0"/>
              <a:t>SE, Standard Error, is estimate of accuracy of your sample measurements</a:t>
            </a:r>
          </a:p>
        </p:txBody>
      </p:sp>
    </p:spTree>
    <p:extLst>
      <p:ext uri="{BB962C8B-B14F-4D97-AF65-F5344CB8AC3E}">
        <p14:creationId xmlns:p14="http://schemas.microsoft.com/office/powerpoint/2010/main" val="3740236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F664D-A1E1-103C-7CC8-11E1835C1B8A}"/>
              </a:ext>
            </a:extLst>
          </p:cNvPr>
          <p:cNvSpPr>
            <a:spLocks noGrp="1"/>
          </p:cNvSpPr>
          <p:nvPr>
            <p:ph type="title"/>
          </p:nvPr>
        </p:nvSpPr>
        <p:spPr/>
        <p:txBody>
          <a:bodyPr/>
          <a:lstStyle/>
          <a:p>
            <a:r>
              <a:rPr lang="en-US" dirty="0"/>
              <a:t>Recruiting participants</a:t>
            </a:r>
          </a:p>
        </p:txBody>
      </p:sp>
      <p:sp>
        <p:nvSpPr>
          <p:cNvPr id="3" name="Content Placeholder 2">
            <a:extLst>
              <a:ext uri="{FF2B5EF4-FFF2-40B4-BE49-F238E27FC236}">
                <a16:creationId xmlns:a16="http://schemas.microsoft.com/office/drawing/2014/main" id="{8756BFC9-93B2-B25C-7B76-3AAF594ED18E}"/>
              </a:ext>
            </a:extLst>
          </p:cNvPr>
          <p:cNvSpPr>
            <a:spLocks noGrp="1"/>
          </p:cNvSpPr>
          <p:nvPr>
            <p:ph idx="1"/>
          </p:nvPr>
        </p:nvSpPr>
        <p:spPr/>
        <p:txBody>
          <a:bodyPr/>
          <a:lstStyle/>
          <a:p>
            <a:r>
              <a:rPr lang="en-US" dirty="0"/>
              <a:t>Convenience sampling</a:t>
            </a:r>
          </a:p>
          <a:p>
            <a:pPr lvl="1"/>
            <a:r>
              <a:rPr lang="en-US" dirty="0"/>
              <a:t>Collecting data from available people around you</a:t>
            </a:r>
          </a:p>
          <a:p>
            <a:r>
              <a:rPr lang="en-US" dirty="0"/>
              <a:t>University undergraduates</a:t>
            </a:r>
          </a:p>
          <a:p>
            <a:pPr lvl="1"/>
            <a:r>
              <a:rPr lang="en-US" dirty="0"/>
              <a:t>Course credit for participation, 3-10 hours</a:t>
            </a:r>
          </a:p>
          <a:p>
            <a:r>
              <a:rPr lang="en-US" dirty="0"/>
              <a:t>Paid participants</a:t>
            </a:r>
          </a:p>
          <a:p>
            <a:pPr lvl="1"/>
            <a:r>
              <a:rPr lang="en-US" dirty="0"/>
              <a:t>Departmental PPR: Paid Participant Registry</a:t>
            </a:r>
          </a:p>
          <a:p>
            <a:pPr lvl="2"/>
            <a:r>
              <a:rPr lang="en-US" dirty="0"/>
              <a:t>Mailing list of participants who expressed interest in participation opportunities</a:t>
            </a:r>
          </a:p>
          <a:p>
            <a:pPr lvl="1"/>
            <a:r>
              <a:rPr lang="en-US" dirty="0"/>
              <a:t>Posted flyers around campus</a:t>
            </a:r>
          </a:p>
          <a:p>
            <a:pPr lvl="1"/>
            <a:r>
              <a:rPr lang="en-US" dirty="0"/>
              <a:t>Paid ads</a:t>
            </a:r>
          </a:p>
          <a:p>
            <a:r>
              <a:rPr lang="en-US" dirty="0"/>
              <a:t>Other online sources: Mechanical Turk</a:t>
            </a:r>
            <a:r>
              <a:rPr lang="en-US"/>
              <a:t>, Prolific</a:t>
            </a:r>
            <a:endParaRPr lang="en-US" dirty="0"/>
          </a:p>
        </p:txBody>
      </p:sp>
    </p:spTree>
    <p:extLst>
      <p:ext uri="{BB962C8B-B14F-4D97-AF65-F5344CB8AC3E}">
        <p14:creationId xmlns:p14="http://schemas.microsoft.com/office/powerpoint/2010/main" val="3761314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C74E7-1765-6E7F-7A1D-49F68F9FEFD8}"/>
              </a:ext>
            </a:extLst>
          </p:cNvPr>
          <p:cNvSpPr>
            <a:spLocks noGrp="1"/>
          </p:cNvSpPr>
          <p:nvPr>
            <p:ph type="title"/>
          </p:nvPr>
        </p:nvSpPr>
        <p:spPr/>
        <p:txBody>
          <a:bodyPr/>
          <a:lstStyle/>
          <a:p>
            <a:r>
              <a:rPr lang="en-US" dirty="0"/>
              <a:t>Homework</a:t>
            </a:r>
          </a:p>
        </p:txBody>
      </p:sp>
      <p:sp>
        <p:nvSpPr>
          <p:cNvPr id="3" name="Content Placeholder 2">
            <a:extLst>
              <a:ext uri="{FF2B5EF4-FFF2-40B4-BE49-F238E27FC236}">
                <a16:creationId xmlns:a16="http://schemas.microsoft.com/office/drawing/2014/main" id="{6D3D11A4-6913-1689-3AF6-AAD531CDA722}"/>
              </a:ext>
            </a:extLst>
          </p:cNvPr>
          <p:cNvSpPr>
            <a:spLocks noGrp="1"/>
          </p:cNvSpPr>
          <p:nvPr>
            <p:ph idx="1"/>
          </p:nvPr>
        </p:nvSpPr>
        <p:spPr/>
        <p:txBody>
          <a:bodyPr>
            <a:normAutofit/>
          </a:bodyPr>
          <a:lstStyle/>
          <a:p>
            <a:r>
              <a:rPr lang="en-US" dirty="0"/>
              <a:t>Define the term “representative sample” and explain why it is important in psychological research.</a:t>
            </a:r>
          </a:p>
          <a:p>
            <a:r>
              <a:rPr lang="en-US" dirty="0"/>
              <a:t>What is the difference between a population and a sample in research? Provide a specific example from a psychological study.</a:t>
            </a:r>
          </a:p>
          <a:p>
            <a:r>
              <a:rPr lang="en-US" dirty="0"/>
              <a:t>What is random sampling, and how does it differ from random assignment? Why is this distinction important?</a:t>
            </a:r>
          </a:p>
          <a:p>
            <a:endParaRPr lang="en-US" dirty="0"/>
          </a:p>
        </p:txBody>
      </p:sp>
    </p:spTree>
    <p:extLst>
      <p:ext uri="{BB962C8B-B14F-4D97-AF65-F5344CB8AC3E}">
        <p14:creationId xmlns:p14="http://schemas.microsoft.com/office/powerpoint/2010/main" val="1988635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ACC9F-0105-CBA7-D9D9-01398DE0D4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30CBC98-1415-7064-676F-F30B1DFDD547}"/>
              </a:ext>
            </a:extLst>
          </p:cNvPr>
          <p:cNvSpPr>
            <a:spLocks noGrp="1"/>
          </p:cNvSpPr>
          <p:nvPr>
            <p:ph idx="1"/>
          </p:nvPr>
        </p:nvSpPr>
        <p:spPr/>
        <p:txBody>
          <a:bodyPr/>
          <a:lstStyle/>
          <a:p>
            <a:r>
              <a:rPr lang="en-US" dirty="0"/>
              <a:t>A researcher wants to study anxiety levels in college students across the U.S. What sampling method would you recommend and why?</a:t>
            </a:r>
          </a:p>
          <a:p>
            <a:r>
              <a:rPr lang="en-US" dirty="0"/>
              <a:t>Give an example of a psychological study where convenience sampling might be appropriate. What are the limitations of this approach? </a:t>
            </a:r>
          </a:p>
          <a:p>
            <a:r>
              <a:rPr lang="en-US" dirty="0"/>
              <a:t>A study on social media use and self-esteem only includes participants recruited through Instagram. What kind of sampling issue might arise? How could the researcher address it?</a:t>
            </a:r>
          </a:p>
          <a:p>
            <a:endParaRPr lang="en-US" dirty="0"/>
          </a:p>
          <a:p>
            <a:endParaRPr lang="en-US" dirty="0"/>
          </a:p>
        </p:txBody>
      </p:sp>
    </p:spTree>
    <p:extLst>
      <p:ext uri="{BB962C8B-B14F-4D97-AF65-F5344CB8AC3E}">
        <p14:creationId xmlns:p14="http://schemas.microsoft.com/office/powerpoint/2010/main" val="1706950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59CC0-7BD4-B350-D963-5419CCD366F8}"/>
              </a:ext>
            </a:extLst>
          </p:cNvPr>
          <p:cNvSpPr>
            <a:spLocks noGrp="1"/>
          </p:cNvSpPr>
          <p:nvPr>
            <p:ph type="title"/>
          </p:nvPr>
        </p:nvSpPr>
        <p:spPr/>
        <p:txBody>
          <a:bodyPr/>
          <a:lstStyle/>
          <a:p>
            <a:r>
              <a:rPr lang="en-US" dirty="0"/>
              <a:t>External validity</a:t>
            </a:r>
          </a:p>
        </p:txBody>
      </p:sp>
      <p:sp>
        <p:nvSpPr>
          <p:cNvPr id="3" name="Content Placeholder 2">
            <a:extLst>
              <a:ext uri="{FF2B5EF4-FFF2-40B4-BE49-F238E27FC236}">
                <a16:creationId xmlns:a16="http://schemas.microsoft.com/office/drawing/2014/main" id="{5FBDA552-40AC-127E-5559-6C43C82F31BD}"/>
              </a:ext>
            </a:extLst>
          </p:cNvPr>
          <p:cNvSpPr>
            <a:spLocks noGrp="1"/>
          </p:cNvSpPr>
          <p:nvPr>
            <p:ph idx="1"/>
          </p:nvPr>
        </p:nvSpPr>
        <p:spPr/>
        <p:txBody>
          <a:bodyPr/>
          <a:lstStyle/>
          <a:p>
            <a:r>
              <a:rPr lang="en-US" dirty="0"/>
              <a:t>Are we confident that the results of the findings with the sample apply to the whole population?</a:t>
            </a:r>
          </a:p>
          <a:p>
            <a:endParaRPr lang="en-US" dirty="0"/>
          </a:p>
          <a:p>
            <a:r>
              <a:rPr lang="en-US" dirty="0"/>
              <a:t>Internal validity</a:t>
            </a:r>
          </a:p>
          <a:p>
            <a:pPr lvl="1"/>
            <a:r>
              <a:rPr lang="en-US" dirty="0"/>
              <a:t>Are we confident the IV is responsible for the DV effect we measured?</a:t>
            </a:r>
          </a:p>
          <a:p>
            <a:pPr lvl="1"/>
            <a:endParaRPr lang="en-US" dirty="0"/>
          </a:p>
          <a:p>
            <a:r>
              <a:rPr lang="en-US" dirty="0"/>
              <a:t>Experimental research: excellent internal, mediocre external</a:t>
            </a:r>
          </a:p>
          <a:p>
            <a:r>
              <a:rPr lang="en-US" dirty="0"/>
              <a:t>Non-experimental research: weak internal, excellent external</a:t>
            </a:r>
          </a:p>
        </p:txBody>
      </p:sp>
    </p:spTree>
    <p:extLst>
      <p:ext uri="{BB962C8B-B14F-4D97-AF65-F5344CB8AC3E}">
        <p14:creationId xmlns:p14="http://schemas.microsoft.com/office/powerpoint/2010/main" val="1287912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1FB22-A9AD-B994-034D-D30E978F7A55}"/>
              </a:ext>
            </a:extLst>
          </p:cNvPr>
          <p:cNvSpPr>
            <a:spLocks noGrp="1"/>
          </p:cNvSpPr>
          <p:nvPr>
            <p:ph type="title"/>
          </p:nvPr>
        </p:nvSpPr>
        <p:spPr/>
        <p:txBody>
          <a:bodyPr/>
          <a:lstStyle/>
          <a:p>
            <a:r>
              <a:rPr lang="en-US" dirty="0"/>
              <a:t>Sampling bias</a:t>
            </a:r>
          </a:p>
        </p:txBody>
      </p:sp>
      <p:sp>
        <p:nvSpPr>
          <p:cNvPr id="3" name="Content Placeholder 2">
            <a:extLst>
              <a:ext uri="{FF2B5EF4-FFF2-40B4-BE49-F238E27FC236}">
                <a16:creationId xmlns:a16="http://schemas.microsoft.com/office/drawing/2014/main" id="{91E18066-388B-3137-7308-07EC33FFC795}"/>
              </a:ext>
            </a:extLst>
          </p:cNvPr>
          <p:cNvSpPr>
            <a:spLocks noGrp="1"/>
          </p:cNvSpPr>
          <p:nvPr>
            <p:ph idx="1"/>
          </p:nvPr>
        </p:nvSpPr>
        <p:spPr/>
        <p:txBody>
          <a:bodyPr/>
          <a:lstStyle/>
          <a:p>
            <a:r>
              <a:rPr lang="en-US" dirty="0"/>
              <a:t>Could the recruiting method lead to a non-representative sample?</a:t>
            </a:r>
          </a:p>
          <a:p>
            <a:pPr lvl="1"/>
            <a:r>
              <a:rPr lang="en-US" dirty="0"/>
              <a:t>Recruiting by ad</a:t>
            </a:r>
          </a:p>
          <a:p>
            <a:pPr lvl="2"/>
            <a:r>
              <a:rPr lang="en-US" dirty="0"/>
              <a:t>“Do you like puzzles?”</a:t>
            </a:r>
          </a:p>
          <a:p>
            <a:pPr lvl="2"/>
            <a:r>
              <a:rPr lang="en-US" dirty="0"/>
              <a:t>“Research on stereotypes and bias”</a:t>
            </a:r>
          </a:p>
          <a:p>
            <a:pPr lvl="2"/>
            <a:r>
              <a:rPr lang="en-US" dirty="0"/>
              <a:t>“Study on memory!”</a:t>
            </a:r>
          </a:p>
          <a:p>
            <a:pPr lvl="2"/>
            <a:r>
              <a:rPr lang="en-US" dirty="0"/>
              <a:t>Brain imaging, EEG...</a:t>
            </a:r>
          </a:p>
          <a:p>
            <a:pPr lvl="2"/>
            <a:endParaRPr lang="en-US" dirty="0"/>
          </a:p>
          <a:p>
            <a:r>
              <a:rPr lang="en-US" dirty="0"/>
              <a:t>If the sample is biased</a:t>
            </a:r>
          </a:p>
          <a:p>
            <a:pPr lvl="1"/>
            <a:r>
              <a:rPr lang="en-US" dirty="0"/>
              <a:t>Internal validity stays high</a:t>
            </a:r>
          </a:p>
          <a:p>
            <a:pPr lvl="1"/>
            <a:r>
              <a:rPr lang="en-US" dirty="0"/>
              <a:t>External validity may be limited</a:t>
            </a:r>
          </a:p>
        </p:txBody>
      </p:sp>
    </p:spTree>
    <p:extLst>
      <p:ext uri="{BB962C8B-B14F-4D97-AF65-F5344CB8AC3E}">
        <p14:creationId xmlns:p14="http://schemas.microsoft.com/office/powerpoint/2010/main" val="33901076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900BE-98B4-20C3-CF7E-9F3AA72E7107}"/>
              </a:ext>
            </a:extLst>
          </p:cNvPr>
          <p:cNvSpPr>
            <a:spLocks noGrp="1"/>
          </p:cNvSpPr>
          <p:nvPr>
            <p:ph type="title"/>
          </p:nvPr>
        </p:nvSpPr>
        <p:spPr/>
        <p:txBody>
          <a:bodyPr/>
          <a:lstStyle/>
          <a:p>
            <a:r>
              <a:rPr lang="en-US" dirty="0"/>
              <a:t>Ethics in Research Advertising</a:t>
            </a:r>
          </a:p>
        </p:txBody>
      </p:sp>
      <p:sp>
        <p:nvSpPr>
          <p:cNvPr id="3" name="Content Placeholder 2">
            <a:extLst>
              <a:ext uri="{FF2B5EF4-FFF2-40B4-BE49-F238E27FC236}">
                <a16:creationId xmlns:a16="http://schemas.microsoft.com/office/drawing/2014/main" id="{B2E68992-4B5D-9115-DED1-99EB0718327C}"/>
              </a:ext>
            </a:extLst>
          </p:cNvPr>
          <p:cNvSpPr>
            <a:spLocks noGrp="1"/>
          </p:cNvSpPr>
          <p:nvPr>
            <p:ph idx="1"/>
          </p:nvPr>
        </p:nvSpPr>
        <p:spPr/>
        <p:txBody>
          <a:bodyPr>
            <a:normAutofit lnSpcReduction="10000"/>
          </a:bodyPr>
          <a:lstStyle/>
          <a:p>
            <a:r>
              <a:rPr lang="en-US" dirty="0"/>
              <a:t>All recruiting materials must be reviewed by the IRB</a:t>
            </a:r>
          </a:p>
          <a:p>
            <a:pPr lvl="1"/>
            <a:r>
              <a:rPr lang="en-US" dirty="0"/>
              <a:t>All posted flyers should have an approval stamp</a:t>
            </a:r>
          </a:p>
          <a:p>
            <a:endParaRPr lang="en-US" dirty="0"/>
          </a:p>
          <a:p>
            <a:r>
              <a:rPr lang="en-US" dirty="0"/>
              <a:t>Accuracy of description</a:t>
            </a:r>
          </a:p>
          <a:p>
            <a:pPr lvl="1"/>
            <a:r>
              <a:rPr lang="en-US" dirty="0"/>
              <a:t>What if the experiment includes some deception?</a:t>
            </a:r>
          </a:p>
          <a:p>
            <a:pPr lvl="1"/>
            <a:r>
              <a:rPr lang="en-US" dirty="0"/>
              <a:t>Ad is necessarily shorter than a consent form</a:t>
            </a:r>
          </a:p>
          <a:p>
            <a:pPr lvl="1"/>
            <a:endParaRPr lang="en-US" dirty="0"/>
          </a:p>
          <a:p>
            <a:r>
              <a:rPr lang="en-US" dirty="0"/>
              <a:t>Compensation and coercion</a:t>
            </a:r>
          </a:p>
          <a:p>
            <a:pPr lvl="1"/>
            <a:r>
              <a:rPr lang="en-US" dirty="0"/>
              <a:t>Paying too much is a concern</a:t>
            </a:r>
          </a:p>
          <a:p>
            <a:pPr lvl="1"/>
            <a:r>
              <a:rPr lang="en-US" dirty="0"/>
              <a:t>Competition among researchers discouraged</a:t>
            </a:r>
          </a:p>
          <a:p>
            <a:pPr lvl="2"/>
            <a:r>
              <a:rPr lang="en-US" dirty="0"/>
              <a:t>But no published standard guidelines exist</a:t>
            </a:r>
          </a:p>
        </p:txBody>
      </p:sp>
    </p:spTree>
    <p:extLst>
      <p:ext uri="{BB962C8B-B14F-4D97-AF65-F5344CB8AC3E}">
        <p14:creationId xmlns:p14="http://schemas.microsoft.com/office/powerpoint/2010/main" val="2615794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FEF5F-53F5-B024-65D4-B52A19081C57}"/>
              </a:ext>
            </a:extLst>
          </p:cNvPr>
          <p:cNvSpPr>
            <a:spLocks noGrp="1"/>
          </p:cNvSpPr>
          <p:nvPr>
            <p:ph type="title"/>
          </p:nvPr>
        </p:nvSpPr>
        <p:spPr/>
        <p:txBody>
          <a:bodyPr/>
          <a:lstStyle/>
          <a:p>
            <a:r>
              <a:rPr lang="en-US" dirty="0"/>
              <a:t>Coercion in recruiting</a:t>
            </a:r>
          </a:p>
        </p:txBody>
      </p:sp>
      <p:sp>
        <p:nvSpPr>
          <p:cNvPr id="3" name="Content Placeholder 2">
            <a:extLst>
              <a:ext uri="{FF2B5EF4-FFF2-40B4-BE49-F238E27FC236}">
                <a16:creationId xmlns:a16="http://schemas.microsoft.com/office/drawing/2014/main" id="{3661068C-1E87-F1E5-0BC7-0D09AEC91A6A}"/>
              </a:ext>
            </a:extLst>
          </p:cNvPr>
          <p:cNvSpPr>
            <a:spLocks noGrp="1"/>
          </p:cNvSpPr>
          <p:nvPr>
            <p:ph idx="1"/>
          </p:nvPr>
        </p:nvSpPr>
        <p:spPr/>
        <p:txBody>
          <a:bodyPr>
            <a:normAutofit lnSpcReduction="10000"/>
          </a:bodyPr>
          <a:lstStyle/>
          <a:p>
            <a:r>
              <a:rPr lang="en-US" dirty="0"/>
              <a:t>No participant in a research study should ever feel threatened into participating</a:t>
            </a:r>
          </a:p>
          <a:p>
            <a:pPr lvl="1"/>
            <a:r>
              <a:rPr lang="en-US" dirty="0"/>
              <a:t>Loss of employment concerns</a:t>
            </a:r>
          </a:p>
          <a:p>
            <a:pPr lvl="2"/>
            <a:r>
              <a:rPr lang="en-US" dirty="0"/>
              <a:t>Lab staff members cannot be recruited</a:t>
            </a:r>
          </a:p>
          <a:p>
            <a:pPr lvl="1"/>
            <a:r>
              <a:rPr lang="en-US" dirty="0"/>
              <a:t>Loss of educational access</a:t>
            </a:r>
          </a:p>
          <a:p>
            <a:pPr lvl="1"/>
            <a:r>
              <a:rPr lang="en-US" dirty="0"/>
              <a:t>Loss of medical benefits access</a:t>
            </a:r>
          </a:p>
          <a:p>
            <a:endParaRPr lang="en-US" dirty="0"/>
          </a:p>
          <a:p>
            <a:r>
              <a:rPr lang="en-US" dirty="0"/>
              <a:t>Studies with substantial risk often pay more</a:t>
            </a:r>
          </a:p>
          <a:p>
            <a:pPr lvl="1"/>
            <a:r>
              <a:rPr lang="en-US" dirty="0"/>
              <a:t>Concerns about implicit coercion of poor participants</a:t>
            </a:r>
          </a:p>
          <a:p>
            <a:pPr lvl="1"/>
            <a:r>
              <a:rPr lang="en-US" dirty="0"/>
              <a:t>IRB judges the balance of risk/compensation</a:t>
            </a:r>
            <a:br>
              <a:rPr lang="en-US" dirty="0"/>
            </a:br>
            <a:endParaRPr lang="en-US" dirty="0"/>
          </a:p>
        </p:txBody>
      </p:sp>
    </p:spTree>
    <p:extLst>
      <p:ext uri="{BB962C8B-B14F-4D97-AF65-F5344CB8AC3E}">
        <p14:creationId xmlns:p14="http://schemas.microsoft.com/office/powerpoint/2010/main" val="3047374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88918-9E4F-1495-7C1F-36F24A05BBAE}"/>
              </a:ext>
            </a:extLst>
          </p:cNvPr>
          <p:cNvSpPr>
            <a:spLocks noGrp="1"/>
          </p:cNvSpPr>
          <p:nvPr>
            <p:ph type="title"/>
          </p:nvPr>
        </p:nvSpPr>
        <p:spPr/>
        <p:txBody>
          <a:bodyPr/>
          <a:lstStyle/>
          <a:p>
            <a:r>
              <a:rPr lang="en-US" dirty="0"/>
              <a:t>WEIRD Samples</a:t>
            </a:r>
          </a:p>
        </p:txBody>
      </p:sp>
      <p:sp>
        <p:nvSpPr>
          <p:cNvPr id="3" name="Content Placeholder 2">
            <a:extLst>
              <a:ext uri="{FF2B5EF4-FFF2-40B4-BE49-F238E27FC236}">
                <a16:creationId xmlns:a16="http://schemas.microsoft.com/office/drawing/2014/main" id="{4A205796-1165-E3C2-B813-13917B2C014A}"/>
              </a:ext>
            </a:extLst>
          </p:cNvPr>
          <p:cNvSpPr>
            <a:spLocks noGrp="1"/>
          </p:cNvSpPr>
          <p:nvPr>
            <p:ph idx="1"/>
          </p:nvPr>
        </p:nvSpPr>
        <p:spPr/>
        <p:txBody>
          <a:bodyPr>
            <a:normAutofit fontScale="92500" lnSpcReduction="20000"/>
          </a:bodyPr>
          <a:lstStyle/>
          <a:p>
            <a:r>
              <a:rPr lang="en-US" dirty="0"/>
              <a:t>Western</a:t>
            </a:r>
          </a:p>
          <a:p>
            <a:r>
              <a:rPr lang="en-US" dirty="0"/>
              <a:t>Educated</a:t>
            </a:r>
          </a:p>
          <a:p>
            <a:r>
              <a:rPr lang="en-US" dirty="0"/>
              <a:t>Industrialized</a:t>
            </a:r>
          </a:p>
          <a:p>
            <a:r>
              <a:rPr lang="en-US" dirty="0"/>
              <a:t>Rich</a:t>
            </a:r>
          </a:p>
          <a:p>
            <a:r>
              <a:rPr lang="en-US" dirty="0"/>
              <a:t>Democratic</a:t>
            </a:r>
          </a:p>
          <a:p>
            <a:pPr lvl="1"/>
            <a:endParaRPr lang="en-US" dirty="0"/>
          </a:p>
          <a:p>
            <a:r>
              <a:rPr lang="en-US" dirty="0"/>
              <a:t>Undergraduates from expensive universities in the USA, Canada, Western Europe</a:t>
            </a:r>
          </a:p>
          <a:p>
            <a:endParaRPr lang="en-US" dirty="0"/>
          </a:p>
          <a:p>
            <a:r>
              <a:rPr lang="en-US" dirty="0"/>
              <a:t>When does this subpopulation exhibit different psychological phenomena than the broader population?</a:t>
            </a:r>
          </a:p>
        </p:txBody>
      </p:sp>
    </p:spTree>
    <p:extLst>
      <p:ext uri="{BB962C8B-B14F-4D97-AF65-F5344CB8AC3E}">
        <p14:creationId xmlns:p14="http://schemas.microsoft.com/office/powerpoint/2010/main" val="7773419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E8ADA-033B-CCAA-EBF0-749FD8F7E4AB}"/>
              </a:ext>
            </a:extLst>
          </p:cNvPr>
          <p:cNvSpPr>
            <a:spLocks noGrp="1"/>
          </p:cNvSpPr>
          <p:nvPr>
            <p:ph type="title"/>
          </p:nvPr>
        </p:nvSpPr>
        <p:spPr/>
        <p:txBody>
          <a:bodyPr/>
          <a:lstStyle/>
          <a:p>
            <a:r>
              <a:rPr lang="en-US" dirty="0"/>
              <a:t>Limitations on external validity</a:t>
            </a:r>
          </a:p>
        </p:txBody>
      </p:sp>
      <p:sp>
        <p:nvSpPr>
          <p:cNvPr id="3" name="Content Placeholder 2">
            <a:extLst>
              <a:ext uri="{FF2B5EF4-FFF2-40B4-BE49-F238E27FC236}">
                <a16:creationId xmlns:a16="http://schemas.microsoft.com/office/drawing/2014/main" id="{702412AC-25E3-2718-5290-DF9A4D3C19CE}"/>
              </a:ext>
            </a:extLst>
          </p:cNvPr>
          <p:cNvSpPr>
            <a:spLocks noGrp="1"/>
          </p:cNvSpPr>
          <p:nvPr>
            <p:ph idx="1"/>
          </p:nvPr>
        </p:nvSpPr>
        <p:spPr/>
        <p:txBody>
          <a:bodyPr>
            <a:normAutofit lnSpcReduction="10000"/>
          </a:bodyPr>
          <a:lstStyle/>
          <a:p>
            <a:r>
              <a:rPr lang="en-US" dirty="0"/>
              <a:t>The research results may not apply to the whole population</a:t>
            </a:r>
          </a:p>
          <a:p>
            <a:pPr lvl="1"/>
            <a:r>
              <a:rPr lang="en-US" dirty="0"/>
              <a:t>They still apply to similar samples (restricted population)</a:t>
            </a:r>
          </a:p>
          <a:p>
            <a:pPr lvl="1"/>
            <a:r>
              <a:rPr lang="en-US" dirty="0"/>
              <a:t>Who doesn’t it apply to?</a:t>
            </a:r>
          </a:p>
          <a:p>
            <a:pPr lvl="2"/>
            <a:r>
              <a:rPr lang="en-US" dirty="0"/>
              <a:t>Why?</a:t>
            </a:r>
          </a:p>
          <a:p>
            <a:pPr lvl="2"/>
            <a:endParaRPr lang="en-US" dirty="0"/>
          </a:p>
          <a:p>
            <a:r>
              <a:rPr lang="en-US" dirty="0"/>
              <a:t>Implicit limitations</a:t>
            </a:r>
          </a:p>
          <a:p>
            <a:pPr lvl="1"/>
            <a:r>
              <a:rPr lang="en-US" dirty="0"/>
              <a:t>Effects rarely assumed to apply across whole age range</a:t>
            </a:r>
          </a:p>
          <a:p>
            <a:pPr lvl="1"/>
            <a:r>
              <a:rPr lang="en-US" dirty="0"/>
              <a:t>Not assumed to apply to constrained subpopulations</a:t>
            </a:r>
          </a:p>
          <a:p>
            <a:pPr lvl="1"/>
            <a:endParaRPr lang="en-US" dirty="0"/>
          </a:p>
          <a:p>
            <a:r>
              <a:rPr lang="en-US" dirty="0"/>
              <a:t>What sampling issues do we have to consider with our in-class experiment methodology?</a:t>
            </a:r>
          </a:p>
        </p:txBody>
      </p:sp>
    </p:spTree>
    <p:extLst>
      <p:ext uri="{BB962C8B-B14F-4D97-AF65-F5344CB8AC3E}">
        <p14:creationId xmlns:p14="http://schemas.microsoft.com/office/powerpoint/2010/main" val="319131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9EF7A-8E0F-5670-B3D2-21ADBF053034}"/>
              </a:ext>
            </a:extLst>
          </p:cNvPr>
          <p:cNvSpPr>
            <a:spLocks noGrp="1"/>
          </p:cNvSpPr>
          <p:nvPr>
            <p:ph type="title"/>
          </p:nvPr>
        </p:nvSpPr>
        <p:spPr/>
        <p:txBody>
          <a:bodyPr/>
          <a:lstStyle/>
          <a:p>
            <a:r>
              <a:rPr lang="en-US"/>
              <a:t>In-class research</a:t>
            </a:r>
          </a:p>
        </p:txBody>
      </p:sp>
      <p:sp>
        <p:nvSpPr>
          <p:cNvPr id="3" name="Content Placeholder 2">
            <a:extLst>
              <a:ext uri="{FF2B5EF4-FFF2-40B4-BE49-F238E27FC236}">
                <a16:creationId xmlns:a16="http://schemas.microsoft.com/office/drawing/2014/main" id="{BC005B7B-0A67-8A1B-08F9-87EF19544DE1}"/>
              </a:ext>
            </a:extLst>
          </p:cNvPr>
          <p:cNvSpPr>
            <a:spLocks noGrp="1"/>
          </p:cNvSpPr>
          <p:nvPr>
            <p:ph idx="1"/>
          </p:nvPr>
        </p:nvSpPr>
        <p:spPr/>
        <p:txBody>
          <a:bodyPr/>
          <a:lstStyle/>
          <a:p>
            <a:r>
              <a:rPr lang="en-US" b="0" i="0" dirty="0">
                <a:solidFill>
                  <a:srgbClr val="2D3B45"/>
                </a:solidFill>
                <a:effectLst/>
                <a:latin typeface="Lato Extended"/>
              </a:rPr>
              <a:t>What sampling issues do we have to consider with our methodology for the in-class Experiment </a:t>
            </a:r>
            <a:r>
              <a:rPr lang="en-US" dirty="0">
                <a:solidFill>
                  <a:srgbClr val="2D3B45"/>
                </a:solidFill>
                <a:latin typeface="Lato Extended"/>
              </a:rPr>
              <a:t>1?</a:t>
            </a:r>
          </a:p>
          <a:p>
            <a:pPr lvl="1"/>
            <a:r>
              <a:rPr lang="en-US" dirty="0">
                <a:solidFill>
                  <a:srgbClr val="2D3B45"/>
                </a:solidFill>
                <a:latin typeface="Lato Extended"/>
              </a:rPr>
              <a:t>Experiment 2 will use participants that are recruited by the class, typically friends and family.</a:t>
            </a:r>
          </a:p>
          <a:p>
            <a:pPr lvl="1"/>
            <a:r>
              <a:rPr lang="en-US" dirty="0">
                <a:solidFill>
                  <a:srgbClr val="2D3B45"/>
                </a:solidFill>
                <a:latin typeface="Lato Extended"/>
              </a:rPr>
              <a:t>Sampling concerns?</a:t>
            </a:r>
            <a:endParaRPr lang="en-US" dirty="0"/>
          </a:p>
        </p:txBody>
      </p:sp>
    </p:spTree>
    <p:extLst>
      <p:ext uri="{BB962C8B-B14F-4D97-AF65-F5344CB8AC3E}">
        <p14:creationId xmlns:p14="http://schemas.microsoft.com/office/powerpoint/2010/main" val="3257425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8B53-34AB-AA4A-4B04-C87C73B5FF80}"/>
              </a:ext>
            </a:extLst>
          </p:cNvPr>
          <p:cNvSpPr>
            <a:spLocks noGrp="1"/>
          </p:cNvSpPr>
          <p:nvPr>
            <p:ph type="title"/>
          </p:nvPr>
        </p:nvSpPr>
        <p:spPr/>
        <p:txBody>
          <a:bodyPr/>
          <a:lstStyle/>
          <a:p>
            <a:r>
              <a:rPr lang="en-US" dirty="0"/>
              <a:t>Online research</a:t>
            </a:r>
          </a:p>
        </p:txBody>
      </p:sp>
      <p:sp>
        <p:nvSpPr>
          <p:cNvPr id="3" name="Content Placeholder 2">
            <a:extLst>
              <a:ext uri="{FF2B5EF4-FFF2-40B4-BE49-F238E27FC236}">
                <a16:creationId xmlns:a16="http://schemas.microsoft.com/office/drawing/2014/main" id="{C3A60793-EAED-C76E-3DC1-4A05EE1907FF}"/>
              </a:ext>
            </a:extLst>
          </p:cNvPr>
          <p:cNvSpPr>
            <a:spLocks noGrp="1"/>
          </p:cNvSpPr>
          <p:nvPr>
            <p:ph idx="1"/>
          </p:nvPr>
        </p:nvSpPr>
        <p:spPr/>
        <p:txBody>
          <a:bodyPr>
            <a:normAutofit lnSpcReduction="10000"/>
          </a:bodyPr>
          <a:lstStyle/>
          <a:p>
            <a:r>
              <a:rPr lang="en-US" dirty="0"/>
              <a:t>Online marketplace to connect volunteers to researchers</a:t>
            </a:r>
          </a:p>
          <a:p>
            <a:pPr lvl="1"/>
            <a:r>
              <a:rPr lang="en-US" dirty="0"/>
              <a:t>Potential to be less WEIRD</a:t>
            </a:r>
          </a:p>
          <a:p>
            <a:pPr lvl="1"/>
            <a:r>
              <a:rPr lang="en-US" dirty="0"/>
              <a:t>Still somewhat restricted</a:t>
            </a:r>
          </a:p>
          <a:p>
            <a:pPr lvl="1"/>
            <a:endParaRPr lang="en-US" dirty="0"/>
          </a:p>
          <a:p>
            <a:r>
              <a:rPr lang="en-US" dirty="0"/>
              <a:t>Not well-integrated into oversight processes for research</a:t>
            </a:r>
          </a:p>
          <a:p>
            <a:pPr lvl="1"/>
            <a:r>
              <a:rPr lang="en-US" dirty="0"/>
              <a:t>Identity authentication is hard</a:t>
            </a:r>
          </a:p>
          <a:p>
            <a:pPr lvl="1"/>
            <a:r>
              <a:rPr lang="en-US" dirty="0"/>
              <a:t>Bots, multi-accounts, shared accounts</a:t>
            </a:r>
          </a:p>
          <a:p>
            <a:pPr lvl="1"/>
            <a:r>
              <a:rPr lang="en-US" dirty="0"/>
              <a:t>Little accountability for researchers about privacy, compensation, fairness</a:t>
            </a:r>
          </a:p>
          <a:p>
            <a:pPr lvl="1"/>
            <a:endParaRPr lang="en-US" dirty="0"/>
          </a:p>
          <a:p>
            <a:r>
              <a:rPr lang="en-US" dirty="0"/>
              <a:t>Practically seems to work very well</a:t>
            </a:r>
          </a:p>
          <a:p>
            <a:pPr lvl="1"/>
            <a:r>
              <a:rPr lang="en-US" dirty="0"/>
              <a:t>No major issues seem to have occurred to date</a:t>
            </a:r>
          </a:p>
        </p:txBody>
      </p:sp>
    </p:spTree>
    <p:extLst>
      <p:ext uri="{BB962C8B-B14F-4D97-AF65-F5344CB8AC3E}">
        <p14:creationId xmlns:p14="http://schemas.microsoft.com/office/powerpoint/2010/main" val="2813099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4FD15-5002-3D66-0DB2-BF1ABDF6B88F}"/>
              </a:ext>
            </a:extLst>
          </p:cNvPr>
          <p:cNvSpPr>
            <a:spLocks noGrp="1"/>
          </p:cNvSpPr>
          <p:nvPr>
            <p:ph type="title"/>
          </p:nvPr>
        </p:nvSpPr>
        <p:spPr/>
        <p:txBody>
          <a:bodyPr/>
          <a:lstStyle/>
          <a:p>
            <a:r>
              <a:rPr lang="en-US" dirty="0"/>
              <a:t>Diversity in Research</a:t>
            </a:r>
          </a:p>
        </p:txBody>
      </p:sp>
      <p:sp>
        <p:nvSpPr>
          <p:cNvPr id="3" name="Content Placeholder 2">
            <a:extLst>
              <a:ext uri="{FF2B5EF4-FFF2-40B4-BE49-F238E27FC236}">
                <a16:creationId xmlns:a16="http://schemas.microsoft.com/office/drawing/2014/main" id="{01131898-5528-1033-1645-A866DBAF4E09}"/>
              </a:ext>
            </a:extLst>
          </p:cNvPr>
          <p:cNvSpPr>
            <a:spLocks noGrp="1"/>
          </p:cNvSpPr>
          <p:nvPr>
            <p:ph idx="1"/>
          </p:nvPr>
        </p:nvSpPr>
        <p:spPr/>
        <p:txBody>
          <a:bodyPr/>
          <a:lstStyle/>
          <a:p>
            <a:r>
              <a:rPr lang="en-US" dirty="0"/>
              <a:t>Critical in health and medical research</a:t>
            </a:r>
          </a:p>
          <a:p>
            <a:pPr lvl="1"/>
            <a:r>
              <a:rPr lang="en-US" dirty="0"/>
              <a:t>Effects and side-effects can vary widely</a:t>
            </a:r>
          </a:p>
          <a:p>
            <a:pPr lvl="1"/>
            <a:endParaRPr lang="en-US" dirty="0"/>
          </a:p>
          <a:p>
            <a:r>
              <a:rPr lang="en-US" dirty="0"/>
              <a:t>Best practice in Psychological research</a:t>
            </a:r>
          </a:p>
          <a:p>
            <a:pPr lvl="1"/>
            <a:r>
              <a:rPr lang="en-US" dirty="0"/>
              <a:t>Importance depends on research area</a:t>
            </a:r>
          </a:p>
          <a:p>
            <a:pPr lvl="1"/>
            <a:r>
              <a:rPr lang="en-US" dirty="0"/>
              <a:t>Expertise to identify importance of this as an extraneous variable</a:t>
            </a:r>
          </a:p>
          <a:p>
            <a:pPr lvl="1"/>
            <a:r>
              <a:rPr lang="en-US" dirty="0"/>
              <a:t>Cognitive processes less impacted</a:t>
            </a:r>
          </a:p>
          <a:p>
            <a:pPr lvl="1"/>
            <a:r>
              <a:rPr lang="en-US" dirty="0"/>
              <a:t>Social, clinical, health more impacted</a:t>
            </a:r>
          </a:p>
          <a:p>
            <a:pPr lvl="1"/>
            <a:endParaRPr lang="en-US" dirty="0"/>
          </a:p>
          <a:p>
            <a:r>
              <a:rPr lang="en-US" dirty="0"/>
              <a:t>Limitations always require explanation of an alternative hypothesis</a:t>
            </a:r>
          </a:p>
        </p:txBody>
      </p:sp>
    </p:spTree>
    <p:extLst>
      <p:ext uri="{BB962C8B-B14F-4D97-AF65-F5344CB8AC3E}">
        <p14:creationId xmlns:p14="http://schemas.microsoft.com/office/powerpoint/2010/main" val="1949835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2C9B0-9599-AA53-5F0B-16231E6A949B}"/>
              </a:ext>
            </a:extLst>
          </p:cNvPr>
          <p:cNvSpPr>
            <a:spLocks noGrp="1"/>
          </p:cNvSpPr>
          <p:nvPr>
            <p:ph type="title"/>
          </p:nvPr>
        </p:nvSpPr>
        <p:spPr/>
        <p:txBody>
          <a:bodyPr/>
          <a:lstStyle/>
          <a:p>
            <a:r>
              <a:rPr lang="en-US" dirty="0"/>
              <a:t>For Monday</a:t>
            </a:r>
          </a:p>
        </p:txBody>
      </p:sp>
      <p:sp>
        <p:nvSpPr>
          <p:cNvPr id="3" name="Content Placeholder 2">
            <a:extLst>
              <a:ext uri="{FF2B5EF4-FFF2-40B4-BE49-F238E27FC236}">
                <a16:creationId xmlns:a16="http://schemas.microsoft.com/office/drawing/2014/main" id="{77832A62-7ABE-5306-1B01-B0D390BA12F5}"/>
              </a:ext>
            </a:extLst>
          </p:cNvPr>
          <p:cNvSpPr>
            <a:spLocks noGrp="1"/>
          </p:cNvSpPr>
          <p:nvPr>
            <p:ph idx="1"/>
          </p:nvPr>
        </p:nvSpPr>
        <p:spPr/>
        <p:txBody>
          <a:bodyPr/>
          <a:lstStyle/>
          <a:p>
            <a:r>
              <a:rPr lang="en-US" dirty="0"/>
              <a:t>Operations Manual, Chapter 3</a:t>
            </a:r>
          </a:p>
          <a:p>
            <a:pPr lvl="1"/>
            <a:r>
              <a:rPr lang="en-US" dirty="0"/>
              <a:t>Experiment 1 theory and background</a:t>
            </a:r>
          </a:p>
          <a:p>
            <a:pPr lvl="1"/>
            <a:endParaRPr lang="en-US" dirty="0"/>
          </a:p>
          <a:p>
            <a:pPr lvl="1"/>
            <a:endParaRPr lang="en-US" dirty="0"/>
          </a:p>
          <a:p>
            <a:r>
              <a:rPr lang="en-US" dirty="0"/>
              <a:t>Coming up:</a:t>
            </a:r>
          </a:p>
          <a:p>
            <a:pPr lvl="1"/>
            <a:r>
              <a:rPr lang="en-US" dirty="0"/>
              <a:t>(Wed) Analysis of our data</a:t>
            </a:r>
          </a:p>
          <a:p>
            <a:pPr lvl="1"/>
            <a:r>
              <a:rPr lang="en-US" dirty="0"/>
              <a:t>(Fri) Preparing a report of the results</a:t>
            </a:r>
          </a:p>
        </p:txBody>
      </p:sp>
    </p:spTree>
    <p:extLst>
      <p:ext uri="{BB962C8B-B14F-4D97-AF65-F5344CB8AC3E}">
        <p14:creationId xmlns:p14="http://schemas.microsoft.com/office/powerpoint/2010/main" val="32716951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21225</TotalTime>
  <Words>978</Words>
  <Application>Microsoft Office PowerPoint</Application>
  <PresentationFormat>Widescreen</PresentationFormat>
  <Paragraphs>134</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Lato Extended</vt:lpstr>
      <vt:lpstr>Times New Roman</vt:lpstr>
      <vt:lpstr>Office Theme</vt:lpstr>
      <vt:lpstr>301 Sep 26, Class 5</vt:lpstr>
      <vt:lpstr>PowerPoint Presentation</vt:lpstr>
      <vt:lpstr>Research sampling</vt:lpstr>
      <vt:lpstr>Recruiting participants</vt:lpstr>
      <vt:lpstr>Homework</vt:lpstr>
      <vt:lpstr>PowerPoint Presentation</vt:lpstr>
      <vt:lpstr>External validity</vt:lpstr>
      <vt:lpstr>Sampling bias</vt:lpstr>
      <vt:lpstr>Ethics in Research Advertising</vt:lpstr>
      <vt:lpstr>Coercion in recruiting</vt:lpstr>
      <vt:lpstr>WEIRD Samples</vt:lpstr>
      <vt:lpstr>Limitations on external validity</vt:lpstr>
      <vt:lpstr>In-class research</vt:lpstr>
      <vt:lpstr>Online research</vt:lpstr>
      <vt:lpstr>Diversity in Research</vt:lpstr>
      <vt:lpstr>For Monday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Sep 30</dc:title>
  <dc:creator>Paul Reber</dc:creator>
  <cp:lastModifiedBy>Paul Reber</cp:lastModifiedBy>
  <cp:revision>20</cp:revision>
  <cp:lastPrinted>2025-09-26T02:44:00Z</cp:lastPrinted>
  <dcterms:created xsi:type="dcterms:W3CDTF">2022-09-22T18:15:01Z</dcterms:created>
  <dcterms:modified xsi:type="dcterms:W3CDTF">2025-09-29T17:11:13Z</dcterms:modified>
</cp:coreProperties>
</file>