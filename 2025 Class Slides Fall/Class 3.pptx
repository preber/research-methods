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80" r:id="rId3"/>
    <p:sldId id="281" r:id="rId4"/>
    <p:sldId id="276" r:id="rId5"/>
    <p:sldId id="278" r:id="rId6"/>
    <p:sldId id="269" r:id="rId7"/>
    <p:sldId id="282" r:id="rId8"/>
    <p:sldId id="283" r:id="rId9"/>
    <p:sldId id="271" r:id="rId10"/>
    <p:sldId id="273" r:id="rId11"/>
    <p:sldId id="274" r:id="rId12"/>
    <p:sldId id="279" r:id="rId13"/>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2" autoAdjust="0"/>
    <p:restoredTop sz="94660"/>
  </p:normalViewPr>
  <p:slideViewPr>
    <p:cSldViewPr snapToGrid="0">
      <p:cViewPr varScale="1">
        <p:scale>
          <a:sx n="97" d="100"/>
          <a:sy n="97" d="100"/>
        </p:scale>
        <p:origin x="32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5990A484-0801-43A3-BD7D-E17508C3D261}" type="datetimeFigureOut">
              <a:rPr lang="en-US" smtClean="0"/>
              <a:t>9/21/2025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F07362C5-E0D7-4F76-83A1-6CB6EFBC64BA}" type="slidenum">
              <a:rPr lang="en-US" smtClean="0"/>
              <a:t>‹#›</a:t>
            </a:fld>
            <a:endParaRPr lang="en-US"/>
          </a:p>
        </p:txBody>
      </p:sp>
    </p:spTree>
    <p:extLst>
      <p:ext uri="{BB962C8B-B14F-4D97-AF65-F5344CB8AC3E}">
        <p14:creationId xmlns:p14="http://schemas.microsoft.com/office/powerpoint/2010/main" val="3831779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1F7BEF2E-AD43-41B4-9A60-042ABDBFFEB4}" type="slidenum">
              <a:rPr lang="en-US" smtClean="0"/>
              <a:pPr/>
              <a:t>2</a:t>
            </a:fld>
            <a:endParaRPr 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5364E-3857-6641-E86C-B42DEFC1CF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4E64194-5CD0-2042-1666-A4B32A48ED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38301F-6627-B009-4725-B03117EDFF3C}"/>
              </a:ext>
            </a:extLst>
          </p:cNvPr>
          <p:cNvSpPr>
            <a:spLocks noGrp="1"/>
          </p:cNvSpPr>
          <p:nvPr>
            <p:ph type="dt" sz="half" idx="10"/>
          </p:nvPr>
        </p:nvSpPr>
        <p:spPr/>
        <p:txBody>
          <a:bodyPr/>
          <a:lstStyle/>
          <a:p>
            <a:fld id="{F599F4E8-8C7A-40CB-8ADB-BBDE7608B4C1}" type="datetimeFigureOut">
              <a:rPr lang="en-US" smtClean="0"/>
              <a:t>9/21/2025</a:t>
            </a:fld>
            <a:endParaRPr lang="en-US"/>
          </a:p>
        </p:txBody>
      </p:sp>
      <p:sp>
        <p:nvSpPr>
          <p:cNvPr id="5" name="Footer Placeholder 4">
            <a:extLst>
              <a:ext uri="{FF2B5EF4-FFF2-40B4-BE49-F238E27FC236}">
                <a16:creationId xmlns:a16="http://schemas.microsoft.com/office/drawing/2014/main" id="{21E12617-6E75-ECF4-2579-CC16D05B75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DD8C65-31B0-F571-DFE4-3F7E2A2BC975}"/>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2199383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F1451-5316-D8CD-5C74-056B2E9DB8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DB5C98-B0AF-BA10-6483-61BD6BE771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715EB6-2824-EA3E-1304-CA7767A871B1}"/>
              </a:ext>
            </a:extLst>
          </p:cNvPr>
          <p:cNvSpPr>
            <a:spLocks noGrp="1"/>
          </p:cNvSpPr>
          <p:nvPr>
            <p:ph type="dt" sz="half" idx="10"/>
          </p:nvPr>
        </p:nvSpPr>
        <p:spPr/>
        <p:txBody>
          <a:bodyPr/>
          <a:lstStyle/>
          <a:p>
            <a:fld id="{F599F4E8-8C7A-40CB-8ADB-BBDE7608B4C1}" type="datetimeFigureOut">
              <a:rPr lang="en-US" smtClean="0"/>
              <a:t>9/21/2025</a:t>
            </a:fld>
            <a:endParaRPr lang="en-US"/>
          </a:p>
        </p:txBody>
      </p:sp>
      <p:sp>
        <p:nvSpPr>
          <p:cNvPr id="5" name="Footer Placeholder 4">
            <a:extLst>
              <a:ext uri="{FF2B5EF4-FFF2-40B4-BE49-F238E27FC236}">
                <a16:creationId xmlns:a16="http://schemas.microsoft.com/office/drawing/2014/main" id="{E6B6A1A1-1689-EAEB-F93B-E9E38BF8A3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696D42-644E-CB00-C87F-179510AD0073}"/>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169332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22B7-9918-2F1D-6673-99F4A35ACC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80C168-6CC0-7686-ACF0-091D7BE4F5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C1B89A-F731-F360-C972-A0B10C1CDCC9}"/>
              </a:ext>
            </a:extLst>
          </p:cNvPr>
          <p:cNvSpPr>
            <a:spLocks noGrp="1"/>
          </p:cNvSpPr>
          <p:nvPr>
            <p:ph type="dt" sz="half" idx="10"/>
          </p:nvPr>
        </p:nvSpPr>
        <p:spPr/>
        <p:txBody>
          <a:bodyPr/>
          <a:lstStyle/>
          <a:p>
            <a:fld id="{F599F4E8-8C7A-40CB-8ADB-BBDE7608B4C1}" type="datetimeFigureOut">
              <a:rPr lang="en-US" smtClean="0"/>
              <a:t>9/21/2025</a:t>
            </a:fld>
            <a:endParaRPr lang="en-US"/>
          </a:p>
        </p:txBody>
      </p:sp>
      <p:sp>
        <p:nvSpPr>
          <p:cNvPr id="5" name="Footer Placeholder 4">
            <a:extLst>
              <a:ext uri="{FF2B5EF4-FFF2-40B4-BE49-F238E27FC236}">
                <a16:creationId xmlns:a16="http://schemas.microsoft.com/office/drawing/2014/main" id="{0E0AB595-8F8D-7917-A5B1-618390CEE6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02B210-7B09-D8A0-5E71-A3DF8E5586C9}"/>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811489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CF6F9-B8E6-5245-148F-0DC4B2FC48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A1EEBA-4E0D-848A-0ABB-5D87208A47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C9F99A1-5C7B-D70C-C5AF-2C47F98AC3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5BFC83-B8BB-E724-61BE-4ED30301DED8}"/>
              </a:ext>
            </a:extLst>
          </p:cNvPr>
          <p:cNvSpPr>
            <a:spLocks noGrp="1"/>
          </p:cNvSpPr>
          <p:nvPr>
            <p:ph type="dt" sz="half" idx="10"/>
          </p:nvPr>
        </p:nvSpPr>
        <p:spPr/>
        <p:txBody>
          <a:bodyPr/>
          <a:lstStyle/>
          <a:p>
            <a:fld id="{F599F4E8-8C7A-40CB-8ADB-BBDE7608B4C1}" type="datetimeFigureOut">
              <a:rPr lang="en-US" smtClean="0"/>
              <a:t>9/21/2025</a:t>
            </a:fld>
            <a:endParaRPr lang="en-US"/>
          </a:p>
        </p:txBody>
      </p:sp>
      <p:sp>
        <p:nvSpPr>
          <p:cNvPr id="6" name="Footer Placeholder 5">
            <a:extLst>
              <a:ext uri="{FF2B5EF4-FFF2-40B4-BE49-F238E27FC236}">
                <a16:creationId xmlns:a16="http://schemas.microsoft.com/office/drawing/2014/main" id="{A8BA3119-435D-5425-8DCE-92A1F3E383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1045E1-FA07-346E-1F3D-551561281358}"/>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3349331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155B3-80A2-69ED-901F-FA56C650B3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EC28B2-84CF-A096-5C01-F1846591FC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3D4AB4-31C8-1666-39DE-FED9E6BE70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9E401C-A81F-F839-8E87-9F00161D0B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B52DB8-25C8-3A3C-A103-BF2B655E4D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432CC9-9270-A879-632E-75EF1CBA7ACD}"/>
              </a:ext>
            </a:extLst>
          </p:cNvPr>
          <p:cNvSpPr>
            <a:spLocks noGrp="1"/>
          </p:cNvSpPr>
          <p:nvPr>
            <p:ph type="dt" sz="half" idx="10"/>
          </p:nvPr>
        </p:nvSpPr>
        <p:spPr/>
        <p:txBody>
          <a:bodyPr/>
          <a:lstStyle/>
          <a:p>
            <a:fld id="{F599F4E8-8C7A-40CB-8ADB-BBDE7608B4C1}" type="datetimeFigureOut">
              <a:rPr lang="en-US" smtClean="0"/>
              <a:t>9/21/2025</a:t>
            </a:fld>
            <a:endParaRPr lang="en-US"/>
          </a:p>
        </p:txBody>
      </p:sp>
      <p:sp>
        <p:nvSpPr>
          <p:cNvPr id="8" name="Footer Placeholder 7">
            <a:extLst>
              <a:ext uri="{FF2B5EF4-FFF2-40B4-BE49-F238E27FC236}">
                <a16:creationId xmlns:a16="http://schemas.microsoft.com/office/drawing/2014/main" id="{D39233C6-8E90-A162-1F97-23EA22BA45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FFA99E-8CC3-50AD-9D59-BE67A5A011AD}"/>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250704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EA49B-FD43-C7EC-C8A8-12EA0DEB90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40E776-D0DA-14F4-C924-FD9B689E415D}"/>
              </a:ext>
            </a:extLst>
          </p:cNvPr>
          <p:cNvSpPr>
            <a:spLocks noGrp="1"/>
          </p:cNvSpPr>
          <p:nvPr>
            <p:ph type="dt" sz="half" idx="10"/>
          </p:nvPr>
        </p:nvSpPr>
        <p:spPr/>
        <p:txBody>
          <a:bodyPr/>
          <a:lstStyle/>
          <a:p>
            <a:fld id="{F599F4E8-8C7A-40CB-8ADB-BBDE7608B4C1}" type="datetimeFigureOut">
              <a:rPr lang="en-US" smtClean="0"/>
              <a:t>9/21/2025</a:t>
            </a:fld>
            <a:endParaRPr lang="en-US"/>
          </a:p>
        </p:txBody>
      </p:sp>
      <p:sp>
        <p:nvSpPr>
          <p:cNvPr id="4" name="Footer Placeholder 3">
            <a:extLst>
              <a:ext uri="{FF2B5EF4-FFF2-40B4-BE49-F238E27FC236}">
                <a16:creationId xmlns:a16="http://schemas.microsoft.com/office/drawing/2014/main" id="{ACE141D3-A98C-D97C-A0A7-6F576F780C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0B6253-23E0-F3AF-D73D-2D7B5FF79B2F}"/>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73202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60C91D-CA13-EB75-B08C-40F5B94E8E08}"/>
              </a:ext>
            </a:extLst>
          </p:cNvPr>
          <p:cNvSpPr>
            <a:spLocks noGrp="1"/>
          </p:cNvSpPr>
          <p:nvPr>
            <p:ph type="dt" sz="half" idx="10"/>
          </p:nvPr>
        </p:nvSpPr>
        <p:spPr/>
        <p:txBody>
          <a:bodyPr/>
          <a:lstStyle/>
          <a:p>
            <a:fld id="{F599F4E8-8C7A-40CB-8ADB-BBDE7608B4C1}" type="datetimeFigureOut">
              <a:rPr lang="en-US" smtClean="0"/>
              <a:t>9/21/2025</a:t>
            </a:fld>
            <a:endParaRPr lang="en-US"/>
          </a:p>
        </p:txBody>
      </p:sp>
      <p:sp>
        <p:nvSpPr>
          <p:cNvPr id="3" name="Footer Placeholder 2">
            <a:extLst>
              <a:ext uri="{FF2B5EF4-FFF2-40B4-BE49-F238E27FC236}">
                <a16:creationId xmlns:a16="http://schemas.microsoft.com/office/drawing/2014/main" id="{246521E5-BC00-3916-9D04-959D7797F3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4765AB-7AB3-CBE2-76C8-4AEF99641D01}"/>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1294489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66A50-EE9A-7093-A4B0-A07EC0DB1F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AFA8E4-A4B4-EE0A-4416-19370CDEBE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55DE19-7F67-C03E-9C73-098AB3BD4B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A1BB7F-9F23-9D73-4AE8-7FC27CBD3779}"/>
              </a:ext>
            </a:extLst>
          </p:cNvPr>
          <p:cNvSpPr>
            <a:spLocks noGrp="1"/>
          </p:cNvSpPr>
          <p:nvPr>
            <p:ph type="dt" sz="half" idx="10"/>
          </p:nvPr>
        </p:nvSpPr>
        <p:spPr/>
        <p:txBody>
          <a:bodyPr/>
          <a:lstStyle/>
          <a:p>
            <a:fld id="{F599F4E8-8C7A-40CB-8ADB-BBDE7608B4C1}" type="datetimeFigureOut">
              <a:rPr lang="en-US" smtClean="0"/>
              <a:t>9/21/2025</a:t>
            </a:fld>
            <a:endParaRPr lang="en-US"/>
          </a:p>
        </p:txBody>
      </p:sp>
      <p:sp>
        <p:nvSpPr>
          <p:cNvPr id="6" name="Footer Placeholder 5">
            <a:extLst>
              <a:ext uri="{FF2B5EF4-FFF2-40B4-BE49-F238E27FC236}">
                <a16:creationId xmlns:a16="http://schemas.microsoft.com/office/drawing/2014/main" id="{C1AED017-FACF-A89A-F404-1623B64009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4A57FD-C6B3-E412-ED8E-49A08A619878}"/>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1615937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C6B51-4825-1CEC-10AD-D11557BE0F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2870BD-5ADB-CD86-36D8-0A6B983D15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C4688AC-A42B-BBE2-83B3-9265B7CD9A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C2155B-0387-E9F1-731E-DE7CBAF60A78}"/>
              </a:ext>
            </a:extLst>
          </p:cNvPr>
          <p:cNvSpPr>
            <a:spLocks noGrp="1"/>
          </p:cNvSpPr>
          <p:nvPr>
            <p:ph type="dt" sz="half" idx="10"/>
          </p:nvPr>
        </p:nvSpPr>
        <p:spPr/>
        <p:txBody>
          <a:bodyPr/>
          <a:lstStyle/>
          <a:p>
            <a:fld id="{F599F4E8-8C7A-40CB-8ADB-BBDE7608B4C1}" type="datetimeFigureOut">
              <a:rPr lang="en-US" smtClean="0"/>
              <a:t>9/21/2025</a:t>
            </a:fld>
            <a:endParaRPr lang="en-US"/>
          </a:p>
        </p:txBody>
      </p:sp>
      <p:sp>
        <p:nvSpPr>
          <p:cNvPr id="6" name="Footer Placeholder 5">
            <a:extLst>
              <a:ext uri="{FF2B5EF4-FFF2-40B4-BE49-F238E27FC236}">
                <a16:creationId xmlns:a16="http://schemas.microsoft.com/office/drawing/2014/main" id="{D352391E-7026-64C4-B187-04E5C59ACE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904E4A-0770-92C5-3546-91EAB21EB898}"/>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2042615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506A9-B5C0-72C4-47B4-5C24E198735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E6DCA7-A12F-BDF8-AD78-67799C0B92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897078-B4C8-E23E-D892-810CBF3DEC95}"/>
              </a:ext>
            </a:extLst>
          </p:cNvPr>
          <p:cNvSpPr>
            <a:spLocks noGrp="1"/>
          </p:cNvSpPr>
          <p:nvPr>
            <p:ph type="dt" sz="half" idx="10"/>
          </p:nvPr>
        </p:nvSpPr>
        <p:spPr/>
        <p:txBody>
          <a:bodyPr/>
          <a:lstStyle/>
          <a:p>
            <a:fld id="{F599F4E8-8C7A-40CB-8ADB-BBDE7608B4C1}" type="datetimeFigureOut">
              <a:rPr lang="en-US" smtClean="0"/>
              <a:t>9/21/2025</a:t>
            </a:fld>
            <a:endParaRPr lang="en-US"/>
          </a:p>
        </p:txBody>
      </p:sp>
      <p:sp>
        <p:nvSpPr>
          <p:cNvPr id="5" name="Footer Placeholder 4">
            <a:extLst>
              <a:ext uri="{FF2B5EF4-FFF2-40B4-BE49-F238E27FC236}">
                <a16:creationId xmlns:a16="http://schemas.microsoft.com/office/drawing/2014/main" id="{DFE5F2FA-D345-CB12-ED4A-EB7B6ACA2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E210ED-C52C-5364-472F-2E0474BEA7DC}"/>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3955856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F90CA1-EC5F-DB36-F63A-A893F0E3361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75C4A4-F439-758D-AE6C-3E1A80467E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F0F309-DFA8-4E37-B20D-F5EFD5C14118}"/>
              </a:ext>
            </a:extLst>
          </p:cNvPr>
          <p:cNvSpPr>
            <a:spLocks noGrp="1"/>
          </p:cNvSpPr>
          <p:nvPr>
            <p:ph type="dt" sz="half" idx="10"/>
          </p:nvPr>
        </p:nvSpPr>
        <p:spPr/>
        <p:txBody>
          <a:bodyPr/>
          <a:lstStyle/>
          <a:p>
            <a:fld id="{F599F4E8-8C7A-40CB-8ADB-BBDE7608B4C1}" type="datetimeFigureOut">
              <a:rPr lang="en-US" smtClean="0"/>
              <a:t>9/21/2025</a:t>
            </a:fld>
            <a:endParaRPr lang="en-US"/>
          </a:p>
        </p:txBody>
      </p:sp>
      <p:sp>
        <p:nvSpPr>
          <p:cNvPr id="5" name="Footer Placeholder 4">
            <a:extLst>
              <a:ext uri="{FF2B5EF4-FFF2-40B4-BE49-F238E27FC236}">
                <a16:creationId xmlns:a16="http://schemas.microsoft.com/office/drawing/2014/main" id="{989B5830-2D87-1083-87AA-0C74627009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2001A-1E6D-2DF8-738A-2FD78D341B13}"/>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3772285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8679297-9F36-4E22-8C7D-0FB7E9718515}" type="slidenum">
              <a:rPr lang="en-US"/>
              <a:pPr>
                <a:defRPr/>
              </a:pPr>
              <a:t>‹#›</a:t>
            </a:fld>
            <a:endParaRPr lang="en-US"/>
          </a:p>
        </p:txBody>
      </p:sp>
    </p:spTree>
    <p:extLst>
      <p:ext uri="{BB962C8B-B14F-4D97-AF65-F5344CB8AC3E}">
        <p14:creationId xmlns:p14="http://schemas.microsoft.com/office/powerpoint/2010/main" val="2646874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FBD5A4-0BE5-B7B2-BC0B-A54E1FC217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AC2171-4627-3E0D-C456-0AC1D2DA18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450776-298F-8281-A8B6-BB4475ADB2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99F4E8-8C7A-40CB-8ADB-BBDE7608B4C1}" type="datetimeFigureOut">
              <a:rPr lang="en-US" smtClean="0"/>
              <a:t>9/21/2025</a:t>
            </a:fld>
            <a:endParaRPr lang="en-US"/>
          </a:p>
        </p:txBody>
      </p:sp>
      <p:sp>
        <p:nvSpPr>
          <p:cNvPr id="5" name="Footer Placeholder 4">
            <a:extLst>
              <a:ext uri="{FF2B5EF4-FFF2-40B4-BE49-F238E27FC236}">
                <a16:creationId xmlns:a16="http://schemas.microsoft.com/office/drawing/2014/main" id="{D7E4B770-B5FD-F507-1AC3-647D2E502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B06602F-A9C8-86B2-93A3-671560CC23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9A3FA0-ADA1-46F2-9C79-EFE5CA07787F}" type="slidenum">
              <a:rPr lang="en-US" smtClean="0"/>
              <a:t>‹#›</a:t>
            </a:fld>
            <a:endParaRPr lang="en-US"/>
          </a:p>
        </p:txBody>
      </p:sp>
    </p:spTree>
    <p:extLst>
      <p:ext uri="{BB962C8B-B14F-4D97-AF65-F5344CB8AC3E}">
        <p14:creationId xmlns:p14="http://schemas.microsoft.com/office/powerpoint/2010/main" val="4337861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6C9F56-833C-2BCE-6BAD-19A4DC1A4905}"/>
              </a:ext>
            </a:extLst>
          </p:cNvPr>
          <p:cNvSpPr>
            <a:spLocks noGrp="1"/>
          </p:cNvSpPr>
          <p:nvPr>
            <p:ph type="title"/>
          </p:nvPr>
        </p:nvSpPr>
        <p:spPr/>
        <p:txBody>
          <a:bodyPr/>
          <a:lstStyle/>
          <a:p>
            <a:r>
              <a:rPr lang="en-US" dirty="0"/>
              <a:t>205 Sep 22, Class 3</a:t>
            </a:r>
          </a:p>
        </p:txBody>
      </p:sp>
      <p:sp>
        <p:nvSpPr>
          <p:cNvPr id="5" name="Content Placeholder 4">
            <a:extLst>
              <a:ext uri="{FF2B5EF4-FFF2-40B4-BE49-F238E27FC236}">
                <a16:creationId xmlns:a16="http://schemas.microsoft.com/office/drawing/2014/main" id="{9DC21E76-15E6-64BC-D673-6EBF3806EF5D}"/>
              </a:ext>
            </a:extLst>
          </p:cNvPr>
          <p:cNvSpPr>
            <a:spLocks noGrp="1"/>
          </p:cNvSpPr>
          <p:nvPr>
            <p:ph idx="1"/>
          </p:nvPr>
        </p:nvSpPr>
        <p:spPr/>
        <p:txBody>
          <a:bodyPr/>
          <a:lstStyle/>
          <a:p>
            <a:r>
              <a:rPr lang="en-US" dirty="0"/>
              <a:t>Chapter 3, Experimental Control</a:t>
            </a:r>
          </a:p>
          <a:p>
            <a:pPr lvl="1"/>
            <a:r>
              <a:rPr lang="en-US" dirty="0"/>
              <a:t>Extraneous variables</a:t>
            </a:r>
          </a:p>
          <a:p>
            <a:pPr lvl="1"/>
            <a:r>
              <a:rPr lang="en-US" dirty="0"/>
              <a:t>Errors of experimentation: Type 1 and Type 2</a:t>
            </a:r>
          </a:p>
        </p:txBody>
      </p:sp>
    </p:spTree>
    <p:extLst>
      <p:ext uri="{BB962C8B-B14F-4D97-AF65-F5344CB8AC3E}">
        <p14:creationId xmlns:p14="http://schemas.microsoft.com/office/powerpoint/2010/main" val="1385742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t>Nightlights and myopia</a:t>
            </a:r>
          </a:p>
        </p:txBody>
      </p:sp>
      <p:sp>
        <p:nvSpPr>
          <p:cNvPr id="7171" name="Rectangle 3"/>
          <p:cNvSpPr>
            <a:spLocks noGrp="1" noChangeArrowheads="1"/>
          </p:cNvSpPr>
          <p:nvPr>
            <p:ph type="body" sz="half" idx="1"/>
          </p:nvPr>
        </p:nvSpPr>
        <p:spPr>
          <a:xfrm>
            <a:off x="850076" y="1417638"/>
            <a:ext cx="10087098" cy="4525963"/>
          </a:xfrm>
        </p:spPr>
        <p:txBody>
          <a:bodyPr/>
          <a:lstStyle/>
          <a:p>
            <a:pPr eaLnBrk="1" hangingPunct="1"/>
            <a:r>
              <a:rPr lang="en-US" dirty="0"/>
              <a:t>Quinn et al (1999)</a:t>
            </a:r>
          </a:p>
          <a:p>
            <a:pPr lvl="1" eaLnBrk="1" hangingPunct="1"/>
            <a:r>
              <a:rPr lang="en-US" dirty="0"/>
              <a:t>Data on vision &amp; nightlights in 479 children (age 2-16, mean = 8)</a:t>
            </a:r>
          </a:p>
        </p:txBody>
      </p:sp>
      <p:graphicFrame>
        <p:nvGraphicFramePr>
          <p:cNvPr id="14473" name="Group 137"/>
          <p:cNvGraphicFramePr>
            <a:graphicFrameLocks noGrp="1"/>
          </p:cNvGraphicFramePr>
          <p:nvPr>
            <p:ph sz="half" idx="2"/>
          </p:nvPr>
        </p:nvGraphicFramePr>
        <p:xfrm>
          <a:off x="850076" y="3078012"/>
          <a:ext cx="8610600" cy="3048152"/>
        </p:xfrm>
        <a:graphic>
          <a:graphicData uri="http://schemas.openxmlformats.org/drawingml/2006/table">
            <a:tbl>
              <a:tblPr/>
              <a:tblGrid>
                <a:gridCol w="1724025">
                  <a:extLst>
                    <a:ext uri="{9D8B030D-6E8A-4147-A177-3AD203B41FA5}">
                      <a16:colId xmlns:a16="http://schemas.microsoft.com/office/drawing/2014/main" val="20000"/>
                    </a:ext>
                  </a:extLst>
                </a:gridCol>
                <a:gridCol w="1722438">
                  <a:extLst>
                    <a:ext uri="{9D8B030D-6E8A-4147-A177-3AD203B41FA5}">
                      <a16:colId xmlns:a16="http://schemas.microsoft.com/office/drawing/2014/main" val="20001"/>
                    </a:ext>
                  </a:extLst>
                </a:gridCol>
                <a:gridCol w="1717675">
                  <a:extLst>
                    <a:ext uri="{9D8B030D-6E8A-4147-A177-3AD203B41FA5}">
                      <a16:colId xmlns:a16="http://schemas.microsoft.com/office/drawing/2014/main" val="20002"/>
                    </a:ext>
                  </a:extLst>
                </a:gridCol>
                <a:gridCol w="1722437">
                  <a:extLst>
                    <a:ext uri="{9D8B030D-6E8A-4147-A177-3AD203B41FA5}">
                      <a16:colId xmlns:a16="http://schemas.microsoft.com/office/drawing/2014/main" val="20003"/>
                    </a:ext>
                  </a:extLst>
                </a:gridCol>
                <a:gridCol w="1724025">
                  <a:extLst>
                    <a:ext uri="{9D8B030D-6E8A-4147-A177-3AD203B41FA5}">
                      <a16:colId xmlns:a16="http://schemas.microsoft.com/office/drawing/2014/main" val="20004"/>
                    </a:ext>
                  </a:extLst>
                </a:gridCol>
              </a:tblGrid>
              <a:tr h="82278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Lighting</a:t>
                      </a:r>
                    </a:p>
                  </a:txBody>
                  <a:tcPr marT="45710" marB="4571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Hyperopia</a:t>
                      </a:r>
                      <a:endParaRPr kumimoji="0" lang="en-US" sz="1800" b="0" i="0" u="none" strike="noStrike" cap="none" normalizeH="0" baseline="0">
                        <a:ln>
                          <a:noFill/>
                        </a:ln>
                        <a:solidFill>
                          <a:schemeClr val="tx1"/>
                        </a:solidFill>
                        <a:effectLst/>
                        <a:latin typeface="Arial" charset="0"/>
                      </a:endParaRPr>
                    </a:p>
                  </a:txBody>
                  <a:tcPr marT="45710" marB="4571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Emmetropia</a:t>
                      </a:r>
                      <a:endParaRPr kumimoji="0" lang="en-US" sz="1800" b="0" i="0" u="none" strike="noStrike" cap="none" normalizeH="0" baseline="0">
                        <a:ln>
                          <a:noFill/>
                        </a:ln>
                        <a:solidFill>
                          <a:schemeClr val="tx1"/>
                        </a:solidFill>
                        <a:effectLst/>
                        <a:latin typeface="Arial"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Myopic</a:t>
                      </a:r>
                      <a:endParaRPr kumimoji="0" lang="en-US" sz="1800" b="0" i="0" u="none" strike="noStrike" cap="none" normalizeH="0" baseline="0">
                        <a:ln>
                          <a:noFill/>
                        </a:ln>
                        <a:solidFill>
                          <a:schemeClr val="tx1"/>
                        </a:solidFill>
                        <a:effectLst/>
                        <a:latin typeface="Arial"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High Myopic</a:t>
                      </a:r>
                      <a:endParaRPr kumimoji="0" lang="en-US" sz="1800" b="0" i="0" u="none" strike="noStrike" cap="none" normalizeH="0" baseline="0">
                        <a:ln>
                          <a:noFill/>
                        </a:ln>
                        <a:solidFill>
                          <a:schemeClr val="tx1"/>
                        </a:solidFill>
                        <a:effectLst/>
                        <a:latin typeface="Arial"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174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Darkness</a:t>
                      </a:r>
                      <a:endParaRPr kumimoji="0" lang="en-US" sz="1800" b="0" i="0" u="none" strike="noStrike" cap="none" normalizeH="0" baseline="0">
                        <a:ln>
                          <a:noFill/>
                        </a:ln>
                        <a:solidFill>
                          <a:schemeClr val="tx1"/>
                        </a:solidFill>
                        <a:effectLst/>
                        <a:latin typeface="Arial" charset="0"/>
                      </a:endParaRPr>
                    </a:p>
                  </a:txBody>
                  <a:tcPr marT="45710" marB="4571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23</a:t>
                      </a:r>
                      <a:endParaRPr kumimoji="0" lang="en-US" sz="1800" b="0" i="0" u="none" strike="noStrike" cap="none" normalizeH="0" baseline="0">
                        <a:ln>
                          <a:noFill/>
                        </a:ln>
                        <a:solidFill>
                          <a:schemeClr val="tx1"/>
                        </a:solidFill>
                        <a:effectLst/>
                        <a:latin typeface="Arial" charset="0"/>
                      </a:endParaRPr>
                    </a:p>
                  </a:txBody>
                  <a:tcPr marT="45710" marB="4571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66</a:t>
                      </a:r>
                      <a:endParaRPr kumimoji="0" lang="en-US" sz="1800" b="0" i="0" u="none" strike="noStrike" cap="none" normalizeH="0" baseline="0">
                        <a:ln>
                          <a:noFill/>
                        </a:ln>
                        <a:solidFill>
                          <a:schemeClr val="tx1"/>
                        </a:solidFill>
                        <a:effectLst/>
                        <a:latin typeface="Arial"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9</a:t>
                      </a:r>
                      <a:endParaRPr kumimoji="0" lang="en-US" sz="1800" b="0" i="0" u="none" strike="noStrike" cap="none" normalizeH="0" baseline="0">
                        <a:ln>
                          <a:noFill/>
                        </a:ln>
                        <a:solidFill>
                          <a:schemeClr val="tx1"/>
                        </a:solidFill>
                        <a:effectLst/>
                        <a:latin typeface="Arial"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endParaRPr kumimoji="0" lang="en-US" sz="1800" b="0" i="0" u="none" strike="noStrike" cap="none" normalizeH="0" baseline="0">
                        <a:ln>
                          <a:noFill/>
                        </a:ln>
                        <a:solidFill>
                          <a:schemeClr val="tx1"/>
                        </a:solidFill>
                        <a:effectLst/>
                        <a:latin typeface="Arial"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53906">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Nightlight</a:t>
                      </a:r>
                      <a:endParaRPr kumimoji="0" lang="en-US" sz="1800" b="0" i="0" u="none" strike="noStrike" cap="none" normalizeH="0" baseline="0">
                        <a:ln>
                          <a:noFill/>
                        </a:ln>
                        <a:solidFill>
                          <a:schemeClr val="tx1"/>
                        </a:solidFill>
                        <a:effectLst/>
                        <a:latin typeface="Arial" charset="0"/>
                      </a:endParaRPr>
                    </a:p>
                  </a:txBody>
                  <a:tcPr marT="45710" marB="4571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17</a:t>
                      </a:r>
                      <a:endParaRPr kumimoji="0" lang="en-US" sz="1800" b="0" i="0" u="none" strike="noStrike" cap="none" normalizeH="0" baseline="0">
                        <a:ln>
                          <a:noFill/>
                        </a:ln>
                        <a:solidFill>
                          <a:schemeClr val="tx1"/>
                        </a:solidFill>
                        <a:effectLst/>
                        <a:latin typeface="Arial" charset="0"/>
                      </a:endParaRPr>
                    </a:p>
                  </a:txBody>
                  <a:tcPr marT="45710" marB="4571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50</a:t>
                      </a:r>
                      <a:endParaRPr kumimoji="0" lang="en-US" sz="1800" b="0" i="0" u="none" strike="noStrike" cap="none" normalizeH="0" baseline="0">
                        <a:ln>
                          <a:noFill/>
                        </a:ln>
                        <a:solidFill>
                          <a:schemeClr val="tx1"/>
                        </a:solidFill>
                        <a:effectLst/>
                        <a:latin typeface="Arial"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31</a:t>
                      </a:r>
                      <a:endParaRPr kumimoji="0" lang="en-US" sz="1800" b="0" i="0" u="none" strike="noStrike" cap="none" normalizeH="0" baseline="0">
                        <a:ln>
                          <a:noFill/>
                        </a:ln>
                        <a:solidFill>
                          <a:schemeClr val="tx1"/>
                        </a:solidFill>
                        <a:effectLst/>
                        <a:latin typeface="Arial"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3</a:t>
                      </a:r>
                      <a:endParaRPr kumimoji="0" lang="en-US" sz="1800" b="0" i="0" u="none" strike="noStrike" cap="none" normalizeH="0" baseline="0">
                        <a:ln>
                          <a:noFill/>
                        </a:ln>
                        <a:solidFill>
                          <a:schemeClr val="tx1"/>
                        </a:solidFill>
                        <a:effectLst/>
                        <a:latin typeface="Arial"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53906">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Room light</a:t>
                      </a:r>
                      <a:endParaRPr kumimoji="0" lang="en-US" sz="1800" b="0" i="0" u="none" strike="noStrike" cap="none" normalizeH="0" baseline="0">
                        <a:ln>
                          <a:noFill/>
                        </a:ln>
                        <a:solidFill>
                          <a:schemeClr val="tx1"/>
                        </a:solidFill>
                        <a:effectLst/>
                        <a:latin typeface="Arial" charset="0"/>
                      </a:endParaRPr>
                    </a:p>
                  </a:txBody>
                  <a:tcPr marT="45710" marB="4571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15</a:t>
                      </a:r>
                      <a:endParaRPr kumimoji="0" lang="en-US" sz="1800" b="0" i="0" u="none" strike="noStrike" cap="none" normalizeH="0" baseline="0">
                        <a:ln>
                          <a:noFill/>
                        </a:ln>
                        <a:solidFill>
                          <a:schemeClr val="tx1"/>
                        </a:solidFill>
                        <a:effectLst/>
                        <a:latin typeface="Arial" charset="0"/>
                      </a:endParaRPr>
                    </a:p>
                  </a:txBody>
                  <a:tcPr marT="45710" marB="4571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29</a:t>
                      </a:r>
                      <a:endParaRPr kumimoji="0" lang="en-US" sz="1800" b="0" i="0" u="none" strike="noStrike" cap="none" normalizeH="0" baseline="0">
                        <a:ln>
                          <a:noFill/>
                        </a:ln>
                        <a:solidFill>
                          <a:schemeClr val="tx1"/>
                        </a:solidFill>
                        <a:effectLst/>
                        <a:latin typeface="Arial"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48</a:t>
                      </a:r>
                      <a:endParaRPr kumimoji="0" lang="en-US" sz="1800" b="0" i="0" u="none" strike="noStrike" cap="none" normalizeH="0" baseline="0">
                        <a:ln>
                          <a:noFill/>
                        </a:ln>
                        <a:solidFill>
                          <a:schemeClr val="tx1"/>
                        </a:solidFill>
                        <a:effectLst/>
                        <a:latin typeface="Arial"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7</a:t>
                      </a:r>
                      <a:endParaRPr kumimoji="0" lang="en-US" sz="1800" b="0" i="0" u="none" strike="noStrike" cap="none" normalizeH="0" baseline="0" dirty="0">
                        <a:ln>
                          <a:noFill/>
                        </a:ln>
                        <a:solidFill>
                          <a:schemeClr val="tx1"/>
                        </a:solidFill>
                        <a:effectLst/>
                        <a:latin typeface="Arial"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8990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5932C1B-AF86-6649-7F9B-9C8BAC3A2230}"/>
              </a:ext>
            </a:extLst>
          </p:cNvPr>
          <p:cNvSpPr>
            <a:spLocks noGrp="1"/>
          </p:cNvSpPr>
          <p:nvPr>
            <p:ph type="title"/>
          </p:nvPr>
        </p:nvSpPr>
        <p:spPr/>
        <p:txBody>
          <a:bodyPr/>
          <a:lstStyle/>
          <a:p>
            <a:r>
              <a:rPr lang="en-US" dirty="0"/>
              <a:t>Inferences from experimentation</a:t>
            </a:r>
          </a:p>
        </p:txBody>
      </p:sp>
      <p:sp>
        <p:nvSpPr>
          <p:cNvPr id="6" name="Content Placeholder 5">
            <a:extLst>
              <a:ext uri="{FF2B5EF4-FFF2-40B4-BE49-F238E27FC236}">
                <a16:creationId xmlns:a16="http://schemas.microsoft.com/office/drawing/2014/main" id="{204844EC-ED04-BF62-9C5B-8ADFD76C5894}"/>
              </a:ext>
            </a:extLst>
          </p:cNvPr>
          <p:cNvSpPr>
            <a:spLocks noGrp="1"/>
          </p:cNvSpPr>
          <p:nvPr>
            <p:ph idx="1"/>
          </p:nvPr>
        </p:nvSpPr>
        <p:spPr/>
        <p:txBody>
          <a:bodyPr/>
          <a:lstStyle/>
          <a:p>
            <a:r>
              <a:rPr lang="en-US" dirty="0"/>
              <a:t>Reliability</a:t>
            </a:r>
          </a:p>
          <a:p>
            <a:pPr lvl="1"/>
            <a:r>
              <a:rPr lang="en-US" dirty="0"/>
              <a:t>Statistics: the IV affected the DV, e.g., p&lt;.05</a:t>
            </a:r>
          </a:p>
          <a:p>
            <a:pPr lvl="1"/>
            <a:r>
              <a:rPr lang="en-US" dirty="0"/>
              <a:t>Technically the probability is the “chance of obtaining these data under the null hypothesis”</a:t>
            </a:r>
          </a:p>
          <a:p>
            <a:pPr lvl="2"/>
            <a:r>
              <a:rPr lang="en-US" dirty="0"/>
              <a:t>Null = IV does not affect the DV</a:t>
            </a:r>
          </a:p>
          <a:p>
            <a:pPr lvl="1"/>
            <a:r>
              <a:rPr lang="en-US" dirty="0"/>
              <a:t>Reliability really should mean the probability that the experiment is reproducible</a:t>
            </a:r>
          </a:p>
          <a:p>
            <a:r>
              <a:rPr lang="en-US" dirty="0"/>
              <a:t>Validity</a:t>
            </a:r>
          </a:p>
          <a:p>
            <a:pPr lvl="1"/>
            <a:r>
              <a:rPr lang="en-US" dirty="0"/>
              <a:t>The experiment means what we say it means</a:t>
            </a:r>
          </a:p>
          <a:p>
            <a:pPr lvl="1"/>
            <a:r>
              <a:rPr lang="en-US" dirty="0"/>
              <a:t>Operational definition problems (measurement)</a:t>
            </a:r>
          </a:p>
          <a:p>
            <a:pPr lvl="1"/>
            <a:r>
              <a:rPr lang="en-US" dirty="0"/>
              <a:t>Confounds and alternate explanations</a:t>
            </a:r>
          </a:p>
          <a:p>
            <a:endParaRPr lang="en-US" dirty="0"/>
          </a:p>
        </p:txBody>
      </p:sp>
    </p:spTree>
    <p:extLst>
      <p:ext uri="{BB962C8B-B14F-4D97-AF65-F5344CB8AC3E}">
        <p14:creationId xmlns:p14="http://schemas.microsoft.com/office/powerpoint/2010/main" val="295721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80367-9B98-E229-6962-0F38CEB6031E}"/>
              </a:ext>
            </a:extLst>
          </p:cNvPr>
          <p:cNvSpPr>
            <a:spLocks noGrp="1"/>
          </p:cNvSpPr>
          <p:nvPr>
            <p:ph type="title"/>
          </p:nvPr>
        </p:nvSpPr>
        <p:spPr/>
        <p:txBody>
          <a:bodyPr/>
          <a:lstStyle/>
          <a:p>
            <a:r>
              <a:rPr lang="en-US" dirty="0"/>
              <a:t>Experimental Error</a:t>
            </a:r>
          </a:p>
        </p:txBody>
      </p:sp>
      <p:sp>
        <p:nvSpPr>
          <p:cNvPr id="3" name="Content Placeholder 2">
            <a:extLst>
              <a:ext uri="{FF2B5EF4-FFF2-40B4-BE49-F238E27FC236}">
                <a16:creationId xmlns:a16="http://schemas.microsoft.com/office/drawing/2014/main" id="{54DD02AC-2805-8F8A-AC8A-623D77C6369D}"/>
              </a:ext>
            </a:extLst>
          </p:cNvPr>
          <p:cNvSpPr>
            <a:spLocks noGrp="1"/>
          </p:cNvSpPr>
          <p:nvPr>
            <p:ph idx="1"/>
          </p:nvPr>
        </p:nvSpPr>
        <p:spPr/>
        <p:txBody>
          <a:bodyPr/>
          <a:lstStyle/>
          <a:p>
            <a:r>
              <a:rPr lang="en-US" dirty="0"/>
              <a:t>Type 1 error</a:t>
            </a:r>
          </a:p>
          <a:p>
            <a:pPr lvl="1"/>
            <a:r>
              <a:rPr lang="en-US" dirty="0"/>
              <a:t>False positive, incorrectly claiming the IV affects the DV</a:t>
            </a:r>
          </a:p>
          <a:p>
            <a:pPr lvl="1"/>
            <a:r>
              <a:rPr lang="en-US" dirty="0"/>
              <a:t>Operational definition problem: IV does not reflect the construct</a:t>
            </a:r>
          </a:p>
          <a:p>
            <a:pPr lvl="1"/>
            <a:r>
              <a:rPr lang="en-US" dirty="0"/>
              <a:t>Alternate explanation: another variable explains the data</a:t>
            </a:r>
          </a:p>
          <a:p>
            <a:pPr lvl="1"/>
            <a:endParaRPr lang="en-US" dirty="0"/>
          </a:p>
          <a:p>
            <a:r>
              <a:rPr lang="en-US" dirty="0"/>
              <a:t>Type 2 error</a:t>
            </a:r>
          </a:p>
          <a:p>
            <a:pPr lvl="1"/>
            <a:r>
              <a:rPr lang="en-US" dirty="0"/>
              <a:t>False negative, incorrectly thinking the IV did not affect the DV</a:t>
            </a:r>
          </a:p>
          <a:p>
            <a:pPr lvl="1"/>
            <a:r>
              <a:rPr lang="en-US" dirty="0"/>
              <a:t>Experimental control problem: too much noise/variance</a:t>
            </a:r>
          </a:p>
          <a:p>
            <a:pPr lvl="1"/>
            <a:r>
              <a:rPr lang="en-US" dirty="0"/>
              <a:t>Power problem: insufficient data (participants)</a:t>
            </a:r>
          </a:p>
          <a:p>
            <a:endParaRPr lang="en-US" dirty="0"/>
          </a:p>
        </p:txBody>
      </p:sp>
    </p:spTree>
    <p:extLst>
      <p:ext uri="{BB962C8B-B14F-4D97-AF65-F5344CB8AC3E}">
        <p14:creationId xmlns:p14="http://schemas.microsoft.com/office/powerpoint/2010/main" val="800122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1F105-41BB-5A64-C92D-B76503D579A8}"/>
              </a:ext>
            </a:extLst>
          </p:cNvPr>
          <p:cNvSpPr>
            <a:spLocks noGrp="1"/>
          </p:cNvSpPr>
          <p:nvPr>
            <p:ph type="title"/>
          </p:nvPr>
        </p:nvSpPr>
        <p:spPr/>
        <p:txBody>
          <a:bodyPr/>
          <a:lstStyle/>
          <a:p>
            <a:r>
              <a:rPr lang="en-US" dirty="0"/>
              <a:t>Experimental Control</a:t>
            </a:r>
          </a:p>
        </p:txBody>
      </p:sp>
      <p:sp>
        <p:nvSpPr>
          <p:cNvPr id="3" name="Content Placeholder 2">
            <a:extLst>
              <a:ext uri="{FF2B5EF4-FFF2-40B4-BE49-F238E27FC236}">
                <a16:creationId xmlns:a16="http://schemas.microsoft.com/office/drawing/2014/main" id="{080CCB3A-97B0-77A8-41F9-485A538A721B}"/>
              </a:ext>
            </a:extLst>
          </p:cNvPr>
          <p:cNvSpPr>
            <a:spLocks noGrp="1"/>
          </p:cNvSpPr>
          <p:nvPr>
            <p:ph idx="1"/>
          </p:nvPr>
        </p:nvSpPr>
        <p:spPr/>
        <p:txBody>
          <a:bodyPr/>
          <a:lstStyle/>
          <a:p>
            <a:r>
              <a:rPr lang="en-US" dirty="0"/>
              <a:t>Treatment and Control conditions</a:t>
            </a:r>
          </a:p>
          <a:p>
            <a:pPr lvl="1"/>
            <a:r>
              <a:rPr lang="en-US" dirty="0"/>
              <a:t>Levels of the IV to compare DV scores across</a:t>
            </a:r>
          </a:p>
          <a:p>
            <a:r>
              <a:rPr lang="en-US" dirty="0"/>
              <a:t>Extraneous variables</a:t>
            </a:r>
          </a:p>
          <a:p>
            <a:pPr lvl="1"/>
            <a:r>
              <a:rPr lang="en-US" dirty="0"/>
              <a:t>Things that affect the DV which aren’t the IV</a:t>
            </a:r>
          </a:p>
          <a:p>
            <a:r>
              <a:rPr lang="en-US" dirty="0"/>
              <a:t>What to do about extraneous variables?</a:t>
            </a:r>
          </a:p>
          <a:p>
            <a:pPr lvl="1"/>
            <a:r>
              <a:rPr lang="en-US" dirty="0"/>
              <a:t>Constancy</a:t>
            </a:r>
          </a:p>
          <a:p>
            <a:pPr lvl="1"/>
            <a:r>
              <a:rPr lang="en-US" dirty="0"/>
              <a:t>Counterbalancing</a:t>
            </a:r>
          </a:p>
        </p:txBody>
      </p:sp>
    </p:spTree>
    <p:extLst>
      <p:ext uri="{BB962C8B-B14F-4D97-AF65-F5344CB8AC3E}">
        <p14:creationId xmlns:p14="http://schemas.microsoft.com/office/powerpoint/2010/main" val="1233164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030DC-EA71-B86D-77A9-F5A725C243A8}"/>
              </a:ext>
            </a:extLst>
          </p:cNvPr>
          <p:cNvSpPr>
            <a:spLocks noGrp="1"/>
          </p:cNvSpPr>
          <p:nvPr>
            <p:ph type="title"/>
          </p:nvPr>
        </p:nvSpPr>
        <p:spPr/>
        <p:txBody>
          <a:bodyPr/>
          <a:lstStyle/>
          <a:p>
            <a:r>
              <a:rPr lang="en-US" dirty="0"/>
              <a:t>Identifying problems</a:t>
            </a:r>
          </a:p>
        </p:txBody>
      </p:sp>
      <p:sp>
        <p:nvSpPr>
          <p:cNvPr id="3" name="Content Placeholder 2">
            <a:extLst>
              <a:ext uri="{FF2B5EF4-FFF2-40B4-BE49-F238E27FC236}">
                <a16:creationId xmlns:a16="http://schemas.microsoft.com/office/drawing/2014/main" id="{A2ADDEAA-8150-712A-6245-C8B458069970}"/>
              </a:ext>
            </a:extLst>
          </p:cNvPr>
          <p:cNvSpPr>
            <a:spLocks noGrp="1"/>
          </p:cNvSpPr>
          <p:nvPr>
            <p:ph idx="1"/>
          </p:nvPr>
        </p:nvSpPr>
        <p:spPr/>
        <p:txBody>
          <a:bodyPr/>
          <a:lstStyle/>
          <a:p>
            <a:r>
              <a:rPr lang="en-US" dirty="0"/>
              <a:t>“Laughter is the best medicine”</a:t>
            </a:r>
          </a:p>
          <a:p>
            <a:pPr lvl="1"/>
            <a:r>
              <a:rPr lang="en-US" dirty="0"/>
              <a:t>Imagine you have just read an article in the newspaper describing a scientific study in which researchers found that people who laugh a lot tend to have lower blood pressure, stronger immune systems, feel less stressed out.</a:t>
            </a:r>
          </a:p>
          <a:p>
            <a:pPr lvl="1"/>
            <a:endParaRPr lang="en-US" dirty="0"/>
          </a:p>
          <a:p>
            <a:r>
              <a:rPr lang="en-US" dirty="0"/>
              <a:t>Give an alternate hypothesis</a:t>
            </a:r>
          </a:p>
          <a:p>
            <a:pPr lvl="1"/>
            <a:r>
              <a:rPr lang="en-US" dirty="0"/>
              <a:t>Statement consistent with the data, not consistent with the conclusion</a:t>
            </a:r>
          </a:p>
          <a:p>
            <a:pPr lvl="1"/>
            <a:endParaRPr lang="en-US" dirty="0"/>
          </a:p>
          <a:p>
            <a:r>
              <a:rPr lang="en-US" dirty="0"/>
              <a:t>Outline an experiment to test this hypothesis</a:t>
            </a:r>
          </a:p>
          <a:p>
            <a:endParaRPr lang="en-US" dirty="0"/>
          </a:p>
        </p:txBody>
      </p:sp>
    </p:spTree>
    <p:extLst>
      <p:ext uri="{BB962C8B-B14F-4D97-AF65-F5344CB8AC3E}">
        <p14:creationId xmlns:p14="http://schemas.microsoft.com/office/powerpoint/2010/main" val="3626129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5EC61-DE97-F050-FD10-693CE545BD02}"/>
              </a:ext>
            </a:extLst>
          </p:cNvPr>
          <p:cNvSpPr>
            <a:spLocks noGrp="1"/>
          </p:cNvSpPr>
          <p:nvPr>
            <p:ph type="title"/>
          </p:nvPr>
        </p:nvSpPr>
        <p:spPr/>
        <p:txBody>
          <a:bodyPr/>
          <a:lstStyle/>
          <a:p>
            <a:r>
              <a:rPr lang="en-US" dirty="0"/>
              <a:t>Extraneous variables</a:t>
            </a:r>
          </a:p>
        </p:txBody>
      </p:sp>
      <p:sp>
        <p:nvSpPr>
          <p:cNvPr id="3" name="Content Placeholder 2">
            <a:extLst>
              <a:ext uri="{FF2B5EF4-FFF2-40B4-BE49-F238E27FC236}">
                <a16:creationId xmlns:a16="http://schemas.microsoft.com/office/drawing/2014/main" id="{850A528E-CA7B-5E1E-9775-39A265940F1D}"/>
              </a:ext>
            </a:extLst>
          </p:cNvPr>
          <p:cNvSpPr>
            <a:spLocks noGrp="1"/>
          </p:cNvSpPr>
          <p:nvPr>
            <p:ph idx="1"/>
          </p:nvPr>
        </p:nvSpPr>
        <p:spPr/>
        <p:txBody>
          <a:bodyPr>
            <a:normAutofit/>
          </a:bodyPr>
          <a:lstStyle/>
          <a:p>
            <a:r>
              <a:rPr lang="en-US" dirty="0"/>
              <a:t>A researcher studies the effect of music on concentration by having Group A listen to classical music and Group B sit in silence, but Group A is also tested in the morning and Group B in the afternoon. Identify a possible confound and explain how it could affect the results.</a:t>
            </a:r>
          </a:p>
          <a:p>
            <a:r>
              <a:rPr lang="en-US" dirty="0"/>
              <a:t>You are designing an experiment on the effect of sleep deprivation on memory. What steps would you take to ensure experimental control?</a:t>
            </a:r>
          </a:p>
          <a:p>
            <a:r>
              <a:rPr lang="en-US" dirty="0"/>
              <a:t>In a study comparing two teaching methods, one group is taught by a highly experienced teacher and the other by a graduate student. What is the confounding variable, and how might it be addressed?</a:t>
            </a:r>
          </a:p>
          <a:p>
            <a:endParaRPr lang="en-US" dirty="0"/>
          </a:p>
        </p:txBody>
      </p:sp>
    </p:spTree>
    <p:extLst>
      <p:ext uri="{BB962C8B-B14F-4D97-AF65-F5344CB8AC3E}">
        <p14:creationId xmlns:p14="http://schemas.microsoft.com/office/powerpoint/2010/main" val="4051648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BC2FD-6ED2-ACCF-011D-093FC9E842DD}"/>
              </a:ext>
            </a:extLst>
          </p:cNvPr>
          <p:cNvSpPr>
            <a:spLocks noGrp="1"/>
          </p:cNvSpPr>
          <p:nvPr>
            <p:ph type="title"/>
          </p:nvPr>
        </p:nvSpPr>
        <p:spPr/>
        <p:txBody>
          <a:bodyPr/>
          <a:lstStyle/>
          <a:p>
            <a:r>
              <a:rPr lang="en-US" dirty="0"/>
              <a:t>Participant variables</a:t>
            </a:r>
          </a:p>
        </p:txBody>
      </p:sp>
      <p:sp>
        <p:nvSpPr>
          <p:cNvPr id="3" name="Content Placeholder 2">
            <a:extLst>
              <a:ext uri="{FF2B5EF4-FFF2-40B4-BE49-F238E27FC236}">
                <a16:creationId xmlns:a16="http://schemas.microsoft.com/office/drawing/2014/main" id="{F9EF1570-CC2B-0676-FFBF-7B3733373E69}"/>
              </a:ext>
            </a:extLst>
          </p:cNvPr>
          <p:cNvSpPr>
            <a:spLocks noGrp="1"/>
          </p:cNvSpPr>
          <p:nvPr>
            <p:ph idx="1"/>
          </p:nvPr>
        </p:nvSpPr>
        <p:spPr/>
        <p:txBody>
          <a:bodyPr/>
          <a:lstStyle/>
          <a:p>
            <a:r>
              <a:rPr lang="en-US" dirty="0"/>
              <a:t>In an experiment that assesses memory performance as the dependent variable, how does random assignment protect against the possibility that participants in one condition all happened to have better memory ability than the other condition?</a:t>
            </a:r>
          </a:p>
          <a:p>
            <a:endParaRPr lang="en-US" dirty="0"/>
          </a:p>
        </p:txBody>
      </p:sp>
    </p:spTree>
    <p:extLst>
      <p:ext uri="{BB962C8B-B14F-4D97-AF65-F5344CB8AC3E}">
        <p14:creationId xmlns:p14="http://schemas.microsoft.com/office/powerpoint/2010/main" val="681076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FB7AB-4C11-F13A-0C4C-2E663748BED4}"/>
              </a:ext>
            </a:extLst>
          </p:cNvPr>
          <p:cNvSpPr>
            <a:spLocks noGrp="1"/>
          </p:cNvSpPr>
          <p:nvPr>
            <p:ph type="title"/>
          </p:nvPr>
        </p:nvSpPr>
        <p:spPr/>
        <p:txBody>
          <a:bodyPr/>
          <a:lstStyle/>
          <a:p>
            <a:r>
              <a:rPr lang="en-US" dirty="0"/>
              <a:t>Experimental control in Experiment 1</a:t>
            </a:r>
          </a:p>
        </p:txBody>
      </p:sp>
      <p:sp>
        <p:nvSpPr>
          <p:cNvPr id="3" name="Content Placeholder 2">
            <a:extLst>
              <a:ext uri="{FF2B5EF4-FFF2-40B4-BE49-F238E27FC236}">
                <a16:creationId xmlns:a16="http://schemas.microsoft.com/office/drawing/2014/main" id="{8B1F2DF0-C334-70B4-23C5-034F2B3FC3C4}"/>
              </a:ext>
            </a:extLst>
          </p:cNvPr>
          <p:cNvSpPr>
            <a:spLocks noGrp="1"/>
          </p:cNvSpPr>
          <p:nvPr>
            <p:ph idx="1"/>
          </p:nvPr>
        </p:nvSpPr>
        <p:spPr/>
        <p:txBody>
          <a:bodyPr/>
          <a:lstStyle/>
          <a:p>
            <a:pPr algn="l">
              <a:buFont typeface="Arial" panose="020B0604020202020204" pitchFamily="34" charset="0"/>
              <a:buChar char="•"/>
            </a:pPr>
            <a:r>
              <a:rPr lang="en-US" b="0" i="0" dirty="0">
                <a:solidFill>
                  <a:srgbClr val="2D3B45"/>
                </a:solidFill>
                <a:effectLst/>
                <a:latin typeface="Lato Extended"/>
              </a:rPr>
              <a:t>Why have both groups read the same words?</a:t>
            </a:r>
          </a:p>
          <a:p>
            <a:pPr algn="l">
              <a:buFont typeface="Arial" panose="020B0604020202020204" pitchFamily="34" charset="0"/>
              <a:buChar char="•"/>
            </a:pPr>
            <a:r>
              <a:rPr lang="en-US" b="0" i="0" dirty="0">
                <a:solidFill>
                  <a:srgbClr val="2D3B45"/>
                </a:solidFill>
                <a:effectLst/>
                <a:latin typeface="Lato Extended"/>
              </a:rPr>
              <a:t>Why have 1-5 scales for responding for both conditions?</a:t>
            </a:r>
          </a:p>
          <a:p>
            <a:pPr algn="l">
              <a:buFont typeface="Arial" panose="020B0604020202020204" pitchFamily="34" charset="0"/>
              <a:buChar char="•"/>
            </a:pPr>
            <a:r>
              <a:rPr lang="en-US" b="0" i="0" dirty="0">
                <a:solidFill>
                  <a:srgbClr val="2D3B45"/>
                </a:solidFill>
                <a:effectLst/>
                <a:latin typeface="Lato Extended"/>
              </a:rPr>
              <a:t>Why require the word to be on screen for minimum 3 s?</a:t>
            </a:r>
          </a:p>
          <a:p>
            <a:pPr algn="l">
              <a:buFont typeface="Arial" panose="020B0604020202020204" pitchFamily="34" charset="0"/>
              <a:buChar char="•"/>
            </a:pPr>
            <a:r>
              <a:rPr lang="en-US" b="0" i="0" dirty="0">
                <a:solidFill>
                  <a:srgbClr val="2D3B45"/>
                </a:solidFill>
                <a:effectLst/>
                <a:latin typeface="Lato Extended"/>
              </a:rPr>
              <a:t>Does it matter if the trivia questions use words from the study list?</a:t>
            </a:r>
          </a:p>
          <a:p>
            <a:endParaRPr lang="en-US" dirty="0"/>
          </a:p>
        </p:txBody>
      </p:sp>
    </p:spTree>
    <p:extLst>
      <p:ext uri="{BB962C8B-B14F-4D97-AF65-F5344CB8AC3E}">
        <p14:creationId xmlns:p14="http://schemas.microsoft.com/office/powerpoint/2010/main" val="1883011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4816E-BAB2-A1CF-B404-70199EFFC083}"/>
              </a:ext>
            </a:extLst>
          </p:cNvPr>
          <p:cNvSpPr>
            <a:spLocks noGrp="1"/>
          </p:cNvSpPr>
          <p:nvPr>
            <p:ph type="title"/>
          </p:nvPr>
        </p:nvSpPr>
        <p:spPr/>
        <p:txBody>
          <a:bodyPr/>
          <a:lstStyle/>
          <a:p>
            <a:r>
              <a:rPr lang="en-US" dirty="0"/>
              <a:t>Extraneous variable sources</a:t>
            </a:r>
          </a:p>
        </p:txBody>
      </p:sp>
      <p:sp>
        <p:nvSpPr>
          <p:cNvPr id="3" name="Content Placeholder 2">
            <a:extLst>
              <a:ext uri="{FF2B5EF4-FFF2-40B4-BE49-F238E27FC236}">
                <a16:creationId xmlns:a16="http://schemas.microsoft.com/office/drawing/2014/main" id="{EB15278F-3782-B2B6-FB0A-9AD8F79052C9}"/>
              </a:ext>
            </a:extLst>
          </p:cNvPr>
          <p:cNvSpPr>
            <a:spLocks noGrp="1"/>
          </p:cNvSpPr>
          <p:nvPr>
            <p:ph idx="1"/>
          </p:nvPr>
        </p:nvSpPr>
        <p:spPr/>
        <p:txBody>
          <a:bodyPr/>
          <a:lstStyle/>
          <a:p>
            <a:r>
              <a:rPr lang="en-US" dirty="0"/>
              <a:t>Stimuli</a:t>
            </a:r>
          </a:p>
          <a:p>
            <a:pPr lvl="1"/>
            <a:r>
              <a:rPr lang="en-US" dirty="0"/>
              <a:t>Words, pictures, videos, auditory input</a:t>
            </a:r>
          </a:p>
          <a:p>
            <a:r>
              <a:rPr lang="en-US" dirty="0"/>
              <a:t>Context</a:t>
            </a:r>
          </a:p>
          <a:p>
            <a:pPr lvl="1"/>
            <a:r>
              <a:rPr lang="en-US" dirty="0"/>
              <a:t>Room environment, time of day, experimenters</a:t>
            </a:r>
          </a:p>
          <a:p>
            <a:pPr lvl="1"/>
            <a:r>
              <a:rPr lang="en-US" dirty="0"/>
              <a:t>Ambient noise, interruptions</a:t>
            </a:r>
          </a:p>
          <a:p>
            <a:r>
              <a:rPr lang="en-US" dirty="0"/>
              <a:t>Participants</a:t>
            </a:r>
          </a:p>
          <a:p>
            <a:pPr lvl="1"/>
            <a:r>
              <a:rPr lang="en-US" dirty="0"/>
              <a:t>Mood, interest, motivation, individual differences</a:t>
            </a:r>
          </a:p>
        </p:txBody>
      </p:sp>
    </p:spTree>
    <p:extLst>
      <p:ext uri="{BB962C8B-B14F-4D97-AF65-F5344CB8AC3E}">
        <p14:creationId xmlns:p14="http://schemas.microsoft.com/office/powerpoint/2010/main" val="3220967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E5B2C-00B4-2759-82C7-FAFD98285C8A}"/>
              </a:ext>
            </a:extLst>
          </p:cNvPr>
          <p:cNvSpPr>
            <a:spLocks noGrp="1"/>
          </p:cNvSpPr>
          <p:nvPr>
            <p:ph type="title"/>
          </p:nvPr>
        </p:nvSpPr>
        <p:spPr/>
        <p:txBody>
          <a:bodyPr/>
          <a:lstStyle/>
          <a:p>
            <a:r>
              <a:rPr lang="en-US" dirty="0"/>
              <a:t>Confounds</a:t>
            </a:r>
          </a:p>
        </p:txBody>
      </p:sp>
      <p:sp>
        <p:nvSpPr>
          <p:cNvPr id="3" name="Content Placeholder 2">
            <a:extLst>
              <a:ext uri="{FF2B5EF4-FFF2-40B4-BE49-F238E27FC236}">
                <a16:creationId xmlns:a16="http://schemas.microsoft.com/office/drawing/2014/main" id="{AA950B29-2333-6755-4C54-2490FF448BF0}"/>
              </a:ext>
            </a:extLst>
          </p:cNvPr>
          <p:cNvSpPr>
            <a:spLocks noGrp="1"/>
          </p:cNvSpPr>
          <p:nvPr>
            <p:ph idx="1"/>
          </p:nvPr>
        </p:nvSpPr>
        <p:spPr/>
        <p:txBody>
          <a:bodyPr/>
          <a:lstStyle/>
          <a:p>
            <a:r>
              <a:rPr lang="en-US" dirty="0"/>
              <a:t>Vary with the IV, create Type 1 error</a:t>
            </a:r>
          </a:p>
          <a:p>
            <a:pPr lvl="1"/>
            <a:r>
              <a:rPr lang="en-US" dirty="0"/>
              <a:t>Very difficult problem for non-experimental work</a:t>
            </a:r>
          </a:p>
          <a:p>
            <a:pPr lvl="1"/>
            <a:r>
              <a:rPr lang="en-US" dirty="0"/>
              <a:t>Should not occur in experimental work done carefully</a:t>
            </a:r>
          </a:p>
          <a:p>
            <a:endParaRPr lang="en-US" dirty="0"/>
          </a:p>
          <a:p>
            <a:r>
              <a:rPr lang="en-US" dirty="0"/>
              <a:t>Non-confounding variables increase variance, Type 2 error</a:t>
            </a:r>
          </a:p>
          <a:p>
            <a:pPr lvl="1"/>
            <a:r>
              <a:rPr lang="en-US" dirty="0"/>
              <a:t>Carefully planned, rigorous procedure</a:t>
            </a:r>
          </a:p>
          <a:p>
            <a:pPr lvl="1"/>
            <a:r>
              <a:rPr lang="en-US" dirty="0"/>
              <a:t>There will always be some measurement error</a:t>
            </a:r>
          </a:p>
        </p:txBody>
      </p:sp>
    </p:spTree>
    <p:extLst>
      <p:ext uri="{BB962C8B-B14F-4D97-AF65-F5344CB8AC3E}">
        <p14:creationId xmlns:p14="http://schemas.microsoft.com/office/powerpoint/2010/main" val="1580942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3F123-8148-8303-F3ED-53012CECAC05}"/>
              </a:ext>
            </a:extLst>
          </p:cNvPr>
          <p:cNvSpPr>
            <a:spLocks noGrp="1"/>
          </p:cNvSpPr>
          <p:nvPr>
            <p:ph type="title"/>
          </p:nvPr>
        </p:nvSpPr>
        <p:spPr/>
        <p:txBody>
          <a:bodyPr/>
          <a:lstStyle/>
          <a:p>
            <a:r>
              <a:rPr lang="en-US" dirty="0"/>
              <a:t>For Wed</a:t>
            </a:r>
          </a:p>
        </p:txBody>
      </p:sp>
      <p:sp>
        <p:nvSpPr>
          <p:cNvPr id="3" name="Content Placeholder 2">
            <a:extLst>
              <a:ext uri="{FF2B5EF4-FFF2-40B4-BE49-F238E27FC236}">
                <a16:creationId xmlns:a16="http://schemas.microsoft.com/office/drawing/2014/main" id="{FF2834D8-6614-27F3-BE1F-0F506332F93A}"/>
              </a:ext>
            </a:extLst>
          </p:cNvPr>
          <p:cNvSpPr>
            <a:spLocks noGrp="1"/>
          </p:cNvSpPr>
          <p:nvPr>
            <p:ph idx="1"/>
          </p:nvPr>
        </p:nvSpPr>
        <p:spPr/>
        <p:txBody>
          <a:bodyPr/>
          <a:lstStyle/>
          <a:p>
            <a:r>
              <a:rPr lang="en-US" dirty="0"/>
              <a:t>Chapter 4, Experimental Procedure, Qs. 1-4</a:t>
            </a:r>
          </a:p>
          <a:p>
            <a:pPr lvl="1"/>
            <a:r>
              <a:rPr lang="en-US"/>
              <a:t>Methods for </a:t>
            </a:r>
            <a:r>
              <a:rPr lang="en-US" dirty="0"/>
              <a:t>developing a rigorous experimental procedure</a:t>
            </a:r>
          </a:p>
        </p:txBody>
      </p:sp>
    </p:spTree>
    <p:extLst>
      <p:ext uri="{BB962C8B-B14F-4D97-AF65-F5344CB8AC3E}">
        <p14:creationId xmlns:p14="http://schemas.microsoft.com/office/powerpoint/2010/main" val="23705753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26224</TotalTime>
  <Words>617</Words>
  <Application>Microsoft Office PowerPoint</Application>
  <PresentationFormat>Widescreen</PresentationFormat>
  <Paragraphs>94</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Lato Extended</vt:lpstr>
      <vt:lpstr>Times New Roman</vt:lpstr>
      <vt:lpstr>Office Theme</vt:lpstr>
      <vt:lpstr>205 Sep 22, Class 3</vt:lpstr>
      <vt:lpstr>Nightlights and myopia</vt:lpstr>
      <vt:lpstr>Inferences from experimentation</vt:lpstr>
      <vt:lpstr>Experimental Error</vt:lpstr>
      <vt:lpstr>Experimental Control</vt:lpstr>
      <vt:lpstr>Identifying problems</vt:lpstr>
      <vt:lpstr>Extraneous variables</vt:lpstr>
      <vt:lpstr>Participant variables</vt:lpstr>
      <vt:lpstr>Experimental control in Experiment 1</vt:lpstr>
      <vt:lpstr>Extraneous variable sources</vt:lpstr>
      <vt:lpstr>Confounds</vt:lpstr>
      <vt:lpstr>For Wed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Sep 26, Class 3</dc:title>
  <dc:creator>Paul Reber</dc:creator>
  <cp:lastModifiedBy>Paul Reber</cp:lastModifiedBy>
  <cp:revision>22</cp:revision>
  <cp:lastPrinted>2024-01-08T04:30:38Z</cp:lastPrinted>
  <dcterms:created xsi:type="dcterms:W3CDTF">2022-09-13T14:09:38Z</dcterms:created>
  <dcterms:modified xsi:type="dcterms:W3CDTF">2025-09-22T13:32:20Z</dcterms:modified>
</cp:coreProperties>
</file>