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32" r:id="rId2"/>
    <p:sldId id="275" r:id="rId3"/>
    <p:sldId id="392" r:id="rId4"/>
    <p:sldId id="276" r:id="rId5"/>
    <p:sldId id="393" r:id="rId6"/>
    <p:sldId id="411" r:id="rId7"/>
    <p:sldId id="277" r:id="rId8"/>
    <p:sldId id="278" r:id="rId9"/>
    <p:sldId id="408" r:id="rId10"/>
    <p:sldId id="335" r:id="rId11"/>
    <p:sldId id="403" r:id="rId12"/>
    <p:sldId id="334" r:id="rId13"/>
    <p:sldId id="344" r:id="rId14"/>
    <p:sldId id="402" r:id="rId15"/>
    <p:sldId id="345" r:id="rId16"/>
    <p:sldId id="404" r:id="rId17"/>
    <p:sldId id="405" r:id="rId18"/>
    <p:sldId id="407" r:id="rId19"/>
    <p:sldId id="336" r:id="rId20"/>
    <p:sldId id="410" r:id="rId21"/>
    <p:sldId id="409" r:id="rId22"/>
    <p:sldId id="406" r:id="rId23"/>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2" autoAdjust="0"/>
    <p:restoredTop sz="94660"/>
  </p:normalViewPr>
  <p:slideViewPr>
    <p:cSldViewPr snapToGrid="0">
      <p:cViewPr varScale="1">
        <p:scale>
          <a:sx n="80" d="100"/>
          <a:sy n="80" d="100"/>
        </p:scale>
        <p:origin x="120" y="4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478D1EE6-C5F8-4384-9F83-302F090B398B}" type="datetimeFigureOut">
              <a:rPr lang="en-US" smtClean="0"/>
              <a:t>10/8/2025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AE9F871B-241D-4C1C-ABB5-227DA7CEE6BB}" type="slidenum">
              <a:rPr lang="en-US" smtClean="0"/>
              <a:t>‹#›</a:t>
            </a:fld>
            <a:endParaRPr lang="en-US"/>
          </a:p>
        </p:txBody>
      </p:sp>
    </p:spTree>
    <p:extLst>
      <p:ext uri="{BB962C8B-B14F-4D97-AF65-F5344CB8AC3E}">
        <p14:creationId xmlns:p14="http://schemas.microsoft.com/office/powerpoint/2010/main" val="294390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p:spPr>
        <p:txBody>
          <a:bodyPr/>
          <a:lstStyle/>
          <a:p>
            <a:endParaRPr lang="en-US"/>
          </a:p>
        </p:txBody>
      </p:sp>
      <p:sp>
        <p:nvSpPr>
          <p:cNvPr id="29700" name="Slide Number Placeholder 3"/>
          <p:cNvSpPr>
            <a:spLocks noGrp="1"/>
          </p:cNvSpPr>
          <p:nvPr>
            <p:ph type="sldNum" sz="quarter" idx="5"/>
          </p:nvPr>
        </p:nvSpPr>
        <p:spPr/>
        <p:txBody>
          <a:bodyPr/>
          <a:lstStyle/>
          <a:p>
            <a:pPr>
              <a:defRPr/>
            </a:pPr>
            <a:fld id="{0C949C00-F9FE-494A-8F72-A34556B1B416}" type="slidenum">
              <a:rPr lang="en-US" smtClean="0"/>
              <a:pPr>
                <a:defRPr/>
              </a:pPr>
              <a:t>2</a:t>
            </a:fld>
            <a:endParaRPr lang="en-US"/>
          </a:p>
        </p:txBody>
      </p:sp>
    </p:spTree>
    <p:extLst>
      <p:ext uri="{BB962C8B-B14F-4D97-AF65-F5344CB8AC3E}">
        <p14:creationId xmlns:p14="http://schemas.microsoft.com/office/powerpoint/2010/main" val="3556767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p:spPr>
        <p:txBody>
          <a:bodyPr/>
          <a:lstStyle/>
          <a:p>
            <a:endParaRPr lang="en-US"/>
          </a:p>
        </p:txBody>
      </p:sp>
      <p:sp>
        <p:nvSpPr>
          <p:cNvPr id="30724" name="Slide Number Placeholder 3"/>
          <p:cNvSpPr>
            <a:spLocks noGrp="1"/>
          </p:cNvSpPr>
          <p:nvPr>
            <p:ph type="sldNum" sz="quarter" idx="5"/>
          </p:nvPr>
        </p:nvSpPr>
        <p:spPr/>
        <p:txBody>
          <a:bodyPr/>
          <a:lstStyle/>
          <a:p>
            <a:pPr>
              <a:defRPr/>
            </a:pPr>
            <a:fld id="{5681F23D-7C69-46C9-86E3-F797AF044AB0}" type="slidenum">
              <a:rPr lang="en-US" smtClean="0"/>
              <a:pPr>
                <a:defRPr/>
              </a:pPr>
              <a:t>4</a:t>
            </a:fld>
            <a:endParaRPr lang="en-US"/>
          </a:p>
        </p:txBody>
      </p:sp>
    </p:spTree>
    <p:extLst>
      <p:ext uri="{BB962C8B-B14F-4D97-AF65-F5344CB8AC3E}">
        <p14:creationId xmlns:p14="http://schemas.microsoft.com/office/powerpoint/2010/main" val="545990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a:p>
        </p:txBody>
      </p:sp>
      <p:sp>
        <p:nvSpPr>
          <p:cNvPr id="31748" name="Slide Number Placeholder 3"/>
          <p:cNvSpPr>
            <a:spLocks noGrp="1"/>
          </p:cNvSpPr>
          <p:nvPr>
            <p:ph type="sldNum" sz="quarter" idx="5"/>
          </p:nvPr>
        </p:nvSpPr>
        <p:spPr/>
        <p:txBody>
          <a:bodyPr/>
          <a:lstStyle/>
          <a:p>
            <a:pPr>
              <a:defRPr/>
            </a:pPr>
            <a:fld id="{AE89325E-ACA8-40F8-BFF5-1D5AD6DB43B2}" type="slidenum">
              <a:rPr lang="en-US" smtClean="0"/>
              <a:pPr>
                <a:defRPr/>
              </a:pPr>
              <a:t>7</a:t>
            </a:fld>
            <a:endParaRPr lang="en-US"/>
          </a:p>
        </p:txBody>
      </p:sp>
    </p:spTree>
    <p:extLst>
      <p:ext uri="{BB962C8B-B14F-4D97-AF65-F5344CB8AC3E}">
        <p14:creationId xmlns:p14="http://schemas.microsoft.com/office/powerpoint/2010/main" val="1433223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p:spPr>
        <p:txBody>
          <a:bodyPr/>
          <a:lstStyle/>
          <a:p>
            <a:endParaRPr lang="en-US"/>
          </a:p>
        </p:txBody>
      </p:sp>
      <p:sp>
        <p:nvSpPr>
          <p:cNvPr id="32772" name="Slide Number Placeholder 3"/>
          <p:cNvSpPr>
            <a:spLocks noGrp="1"/>
          </p:cNvSpPr>
          <p:nvPr>
            <p:ph type="sldNum" sz="quarter" idx="5"/>
          </p:nvPr>
        </p:nvSpPr>
        <p:spPr/>
        <p:txBody>
          <a:bodyPr/>
          <a:lstStyle/>
          <a:p>
            <a:pPr>
              <a:defRPr/>
            </a:pPr>
            <a:fld id="{ED0C1F9A-F7B5-40B7-9C72-F73B4B86440E}" type="slidenum">
              <a:rPr lang="en-US" smtClean="0"/>
              <a:pPr>
                <a:defRPr/>
              </a:pPr>
              <a:t>8</a:t>
            </a:fld>
            <a:endParaRPr lang="en-US"/>
          </a:p>
        </p:txBody>
      </p:sp>
    </p:spTree>
    <p:extLst>
      <p:ext uri="{BB962C8B-B14F-4D97-AF65-F5344CB8AC3E}">
        <p14:creationId xmlns:p14="http://schemas.microsoft.com/office/powerpoint/2010/main" val="3604081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BF190-A0A4-C928-2759-69C7762602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7B82FB-D28C-FCE9-1AC2-A50A119810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BAF602-B1C6-6BC0-6DBC-0916E0CB7919}"/>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5" name="Footer Placeholder 4">
            <a:extLst>
              <a:ext uri="{FF2B5EF4-FFF2-40B4-BE49-F238E27FC236}">
                <a16:creationId xmlns:a16="http://schemas.microsoft.com/office/drawing/2014/main" id="{1D6C78E3-594D-B2B0-05F8-C715AD4094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A9BC2-3AC8-02A4-F3E4-442E8A8D2C7D}"/>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4287611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95D78-789D-57F6-592C-EE11F095D1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C60B31-9C83-829D-9475-C928389AFF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87E6E0-75DB-C1A6-C69F-D3429ABE82D5}"/>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5" name="Footer Placeholder 4">
            <a:extLst>
              <a:ext uri="{FF2B5EF4-FFF2-40B4-BE49-F238E27FC236}">
                <a16:creationId xmlns:a16="http://schemas.microsoft.com/office/drawing/2014/main" id="{FE7F7C84-A512-E5CA-CD42-54451E913B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FAD3E8-5DDE-D2F3-28E6-5B9B2070833E}"/>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1445766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C8D5-1EBF-943E-7523-2E144E2FE1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0FC4BC-1425-12AE-2DE7-BDFC0BC912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CC143D-35A1-EAC6-7752-A0B9B811D068}"/>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5" name="Footer Placeholder 4">
            <a:extLst>
              <a:ext uri="{FF2B5EF4-FFF2-40B4-BE49-F238E27FC236}">
                <a16:creationId xmlns:a16="http://schemas.microsoft.com/office/drawing/2014/main" id="{10D2507E-BBDA-B2DA-3045-4553DEF60B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3944B-514A-24A4-9957-11998BC12439}"/>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3589790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0333-9DF0-9F70-AAC5-AFDB745CB6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5FDE09-9B03-3517-F48C-D773D2DD0B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A15C70-486B-6951-BC4E-84469A8694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86F893-B7B1-F1D8-788D-51866F5A6F43}"/>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6" name="Footer Placeholder 5">
            <a:extLst>
              <a:ext uri="{FF2B5EF4-FFF2-40B4-BE49-F238E27FC236}">
                <a16:creationId xmlns:a16="http://schemas.microsoft.com/office/drawing/2014/main" id="{AB1612CD-A81B-E7EB-88BE-1CD24B8063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F2BF68-B3CB-FB88-5B6E-1912287F4311}"/>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1291482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0B0D9-A1D4-E67F-FCB9-ADB24E8707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212C25-21D4-0A87-EEE5-F0F933CA72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7BBD6-3840-5B7A-7FD7-6F037A9E39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800DDB-1023-6ACC-8AFA-8CAEE962A2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BAE9A8-98E5-5ED3-8F65-DE21BB849C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D3B17C-35AB-73F9-EF51-FBC6CBC9B646}"/>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8" name="Footer Placeholder 7">
            <a:extLst>
              <a:ext uri="{FF2B5EF4-FFF2-40B4-BE49-F238E27FC236}">
                <a16:creationId xmlns:a16="http://schemas.microsoft.com/office/drawing/2014/main" id="{B7608CE5-7AFF-5442-5910-683AB4F2BD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0B8807-9E35-E76A-3BA0-B22B7F080F75}"/>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3216898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8A9C4-0B10-EB03-6747-3E47A286EF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94FD5F-C2F6-E191-23DA-85168221E2C0}"/>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4" name="Footer Placeholder 3">
            <a:extLst>
              <a:ext uri="{FF2B5EF4-FFF2-40B4-BE49-F238E27FC236}">
                <a16:creationId xmlns:a16="http://schemas.microsoft.com/office/drawing/2014/main" id="{CE2E5044-68F6-93AC-D316-6E3467C74D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3E9740-D3C4-258D-051D-B553BC4B7173}"/>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1032496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34C075-173D-CCDE-4B47-273E2278FB40}"/>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3" name="Footer Placeholder 2">
            <a:extLst>
              <a:ext uri="{FF2B5EF4-FFF2-40B4-BE49-F238E27FC236}">
                <a16:creationId xmlns:a16="http://schemas.microsoft.com/office/drawing/2014/main" id="{3436660F-E4C5-8D05-157C-B05F6AC239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ECFB5-3BC3-7CD9-AC73-CFB635591B9B}"/>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3629909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D9383-CDF7-2DB0-818F-AC4D19C531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F19427-8379-C474-07F5-309D652A86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01D88A-D115-2B06-34BA-C1343BFB42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B01DD2-2D9D-33FB-088E-10EC2E3F771C}"/>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6" name="Footer Placeholder 5">
            <a:extLst>
              <a:ext uri="{FF2B5EF4-FFF2-40B4-BE49-F238E27FC236}">
                <a16:creationId xmlns:a16="http://schemas.microsoft.com/office/drawing/2014/main" id="{AC681137-A9BD-B429-4E09-39FAA5C7CF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F165C5-262B-0AA9-307A-0CBEB6775B97}"/>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1161951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029D7-00F5-9B1A-AC93-F4BD71D8DB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368E00-A309-43FA-212E-35E99489A9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A68636-8DB0-DD78-993E-4A18B69742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D544BA-B30C-08E1-D4F1-8DEFBBE6C7B1}"/>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6" name="Footer Placeholder 5">
            <a:extLst>
              <a:ext uri="{FF2B5EF4-FFF2-40B4-BE49-F238E27FC236}">
                <a16:creationId xmlns:a16="http://schemas.microsoft.com/office/drawing/2014/main" id="{CCB2C67F-C458-6300-DFAC-36BA9832EF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DA07F7-365E-4891-727A-E5C2A685A154}"/>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4042151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3AB65-9311-5458-578B-C1D49FBA98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C6756F-1308-617C-A5C0-984A8AD64B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F3862E-954D-4DD0-11FF-728721038199}"/>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5" name="Footer Placeholder 4">
            <a:extLst>
              <a:ext uri="{FF2B5EF4-FFF2-40B4-BE49-F238E27FC236}">
                <a16:creationId xmlns:a16="http://schemas.microsoft.com/office/drawing/2014/main" id="{FE8BF523-9AAE-7041-5FC9-A02180A297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B4FF77-7CD3-7BDF-7077-5071911DA8C3}"/>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2314191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7A4F03-FC43-18C0-1F86-A645E5B7C5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F3831B-89DC-58FC-727D-6AAD9497B9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FF6596-85F7-5A4D-2ABF-2C962942296D}"/>
              </a:ext>
            </a:extLst>
          </p:cNvPr>
          <p:cNvSpPr>
            <a:spLocks noGrp="1"/>
          </p:cNvSpPr>
          <p:nvPr>
            <p:ph type="dt" sz="half" idx="10"/>
          </p:nvPr>
        </p:nvSpPr>
        <p:spPr/>
        <p:txBody>
          <a:bodyPr/>
          <a:lstStyle/>
          <a:p>
            <a:fld id="{54C02000-2437-4124-A50E-6426CFF0B9D2}" type="datetimeFigureOut">
              <a:rPr lang="en-US" smtClean="0"/>
              <a:t>10/8/2025</a:t>
            </a:fld>
            <a:endParaRPr lang="en-US"/>
          </a:p>
        </p:txBody>
      </p:sp>
      <p:sp>
        <p:nvSpPr>
          <p:cNvPr id="5" name="Footer Placeholder 4">
            <a:extLst>
              <a:ext uri="{FF2B5EF4-FFF2-40B4-BE49-F238E27FC236}">
                <a16:creationId xmlns:a16="http://schemas.microsoft.com/office/drawing/2014/main" id="{7B367D60-6744-2569-42E9-E3053FF8E9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1CA74E-CB6C-A67B-1A59-73CBEFC0D343}"/>
              </a:ext>
            </a:extLst>
          </p:cNvPr>
          <p:cNvSpPr>
            <a:spLocks noGrp="1"/>
          </p:cNvSpPr>
          <p:nvPr>
            <p:ph type="sldNum" sz="quarter" idx="12"/>
          </p:nvPr>
        </p:nvSpPr>
        <p:spPr/>
        <p:txBody>
          <a:bodyPr/>
          <a:lstStyle/>
          <a:p>
            <a:fld id="{A993D898-074C-4FFE-B4AB-124964C0E76F}" type="slidenum">
              <a:rPr lang="en-US" smtClean="0"/>
              <a:t>‹#›</a:t>
            </a:fld>
            <a:endParaRPr lang="en-US"/>
          </a:p>
        </p:txBody>
      </p:sp>
    </p:spTree>
    <p:extLst>
      <p:ext uri="{BB962C8B-B14F-4D97-AF65-F5344CB8AC3E}">
        <p14:creationId xmlns:p14="http://schemas.microsoft.com/office/powerpoint/2010/main" val="2194856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EF9E8-0976-8746-500A-3A9EDC301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062C19-532B-D5C7-D90B-CEF68EF705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B42F6-67F4-F05C-D2D0-A9CBE7C06F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02000-2437-4124-A50E-6426CFF0B9D2}" type="datetimeFigureOut">
              <a:rPr lang="en-US" smtClean="0"/>
              <a:t>10/8/2025</a:t>
            </a:fld>
            <a:endParaRPr lang="en-US"/>
          </a:p>
        </p:txBody>
      </p:sp>
      <p:sp>
        <p:nvSpPr>
          <p:cNvPr id="5" name="Footer Placeholder 4">
            <a:extLst>
              <a:ext uri="{FF2B5EF4-FFF2-40B4-BE49-F238E27FC236}">
                <a16:creationId xmlns:a16="http://schemas.microsoft.com/office/drawing/2014/main" id="{B8F527B3-4FCB-5C0A-11DB-02425EEA4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CCCF8E-8834-7990-8EF3-71B8F0FCB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93D898-074C-4FFE-B4AB-124964C0E76F}" type="slidenum">
              <a:rPr lang="en-US" smtClean="0"/>
              <a:t>‹#›</a:t>
            </a:fld>
            <a:endParaRPr lang="en-US"/>
          </a:p>
        </p:txBody>
      </p:sp>
    </p:spTree>
    <p:extLst>
      <p:ext uri="{BB962C8B-B14F-4D97-AF65-F5344CB8AC3E}">
        <p14:creationId xmlns:p14="http://schemas.microsoft.com/office/powerpoint/2010/main" val="216204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E91D6A-A1A9-8F39-580A-A1E593627794}"/>
              </a:ext>
            </a:extLst>
          </p:cNvPr>
          <p:cNvSpPr>
            <a:spLocks noGrp="1"/>
          </p:cNvSpPr>
          <p:nvPr>
            <p:ph type="title"/>
          </p:nvPr>
        </p:nvSpPr>
        <p:spPr/>
        <p:txBody>
          <a:bodyPr/>
          <a:lstStyle/>
          <a:p>
            <a:r>
              <a:rPr lang="en-US" dirty="0"/>
              <a:t>301 Oct 17, Class 14</a:t>
            </a:r>
          </a:p>
        </p:txBody>
      </p:sp>
      <p:sp>
        <p:nvSpPr>
          <p:cNvPr id="5" name="Content Placeholder 4">
            <a:extLst>
              <a:ext uri="{FF2B5EF4-FFF2-40B4-BE49-F238E27FC236}">
                <a16:creationId xmlns:a16="http://schemas.microsoft.com/office/drawing/2014/main" id="{486AEE9B-FD7C-6677-19AA-5940A1BF8658}"/>
              </a:ext>
            </a:extLst>
          </p:cNvPr>
          <p:cNvSpPr>
            <a:spLocks noGrp="1"/>
          </p:cNvSpPr>
          <p:nvPr>
            <p:ph idx="1"/>
          </p:nvPr>
        </p:nvSpPr>
        <p:spPr/>
        <p:txBody>
          <a:bodyPr/>
          <a:lstStyle/>
          <a:p>
            <a:r>
              <a:rPr lang="en-US" dirty="0"/>
              <a:t>Reviewing research with factorial designs</a:t>
            </a:r>
          </a:p>
          <a:p>
            <a:r>
              <a:rPr lang="en-US" dirty="0" err="1"/>
              <a:t>Levav</a:t>
            </a:r>
            <a:r>
              <a:rPr lang="en-US" dirty="0"/>
              <a:t> &amp; Argo (2010)</a:t>
            </a:r>
          </a:p>
          <a:p>
            <a:pPr lvl="1"/>
            <a:r>
              <a:rPr lang="en-US" dirty="0"/>
              <a:t>Factorial design example</a:t>
            </a:r>
          </a:p>
          <a:p>
            <a:r>
              <a:rPr lang="en-US" dirty="0"/>
              <a:t>Ovalle-</a:t>
            </a:r>
            <a:r>
              <a:rPr lang="en-US" dirty="0" err="1"/>
              <a:t>Fresa</a:t>
            </a:r>
            <a:r>
              <a:rPr lang="en-US" dirty="0"/>
              <a:t>, Uslu &amp; Rothen (2021)</a:t>
            </a:r>
          </a:p>
          <a:p>
            <a:pPr lvl="1"/>
            <a:r>
              <a:rPr lang="en-US" dirty="0"/>
              <a:t>More background for Experiment 2</a:t>
            </a:r>
          </a:p>
          <a:p>
            <a:endParaRPr lang="en-US" dirty="0"/>
          </a:p>
        </p:txBody>
      </p:sp>
    </p:spTree>
    <p:extLst>
      <p:ext uri="{BB962C8B-B14F-4D97-AF65-F5344CB8AC3E}">
        <p14:creationId xmlns:p14="http://schemas.microsoft.com/office/powerpoint/2010/main" val="3928518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t>Levav &amp; Argo (2010)</a:t>
            </a:r>
          </a:p>
        </p:txBody>
      </p:sp>
      <p:sp>
        <p:nvSpPr>
          <p:cNvPr id="10243" name="Content Placeholder 2"/>
          <p:cNvSpPr>
            <a:spLocks noGrp="1"/>
          </p:cNvSpPr>
          <p:nvPr>
            <p:ph idx="1"/>
          </p:nvPr>
        </p:nvSpPr>
        <p:spPr/>
        <p:txBody>
          <a:bodyPr/>
          <a:lstStyle/>
          <a:p>
            <a:endParaRPr lang="en-US"/>
          </a:p>
        </p:txBody>
      </p:sp>
      <p:pic>
        <p:nvPicPr>
          <p:cNvPr id="10244" name="Picture 2"/>
          <p:cNvPicPr>
            <a:picLocks noChangeAspect="1" noChangeArrowheads="1"/>
          </p:cNvPicPr>
          <p:nvPr/>
        </p:nvPicPr>
        <p:blipFill>
          <a:blip r:embed="rId3" cstate="print"/>
          <a:srcRect/>
          <a:stretch>
            <a:fillRect/>
          </a:stretch>
        </p:blipFill>
        <p:spPr bwMode="auto">
          <a:xfrm>
            <a:off x="648195" y="1262742"/>
            <a:ext cx="10324605" cy="5180290"/>
          </a:xfrm>
          <a:prstGeom prst="rect">
            <a:avLst/>
          </a:prstGeom>
          <a:noFill/>
          <a:ln w="9525">
            <a:noFill/>
            <a:miter lim="800000"/>
            <a:headEnd/>
            <a:tailEnd/>
          </a:ln>
        </p:spPr>
      </p:pic>
    </p:spTree>
    <p:extLst>
      <p:ext uri="{BB962C8B-B14F-4D97-AF65-F5344CB8AC3E}">
        <p14:creationId xmlns:p14="http://schemas.microsoft.com/office/powerpoint/2010/main" val="594985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80235-3048-36C5-7172-3EC331E34CB5}"/>
              </a:ext>
            </a:extLst>
          </p:cNvPr>
          <p:cNvSpPr>
            <a:spLocks noGrp="1"/>
          </p:cNvSpPr>
          <p:nvPr>
            <p:ph type="title"/>
          </p:nvPr>
        </p:nvSpPr>
        <p:spPr/>
        <p:txBody>
          <a:bodyPr/>
          <a:lstStyle/>
          <a:p>
            <a:r>
              <a:rPr lang="en-US" dirty="0"/>
              <a:t>Assignment Question 1</a:t>
            </a:r>
          </a:p>
        </p:txBody>
      </p:sp>
      <p:sp>
        <p:nvSpPr>
          <p:cNvPr id="3" name="Content Placeholder 2">
            <a:extLst>
              <a:ext uri="{FF2B5EF4-FFF2-40B4-BE49-F238E27FC236}">
                <a16:creationId xmlns:a16="http://schemas.microsoft.com/office/drawing/2014/main" id="{2A94B387-2499-3D56-2357-014078DD1146}"/>
              </a:ext>
            </a:extLst>
          </p:cNvPr>
          <p:cNvSpPr>
            <a:spLocks noGrp="1"/>
          </p:cNvSpPr>
          <p:nvPr>
            <p:ph idx="1"/>
          </p:nvPr>
        </p:nvSpPr>
        <p:spPr/>
        <p:txBody>
          <a:bodyPr>
            <a:normAutofit fontScale="92500" lnSpcReduction="10000"/>
          </a:bodyPr>
          <a:lstStyle/>
          <a:p>
            <a:r>
              <a:rPr lang="en-US" b="0" i="0" dirty="0">
                <a:solidFill>
                  <a:srgbClr val="2D3B45"/>
                </a:solidFill>
                <a:effectLst/>
                <a:latin typeface="Lato Extended"/>
              </a:rPr>
              <a:t>Experiment 1 is a simple two group study. </a:t>
            </a:r>
          </a:p>
          <a:p>
            <a:r>
              <a:rPr lang="en-US" b="0" i="0" dirty="0">
                <a:solidFill>
                  <a:srgbClr val="2D3B45"/>
                </a:solidFill>
                <a:effectLst/>
                <a:latin typeface="Lato Extended"/>
              </a:rPr>
              <a:t>The procedure for implementing the independent variable is described as “In the touch condition, the verbal instruction was accompanied by a light, open-palmed touch on the back of the shoulder blade, right below the deltoid; this touch lasted approximately 1 s. In the no-touch condition, the verbal instruction was unaccompanied by any form of touch. Following this manipulation, the experimenter — who was blind to the hypothesis—retreated to a cubicle on the other side of the room so as not to be visible to the participant.” </a:t>
            </a:r>
          </a:p>
          <a:p>
            <a:r>
              <a:rPr lang="en-US" b="0" i="0" dirty="0">
                <a:solidFill>
                  <a:srgbClr val="2D3B45"/>
                </a:solidFill>
                <a:effectLst/>
                <a:latin typeface="Lato Extended"/>
              </a:rPr>
              <a:t>Why does this operational definition of “touch” need such an elaborate description?</a:t>
            </a:r>
          </a:p>
          <a:p>
            <a:endParaRPr lang="en-US" dirty="0"/>
          </a:p>
        </p:txBody>
      </p:sp>
    </p:spTree>
    <p:extLst>
      <p:ext uri="{BB962C8B-B14F-4D97-AF65-F5344CB8AC3E}">
        <p14:creationId xmlns:p14="http://schemas.microsoft.com/office/powerpoint/2010/main" val="3264958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a:t>Design, Experiment 1</a:t>
            </a:r>
          </a:p>
        </p:txBody>
      </p:sp>
      <p:sp>
        <p:nvSpPr>
          <p:cNvPr id="11267" name="Content Placeholder 2"/>
          <p:cNvSpPr>
            <a:spLocks noGrp="1"/>
          </p:cNvSpPr>
          <p:nvPr>
            <p:ph idx="1"/>
          </p:nvPr>
        </p:nvSpPr>
        <p:spPr/>
        <p:txBody>
          <a:bodyPr/>
          <a:lstStyle/>
          <a:p>
            <a:endParaRPr lang="en-US"/>
          </a:p>
        </p:txBody>
      </p:sp>
      <p:pic>
        <p:nvPicPr>
          <p:cNvPr id="11268" name="Picture 2"/>
          <p:cNvPicPr>
            <a:picLocks noChangeAspect="1" noChangeArrowheads="1"/>
          </p:cNvPicPr>
          <p:nvPr/>
        </p:nvPicPr>
        <p:blipFill>
          <a:blip r:embed="rId3" cstate="print"/>
          <a:srcRect/>
          <a:stretch>
            <a:fillRect/>
          </a:stretch>
        </p:blipFill>
        <p:spPr bwMode="auto">
          <a:xfrm>
            <a:off x="1107375" y="1576388"/>
            <a:ext cx="4988625" cy="4822732"/>
          </a:xfrm>
          <a:prstGeom prst="rect">
            <a:avLst/>
          </a:prstGeom>
          <a:noFill/>
          <a:ln w="9525">
            <a:noFill/>
            <a:miter lim="800000"/>
            <a:headEnd/>
            <a:tailEnd/>
          </a:ln>
        </p:spPr>
      </p:pic>
      <p:pic>
        <p:nvPicPr>
          <p:cNvPr id="11269" name="Picture 3"/>
          <p:cNvPicPr>
            <a:picLocks noChangeAspect="1" noChangeArrowheads="1"/>
          </p:cNvPicPr>
          <p:nvPr/>
        </p:nvPicPr>
        <p:blipFill>
          <a:blip r:embed="rId4" cstate="print"/>
          <a:srcRect/>
          <a:stretch>
            <a:fillRect/>
          </a:stretch>
        </p:blipFill>
        <p:spPr bwMode="auto">
          <a:xfrm>
            <a:off x="6122078" y="1690688"/>
            <a:ext cx="4962547" cy="2261259"/>
          </a:xfrm>
          <a:prstGeom prst="rect">
            <a:avLst/>
          </a:prstGeom>
          <a:noFill/>
          <a:ln w="9525">
            <a:noFill/>
            <a:miter lim="800000"/>
            <a:headEnd/>
            <a:tailEnd/>
          </a:ln>
        </p:spPr>
      </p:pic>
    </p:spTree>
    <p:extLst>
      <p:ext uri="{BB962C8B-B14F-4D97-AF65-F5344CB8AC3E}">
        <p14:creationId xmlns:p14="http://schemas.microsoft.com/office/powerpoint/2010/main" val="74582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92AC5-9591-C772-9E8E-E0FFBEA57A5C}"/>
              </a:ext>
            </a:extLst>
          </p:cNvPr>
          <p:cNvSpPr>
            <a:spLocks noGrp="1"/>
          </p:cNvSpPr>
          <p:nvPr>
            <p:ph type="title"/>
          </p:nvPr>
        </p:nvSpPr>
        <p:spPr/>
        <p:txBody>
          <a:bodyPr/>
          <a:lstStyle/>
          <a:p>
            <a:r>
              <a:rPr lang="en-US" dirty="0"/>
              <a:t>Assignment Questions 2-5</a:t>
            </a:r>
          </a:p>
        </p:txBody>
      </p:sp>
      <p:sp>
        <p:nvSpPr>
          <p:cNvPr id="3" name="Content Placeholder 2">
            <a:extLst>
              <a:ext uri="{FF2B5EF4-FFF2-40B4-BE49-F238E27FC236}">
                <a16:creationId xmlns:a16="http://schemas.microsoft.com/office/drawing/2014/main" id="{F610B636-6636-B19A-6CC6-F54EE4603AF3}"/>
              </a:ext>
            </a:extLst>
          </p:cNvPr>
          <p:cNvSpPr>
            <a:spLocks noGrp="1"/>
          </p:cNvSpPr>
          <p:nvPr>
            <p:ph idx="1"/>
          </p:nvPr>
        </p:nvSpPr>
        <p:spPr/>
        <p:txBody>
          <a:bodyPr/>
          <a:lstStyle/>
          <a:p>
            <a:r>
              <a:rPr lang="en-US" b="0" i="0" dirty="0">
                <a:solidFill>
                  <a:srgbClr val="2D3B45"/>
                </a:solidFill>
                <a:effectLst/>
                <a:latin typeface="Lato Extended"/>
              </a:rPr>
              <a:t>Experiment 2 uses a factorial design.  How many factors are there and how many levels of each factor?</a:t>
            </a:r>
          </a:p>
          <a:p>
            <a:r>
              <a:rPr lang="en-US" b="0" i="0" dirty="0">
                <a:solidFill>
                  <a:srgbClr val="2D3B45"/>
                </a:solidFill>
                <a:effectLst/>
                <a:latin typeface="Lato Extended"/>
              </a:rPr>
              <a:t>What is the dependent variable in Experiment 2?</a:t>
            </a:r>
          </a:p>
          <a:p>
            <a:r>
              <a:rPr lang="en-US" b="0" i="0" dirty="0">
                <a:solidFill>
                  <a:srgbClr val="2D3B45"/>
                </a:solidFill>
                <a:effectLst/>
                <a:latin typeface="Lato Extended"/>
              </a:rPr>
              <a:t>List the hypotheses tested by this design.</a:t>
            </a:r>
          </a:p>
          <a:p>
            <a:endParaRPr lang="en-US" dirty="0">
              <a:solidFill>
                <a:srgbClr val="2D3B45"/>
              </a:solidFill>
              <a:latin typeface="Lato Extended"/>
            </a:endParaRPr>
          </a:p>
          <a:p>
            <a:endParaRPr lang="en-US" dirty="0">
              <a:solidFill>
                <a:srgbClr val="2D3B45"/>
              </a:solidFill>
              <a:latin typeface="Lato Extended"/>
            </a:endParaRPr>
          </a:p>
          <a:p>
            <a:endParaRPr lang="en-US" b="0" i="0" dirty="0">
              <a:solidFill>
                <a:srgbClr val="2D3B45"/>
              </a:solidFill>
              <a:effectLst/>
              <a:latin typeface="Lato Extended"/>
            </a:endParaRPr>
          </a:p>
          <a:p>
            <a:pPr algn="l">
              <a:buFont typeface="+mj-lt"/>
              <a:buAutoNum type="arabicPeriod"/>
            </a:pPr>
            <a:endParaRPr lang="en-US" b="0" i="0" dirty="0">
              <a:solidFill>
                <a:srgbClr val="2D3B45"/>
              </a:solidFill>
              <a:effectLst/>
              <a:latin typeface="Lato Extended"/>
            </a:endParaRPr>
          </a:p>
          <a:p>
            <a:endParaRPr lang="en-US" dirty="0"/>
          </a:p>
        </p:txBody>
      </p:sp>
    </p:spTree>
    <p:extLst>
      <p:ext uri="{BB962C8B-B14F-4D97-AF65-F5344CB8AC3E}">
        <p14:creationId xmlns:p14="http://schemas.microsoft.com/office/powerpoint/2010/main" val="894063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FA1A9-16AF-E6FF-8300-0C61380CD0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2F634A-5F8C-5732-A0F9-039F56A1249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849E688-D1AD-B601-7993-75B2350A8520}"/>
              </a:ext>
            </a:extLst>
          </p:cNvPr>
          <p:cNvPicPr>
            <a:picLocks noChangeAspect="1"/>
          </p:cNvPicPr>
          <p:nvPr/>
        </p:nvPicPr>
        <p:blipFill>
          <a:blip r:embed="rId2"/>
          <a:stretch>
            <a:fillRect/>
          </a:stretch>
        </p:blipFill>
        <p:spPr>
          <a:xfrm>
            <a:off x="838200" y="1227973"/>
            <a:ext cx="5267325" cy="4680585"/>
          </a:xfrm>
          <a:prstGeom prst="rect">
            <a:avLst/>
          </a:prstGeom>
        </p:spPr>
      </p:pic>
      <p:pic>
        <p:nvPicPr>
          <p:cNvPr id="7" name="Picture 6">
            <a:extLst>
              <a:ext uri="{FF2B5EF4-FFF2-40B4-BE49-F238E27FC236}">
                <a16:creationId xmlns:a16="http://schemas.microsoft.com/office/drawing/2014/main" id="{D1D7910D-A376-583D-2B46-B7FABD04622F}"/>
              </a:ext>
            </a:extLst>
          </p:cNvPr>
          <p:cNvPicPr>
            <a:picLocks noChangeAspect="1"/>
          </p:cNvPicPr>
          <p:nvPr/>
        </p:nvPicPr>
        <p:blipFill>
          <a:blip r:embed="rId3"/>
          <a:stretch>
            <a:fillRect/>
          </a:stretch>
        </p:blipFill>
        <p:spPr>
          <a:xfrm>
            <a:off x="6149340" y="1565704"/>
            <a:ext cx="5160645" cy="2707005"/>
          </a:xfrm>
          <a:prstGeom prst="rect">
            <a:avLst/>
          </a:prstGeom>
        </p:spPr>
      </p:pic>
    </p:spTree>
    <p:extLst>
      <p:ext uri="{BB962C8B-B14F-4D97-AF65-F5344CB8AC3E}">
        <p14:creationId xmlns:p14="http://schemas.microsoft.com/office/powerpoint/2010/main" val="465561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t>Experiment 2</a:t>
            </a:r>
          </a:p>
        </p:txBody>
      </p:sp>
      <p:sp>
        <p:nvSpPr>
          <p:cNvPr id="12291" name="Content Placeholder 2"/>
          <p:cNvSpPr>
            <a:spLocks noGrp="1"/>
          </p:cNvSpPr>
          <p:nvPr>
            <p:ph idx="1"/>
          </p:nvPr>
        </p:nvSpPr>
        <p:spPr/>
        <p:txBody>
          <a:bodyPr/>
          <a:lstStyle/>
          <a:p>
            <a:endParaRPr lang="en-US"/>
          </a:p>
        </p:txBody>
      </p:sp>
      <p:pic>
        <p:nvPicPr>
          <p:cNvPr id="12292" name="Picture 2"/>
          <p:cNvPicPr>
            <a:picLocks noChangeAspect="1" noChangeArrowheads="1"/>
          </p:cNvPicPr>
          <p:nvPr/>
        </p:nvPicPr>
        <p:blipFill>
          <a:blip r:embed="rId3" cstate="print"/>
          <a:srcRect/>
          <a:stretch>
            <a:fillRect/>
          </a:stretch>
        </p:blipFill>
        <p:spPr bwMode="auto">
          <a:xfrm>
            <a:off x="838200" y="1825625"/>
            <a:ext cx="5119835" cy="1325563"/>
          </a:xfrm>
          <a:prstGeom prst="rect">
            <a:avLst/>
          </a:prstGeom>
          <a:noFill/>
          <a:ln w="9525">
            <a:noFill/>
            <a:miter lim="800000"/>
            <a:headEnd/>
            <a:tailEnd/>
          </a:ln>
        </p:spPr>
      </p:pic>
      <p:pic>
        <p:nvPicPr>
          <p:cNvPr id="12293" name="Picture 3"/>
          <p:cNvPicPr>
            <a:picLocks noChangeAspect="1" noChangeArrowheads="1"/>
          </p:cNvPicPr>
          <p:nvPr/>
        </p:nvPicPr>
        <p:blipFill>
          <a:blip r:embed="rId4" cstate="print"/>
          <a:srcRect/>
          <a:stretch>
            <a:fillRect/>
          </a:stretch>
        </p:blipFill>
        <p:spPr bwMode="auto">
          <a:xfrm>
            <a:off x="6172201" y="1600201"/>
            <a:ext cx="3933825" cy="3590925"/>
          </a:xfrm>
          <a:prstGeom prst="rect">
            <a:avLst/>
          </a:prstGeom>
          <a:noFill/>
          <a:ln w="9525">
            <a:noFill/>
            <a:miter lim="800000"/>
            <a:headEnd/>
            <a:tailEnd/>
          </a:ln>
        </p:spPr>
      </p:pic>
    </p:spTree>
    <p:extLst>
      <p:ext uri="{BB962C8B-B14F-4D97-AF65-F5344CB8AC3E}">
        <p14:creationId xmlns:p14="http://schemas.microsoft.com/office/powerpoint/2010/main" val="3659514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Experiment 3</a:t>
            </a:r>
          </a:p>
        </p:txBody>
      </p:sp>
      <p:pic>
        <p:nvPicPr>
          <p:cNvPr id="13315" name="Picture 2"/>
          <p:cNvPicPr>
            <a:picLocks noChangeAspect="1" noChangeArrowheads="1"/>
          </p:cNvPicPr>
          <p:nvPr/>
        </p:nvPicPr>
        <p:blipFill>
          <a:blip r:embed="rId3" cstate="print"/>
          <a:srcRect/>
          <a:stretch>
            <a:fillRect/>
          </a:stretch>
        </p:blipFill>
        <p:spPr bwMode="auto">
          <a:xfrm>
            <a:off x="838200" y="1635918"/>
            <a:ext cx="5196638" cy="1024155"/>
          </a:xfrm>
          <a:prstGeom prst="rect">
            <a:avLst/>
          </a:prstGeom>
          <a:noFill/>
          <a:ln w="9525">
            <a:noFill/>
            <a:miter lim="800000"/>
            <a:headEnd/>
            <a:tailEnd/>
          </a:ln>
        </p:spPr>
      </p:pic>
      <p:pic>
        <p:nvPicPr>
          <p:cNvPr id="13316" name="Picture 3"/>
          <p:cNvPicPr>
            <a:picLocks noGrp="1" noChangeAspect="1" noChangeArrowheads="1"/>
          </p:cNvPicPr>
          <p:nvPr>
            <p:ph idx="1"/>
          </p:nvPr>
        </p:nvPicPr>
        <p:blipFill>
          <a:blip r:embed="rId4" cstate="print"/>
          <a:srcRect/>
          <a:stretch>
            <a:fillRect/>
          </a:stretch>
        </p:blipFill>
        <p:spPr>
          <a:xfrm>
            <a:off x="1444832" y="2961481"/>
            <a:ext cx="3905250" cy="3276600"/>
          </a:xfrm>
        </p:spPr>
      </p:pic>
      <p:pic>
        <p:nvPicPr>
          <p:cNvPr id="13317" name="Picture 6"/>
          <p:cNvPicPr>
            <a:picLocks noChangeAspect="1" noChangeArrowheads="1"/>
          </p:cNvPicPr>
          <p:nvPr/>
        </p:nvPicPr>
        <p:blipFill>
          <a:blip r:embed="rId5" cstate="print"/>
          <a:srcRect/>
          <a:stretch>
            <a:fillRect/>
          </a:stretch>
        </p:blipFill>
        <p:spPr bwMode="auto">
          <a:xfrm>
            <a:off x="6258298" y="2894806"/>
            <a:ext cx="4086225" cy="3409950"/>
          </a:xfrm>
          <a:prstGeom prst="rect">
            <a:avLst/>
          </a:prstGeom>
          <a:noFill/>
          <a:ln w="9525">
            <a:noFill/>
            <a:miter lim="800000"/>
            <a:headEnd/>
            <a:tailEnd/>
          </a:ln>
        </p:spPr>
      </p:pic>
      <p:sp>
        <p:nvSpPr>
          <p:cNvPr id="13318" name="Rectangle 8"/>
          <p:cNvSpPr>
            <a:spLocks noChangeArrowheads="1"/>
          </p:cNvSpPr>
          <p:nvPr/>
        </p:nvSpPr>
        <p:spPr bwMode="auto">
          <a:xfrm>
            <a:off x="6095999" y="1600199"/>
            <a:ext cx="5043055" cy="1015663"/>
          </a:xfrm>
          <a:prstGeom prst="rect">
            <a:avLst/>
          </a:prstGeom>
          <a:noFill/>
          <a:ln w="9525">
            <a:noFill/>
            <a:miter lim="800000"/>
            <a:headEnd/>
            <a:tailEnd/>
          </a:ln>
        </p:spPr>
        <p:txBody>
          <a:bodyPr wrap="square">
            <a:spAutoFit/>
          </a:bodyPr>
          <a:lstStyle/>
          <a:p>
            <a:r>
              <a:rPr lang="en-US" sz="1200" b="1" dirty="0"/>
              <a:t>Operational definition, Security:</a:t>
            </a:r>
          </a:p>
          <a:p>
            <a:r>
              <a:rPr lang="en-US" sz="1200" dirty="0"/>
              <a:t>We primed feelings of security or insecurity in a laboratory room by having participants write a brief essay about a time in their life when they “felt secure and supported” (secure-essay condition) or a time in their life when they “felt insecure and alone” (insecure-essay condition).</a:t>
            </a:r>
          </a:p>
        </p:txBody>
      </p:sp>
    </p:spTree>
    <p:extLst>
      <p:ext uri="{BB962C8B-B14F-4D97-AF65-F5344CB8AC3E}">
        <p14:creationId xmlns:p14="http://schemas.microsoft.com/office/powerpoint/2010/main" val="3057034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6D07D-7F9C-C000-01A9-F11984AF57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FFA7CA-7920-8D48-EA60-3DC56765BBBB}"/>
              </a:ext>
            </a:extLst>
          </p:cNvPr>
          <p:cNvSpPr>
            <a:spLocks noGrp="1"/>
          </p:cNvSpPr>
          <p:nvPr>
            <p:ph idx="1"/>
          </p:nvPr>
        </p:nvSpPr>
        <p:spPr/>
        <p:txBody>
          <a:bodyPr/>
          <a:lstStyle/>
          <a:p>
            <a:r>
              <a:rPr lang="en-US" dirty="0">
                <a:solidFill>
                  <a:srgbClr val="2D3B45"/>
                </a:solidFill>
                <a:latin typeface="Lato Extended"/>
              </a:rPr>
              <a:t>Describe the interaction shown in Figure 4 (Experiment 3)</a:t>
            </a:r>
          </a:p>
          <a:p>
            <a:endParaRPr lang="en-US" dirty="0">
              <a:solidFill>
                <a:srgbClr val="2D3B45"/>
              </a:solidFill>
              <a:latin typeface="Lato Extended"/>
            </a:endParaRPr>
          </a:p>
          <a:p>
            <a:endParaRPr lang="en-US" dirty="0">
              <a:solidFill>
                <a:srgbClr val="2D3B45"/>
              </a:solidFill>
              <a:latin typeface="Lato Extended"/>
            </a:endParaRPr>
          </a:p>
          <a:p>
            <a:r>
              <a:rPr lang="en-US" dirty="0">
                <a:solidFill>
                  <a:srgbClr val="2D3B45"/>
                </a:solidFill>
                <a:latin typeface="Lato Extended"/>
              </a:rPr>
              <a:t>What big picture conclusions do the authors draw from the 3 studies?</a:t>
            </a:r>
          </a:p>
          <a:p>
            <a:endParaRPr lang="en-US" dirty="0"/>
          </a:p>
        </p:txBody>
      </p:sp>
    </p:spTree>
    <p:extLst>
      <p:ext uri="{BB962C8B-B14F-4D97-AF65-F5344CB8AC3E}">
        <p14:creationId xmlns:p14="http://schemas.microsoft.com/office/powerpoint/2010/main" val="3424024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4991E-9DA0-E0BC-B6FA-EB07578072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273906-2152-7ED6-0B8E-4E3EE9B0836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5C18970-0DBB-0076-AE9B-391117CDB18B}"/>
              </a:ext>
            </a:extLst>
          </p:cNvPr>
          <p:cNvPicPr>
            <a:picLocks noChangeAspect="1"/>
          </p:cNvPicPr>
          <p:nvPr/>
        </p:nvPicPr>
        <p:blipFill>
          <a:blip r:embed="rId2"/>
          <a:stretch>
            <a:fillRect/>
          </a:stretch>
        </p:blipFill>
        <p:spPr>
          <a:xfrm>
            <a:off x="2338387" y="278528"/>
            <a:ext cx="7515225" cy="6143625"/>
          </a:xfrm>
          <a:prstGeom prst="rect">
            <a:avLst/>
          </a:prstGeom>
        </p:spPr>
      </p:pic>
    </p:spTree>
    <p:extLst>
      <p:ext uri="{BB962C8B-B14F-4D97-AF65-F5344CB8AC3E}">
        <p14:creationId xmlns:p14="http://schemas.microsoft.com/office/powerpoint/2010/main" val="1737180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16E78-71AD-B70F-C7C7-2891F20A8A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7AFF66-5B87-F7D4-7B01-0CF8D9393BD8}"/>
              </a:ext>
            </a:extLst>
          </p:cNvPr>
          <p:cNvSpPr>
            <a:spLocks noGrp="1"/>
          </p:cNvSpPr>
          <p:nvPr>
            <p:ph idx="1"/>
          </p:nvPr>
        </p:nvSpPr>
        <p:spPr/>
        <p:txBody>
          <a:bodyPr/>
          <a:lstStyle/>
          <a:p>
            <a:r>
              <a:rPr lang="en-US" dirty="0"/>
              <a:t>In Experiment 1, what operational definitions were used for the deep and shallow encoding conditions? (What were participants asked to do in the procedure?)</a:t>
            </a:r>
          </a:p>
        </p:txBody>
      </p:sp>
    </p:spTree>
    <p:extLst>
      <p:ext uri="{BB962C8B-B14F-4D97-AF65-F5344CB8AC3E}">
        <p14:creationId xmlns:p14="http://schemas.microsoft.com/office/powerpoint/2010/main" val="4157444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0C6F6-E7DB-0A69-1BEE-0A258AA22016}"/>
              </a:ext>
            </a:extLst>
          </p:cNvPr>
          <p:cNvSpPr>
            <a:spLocks noGrp="1"/>
          </p:cNvSpPr>
          <p:nvPr>
            <p:ph type="title"/>
          </p:nvPr>
        </p:nvSpPr>
        <p:spPr/>
        <p:txBody>
          <a:bodyPr/>
          <a:lstStyle/>
          <a:p>
            <a:r>
              <a:rPr lang="en-US" dirty="0"/>
              <a:t>LOP with visual objects</a:t>
            </a:r>
          </a:p>
        </p:txBody>
      </p:sp>
      <p:sp>
        <p:nvSpPr>
          <p:cNvPr id="3" name="Content Placeholder 2">
            <a:extLst>
              <a:ext uri="{FF2B5EF4-FFF2-40B4-BE49-F238E27FC236}">
                <a16:creationId xmlns:a16="http://schemas.microsoft.com/office/drawing/2014/main" id="{00AAD358-9153-C41E-A72C-C7494810CF58}"/>
              </a:ext>
            </a:extLst>
          </p:cNvPr>
          <p:cNvSpPr>
            <a:spLocks noGrp="1"/>
          </p:cNvSpPr>
          <p:nvPr>
            <p:ph idx="1"/>
          </p:nvPr>
        </p:nvSpPr>
        <p:spPr/>
        <p:txBody>
          <a:bodyPr/>
          <a:lstStyle/>
          <a:p>
            <a:r>
              <a:rPr lang="en-US" dirty="0"/>
              <a:t>Deep: yes/no pleasant</a:t>
            </a:r>
          </a:p>
          <a:p>
            <a:r>
              <a:rPr lang="en-US" dirty="0"/>
              <a:t>Shallow: yes/no contains straight line</a:t>
            </a:r>
          </a:p>
          <a:p>
            <a:endParaRPr lang="en-US" dirty="0"/>
          </a:p>
          <a:p>
            <a:r>
              <a:rPr lang="en-US" dirty="0"/>
              <a:t>Exp1: Instructed to try to memorize</a:t>
            </a:r>
            <a:br>
              <a:rPr lang="en-US" dirty="0"/>
            </a:br>
            <a:r>
              <a:rPr lang="en-US" dirty="0"/>
              <a:t>object-color pairings</a:t>
            </a:r>
          </a:p>
          <a:p>
            <a:endParaRPr lang="en-US" dirty="0"/>
          </a:p>
          <a:p>
            <a:r>
              <a:rPr lang="en-US" dirty="0"/>
              <a:t>Exp2: Abstract images and color</a:t>
            </a:r>
          </a:p>
        </p:txBody>
      </p:sp>
      <p:pic>
        <p:nvPicPr>
          <p:cNvPr id="5" name="Picture 4">
            <a:extLst>
              <a:ext uri="{FF2B5EF4-FFF2-40B4-BE49-F238E27FC236}">
                <a16:creationId xmlns:a16="http://schemas.microsoft.com/office/drawing/2014/main" id="{E021F6F3-86F9-2D8E-F909-C4A5D9E66F60}"/>
              </a:ext>
            </a:extLst>
          </p:cNvPr>
          <p:cNvPicPr>
            <a:picLocks noChangeAspect="1"/>
          </p:cNvPicPr>
          <p:nvPr/>
        </p:nvPicPr>
        <p:blipFill>
          <a:blip r:embed="rId2"/>
          <a:stretch>
            <a:fillRect/>
          </a:stretch>
        </p:blipFill>
        <p:spPr>
          <a:xfrm>
            <a:off x="7077075" y="857794"/>
            <a:ext cx="4276725" cy="2733675"/>
          </a:xfrm>
          <a:prstGeom prst="rect">
            <a:avLst/>
          </a:prstGeom>
        </p:spPr>
      </p:pic>
      <p:pic>
        <p:nvPicPr>
          <p:cNvPr id="7" name="Picture 6">
            <a:extLst>
              <a:ext uri="{FF2B5EF4-FFF2-40B4-BE49-F238E27FC236}">
                <a16:creationId xmlns:a16="http://schemas.microsoft.com/office/drawing/2014/main" id="{5B8967F7-654A-A963-4AF7-9D2995751FB6}"/>
              </a:ext>
            </a:extLst>
          </p:cNvPr>
          <p:cNvPicPr>
            <a:picLocks noChangeAspect="1"/>
          </p:cNvPicPr>
          <p:nvPr/>
        </p:nvPicPr>
        <p:blipFill>
          <a:blip r:embed="rId3"/>
          <a:stretch>
            <a:fillRect/>
          </a:stretch>
        </p:blipFill>
        <p:spPr>
          <a:xfrm>
            <a:off x="7324725" y="3759200"/>
            <a:ext cx="4029075" cy="2733675"/>
          </a:xfrm>
          <a:prstGeom prst="rect">
            <a:avLst/>
          </a:prstGeom>
        </p:spPr>
      </p:pic>
    </p:spTree>
    <p:extLst>
      <p:ext uri="{BB962C8B-B14F-4D97-AF65-F5344CB8AC3E}">
        <p14:creationId xmlns:p14="http://schemas.microsoft.com/office/powerpoint/2010/main" val="1606680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4FFA-1D4B-D020-48C6-44E97DCDC248}"/>
              </a:ext>
            </a:extLst>
          </p:cNvPr>
          <p:cNvSpPr>
            <a:spLocks noGrp="1"/>
          </p:cNvSpPr>
          <p:nvPr>
            <p:ph type="title"/>
          </p:nvPr>
        </p:nvSpPr>
        <p:spPr/>
        <p:txBody>
          <a:bodyPr/>
          <a:lstStyle/>
          <a:p>
            <a:r>
              <a:rPr lang="en-US" dirty="0"/>
              <a:t>Recognition Memory</a:t>
            </a:r>
          </a:p>
        </p:txBody>
      </p:sp>
      <p:sp>
        <p:nvSpPr>
          <p:cNvPr id="3" name="Content Placeholder 2">
            <a:extLst>
              <a:ext uri="{FF2B5EF4-FFF2-40B4-BE49-F238E27FC236}">
                <a16:creationId xmlns:a16="http://schemas.microsoft.com/office/drawing/2014/main" id="{556522DC-0E00-ED06-ABFE-26AAB40AEB18}"/>
              </a:ext>
            </a:extLst>
          </p:cNvPr>
          <p:cNvSpPr>
            <a:spLocks noGrp="1"/>
          </p:cNvSpPr>
          <p:nvPr>
            <p:ph idx="1"/>
          </p:nvPr>
        </p:nvSpPr>
        <p:spPr/>
        <p:txBody>
          <a:bodyPr/>
          <a:lstStyle/>
          <a:p>
            <a:r>
              <a:rPr lang="en-US" dirty="0"/>
              <a:t>Four choices</a:t>
            </a:r>
          </a:p>
          <a:p>
            <a:r>
              <a:rPr lang="en-US" dirty="0"/>
              <a:t>Studied object and 3 “lures”</a:t>
            </a:r>
          </a:p>
          <a:p>
            <a:pPr lvl="1"/>
            <a:r>
              <a:rPr lang="en-US" dirty="0"/>
              <a:t>Same color or</a:t>
            </a:r>
          </a:p>
          <a:p>
            <a:pPr lvl="1"/>
            <a:r>
              <a:rPr lang="en-US" dirty="0"/>
              <a:t>Same shape</a:t>
            </a:r>
          </a:p>
          <a:p>
            <a:pPr lvl="1"/>
            <a:endParaRPr lang="en-US" dirty="0"/>
          </a:p>
          <a:p>
            <a:r>
              <a:rPr lang="en-US" dirty="0"/>
              <a:t>2x3 within-participant design</a:t>
            </a:r>
          </a:p>
          <a:p>
            <a:pPr lvl="1"/>
            <a:r>
              <a:rPr lang="en-US" dirty="0"/>
              <a:t>Everybody does both kinds of study</a:t>
            </a:r>
          </a:p>
          <a:p>
            <a:pPr lvl="1"/>
            <a:r>
              <a:rPr lang="en-US" dirty="0"/>
              <a:t>All three tests</a:t>
            </a:r>
          </a:p>
        </p:txBody>
      </p:sp>
      <p:pic>
        <p:nvPicPr>
          <p:cNvPr id="5" name="Picture 4">
            <a:extLst>
              <a:ext uri="{FF2B5EF4-FFF2-40B4-BE49-F238E27FC236}">
                <a16:creationId xmlns:a16="http://schemas.microsoft.com/office/drawing/2014/main" id="{24FE749E-5C7D-F05E-592D-9D21C16E75CF}"/>
              </a:ext>
            </a:extLst>
          </p:cNvPr>
          <p:cNvPicPr>
            <a:picLocks noChangeAspect="1"/>
          </p:cNvPicPr>
          <p:nvPr/>
        </p:nvPicPr>
        <p:blipFill>
          <a:blip r:embed="rId2"/>
          <a:stretch>
            <a:fillRect/>
          </a:stretch>
        </p:blipFill>
        <p:spPr>
          <a:xfrm>
            <a:off x="6825154" y="1025328"/>
            <a:ext cx="4528646" cy="5271950"/>
          </a:xfrm>
          <a:prstGeom prst="rect">
            <a:avLst/>
          </a:prstGeom>
        </p:spPr>
      </p:pic>
    </p:spTree>
    <p:extLst>
      <p:ext uri="{BB962C8B-B14F-4D97-AF65-F5344CB8AC3E}">
        <p14:creationId xmlns:p14="http://schemas.microsoft.com/office/powerpoint/2010/main" val="3613469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CDA95-330A-0AEE-7D80-A1057EE68AB6}"/>
              </a:ext>
            </a:extLst>
          </p:cNvPr>
          <p:cNvSpPr>
            <a:spLocks noGrp="1"/>
          </p:cNvSpPr>
          <p:nvPr>
            <p:ph type="title"/>
          </p:nvPr>
        </p:nvSpPr>
        <p:spPr/>
        <p:txBody>
          <a:bodyPr/>
          <a:lstStyle/>
          <a:p>
            <a:r>
              <a:rPr lang="en-US" dirty="0"/>
              <a:t>Lure conditions</a:t>
            </a:r>
          </a:p>
        </p:txBody>
      </p:sp>
      <p:sp>
        <p:nvSpPr>
          <p:cNvPr id="3" name="Content Placeholder 2">
            <a:extLst>
              <a:ext uri="{FF2B5EF4-FFF2-40B4-BE49-F238E27FC236}">
                <a16:creationId xmlns:a16="http://schemas.microsoft.com/office/drawing/2014/main" id="{1AA9FE46-B88E-16A3-B748-F7744DCAD0E8}"/>
              </a:ext>
            </a:extLst>
          </p:cNvPr>
          <p:cNvSpPr>
            <a:spLocks noGrp="1"/>
          </p:cNvSpPr>
          <p:nvPr>
            <p:ph idx="1"/>
          </p:nvPr>
        </p:nvSpPr>
        <p:spPr/>
        <p:txBody>
          <a:bodyPr>
            <a:normAutofit fontScale="85000" lnSpcReduction="10000"/>
          </a:bodyPr>
          <a:lstStyle/>
          <a:p>
            <a:r>
              <a:rPr lang="en-US" dirty="0"/>
              <a:t>The lures in the recognition phase involved shapes, colors, or control objects. In the shape-lure condition, the four different shapes had an identical color. </a:t>
            </a:r>
          </a:p>
          <a:p>
            <a:r>
              <a:rPr lang="en-US" dirty="0"/>
              <a:t>Only one of the shapes had been presented in the specific color during encoding (target). The other three shapes (lures) had also been presented during encoding but in a different color. In the color-lure condition, the four shapes were identical but had different colors. All colors were part of the corresponding encoding phase, but three were associated with different shapes from those during encoding (lures), and one was associated with the same shape as during encoding (target). </a:t>
            </a:r>
          </a:p>
          <a:p>
            <a:r>
              <a:rPr lang="en-US" dirty="0"/>
              <a:t>In the control condition, different shapes had the same color, but only one shape had been part of the encoding phase (target); the remaining shapes were novel and had not been part of the encoding phase (lures). The novel objects were taken from Set B (see Table 1) and not otherwise used for a given participant.</a:t>
            </a:r>
          </a:p>
        </p:txBody>
      </p:sp>
    </p:spTree>
    <p:extLst>
      <p:ext uri="{BB962C8B-B14F-4D97-AF65-F5344CB8AC3E}">
        <p14:creationId xmlns:p14="http://schemas.microsoft.com/office/powerpoint/2010/main" val="2294320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D93DF-1B39-B629-4CBB-FE93A8AD56D9}"/>
              </a:ext>
            </a:extLst>
          </p:cNvPr>
          <p:cNvSpPr>
            <a:spLocks noGrp="1"/>
          </p:cNvSpPr>
          <p:nvPr>
            <p:ph type="title"/>
          </p:nvPr>
        </p:nvSpPr>
        <p:spPr/>
        <p:txBody>
          <a:bodyPr/>
          <a:lstStyle/>
          <a:p>
            <a:r>
              <a:rPr lang="en-US" dirty="0"/>
              <a:t>Experiment 1 Result</a:t>
            </a:r>
          </a:p>
        </p:txBody>
      </p:sp>
      <p:sp>
        <p:nvSpPr>
          <p:cNvPr id="3" name="Content Placeholder 2">
            <a:extLst>
              <a:ext uri="{FF2B5EF4-FFF2-40B4-BE49-F238E27FC236}">
                <a16:creationId xmlns:a16="http://schemas.microsoft.com/office/drawing/2014/main" id="{D7D69CB9-5AE0-B325-809C-4DF6E7076453}"/>
              </a:ext>
            </a:extLst>
          </p:cNvPr>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Violin plots</a:t>
            </a:r>
          </a:p>
          <a:p>
            <a:pPr lvl="1"/>
            <a:r>
              <a:rPr lang="en-US" dirty="0"/>
              <a:t>Visualizes the distribution of data more than just SD/SE bars</a:t>
            </a:r>
          </a:p>
          <a:p>
            <a:pPr lvl="1"/>
            <a:endParaRPr lang="en-US" dirty="0"/>
          </a:p>
          <a:p>
            <a:pPr lvl="1"/>
            <a:endParaRPr lang="en-US" dirty="0"/>
          </a:p>
        </p:txBody>
      </p:sp>
      <p:pic>
        <p:nvPicPr>
          <p:cNvPr id="5" name="Picture 4">
            <a:extLst>
              <a:ext uri="{FF2B5EF4-FFF2-40B4-BE49-F238E27FC236}">
                <a16:creationId xmlns:a16="http://schemas.microsoft.com/office/drawing/2014/main" id="{86775502-C63C-6748-2FEA-0EE79F201768}"/>
              </a:ext>
            </a:extLst>
          </p:cNvPr>
          <p:cNvPicPr>
            <a:picLocks noChangeAspect="1"/>
          </p:cNvPicPr>
          <p:nvPr/>
        </p:nvPicPr>
        <p:blipFill>
          <a:blip r:embed="rId2"/>
          <a:srcRect b="50342"/>
          <a:stretch>
            <a:fillRect/>
          </a:stretch>
        </p:blipFill>
        <p:spPr>
          <a:xfrm>
            <a:off x="2764400" y="1662981"/>
            <a:ext cx="8368965" cy="2935211"/>
          </a:xfrm>
          <a:prstGeom prst="rect">
            <a:avLst/>
          </a:prstGeom>
        </p:spPr>
      </p:pic>
      <p:pic>
        <p:nvPicPr>
          <p:cNvPr id="6" name="Picture 5">
            <a:extLst>
              <a:ext uri="{FF2B5EF4-FFF2-40B4-BE49-F238E27FC236}">
                <a16:creationId xmlns:a16="http://schemas.microsoft.com/office/drawing/2014/main" id="{6403EED0-770D-CAB0-544C-76B0882D44FC}"/>
              </a:ext>
            </a:extLst>
          </p:cNvPr>
          <p:cNvPicPr>
            <a:picLocks noChangeAspect="1"/>
          </p:cNvPicPr>
          <p:nvPr/>
        </p:nvPicPr>
        <p:blipFill>
          <a:blip r:embed="rId3"/>
          <a:stretch>
            <a:fillRect/>
          </a:stretch>
        </p:blipFill>
        <p:spPr>
          <a:xfrm>
            <a:off x="3583704" y="4598192"/>
            <a:ext cx="7077713" cy="476278"/>
          </a:xfrm>
          <a:prstGeom prst="rect">
            <a:avLst/>
          </a:prstGeom>
        </p:spPr>
      </p:pic>
    </p:spTree>
    <p:extLst>
      <p:ext uri="{BB962C8B-B14F-4D97-AF65-F5344CB8AC3E}">
        <p14:creationId xmlns:p14="http://schemas.microsoft.com/office/powerpoint/2010/main" val="2235884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8B55F-6F1B-ECCC-DA7D-E8CB04B6FB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D7D3B6-34F5-6BA4-C742-219AEDF1BB5F}"/>
              </a:ext>
            </a:extLst>
          </p:cNvPr>
          <p:cNvSpPr>
            <a:spLocks noGrp="1"/>
          </p:cNvSpPr>
          <p:nvPr>
            <p:ph idx="1"/>
          </p:nvPr>
        </p:nvSpPr>
        <p:spPr/>
        <p:txBody>
          <a:bodyPr/>
          <a:lstStyle/>
          <a:p>
            <a:r>
              <a:rPr lang="en-US" dirty="0"/>
              <a:t>In the Results for Experiment 1, a 2x2 ANOVA is reported.  Which of the three effects tested in this analysis were reliable and how was this interpreted?</a:t>
            </a:r>
          </a:p>
          <a:p>
            <a:endParaRPr lang="en-US" dirty="0"/>
          </a:p>
        </p:txBody>
      </p:sp>
      <p:pic>
        <p:nvPicPr>
          <p:cNvPr id="5" name="Picture 4">
            <a:extLst>
              <a:ext uri="{FF2B5EF4-FFF2-40B4-BE49-F238E27FC236}">
                <a16:creationId xmlns:a16="http://schemas.microsoft.com/office/drawing/2014/main" id="{98A716CE-B651-6D05-9963-28A36FF1F8FF}"/>
              </a:ext>
            </a:extLst>
          </p:cNvPr>
          <p:cNvPicPr>
            <a:picLocks noChangeAspect="1"/>
          </p:cNvPicPr>
          <p:nvPr/>
        </p:nvPicPr>
        <p:blipFill>
          <a:blip r:embed="rId2"/>
          <a:stretch>
            <a:fillRect/>
          </a:stretch>
        </p:blipFill>
        <p:spPr>
          <a:xfrm>
            <a:off x="6011571" y="2863184"/>
            <a:ext cx="4454100" cy="3629691"/>
          </a:xfrm>
          <a:prstGeom prst="rect">
            <a:avLst/>
          </a:prstGeom>
        </p:spPr>
      </p:pic>
    </p:spTree>
    <p:extLst>
      <p:ext uri="{BB962C8B-B14F-4D97-AF65-F5344CB8AC3E}">
        <p14:creationId xmlns:p14="http://schemas.microsoft.com/office/powerpoint/2010/main" val="2515496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B8993-F72E-B5D8-B293-026EB3CFA9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61A8EC-92AB-08E8-F00B-CF19E45EB479}"/>
              </a:ext>
            </a:extLst>
          </p:cNvPr>
          <p:cNvSpPr>
            <a:spLocks noGrp="1"/>
          </p:cNvSpPr>
          <p:nvPr>
            <p:ph idx="1"/>
          </p:nvPr>
        </p:nvSpPr>
        <p:spPr/>
        <p:txBody>
          <a:bodyPr/>
          <a:lstStyle/>
          <a:p>
            <a:r>
              <a:rPr lang="en-US" dirty="0"/>
              <a:t>In Experiment 2, what was changed about the stimuli compared to Experiment 1?</a:t>
            </a:r>
          </a:p>
          <a:p>
            <a:endParaRPr lang="en-US" dirty="0"/>
          </a:p>
          <a:p>
            <a:r>
              <a:rPr lang="en-US" dirty="0"/>
              <a:t>Why was the analysis of Experiment 2 done with a 2x3 ANOVA?</a:t>
            </a:r>
          </a:p>
          <a:p>
            <a:endParaRPr lang="en-US" dirty="0"/>
          </a:p>
        </p:txBody>
      </p:sp>
    </p:spTree>
    <p:extLst>
      <p:ext uri="{BB962C8B-B14F-4D97-AF65-F5344CB8AC3E}">
        <p14:creationId xmlns:p14="http://schemas.microsoft.com/office/powerpoint/2010/main" val="989799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B1A4-997B-0B9B-D918-D33F2698C0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BE80BB-86F8-9063-2F42-E9BE220E666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AFC2BA9-A5CA-D74D-9788-4DBDD70C095D}"/>
              </a:ext>
            </a:extLst>
          </p:cNvPr>
          <p:cNvPicPr>
            <a:picLocks noChangeAspect="1"/>
          </p:cNvPicPr>
          <p:nvPr/>
        </p:nvPicPr>
        <p:blipFill>
          <a:blip r:embed="rId2"/>
          <a:stretch>
            <a:fillRect/>
          </a:stretch>
        </p:blipFill>
        <p:spPr>
          <a:xfrm>
            <a:off x="1309686" y="110766"/>
            <a:ext cx="8905927" cy="6290034"/>
          </a:xfrm>
          <a:prstGeom prst="rect">
            <a:avLst/>
          </a:prstGeom>
        </p:spPr>
      </p:pic>
    </p:spTree>
    <p:extLst>
      <p:ext uri="{BB962C8B-B14F-4D97-AF65-F5344CB8AC3E}">
        <p14:creationId xmlns:p14="http://schemas.microsoft.com/office/powerpoint/2010/main" val="2462050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6B95-CD4E-0E17-AA64-A3CFFBC01C2A}"/>
              </a:ext>
            </a:extLst>
          </p:cNvPr>
          <p:cNvSpPr>
            <a:spLocks noGrp="1"/>
          </p:cNvSpPr>
          <p:nvPr>
            <p:ph type="title"/>
          </p:nvPr>
        </p:nvSpPr>
        <p:spPr/>
        <p:txBody>
          <a:bodyPr/>
          <a:lstStyle/>
          <a:p>
            <a:r>
              <a:rPr lang="en-US" dirty="0"/>
              <a:t>Detailed Methods Reporting</a:t>
            </a:r>
          </a:p>
        </p:txBody>
      </p:sp>
      <p:sp>
        <p:nvSpPr>
          <p:cNvPr id="3" name="Content Placeholder 2">
            <a:extLst>
              <a:ext uri="{FF2B5EF4-FFF2-40B4-BE49-F238E27FC236}">
                <a16:creationId xmlns:a16="http://schemas.microsoft.com/office/drawing/2014/main" id="{1D0410B8-75B2-FA51-D906-CB4368DA0F17}"/>
              </a:ext>
            </a:extLst>
          </p:cNvPr>
          <p:cNvSpPr>
            <a:spLocks noGrp="1"/>
          </p:cNvSpPr>
          <p:nvPr>
            <p:ph idx="1"/>
          </p:nvPr>
        </p:nvSpPr>
        <p:spPr/>
        <p:txBody>
          <a:bodyPr/>
          <a:lstStyle/>
          <a:p>
            <a:endParaRPr lang="en-US" dirty="0"/>
          </a:p>
        </p:txBody>
      </p:sp>
      <p:pic>
        <p:nvPicPr>
          <p:cNvPr id="11" name="Picture 10">
            <a:extLst>
              <a:ext uri="{FF2B5EF4-FFF2-40B4-BE49-F238E27FC236}">
                <a16:creationId xmlns:a16="http://schemas.microsoft.com/office/drawing/2014/main" id="{915BEE6C-A5E0-DEAC-0272-ECB1FD9FBDCA}"/>
              </a:ext>
            </a:extLst>
          </p:cNvPr>
          <p:cNvPicPr>
            <a:picLocks noChangeAspect="1"/>
          </p:cNvPicPr>
          <p:nvPr/>
        </p:nvPicPr>
        <p:blipFill>
          <a:blip r:embed="rId2"/>
          <a:stretch>
            <a:fillRect/>
          </a:stretch>
        </p:blipFill>
        <p:spPr>
          <a:xfrm>
            <a:off x="420329" y="1825625"/>
            <a:ext cx="3667125" cy="4181475"/>
          </a:xfrm>
          <a:prstGeom prst="rect">
            <a:avLst/>
          </a:prstGeom>
        </p:spPr>
      </p:pic>
      <p:pic>
        <p:nvPicPr>
          <p:cNvPr id="6" name="Picture 5">
            <a:extLst>
              <a:ext uri="{FF2B5EF4-FFF2-40B4-BE49-F238E27FC236}">
                <a16:creationId xmlns:a16="http://schemas.microsoft.com/office/drawing/2014/main" id="{8E8DC016-5A8F-41D1-75A9-F224ECFE3D4F}"/>
              </a:ext>
            </a:extLst>
          </p:cNvPr>
          <p:cNvPicPr>
            <a:picLocks noChangeAspect="1"/>
          </p:cNvPicPr>
          <p:nvPr/>
        </p:nvPicPr>
        <p:blipFill>
          <a:blip r:embed="rId3"/>
          <a:stretch>
            <a:fillRect/>
          </a:stretch>
        </p:blipFill>
        <p:spPr>
          <a:xfrm>
            <a:off x="4224337" y="1825625"/>
            <a:ext cx="3743325" cy="3362325"/>
          </a:xfrm>
          <a:prstGeom prst="rect">
            <a:avLst/>
          </a:prstGeom>
        </p:spPr>
      </p:pic>
      <p:pic>
        <p:nvPicPr>
          <p:cNvPr id="10" name="Picture 9">
            <a:extLst>
              <a:ext uri="{FF2B5EF4-FFF2-40B4-BE49-F238E27FC236}">
                <a16:creationId xmlns:a16="http://schemas.microsoft.com/office/drawing/2014/main" id="{374638E1-F1F6-A5BC-A5C8-A8FCA0C5E559}"/>
              </a:ext>
            </a:extLst>
          </p:cNvPr>
          <p:cNvPicPr>
            <a:picLocks noChangeAspect="1"/>
          </p:cNvPicPr>
          <p:nvPr/>
        </p:nvPicPr>
        <p:blipFill>
          <a:blip r:embed="rId4"/>
          <a:stretch>
            <a:fillRect/>
          </a:stretch>
        </p:blipFill>
        <p:spPr>
          <a:xfrm>
            <a:off x="7967662" y="1766887"/>
            <a:ext cx="3705225" cy="3324225"/>
          </a:xfrm>
          <a:prstGeom prst="rect">
            <a:avLst/>
          </a:prstGeom>
        </p:spPr>
      </p:pic>
    </p:spTree>
    <p:extLst>
      <p:ext uri="{BB962C8B-B14F-4D97-AF65-F5344CB8AC3E}">
        <p14:creationId xmlns:p14="http://schemas.microsoft.com/office/powerpoint/2010/main" val="2254194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CD341-90A5-D77F-4AD3-B4135A9B04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2C91BC-CEB9-A95C-97ED-AF3FBB7C6D1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AED31A5-EF8D-C756-FE77-011D77C14444}"/>
              </a:ext>
            </a:extLst>
          </p:cNvPr>
          <p:cNvPicPr>
            <a:picLocks noChangeAspect="1"/>
          </p:cNvPicPr>
          <p:nvPr/>
        </p:nvPicPr>
        <p:blipFill>
          <a:blip r:embed="rId2"/>
          <a:stretch>
            <a:fillRect/>
          </a:stretch>
        </p:blipFill>
        <p:spPr>
          <a:xfrm>
            <a:off x="702469" y="233362"/>
            <a:ext cx="3686175" cy="447675"/>
          </a:xfrm>
          <a:prstGeom prst="rect">
            <a:avLst/>
          </a:prstGeom>
        </p:spPr>
      </p:pic>
      <p:pic>
        <p:nvPicPr>
          <p:cNvPr id="7" name="Picture 6">
            <a:extLst>
              <a:ext uri="{FF2B5EF4-FFF2-40B4-BE49-F238E27FC236}">
                <a16:creationId xmlns:a16="http://schemas.microsoft.com/office/drawing/2014/main" id="{99776F2C-E38F-1882-AF9B-B2ACF11C31C7}"/>
              </a:ext>
            </a:extLst>
          </p:cNvPr>
          <p:cNvPicPr>
            <a:picLocks noChangeAspect="1"/>
          </p:cNvPicPr>
          <p:nvPr/>
        </p:nvPicPr>
        <p:blipFill>
          <a:blip r:embed="rId3"/>
          <a:stretch>
            <a:fillRect/>
          </a:stretch>
        </p:blipFill>
        <p:spPr>
          <a:xfrm>
            <a:off x="702469" y="681037"/>
            <a:ext cx="3686175" cy="6162675"/>
          </a:xfrm>
          <a:prstGeom prst="rect">
            <a:avLst/>
          </a:prstGeom>
        </p:spPr>
      </p:pic>
      <p:pic>
        <p:nvPicPr>
          <p:cNvPr id="9" name="Picture 8">
            <a:extLst>
              <a:ext uri="{FF2B5EF4-FFF2-40B4-BE49-F238E27FC236}">
                <a16:creationId xmlns:a16="http://schemas.microsoft.com/office/drawing/2014/main" id="{8EED6324-2205-0032-5A87-DF98B12A7250}"/>
              </a:ext>
            </a:extLst>
          </p:cNvPr>
          <p:cNvPicPr>
            <a:picLocks noChangeAspect="1"/>
          </p:cNvPicPr>
          <p:nvPr/>
        </p:nvPicPr>
        <p:blipFill>
          <a:blip r:embed="rId4"/>
          <a:stretch>
            <a:fillRect/>
          </a:stretch>
        </p:blipFill>
        <p:spPr>
          <a:xfrm>
            <a:off x="4502213" y="1319571"/>
            <a:ext cx="3724275" cy="3686175"/>
          </a:xfrm>
          <a:prstGeom prst="rect">
            <a:avLst/>
          </a:prstGeom>
        </p:spPr>
      </p:pic>
      <p:pic>
        <p:nvPicPr>
          <p:cNvPr id="11" name="Picture 10">
            <a:extLst>
              <a:ext uri="{FF2B5EF4-FFF2-40B4-BE49-F238E27FC236}">
                <a16:creationId xmlns:a16="http://schemas.microsoft.com/office/drawing/2014/main" id="{3730B966-9A43-12AD-3A1B-A5FBE4EE5BE3}"/>
              </a:ext>
            </a:extLst>
          </p:cNvPr>
          <p:cNvPicPr>
            <a:picLocks noChangeAspect="1"/>
          </p:cNvPicPr>
          <p:nvPr/>
        </p:nvPicPr>
        <p:blipFill>
          <a:blip r:embed="rId5"/>
          <a:stretch>
            <a:fillRect/>
          </a:stretch>
        </p:blipFill>
        <p:spPr>
          <a:xfrm>
            <a:off x="8226488" y="1319571"/>
            <a:ext cx="3648075" cy="3305175"/>
          </a:xfrm>
          <a:prstGeom prst="rect">
            <a:avLst/>
          </a:prstGeom>
        </p:spPr>
      </p:pic>
    </p:spTree>
    <p:extLst>
      <p:ext uri="{BB962C8B-B14F-4D97-AF65-F5344CB8AC3E}">
        <p14:creationId xmlns:p14="http://schemas.microsoft.com/office/powerpoint/2010/main" val="1339169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674CC-1601-152D-5E01-D49B4212D7FF}"/>
              </a:ext>
            </a:extLst>
          </p:cNvPr>
          <p:cNvSpPr>
            <a:spLocks noGrp="1"/>
          </p:cNvSpPr>
          <p:nvPr>
            <p:ph type="title"/>
          </p:nvPr>
        </p:nvSpPr>
        <p:spPr/>
        <p:txBody>
          <a:bodyPr/>
          <a:lstStyle/>
          <a:p>
            <a:r>
              <a:rPr lang="en-US" dirty="0"/>
              <a:t>Rigor</a:t>
            </a:r>
          </a:p>
        </p:txBody>
      </p:sp>
      <p:sp>
        <p:nvSpPr>
          <p:cNvPr id="3" name="Content Placeholder 2">
            <a:extLst>
              <a:ext uri="{FF2B5EF4-FFF2-40B4-BE49-F238E27FC236}">
                <a16:creationId xmlns:a16="http://schemas.microsoft.com/office/drawing/2014/main" id="{BD721E2A-7CFD-ECFD-674D-A037C0D0849D}"/>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BC634169-25A6-2E35-7055-83A6882986EA}"/>
              </a:ext>
            </a:extLst>
          </p:cNvPr>
          <p:cNvPicPr>
            <a:picLocks noChangeAspect="1"/>
          </p:cNvPicPr>
          <p:nvPr/>
        </p:nvPicPr>
        <p:blipFill>
          <a:blip r:embed="rId2"/>
          <a:stretch>
            <a:fillRect/>
          </a:stretch>
        </p:blipFill>
        <p:spPr>
          <a:xfrm>
            <a:off x="832823" y="1690687"/>
            <a:ext cx="3629025" cy="4124325"/>
          </a:xfrm>
          <a:prstGeom prst="rect">
            <a:avLst/>
          </a:prstGeom>
        </p:spPr>
      </p:pic>
      <p:pic>
        <p:nvPicPr>
          <p:cNvPr id="7" name="Picture 6">
            <a:extLst>
              <a:ext uri="{FF2B5EF4-FFF2-40B4-BE49-F238E27FC236}">
                <a16:creationId xmlns:a16="http://schemas.microsoft.com/office/drawing/2014/main" id="{B7FE53FD-54D5-43C7-FB34-EBF44AFED90D}"/>
              </a:ext>
            </a:extLst>
          </p:cNvPr>
          <p:cNvPicPr>
            <a:picLocks noChangeAspect="1"/>
          </p:cNvPicPr>
          <p:nvPr/>
        </p:nvPicPr>
        <p:blipFill>
          <a:blip r:embed="rId3"/>
          <a:stretch>
            <a:fillRect/>
          </a:stretch>
        </p:blipFill>
        <p:spPr>
          <a:xfrm>
            <a:off x="6074261" y="1432744"/>
            <a:ext cx="3667125" cy="1381125"/>
          </a:xfrm>
          <a:prstGeom prst="rect">
            <a:avLst/>
          </a:prstGeom>
        </p:spPr>
      </p:pic>
      <p:pic>
        <p:nvPicPr>
          <p:cNvPr id="9" name="Picture 8">
            <a:extLst>
              <a:ext uri="{FF2B5EF4-FFF2-40B4-BE49-F238E27FC236}">
                <a16:creationId xmlns:a16="http://schemas.microsoft.com/office/drawing/2014/main" id="{565A04E1-649F-2D62-A4D9-DB63C37C3BA9}"/>
              </a:ext>
            </a:extLst>
          </p:cNvPr>
          <p:cNvPicPr>
            <a:picLocks noChangeAspect="1"/>
          </p:cNvPicPr>
          <p:nvPr/>
        </p:nvPicPr>
        <p:blipFill>
          <a:blip r:embed="rId4"/>
          <a:stretch>
            <a:fillRect/>
          </a:stretch>
        </p:blipFill>
        <p:spPr>
          <a:xfrm>
            <a:off x="6093311" y="2829693"/>
            <a:ext cx="3648075" cy="3724275"/>
          </a:xfrm>
          <a:prstGeom prst="rect">
            <a:avLst/>
          </a:prstGeom>
        </p:spPr>
      </p:pic>
    </p:spTree>
    <p:extLst>
      <p:ext uri="{BB962C8B-B14F-4D97-AF65-F5344CB8AC3E}">
        <p14:creationId xmlns:p14="http://schemas.microsoft.com/office/powerpoint/2010/main" val="3813224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80D14-029F-5C44-0928-7CD07C7119D8}"/>
              </a:ext>
            </a:extLst>
          </p:cNvPr>
          <p:cNvSpPr>
            <a:spLocks noGrp="1"/>
          </p:cNvSpPr>
          <p:nvPr>
            <p:ph type="title"/>
          </p:nvPr>
        </p:nvSpPr>
        <p:spPr/>
        <p:txBody>
          <a:bodyPr/>
          <a:lstStyle/>
          <a:p>
            <a:r>
              <a:rPr lang="en-US" dirty="0"/>
              <a:t>For Monday 10/20</a:t>
            </a:r>
          </a:p>
        </p:txBody>
      </p:sp>
      <p:sp>
        <p:nvSpPr>
          <p:cNvPr id="3" name="Content Placeholder 2">
            <a:extLst>
              <a:ext uri="{FF2B5EF4-FFF2-40B4-BE49-F238E27FC236}">
                <a16:creationId xmlns:a16="http://schemas.microsoft.com/office/drawing/2014/main" id="{2A9E3D9D-934D-81F1-58CA-2EFE0A4FA939}"/>
              </a:ext>
            </a:extLst>
          </p:cNvPr>
          <p:cNvSpPr>
            <a:spLocks noGrp="1"/>
          </p:cNvSpPr>
          <p:nvPr>
            <p:ph idx="1"/>
          </p:nvPr>
        </p:nvSpPr>
        <p:spPr/>
        <p:txBody>
          <a:bodyPr/>
          <a:lstStyle/>
          <a:p>
            <a:r>
              <a:rPr lang="en-US" dirty="0"/>
              <a:t>Practice 2x2 ANOVA with R: Operations Manual p. 37</a:t>
            </a:r>
          </a:p>
          <a:p>
            <a:pPr lvl="1"/>
            <a:r>
              <a:rPr lang="en-US" dirty="0"/>
              <a:t>R script for analysis</a:t>
            </a:r>
          </a:p>
          <a:p>
            <a:pPr lvl="1"/>
            <a:r>
              <a:rPr lang="en-US" dirty="0"/>
              <a:t>Practice (simulated) data analysis</a:t>
            </a:r>
          </a:p>
          <a:p>
            <a:pPr lvl="1"/>
            <a:r>
              <a:rPr lang="en-US" dirty="0"/>
              <a:t>Copy/paste your analysis output text into the assignment</a:t>
            </a:r>
          </a:p>
          <a:p>
            <a:r>
              <a:rPr lang="en-US" dirty="0"/>
              <a:t>Chapter 11</a:t>
            </a:r>
          </a:p>
          <a:p>
            <a:pPr lvl="1"/>
            <a:r>
              <a:rPr lang="en-US" dirty="0"/>
              <a:t>ANOVA examples to be reviewed in class</a:t>
            </a:r>
          </a:p>
          <a:p>
            <a:endParaRPr lang="en-US" dirty="0"/>
          </a:p>
          <a:p>
            <a:r>
              <a:rPr lang="en-US" dirty="0"/>
              <a:t>Recruit participants for Experiment 2 </a:t>
            </a:r>
            <a:r>
              <a:rPr lang="en-US"/>
              <a:t>data collection</a:t>
            </a:r>
            <a:endParaRPr lang="en-US" dirty="0"/>
          </a:p>
          <a:p>
            <a:endParaRPr lang="en-US" dirty="0"/>
          </a:p>
        </p:txBody>
      </p:sp>
    </p:spTree>
    <p:extLst>
      <p:ext uri="{BB962C8B-B14F-4D97-AF65-F5344CB8AC3E}">
        <p14:creationId xmlns:p14="http://schemas.microsoft.com/office/powerpoint/2010/main" val="3838370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21425</TotalTime>
  <Words>703</Words>
  <Application>Microsoft Office PowerPoint</Application>
  <PresentationFormat>Widescreen</PresentationFormat>
  <Paragraphs>77</Paragraphs>
  <Slides>22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Calibri Light</vt:lpstr>
      <vt:lpstr>Lato Extended</vt:lpstr>
      <vt:lpstr>Office Theme</vt:lpstr>
      <vt:lpstr>301 Oct 17, Class 14</vt:lpstr>
      <vt:lpstr>Levav &amp; Argo (2010)</vt:lpstr>
      <vt:lpstr>Assignment Question 1</vt:lpstr>
      <vt:lpstr>Design, Experiment 1</vt:lpstr>
      <vt:lpstr>Assignment Questions 2-5</vt:lpstr>
      <vt:lpstr>PowerPoint Presentation</vt:lpstr>
      <vt:lpstr>Experiment 2</vt:lpstr>
      <vt:lpstr>Experiment 3</vt:lpstr>
      <vt:lpstr>PowerPoint Presentation</vt:lpstr>
      <vt:lpstr>PowerPoint Presentation</vt:lpstr>
      <vt:lpstr>PowerPoint Presentation</vt:lpstr>
      <vt:lpstr>LOP with visual objects</vt:lpstr>
      <vt:lpstr>Recognition Memory</vt:lpstr>
      <vt:lpstr>Lure conditions</vt:lpstr>
      <vt:lpstr>Experiment 1 Result</vt:lpstr>
      <vt:lpstr>PowerPoint Presentation</vt:lpstr>
      <vt:lpstr>PowerPoint Presentation</vt:lpstr>
      <vt:lpstr>PowerPoint Presentation</vt:lpstr>
      <vt:lpstr>Detailed Methods Reporting</vt:lpstr>
      <vt:lpstr>PowerPoint Presentation</vt:lpstr>
      <vt:lpstr>Rigor</vt:lpstr>
      <vt:lpstr>For Monday 10/20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26, Class 16</dc:title>
  <dc:creator>Paul Reber</dc:creator>
  <cp:lastModifiedBy>Paul Reber</cp:lastModifiedBy>
  <cp:revision>31</cp:revision>
  <cp:lastPrinted>2025-10-17T13:36:50Z</cp:lastPrinted>
  <dcterms:created xsi:type="dcterms:W3CDTF">2022-10-24T16:48:11Z</dcterms:created>
  <dcterms:modified xsi:type="dcterms:W3CDTF">2025-10-17T14:37:33Z</dcterms:modified>
</cp:coreProperties>
</file>