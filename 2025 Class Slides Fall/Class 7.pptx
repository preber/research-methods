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79" r:id="rId2"/>
    <p:sldId id="390" r:id="rId3"/>
    <p:sldId id="382" r:id="rId4"/>
    <p:sldId id="380" r:id="rId5"/>
    <p:sldId id="381" r:id="rId6"/>
    <p:sldId id="383" r:id="rId7"/>
    <p:sldId id="384" r:id="rId8"/>
    <p:sldId id="385" r:id="rId9"/>
    <p:sldId id="386" r:id="rId10"/>
    <p:sldId id="387" r:id="rId11"/>
    <p:sldId id="391" r:id="rId12"/>
    <p:sldId id="388" r:id="rId13"/>
    <p:sldId id="389" r:id="rId14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FA1B9F50-FE6C-4F6B-8908-CB1C4B189899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723FB862-2C19-4D90-A20F-41A591A9F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51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4404-455B-3AFB-F7E7-4077A71DE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9FA67-360C-CFE6-7A85-C9F6880EF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4868-E205-21F6-6D31-EBD8705E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A91E1-B147-E3C1-2020-CD23CC32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11878-A750-930C-230F-D6AFAD26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2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A168-D3AC-B5C9-7BEA-98DCEF03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2CAF7-8907-28D1-86AE-6D1CB5FDA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C2DF4-3F95-2EFB-06B6-24CF94F9E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9B7D9-270B-FEF1-563A-362CAA85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B5D2E-AD32-C129-18DA-8D44C85F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BD32E-248E-9135-D590-45D39685D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FCC9D-68F2-7435-1B53-A88DC6B40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BCB92-D498-A989-7574-26F07FD5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CAAB1-738E-F38D-7BB9-0F3C8669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388C3-1F18-62BD-AA78-E415833D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79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75819-069E-986F-7311-6C7E27EF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6CC1D-9D9C-E988-54C2-A35570DC9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08F3C-3C72-2F55-D7C4-25B890982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D9533-7402-5875-1E3E-C1EE10E1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0ABAB-6FEF-C17A-6529-4453ADC4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A6F33-157B-89D6-5FFC-BE8C6DDA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1FC4-552A-B422-8F53-A81C4159C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4343C-0467-12FE-A8EA-B3C74B643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E432F-0C1D-A892-6450-843DEC912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06365-8AB8-8F5D-40B0-F51B6BDB7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BD99E-F07E-F4CD-5AC1-276573B1C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97E1E-0B37-92BA-EF67-A13E2EB70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9D03C-6678-9A13-1031-1C3380A3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66691-D63B-4F3E-536D-89D42492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6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C1D4-B3A0-473D-A3C2-BE33F103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F57102-3CBB-CD93-52CB-EBDE818E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DEC80-62AE-7ABA-0394-945873F5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7A71E-45DF-7A0E-57C7-A99612D6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9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662AEA-600F-9C6C-CA3E-C454E1D3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838F0-80E5-5F62-5BA7-6F3223FC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28A32-11E1-45AE-0DCB-2A9BC779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9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97B5-D9CE-4542-08D1-0D169DF8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52541-542D-EE04-C37C-0E6A14E6E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289D6-9FC6-2B4B-F096-7853FA658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7BFD3-0359-36DA-EF78-FB4B1369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64BF3-CECD-8BB1-F583-96A8EDD9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68674-B153-D246-2410-5A75F08B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9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4BCC-13C8-4EFC-CBB2-0BE0B015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E56876-9844-EEEB-0B1A-9EB471F57C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E2C08-54A6-C267-0E7C-34597F6E5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D2A38-A060-0027-8333-EBA71DA5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1EF18-0C7C-4D9B-248D-57AFD6BD6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CCD6E-9ADE-E8F9-0D6D-36B59742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6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6A87-9BF7-5872-3B03-1710DAB9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7E780-714A-D2E6-B32D-F7A968861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05D1-5486-9758-9F9E-3A3B87B2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299AC-D46D-ADD4-2517-6603EF32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EA093-B404-2BD3-40D7-E0D1BEDF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5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23276-7D47-2530-B135-55446E0E7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5456C-4942-AE15-3D25-7069ABB5B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223E3-812C-6A96-7FB8-BE59226C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A666-0475-C809-92DF-11734C9A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49530-BCC4-22C9-8466-5C7467F2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11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A1CCB2-B9C2-717B-DC2D-F173D8E8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4DD10-EDE4-99B3-7318-BE68A521A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F57CF-F2AF-E169-44D5-9E55C0C63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94D68-23BD-48D2-BC5F-602C755F07C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EBFA2-66FC-6349-7E87-6A24A6B6F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ACB62-7C27-4ED3-400A-38F2043BB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A354-952A-4A1E-AE07-A33C589E3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6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6B6290-B1AF-3166-9E4E-E8C9ACAA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301 Oct 1, Class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73A8F4-4F60-6EB6-F421-72A8C17F8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6, Statistics</a:t>
            </a:r>
          </a:p>
          <a:p>
            <a:pPr lvl="1"/>
            <a:r>
              <a:rPr lang="en-US" dirty="0"/>
              <a:t>Descriptive statistics</a:t>
            </a:r>
          </a:p>
          <a:p>
            <a:pPr lvl="1"/>
            <a:r>
              <a:rPr lang="en-US" dirty="0"/>
              <a:t>Inferential statistics</a:t>
            </a:r>
          </a:p>
          <a:p>
            <a:pPr lvl="1"/>
            <a:r>
              <a:rPr lang="en-US" dirty="0"/>
              <a:t>Data visualization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88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F156-B11B-01CA-F23E-7BB0463A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theory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33FAD-A258-A608-851D-39C1A644E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work with samples of data</a:t>
            </a:r>
          </a:p>
          <a:p>
            <a:pPr lvl="1"/>
            <a:r>
              <a:rPr lang="en-US" dirty="0"/>
              <a:t>From the broader population</a:t>
            </a:r>
          </a:p>
          <a:p>
            <a:r>
              <a:rPr lang="en-US" dirty="0"/>
              <a:t>Descriptive statistics: mean (average), variance</a:t>
            </a:r>
          </a:p>
          <a:p>
            <a:pPr lvl="1"/>
            <a:r>
              <a:rPr lang="en-US" dirty="0"/>
              <a:t>SD, SE</a:t>
            </a:r>
          </a:p>
          <a:p>
            <a:r>
              <a:rPr lang="en-US" dirty="0"/>
              <a:t>Effect: Difference in the DV due to the IV</a:t>
            </a:r>
          </a:p>
          <a:p>
            <a:r>
              <a:rPr lang="en-US" dirty="0"/>
              <a:t>Null hypothesis: the observed difference occurred simply due to random variance in performance</a:t>
            </a:r>
          </a:p>
          <a:p>
            <a:pPr lvl="1"/>
            <a:r>
              <a:rPr lang="en-US" dirty="0"/>
              <a:t>The p-value is this probability</a:t>
            </a:r>
          </a:p>
          <a:p>
            <a:pPr lvl="1"/>
            <a:r>
              <a:rPr lang="en-US" dirty="0"/>
              <a:t>&lt;.05 means it is improbable, we can “reject the null”</a:t>
            </a:r>
          </a:p>
        </p:txBody>
      </p:sp>
    </p:spTree>
    <p:extLst>
      <p:ext uri="{BB962C8B-B14F-4D97-AF65-F5344CB8AC3E}">
        <p14:creationId xmlns:p14="http://schemas.microsoft.com/office/powerpoint/2010/main" val="537826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9102C970-8158-0EF0-659D-D535FF75D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487" y="2804795"/>
            <a:ext cx="5163312" cy="368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7CFEFE-1A26-86AF-73E6-60FCFFCB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Theory: t-test</a:t>
            </a:r>
          </a:p>
        </p:txBody>
      </p:sp>
      <p:pic>
        <p:nvPicPr>
          <p:cNvPr id="1026" name="Picture 2" descr="An independent samples t-test  is a statistical test comparing a bell shaped, normal distribution mean on the left, with a bell shaped, normal distribution and mean on the right.">
            <a:extLst>
              <a:ext uri="{FF2B5EF4-FFF2-40B4-BE49-F238E27FC236}">
                <a16:creationId xmlns:a16="http://schemas.microsoft.com/office/drawing/2014/main" id="{B77D2521-94A4-67E9-C933-BFE060634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826419"/>
            <a:ext cx="5468492" cy="265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6AC335-739F-385E-A161-BDD8A8E9499A}"/>
              </a:ext>
            </a:extLst>
          </p:cNvPr>
          <p:cNvSpPr txBox="1"/>
          <p:nvPr/>
        </p:nvSpPr>
        <p:spPr>
          <a:xfrm>
            <a:off x="7101444" y="1946275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t = mean difference / variance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1352A-B135-4ED7-42C1-2E7D726CC199}"/>
              </a:ext>
            </a:extLst>
          </p:cNvPr>
          <p:cNvSpPr txBox="1"/>
          <p:nvPr/>
        </p:nvSpPr>
        <p:spPr>
          <a:xfrm>
            <a:off x="1763490" y="4648835"/>
            <a:ext cx="3617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distributions for two conditions</a:t>
            </a:r>
          </a:p>
        </p:txBody>
      </p:sp>
    </p:spTree>
    <p:extLst>
      <p:ext uri="{BB962C8B-B14F-4D97-AF65-F5344CB8AC3E}">
        <p14:creationId xmlns:p14="http://schemas.microsoft.com/office/powerpoint/2010/main" val="54404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455B1-C5EB-CCAE-FB70-1D474B67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75FC0-E60F-CE1C-D025-4820230D8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psychologist wants to compare the average test anxiety scores of students who receive mindfulness training and those who do not. Which t-test should be used and why?</a:t>
            </a:r>
          </a:p>
          <a:p>
            <a:r>
              <a:rPr lang="en-US" dirty="0"/>
              <a:t>Participants rate their mood before and after a 10-minute guided meditation. What kind of t-test is appropriate here, and what would a significant result indicate? </a:t>
            </a:r>
          </a:p>
          <a:p>
            <a:r>
              <a:rPr lang="en-US" dirty="0"/>
              <a:t>A researcher conducts an independent samples t-test and obtains t(28) = 2.45, p = .021. How should the researcher interpret this result in terms of group differences?</a:t>
            </a:r>
          </a:p>
          <a:p>
            <a:r>
              <a:rPr lang="en-US" dirty="0"/>
              <a:t>Imagine a researcher compares two groups but finds a non-significant t-test result. What are some reasons this might occur even if a real effect exists? What could they do in future studies to address this?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27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AD52-338E-9931-F4EF-FBE3A64B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 for Exp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27AF-FC4F-EAA9-14B5-EF74887CE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Working with spreadsheets</a:t>
            </a:r>
          </a:p>
          <a:p>
            <a:pPr lvl="1"/>
            <a:r>
              <a:rPr lang="en-US" dirty="0"/>
              <a:t>Selecting cells, selecting ranges, entering formulas</a:t>
            </a:r>
          </a:p>
          <a:p>
            <a:r>
              <a:rPr lang="en-US" dirty="0"/>
              <a:t>Mean</a:t>
            </a:r>
          </a:p>
          <a:p>
            <a:pPr lvl="1"/>
            <a:r>
              <a:rPr lang="en-US" dirty="0"/>
              <a:t>=average()</a:t>
            </a:r>
          </a:p>
          <a:p>
            <a:r>
              <a:rPr lang="en-US" dirty="0"/>
              <a:t>Standard deviation</a:t>
            </a:r>
          </a:p>
          <a:p>
            <a:pPr lvl="1"/>
            <a:r>
              <a:rPr lang="en-US" dirty="0"/>
              <a:t>=</a:t>
            </a:r>
            <a:r>
              <a:rPr lang="en-US" dirty="0" err="1"/>
              <a:t>stdev.s</a:t>
            </a:r>
            <a:r>
              <a:rPr lang="en-US" dirty="0"/>
              <a:t>()</a:t>
            </a:r>
          </a:p>
          <a:p>
            <a:r>
              <a:rPr lang="en-US" dirty="0"/>
              <a:t>Standard error</a:t>
            </a:r>
          </a:p>
          <a:p>
            <a:pPr lvl="1"/>
            <a:r>
              <a:rPr lang="en-US" dirty="0"/>
              <a:t>SD/sqrt(n)</a:t>
            </a:r>
          </a:p>
          <a:p>
            <a:pPr lvl="1"/>
            <a:r>
              <a:rPr lang="en-US" dirty="0"/>
              <a:t>Counting n</a:t>
            </a:r>
          </a:p>
          <a:p>
            <a:pPr lvl="1"/>
            <a:r>
              <a:rPr lang="en-US" dirty="0"/>
              <a:t>Building a formula</a:t>
            </a:r>
          </a:p>
        </p:txBody>
      </p:sp>
    </p:spTree>
    <p:extLst>
      <p:ext uri="{BB962C8B-B14F-4D97-AF65-F5344CB8AC3E}">
        <p14:creationId xmlns:p14="http://schemas.microsoft.com/office/powerpoint/2010/main" val="3559637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1B35-E616-1902-15FE-E2986EDD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Inferential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98043-D686-635E-353C-5DD757838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a t-test on data</a:t>
            </a:r>
          </a:p>
          <a:p>
            <a:pPr lvl="1"/>
            <a:r>
              <a:rPr lang="en-US" dirty="0"/>
              <a:t>Two independent samples t-test</a:t>
            </a:r>
          </a:p>
          <a:p>
            <a:pPr lvl="1"/>
            <a:r>
              <a:rPr lang="en-US" dirty="0"/>
              <a:t>Assuming equal variances</a:t>
            </a:r>
          </a:p>
          <a:p>
            <a:pPr lvl="1"/>
            <a:r>
              <a:rPr lang="en-US" dirty="0"/>
              <a:t>Applying a 2-tailed criterion</a:t>
            </a:r>
          </a:p>
          <a:p>
            <a:pPr lvl="2"/>
            <a:r>
              <a:rPr lang="en-US" dirty="0"/>
              <a:t>Alpha = .05</a:t>
            </a:r>
          </a:p>
          <a:p>
            <a:pPr lvl="2"/>
            <a:endParaRPr lang="en-US" dirty="0"/>
          </a:p>
          <a:p>
            <a:r>
              <a:rPr lang="en-US" dirty="0"/>
              <a:t>Software</a:t>
            </a:r>
          </a:p>
          <a:p>
            <a:pPr lvl="1"/>
            <a:r>
              <a:rPr lang="en-US" dirty="0"/>
              <a:t>R &amp; RStudio – free, highly accurate</a:t>
            </a:r>
          </a:p>
          <a:p>
            <a:pPr lvl="1"/>
            <a:r>
              <a:rPr lang="en-US" dirty="0"/>
              <a:t>SPSS – expensive, highly accurate</a:t>
            </a:r>
          </a:p>
          <a:p>
            <a:pPr lvl="1"/>
            <a:r>
              <a:rPr lang="en-US" dirty="0"/>
              <a:t>MS Excel – available, slightly inaccurate</a:t>
            </a:r>
          </a:p>
        </p:txBody>
      </p:sp>
    </p:spTree>
    <p:extLst>
      <p:ext uri="{BB962C8B-B14F-4D97-AF65-F5344CB8AC3E}">
        <p14:creationId xmlns:p14="http://schemas.microsoft.com/office/powerpoint/2010/main" val="867726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C5FE-547C-68FE-9E4E-DA762387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0C6D-B729-B674-FFDF-47266A4FA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Installing R</a:t>
            </a:r>
          </a:p>
          <a:p>
            <a:pPr lvl="1"/>
            <a:r>
              <a:rPr lang="en-US" dirty="0"/>
              <a:t>Installing RStudio</a:t>
            </a:r>
          </a:p>
          <a:p>
            <a:pPr lvl="1"/>
            <a:r>
              <a:rPr lang="en-US" dirty="0"/>
              <a:t>Programming environment</a:t>
            </a:r>
          </a:p>
          <a:p>
            <a:r>
              <a:rPr lang="en-US" dirty="0"/>
              <a:t>Running commands</a:t>
            </a:r>
          </a:p>
          <a:p>
            <a:r>
              <a:rPr lang="en-US" dirty="0"/>
              <a:t>Multiple panes of information</a:t>
            </a:r>
          </a:p>
          <a:p>
            <a:r>
              <a:rPr lang="en-US" dirty="0"/>
              <a:t>Using the correctly formatted version of the data</a:t>
            </a:r>
          </a:p>
          <a:p>
            <a:pPr lvl="1"/>
            <a:r>
              <a:rPr lang="en-US" dirty="0"/>
              <a:t>The ‘.csv’ file is set up slightly differently</a:t>
            </a:r>
          </a:p>
          <a:p>
            <a:r>
              <a:rPr lang="en-US" dirty="0"/>
              <a:t>Following the given recipe</a:t>
            </a:r>
          </a:p>
          <a:p>
            <a:pPr lvl="1"/>
            <a:r>
              <a:rPr lang="en-US" dirty="0"/>
              <a:t>Once everything is configured, just Run-&gt;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348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1F8C-AB59-145D-C32C-7F22B94B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statistical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8E0A2-966C-3520-B02D-7DFAF39F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statistical programs produce a lot of information</a:t>
            </a:r>
          </a:p>
          <a:p>
            <a:pPr lvl="1"/>
            <a:endParaRPr lang="en-US" dirty="0"/>
          </a:p>
          <a:p>
            <a:r>
              <a:rPr lang="en-US" dirty="0"/>
              <a:t>Communicating the results</a:t>
            </a:r>
          </a:p>
          <a:p>
            <a:pPr lvl="1"/>
            <a:r>
              <a:rPr lang="en-US" dirty="0"/>
              <a:t>Parsing the output</a:t>
            </a:r>
          </a:p>
          <a:p>
            <a:pPr lvl="1"/>
            <a:r>
              <a:rPr lang="en-US" dirty="0"/>
              <a:t>Selecting the correct values</a:t>
            </a:r>
          </a:p>
          <a:p>
            <a:pPr lvl="1"/>
            <a:r>
              <a:rPr lang="en-US" dirty="0"/>
              <a:t>Reporting in APA format</a:t>
            </a:r>
          </a:p>
          <a:p>
            <a:pPr lvl="1"/>
            <a:endParaRPr lang="en-US" dirty="0"/>
          </a:p>
          <a:p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 = X.XX, </a:t>
            </a:r>
            <a:r>
              <a:rPr lang="en-US" i="1" dirty="0"/>
              <a:t>p</a:t>
            </a:r>
            <a:r>
              <a:rPr lang="en-US" dirty="0"/>
              <a:t> &lt; .YYY</a:t>
            </a:r>
          </a:p>
          <a:p>
            <a:pPr lvl="1"/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 = X.XX, </a:t>
            </a:r>
            <a:r>
              <a:rPr lang="en-US" i="1" dirty="0"/>
              <a:t>p</a:t>
            </a:r>
            <a:r>
              <a:rPr lang="en-US" dirty="0"/>
              <a:t> = .</a:t>
            </a:r>
            <a:r>
              <a:rPr lang="en-US" dirty="0" err="1"/>
              <a:t>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77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E14B-5BB3-8AFF-B842-E10F5279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your results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209DA-9725-6353-37ED-D7514C873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Includes both descriptive and inferential statistics</a:t>
            </a:r>
          </a:p>
          <a:p>
            <a:r>
              <a:rPr lang="en-US" dirty="0"/>
              <a:t>Give the performance of both groups</a:t>
            </a:r>
          </a:p>
          <a:p>
            <a:r>
              <a:rPr lang="en-US" dirty="0"/>
              <a:t>State the direction of the effect</a:t>
            </a:r>
          </a:p>
          <a:p>
            <a:r>
              <a:rPr lang="en-US" dirty="0"/>
              <a:t>Support with inferential statistics</a:t>
            </a:r>
          </a:p>
          <a:p>
            <a:endParaRPr lang="en-US" dirty="0"/>
          </a:p>
          <a:p>
            <a:r>
              <a:rPr lang="en-US" dirty="0"/>
              <a:t>Very compact, but high-risk</a:t>
            </a:r>
          </a:p>
          <a:p>
            <a:pPr lvl="1"/>
            <a:r>
              <a:rPr lang="en-US" dirty="0"/>
              <a:t>Triple check your numbers</a:t>
            </a:r>
          </a:p>
        </p:txBody>
      </p:sp>
    </p:spTree>
    <p:extLst>
      <p:ext uri="{BB962C8B-B14F-4D97-AF65-F5344CB8AC3E}">
        <p14:creationId xmlns:p14="http://schemas.microsoft.com/office/powerpoint/2010/main" val="621886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48A5-14B0-3A4B-6407-06CA9F54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the reporting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AA42D-E153-5BD1-407A-A38BD347E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cs typeface="Times New Roman" pitchFamily="18" charset="0"/>
              </a:rPr>
              <a:t>“On the recognition test, the </a:t>
            </a:r>
            <a:r>
              <a:rPr lang="en-US" i="1" dirty="0">
                <a:cs typeface="Times New Roman" pitchFamily="18" charset="0"/>
              </a:rPr>
              <a:t>Condition-A</a:t>
            </a:r>
            <a:r>
              <a:rPr lang="en-US" dirty="0">
                <a:cs typeface="Times New Roman" pitchFamily="18" charset="0"/>
              </a:rPr>
              <a:t> participants </a:t>
            </a:r>
            <a:r>
              <a:rPr lang="en-US" i="1" dirty="0">
                <a:cs typeface="Times New Roman" pitchFamily="18" charset="0"/>
              </a:rPr>
              <a:t>exhibited performance</a:t>
            </a:r>
            <a:r>
              <a:rPr lang="en-US" dirty="0">
                <a:cs typeface="Times New Roman" pitchFamily="18" charset="0"/>
              </a:rPr>
              <a:t> of XXX </a:t>
            </a:r>
            <a:r>
              <a:rPr lang="en-US" i="1" dirty="0">
                <a:cs typeface="Times New Roman" pitchFamily="18" charset="0"/>
              </a:rPr>
              <a:t>[units]</a:t>
            </a:r>
            <a:r>
              <a:rPr lang="en-US" dirty="0">
                <a:cs typeface="Times New Roman" pitchFamily="18" charset="0"/>
              </a:rPr>
              <a:t> (SD XX; SE XX) while the </a:t>
            </a:r>
            <a:r>
              <a:rPr lang="en-US" i="1" dirty="0">
                <a:cs typeface="Times New Roman" pitchFamily="18" charset="0"/>
              </a:rPr>
              <a:t>Condition-B</a:t>
            </a:r>
            <a:r>
              <a:rPr lang="en-US" dirty="0">
                <a:cs typeface="Times New Roman" pitchFamily="18" charset="0"/>
              </a:rPr>
              <a:t> participants </a:t>
            </a:r>
            <a:r>
              <a:rPr lang="en-US" i="1" dirty="0">
                <a:cs typeface="Times New Roman" pitchFamily="18" charset="0"/>
              </a:rPr>
              <a:t>exhibited performance</a:t>
            </a:r>
            <a:r>
              <a:rPr lang="en-US" dirty="0">
                <a:cs typeface="Times New Roman" pitchFamily="18" charset="0"/>
              </a:rPr>
              <a:t> of XXX </a:t>
            </a:r>
            <a:r>
              <a:rPr lang="en-US" i="1" dirty="0">
                <a:cs typeface="Times New Roman" pitchFamily="18" charset="0"/>
              </a:rPr>
              <a:t>[units]</a:t>
            </a:r>
            <a:r>
              <a:rPr lang="en-US" dirty="0">
                <a:cs typeface="Times New Roman" pitchFamily="18" charset="0"/>
              </a:rPr>
              <a:t> (SD XX; SE XX).  The </a:t>
            </a:r>
            <a:r>
              <a:rPr lang="en-US" i="1" dirty="0">
                <a:cs typeface="Times New Roman" pitchFamily="18" charset="0"/>
              </a:rPr>
              <a:t>Condition-A </a:t>
            </a:r>
            <a:r>
              <a:rPr lang="en-US" dirty="0">
                <a:cs typeface="Times New Roman" pitchFamily="18" charset="0"/>
              </a:rPr>
              <a:t>group performed significantly better than the </a:t>
            </a:r>
            <a:r>
              <a:rPr lang="en-US" i="1" dirty="0">
                <a:cs typeface="Times New Roman" pitchFamily="18" charset="0"/>
              </a:rPr>
              <a:t>Condition-B</a:t>
            </a:r>
            <a:r>
              <a:rPr lang="en-US" dirty="0">
                <a:cs typeface="Times New Roman" pitchFamily="18" charset="0"/>
              </a:rPr>
              <a:t> group, t(xx)=ZZZ, p&lt;YYY.” </a:t>
            </a:r>
            <a:endParaRPr lang="en-US" dirty="0"/>
          </a:p>
          <a:p>
            <a:endParaRPr lang="en-US" dirty="0"/>
          </a:p>
          <a:p>
            <a:r>
              <a:rPr lang="en-US" dirty="0"/>
              <a:t>Replace</a:t>
            </a:r>
          </a:p>
          <a:p>
            <a:pPr lvl="1"/>
            <a:r>
              <a:rPr lang="en-US" dirty="0"/>
              <a:t>Condition-A, Condition-B</a:t>
            </a:r>
          </a:p>
          <a:p>
            <a:pPr lvl="1"/>
            <a:r>
              <a:rPr lang="en-US" dirty="0"/>
              <a:t>Optionally: ‘exhibited performance’</a:t>
            </a:r>
          </a:p>
          <a:p>
            <a:pPr lvl="1"/>
            <a:r>
              <a:rPr lang="en-US" dirty="0"/>
              <a:t>Include ‘units’</a:t>
            </a:r>
          </a:p>
          <a:p>
            <a:pPr lvl="1"/>
            <a:r>
              <a:rPr lang="en-US" dirty="0"/>
              <a:t>Add all the numbers, descriptive and inferential</a:t>
            </a:r>
          </a:p>
        </p:txBody>
      </p:sp>
    </p:spTree>
    <p:extLst>
      <p:ext uri="{BB962C8B-B14F-4D97-AF65-F5344CB8AC3E}">
        <p14:creationId xmlns:p14="http://schemas.microsoft.com/office/powerpoint/2010/main" val="62295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5558-0303-4585-68D7-07D008169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298D-2189-68AA-EA94-92CCBA9D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the reporting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B2A3-4338-3D87-AD01-0FE4D151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cs typeface="Times New Roman" pitchFamily="18" charset="0"/>
              </a:rPr>
              <a:t>“On the recognition test, the </a:t>
            </a:r>
            <a:r>
              <a:rPr lang="en-US" i="1" dirty="0">
                <a:cs typeface="Times New Roman" pitchFamily="18" charset="0"/>
              </a:rPr>
              <a:t>Deep encoding group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i="1" dirty="0">
                <a:cs typeface="Times New Roman" pitchFamily="18" charset="0"/>
              </a:rPr>
              <a:t>scored</a:t>
            </a:r>
            <a:r>
              <a:rPr lang="en-US" dirty="0">
                <a:cs typeface="Times New Roman" pitchFamily="18" charset="0"/>
              </a:rPr>
              <a:t> an average of 90.9% </a:t>
            </a:r>
            <a:r>
              <a:rPr lang="en-US" i="1" dirty="0">
                <a:cs typeface="Times New Roman" pitchFamily="18" charset="0"/>
              </a:rPr>
              <a:t>correct</a:t>
            </a:r>
            <a:r>
              <a:rPr lang="en-US" dirty="0">
                <a:cs typeface="Times New Roman" pitchFamily="18" charset="0"/>
              </a:rPr>
              <a:t> (SD 9.1; SE 2.5) while the </a:t>
            </a:r>
            <a:r>
              <a:rPr lang="en-US" i="1" dirty="0">
                <a:cs typeface="Times New Roman" pitchFamily="18" charset="0"/>
              </a:rPr>
              <a:t>Shallow encoding group scored an average of </a:t>
            </a:r>
            <a:r>
              <a:rPr lang="en-US" dirty="0">
                <a:cs typeface="Times New Roman" pitchFamily="18" charset="0"/>
              </a:rPr>
              <a:t>69.2% correct (SD 16.6; SE 4.3).  The </a:t>
            </a:r>
            <a:r>
              <a:rPr lang="en-US" i="1" dirty="0">
                <a:cs typeface="Times New Roman" pitchFamily="18" charset="0"/>
              </a:rPr>
              <a:t>Deep encoding </a:t>
            </a:r>
            <a:r>
              <a:rPr lang="en-US" dirty="0">
                <a:cs typeface="Times New Roman" pitchFamily="18" charset="0"/>
              </a:rPr>
              <a:t>group performed significantly better than the </a:t>
            </a:r>
            <a:r>
              <a:rPr lang="en-US" i="1" dirty="0">
                <a:cs typeface="Times New Roman" pitchFamily="18" charset="0"/>
              </a:rPr>
              <a:t>Shallow encoding</a:t>
            </a:r>
            <a:r>
              <a:rPr lang="en-US" dirty="0">
                <a:cs typeface="Times New Roman" pitchFamily="18" charset="0"/>
              </a:rPr>
              <a:t> group, t(26)=4.19, p&lt;.001.” </a:t>
            </a:r>
            <a:endParaRPr lang="en-US" dirty="0"/>
          </a:p>
          <a:p>
            <a:endParaRPr lang="en-US" dirty="0"/>
          </a:p>
          <a:p>
            <a:r>
              <a:rPr lang="en-US" dirty="0"/>
              <a:t>Replace</a:t>
            </a:r>
          </a:p>
          <a:p>
            <a:pPr lvl="1"/>
            <a:r>
              <a:rPr lang="en-US" dirty="0"/>
              <a:t>Condition-A, Condition-B</a:t>
            </a:r>
          </a:p>
          <a:p>
            <a:pPr lvl="1"/>
            <a:r>
              <a:rPr lang="en-US" dirty="0"/>
              <a:t>Optionally: ‘exhibited performance’</a:t>
            </a:r>
          </a:p>
          <a:p>
            <a:pPr lvl="1"/>
            <a:r>
              <a:rPr lang="en-US" dirty="0"/>
              <a:t>Include ‘units’</a:t>
            </a:r>
          </a:p>
          <a:p>
            <a:pPr lvl="1"/>
            <a:r>
              <a:rPr lang="en-US" dirty="0"/>
              <a:t>Add all the numbers, descriptive and inferential</a:t>
            </a:r>
          </a:p>
        </p:txBody>
      </p:sp>
    </p:spTree>
    <p:extLst>
      <p:ext uri="{BB962C8B-B14F-4D97-AF65-F5344CB8AC3E}">
        <p14:creationId xmlns:p14="http://schemas.microsoft.com/office/powerpoint/2010/main" val="381236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5538-7CF1-4357-B9AF-215330F8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figure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83F20-FDBA-15D3-E599-F84D0926F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to Excel</a:t>
            </a:r>
          </a:p>
          <a:p>
            <a:r>
              <a:rPr lang="en-US" dirty="0"/>
              <a:t>Getting a basic graph is straightforward</a:t>
            </a:r>
          </a:p>
          <a:p>
            <a:r>
              <a:rPr lang="en-US" dirty="0"/>
              <a:t>Necessary edits</a:t>
            </a:r>
          </a:p>
          <a:p>
            <a:pPr lvl="1"/>
            <a:r>
              <a:rPr lang="en-US" dirty="0"/>
              <a:t>Label the y-axis</a:t>
            </a:r>
          </a:p>
          <a:p>
            <a:pPr lvl="1"/>
            <a:r>
              <a:rPr lang="en-US" dirty="0"/>
              <a:t>Add SE bars</a:t>
            </a:r>
          </a:p>
          <a:p>
            <a:r>
              <a:rPr lang="en-US" dirty="0"/>
              <a:t>Recommended edits</a:t>
            </a:r>
          </a:p>
          <a:p>
            <a:pPr lvl="1"/>
            <a:r>
              <a:rPr lang="en-US" dirty="0"/>
              <a:t>Remove title, gridlines</a:t>
            </a:r>
          </a:p>
          <a:p>
            <a:r>
              <a:rPr lang="en-US" dirty="0"/>
              <a:t>Optional edits</a:t>
            </a:r>
          </a:p>
          <a:p>
            <a:pPr lvl="1"/>
            <a:r>
              <a:rPr lang="en-US" dirty="0"/>
              <a:t>Colors, layout, design</a:t>
            </a:r>
          </a:p>
        </p:txBody>
      </p:sp>
    </p:spTree>
    <p:extLst>
      <p:ext uri="{BB962C8B-B14F-4D97-AF65-F5344CB8AC3E}">
        <p14:creationId xmlns:p14="http://schemas.microsoft.com/office/powerpoint/2010/main" val="3765369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24B1-5277-82A6-85F2-2AF1DDCB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Wed Oct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C299-7371-D361-2C61-3DBF2B9B0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7, APA format writing</a:t>
            </a:r>
          </a:p>
          <a:p>
            <a:pPr lvl="1"/>
            <a:r>
              <a:rPr lang="en-US" dirty="0"/>
              <a:t>Questions on p. 142</a:t>
            </a:r>
          </a:p>
          <a:p>
            <a:endParaRPr lang="en-US" dirty="0"/>
          </a:p>
          <a:p>
            <a:r>
              <a:rPr lang="en-US" dirty="0"/>
              <a:t>Review Cho &amp; Critcher (2025)</a:t>
            </a:r>
          </a:p>
          <a:p>
            <a:pPr lvl="1"/>
            <a:r>
              <a:rPr lang="en-US" dirty="0"/>
              <a:t>For Study 1: what was the IV?</a:t>
            </a:r>
          </a:p>
          <a:p>
            <a:pPr lvl="2"/>
            <a:r>
              <a:rPr lang="en-US" dirty="0"/>
              <a:t>What construct was it meant to capture?</a:t>
            </a:r>
          </a:p>
          <a:p>
            <a:pPr lvl="1"/>
            <a:r>
              <a:rPr lang="en-US" dirty="0"/>
              <a:t>What was the IV changed to in Study 2?</a:t>
            </a:r>
          </a:p>
          <a:p>
            <a:pPr lvl="2"/>
            <a:r>
              <a:rPr lang="en-US" dirty="0"/>
              <a:t>Does it capture the same construct?</a:t>
            </a:r>
          </a:p>
          <a:p>
            <a:pPr lvl="1"/>
            <a:r>
              <a:rPr lang="en-US" dirty="0"/>
              <a:t>From the General Discussion, what is the main conclusion of the authors?</a:t>
            </a:r>
          </a:p>
        </p:txBody>
      </p:sp>
    </p:spTree>
    <p:extLst>
      <p:ext uri="{BB962C8B-B14F-4D97-AF65-F5344CB8AC3E}">
        <p14:creationId xmlns:p14="http://schemas.microsoft.com/office/powerpoint/2010/main" val="192436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6261</TotalTime>
  <Words>730</Words>
  <Application>Microsoft Office PowerPoint</Application>
  <PresentationFormat>Widescreen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301 Oct 1, Class 7</vt:lpstr>
      <vt:lpstr>Statistics theory refresher</vt:lpstr>
      <vt:lpstr>Theory: t-test</vt:lpstr>
      <vt:lpstr>Homework questions</vt:lpstr>
      <vt:lpstr>Descriptive statistics for Exp 1</vt:lpstr>
      <vt:lpstr>Practical Inferential Statistics</vt:lpstr>
      <vt:lpstr>Using R</vt:lpstr>
      <vt:lpstr>Reading statistical output</vt:lpstr>
      <vt:lpstr>Writing your results section</vt:lpstr>
      <vt:lpstr>Fill in the reporting template</vt:lpstr>
      <vt:lpstr>Fill in the reporting template</vt:lpstr>
      <vt:lpstr>Making a figure</vt:lpstr>
      <vt:lpstr>For Wed Oct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7, Class 8</dc:title>
  <dc:creator>Paul Reber</dc:creator>
  <cp:lastModifiedBy>Paul Reber</cp:lastModifiedBy>
  <cp:revision>28</cp:revision>
  <cp:lastPrinted>2025-10-01T13:29:19Z</cp:lastPrinted>
  <dcterms:created xsi:type="dcterms:W3CDTF">2022-10-06T20:09:56Z</dcterms:created>
  <dcterms:modified xsi:type="dcterms:W3CDTF">2025-10-05T19:40:38Z</dcterms:modified>
</cp:coreProperties>
</file>