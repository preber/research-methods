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86" r:id="rId3"/>
    <p:sldId id="284" r:id="rId4"/>
    <p:sldId id="287" r:id="rId5"/>
    <p:sldId id="288" r:id="rId6"/>
    <p:sldId id="275" r:id="rId7"/>
    <p:sldId id="277" r:id="rId8"/>
    <p:sldId id="278" r:id="rId9"/>
    <p:sldId id="276" r:id="rId10"/>
    <p:sldId id="279" r:id="rId11"/>
    <p:sldId id="280" r:id="rId12"/>
    <p:sldId id="289" r:id="rId13"/>
    <p:sldId id="285" r:id="rId14"/>
    <p:sldId id="283" r:id="rId15"/>
    <p:sldId id="281" r:id="rId16"/>
    <p:sldId id="290" r:id="rId17"/>
    <p:sldId id="282" r:id="rId18"/>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FA4EA16B-8232-4AFF-9054-CAD58D60828E}" type="datetimeFigureOut">
              <a:rPr lang="en-US" smtClean="0"/>
              <a:t>9/24/2025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9571B2F4-DC0F-473C-9C02-21A197CC32B0}" type="slidenum">
              <a:rPr lang="en-US" smtClean="0"/>
              <a:t>‹#›</a:t>
            </a:fld>
            <a:endParaRPr lang="en-US"/>
          </a:p>
        </p:txBody>
      </p:sp>
    </p:spTree>
    <p:extLst>
      <p:ext uri="{BB962C8B-B14F-4D97-AF65-F5344CB8AC3E}">
        <p14:creationId xmlns:p14="http://schemas.microsoft.com/office/powerpoint/2010/main" val="131372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2C10-91F4-FAEF-B158-BAC3C258B3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C74C58-E35D-2CAA-82FA-E4557CDFD7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8D79E0-A74B-3C4B-D7B1-74D0DA441CD5}"/>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5" name="Footer Placeholder 4">
            <a:extLst>
              <a:ext uri="{FF2B5EF4-FFF2-40B4-BE49-F238E27FC236}">
                <a16:creationId xmlns:a16="http://schemas.microsoft.com/office/drawing/2014/main" id="{D80A2636-FE90-2B28-6470-0ECD4B2C37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D6BA38-42D9-1FC6-AF20-C32DFE001B68}"/>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2217774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79C1E-7CA3-A6DD-F1EB-E037E2A80C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09CFD5-F9D2-2D83-4E45-7D000632E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90C475-1FE0-C57A-B3B0-7D76B1AC89EE}"/>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5" name="Footer Placeholder 4">
            <a:extLst>
              <a:ext uri="{FF2B5EF4-FFF2-40B4-BE49-F238E27FC236}">
                <a16:creationId xmlns:a16="http://schemas.microsoft.com/office/drawing/2014/main" id="{FC192A1A-5FA6-E6E3-B652-502CAD006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A42403-9671-02D3-714A-73CFBCBD9BB1}"/>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3610881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14BE9-2019-80C7-F5B1-6E56E4012E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9CBFDE-BFE5-7171-2AAC-F8AD26EE40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5B7910-41C3-37A6-DA9A-42C102DA4A2F}"/>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5" name="Footer Placeholder 4">
            <a:extLst>
              <a:ext uri="{FF2B5EF4-FFF2-40B4-BE49-F238E27FC236}">
                <a16:creationId xmlns:a16="http://schemas.microsoft.com/office/drawing/2014/main" id="{A55EB16C-B47C-B21B-9710-D90915779C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0BED46-ED90-4401-A69E-6AE6B818ACF5}"/>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1414395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C2E7-80A2-BF33-D4C5-AB6F7D263D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495B40-5051-EF84-20D5-42586D1B81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7C9C7B-2D42-5097-29A7-78756BA4F1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A8007E-6B5F-5BC1-A61E-2D5C2332C26F}"/>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6" name="Footer Placeholder 5">
            <a:extLst>
              <a:ext uri="{FF2B5EF4-FFF2-40B4-BE49-F238E27FC236}">
                <a16:creationId xmlns:a16="http://schemas.microsoft.com/office/drawing/2014/main" id="{362005D4-44DD-A652-BC25-C9C6A5344F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AFD7BA-66A1-C47A-E0D7-CE229EA61B77}"/>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217488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1B43A-BF2F-DD1D-2F2C-667493C5DC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07F1CD-B52F-82C4-4BE3-23AE83FB65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918DC3-A55D-B2DF-B988-AE829C3684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5057AE-6376-51FD-F5F8-A3E589A104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B717F0-4F5A-BB18-65F3-E19EAC3814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BA30B6-DF7D-864E-00DD-001215C8350C}"/>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8" name="Footer Placeholder 7">
            <a:extLst>
              <a:ext uri="{FF2B5EF4-FFF2-40B4-BE49-F238E27FC236}">
                <a16:creationId xmlns:a16="http://schemas.microsoft.com/office/drawing/2014/main" id="{CB53C563-2E87-1791-F637-B6AC19AD50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63DCA8-FAEE-B2E1-C0F7-625A22C828E1}"/>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168538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D9250-00C4-C10E-1DFE-2184E7CD40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BC2F45-8CA5-656C-C076-85EB8EC0E093}"/>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4" name="Footer Placeholder 3">
            <a:extLst>
              <a:ext uri="{FF2B5EF4-FFF2-40B4-BE49-F238E27FC236}">
                <a16:creationId xmlns:a16="http://schemas.microsoft.com/office/drawing/2014/main" id="{1A3F084F-A7A0-F332-334F-114348645F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ACF223-9F06-1B21-3CAA-1D642F262525}"/>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2428543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0D0C71-C74F-6D11-21F4-293A8503F668}"/>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3" name="Footer Placeholder 2">
            <a:extLst>
              <a:ext uri="{FF2B5EF4-FFF2-40B4-BE49-F238E27FC236}">
                <a16:creationId xmlns:a16="http://schemas.microsoft.com/office/drawing/2014/main" id="{2DF02F87-8EAC-FE0E-BB26-12E87A67DA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32324E-85AC-84C3-BCD3-6ABF5D8A408A}"/>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391264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85AB-EB6C-3462-9B00-D9590F2F1E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974F2B-E5EC-EFBC-74B2-BE39BFF96E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B73090-1A5E-746A-3B59-4B9599BDE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730D89-7CA0-91D7-29AC-0591140FB6B9}"/>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6" name="Footer Placeholder 5">
            <a:extLst>
              <a:ext uri="{FF2B5EF4-FFF2-40B4-BE49-F238E27FC236}">
                <a16:creationId xmlns:a16="http://schemas.microsoft.com/office/drawing/2014/main" id="{4D1DC259-74E5-C46A-C3A4-96C43D378E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C97D89-D264-4972-4590-870973C667A6}"/>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3616929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918F-A796-F827-0B94-8B3FC70F8C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C71C2C-22A2-DF57-E5C4-C6280D63C3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DD7F18-7446-C813-52EE-5A95CDDA7E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7E50A9-FC22-0789-DAC2-B349C418F4FB}"/>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6" name="Footer Placeholder 5">
            <a:extLst>
              <a:ext uri="{FF2B5EF4-FFF2-40B4-BE49-F238E27FC236}">
                <a16:creationId xmlns:a16="http://schemas.microsoft.com/office/drawing/2014/main" id="{051C3572-6546-6F6C-FEF4-C9984F115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BCDD80-C09B-9471-A6D2-44D689042D0A}"/>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1203834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FF17E-17F2-51BF-95BA-664EB2007D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57F30C-C773-13F1-6360-831EC09D83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0B4F0-94B1-C3DC-B7CE-399337E194E0}"/>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5" name="Footer Placeholder 4">
            <a:extLst>
              <a:ext uri="{FF2B5EF4-FFF2-40B4-BE49-F238E27FC236}">
                <a16:creationId xmlns:a16="http://schemas.microsoft.com/office/drawing/2014/main" id="{F0CE7FAE-B54D-3908-00CD-C1D190C187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357B2D-40AE-3F32-1591-A8BDEF7257DE}"/>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1173098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AB4A29-C3B6-01BB-3F2C-DEDA0FB0AD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E3C5D5-5EC4-ED08-6D1F-D99FC5ED16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D4574E-77DC-4520-9C03-D9FEEDB548EB}"/>
              </a:ext>
            </a:extLst>
          </p:cNvPr>
          <p:cNvSpPr>
            <a:spLocks noGrp="1"/>
          </p:cNvSpPr>
          <p:nvPr>
            <p:ph type="dt" sz="half" idx="10"/>
          </p:nvPr>
        </p:nvSpPr>
        <p:spPr/>
        <p:txBody>
          <a:bodyPr/>
          <a:lstStyle/>
          <a:p>
            <a:fld id="{E3E805A2-BC06-40C2-8971-C06E8F9F3E70}" type="datetimeFigureOut">
              <a:rPr lang="en-US" smtClean="0"/>
              <a:t>9/24/2025</a:t>
            </a:fld>
            <a:endParaRPr lang="en-US"/>
          </a:p>
        </p:txBody>
      </p:sp>
      <p:sp>
        <p:nvSpPr>
          <p:cNvPr id="5" name="Footer Placeholder 4">
            <a:extLst>
              <a:ext uri="{FF2B5EF4-FFF2-40B4-BE49-F238E27FC236}">
                <a16:creationId xmlns:a16="http://schemas.microsoft.com/office/drawing/2014/main" id="{AC1A7B54-EF93-054D-737A-14792E487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DACDF-BE46-F19F-C1DD-0102741B2516}"/>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793403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435E69-F6B0-AB12-1F41-F701420334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3BE63C-D9D1-011D-1A47-7A9DC6F3AF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EC04C-854A-826F-DE12-3FC7EEE7CB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805A2-BC06-40C2-8971-C06E8F9F3E70}" type="datetimeFigureOut">
              <a:rPr lang="en-US" smtClean="0"/>
              <a:t>9/24/2025</a:t>
            </a:fld>
            <a:endParaRPr lang="en-US"/>
          </a:p>
        </p:txBody>
      </p:sp>
      <p:sp>
        <p:nvSpPr>
          <p:cNvPr id="5" name="Footer Placeholder 4">
            <a:extLst>
              <a:ext uri="{FF2B5EF4-FFF2-40B4-BE49-F238E27FC236}">
                <a16:creationId xmlns:a16="http://schemas.microsoft.com/office/drawing/2014/main" id="{8418728A-E2FB-A51D-BF99-14C0A51985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9CC489-B86B-1820-C978-AD764E042B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259414-F65F-41B7-B1E5-94D942E3EBE8}" type="slidenum">
              <a:rPr lang="en-US" smtClean="0"/>
              <a:t>‹#›</a:t>
            </a:fld>
            <a:endParaRPr lang="en-US"/>
          </a:p>
        </p:txBody>
      </p:sp>
    </p:spTree>
    <p:extLst>
      <p:ext uri="{BB962C8B-B14F-4D97-AF65-F5344CB8AC3E}">
        <p14:creationId xmlns:p14="http://schemas.microsoft.com/office/powerpoint/2010/main" val="1598362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CF3AC3-3716-BBC1-5E61-9A588208CCD9}"/>
              </a:ext>
            </a:extLst>
          </p:cNvPr>
          <p:cNvSpPr>
            <a:spLocks noGrp="1"/>
          </p:cNvSpPr>
          <p:nvPr>
            <p:ph type="title"/>
          </p:nvPr>
        </p:nvSpPr>
        <p:spPr/>
        <p:txBody>
          <a:bodyPr/>
          <a:lstStyle/>
          <a:p>
            <a:r>
              <a:rPr lang="en-US" dirty="0"/>
              <a:t>205 Sep 24, Class 4</a:t>
            </a:r>
          </a:p>
        </p:txBody>
      </p:sp>
      <p:sp>
        <p:nvSpPr>
          <p:cNvPr id="5" name="Content Placeholder 4">
            <a:extLst>
              <a:ext uri="{FF2B5EF4-FFF2-40B4-BE49-F238E27FC236}">
                <a16:creationId xmlns:a16="http://schemas.microsoft.com/office/drawing/2014/main" id="{731F2AD6-D8D0-AE31-0ABF-F83ADA978372}"/>
              </a:ext>
            </a:extLst>
          </p:cNvPr>
          <p:cNvSpPr>
            <a:spLocks noGrp="1"/>
          </p:cNvSpPr>
          <p:nvPr>
            <p:ph idx="1"/>
          </p:nvPr>
        </p:nvSpPr>
        <p:spPr/>
        <p:txBody>
          <a:bodyPr/>
          <a:lstStyle/>
          <a:p>
            <a:r>
              <a:rPr lang="en-US" dirty="0"/>
              <a:t>Chapter 4, Experimental Procedure</a:t>
            </a:r>
          </a:p>
          <a:p>
            <a:pPr lvl="1"/>
            <a:endParaRPr lang="en-US" dirty="0"/>
          </a:p>
          <a:p>
            <a:pPr lvl="1"/>
            <a:endParaRPr lang="en-US" dirty="0"/>
          </a:p>
        </p:txBody>
      </p:sp>
    </p:spTree>
    <p:extLst>
      <p:ext uri="{BB962C8B-B14F-4D97-AF65-F5344CB8AC3E}">
        <p14:creationId xmlns:p14="http://schemas.microsoft.com/office/powerpoint/2010/main" val="3461135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05409-B1A2-A70B-5B30-9DAB41B8E7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51A724-0DAF-DBB2-E2F3-704E0EE2A94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E0D83C4-DDE7-B541-051D-3424A3ED0B25}"/>
              </a:ext>
            </a:extLst>
          </p:cNvPr>
          <p:cNvPicPr>
            <a:picLocks noChangeAspect="1"/>
          </p:cNvPicPr>
          <p:nvPr/>
        </p:nvPicPr>
        <p:blipFill>
          <a:blip r:embed="rId2"/>
          <a:stretch>
            <a:fillRect/>
          </a:stretch>
        </p:blipFill>
        <p:spPr>
          <a:xfrm>
            <a:off x="3228975" y="365125"/>
            <a:ext cx="8124825" cy="3133725"/>
          </a:xfrm>
          <a:prstGeom prst="rect">
            <a:avLst/>
          </a:prstGeom>
        </p:spPr>
      </p:pic>
      <p:pic>
        <p:nvPicPr>
          <p:cNvPr id="7" name="Picture 6">
            <a:extLst>
              <a:ext uri="{FF2B5EF4-FFF2-40B4-BE49-F238E27FC236}">
                <a16:creationId xmlns:a16="http://schemas.microsoft.com/office/drawing/2014/main" id="{B38BE397-5309-079C-0DF2-19A129B691EF}"/>
              </a:ext>
            </a:extLst>
          </p:cNvPr>
          <p:cNvPicPr>
            <a:picLocks noChangeAspect="1"/>
          </p:cNvPicPr>
          <p:nvPr/>
        </p:nvPicPr>
        <p:blipFill>
          <a:blip r:embed="rId3"/>
          <a:stretch>
            <a:fillRect/>
          </a:stretch>
        </p:blipFill>
        <p:spPr>
          <a:xfrm>
            <a:off x="347662" y="3429000"/>
            <a:ext cx="7991475" cy="3324225"/>
          </a:xfrm>
          <a:prstGeom prst="rect">
            <a:avLst/>
          </a:prstGeom>
        </p:spPr>
      </p:pic>
    </p:spTree>
    <p:extLst>
      <p:ext uri="{BB962C8B-B14F-4D97-AF65-F5344CB8AC3E}">
        <p14:creationId xmlns:p14="http://schemas.microsoft.com/office/powerpoint/2010/main" val="3124749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2251B-1B7E-D037-FFA4-9E739E28ABBF}"/>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F62DF9C3-8723-A96B-430F-172FBA1E64F9}"/>
              </a:ext>
            </a:extLst>
          </p:cNvPr>
          <p:cNvSpPr>
            <a:spLocks noGrp="1"/>
          </p:cNvSpPr>
          <p:nvPr>
            <p:ph idx="1"/>
          </p:nvPr>
        </p:nvSpPr>
        <p:spPr/>
        <p:txBody>
          <a:bodyPr>
            <a:normAutofit fontScale="70000" lnSpcReduction="20000"/>
          </a:bodyPr>
          <a:lstStyle/>
          <a:p>
            <a:r>
              <a:rPr lang="en-US" b="1" dirty="0"/>
              <a:t>Importance</a:t>
            </a:r>
            <a:r>
              <a:rPr lang="en-US" dirty="0"/>
              <a:t>  Several studies suggest that acetaminophen (paracetamol) use during pregnancy may increase risk of neurodevelopmental disorders in children. If true, this would have substantial implications for management of pain and fever during pregnancy.</a:t>
            </a:r>
          </a:p>
          <a:p>
            <a:r>
              <a:rPr lang="en-US" b="1" dirty="0"/>
              <a:t>Objective</a:t>
            </a:r>
            <a:r>
              <a:rPr lang="en-US" dirty="0"/>
              <a:t>  To examine the associations of acetaminophen use during pregnancy with children’s risk of autism, attention-deficit/hyperactivity disorder (ADHD), and intellectual disability.</a:t>
            </a:r>
          </a:p>
          <a:p>
            <a:r>
              <a:rPr lang="en-US" b="1" dirty="0"/>
              <a:t>Design, Setting, and Participants</a:t>
            </a:r>
            <a:r>
              <a:rPr lang="en-US" dirty="0"/>
              <a:t>  This nationwide cohort study with sibling control analysis included a population-based sample of 2 480 797 children born in 1995 to 2019 in Sweden, with follow-up through December 31, 2021.</a:t>
            </a:r>
          </a:p>
          <a:p>
            <a:r>
              <a:rPr lang="en-US" b="1" dirty="0"/>
              <a:t>Exposure</a:t>
            </a:r>
            <a:r>
              <a:rPr lang="en-US" dirty="0"/>
              <a:t>  Use of acetaminophen during pregnancy prospectively recorded from antenatal and prescription records.</a:t>
            </a:r>
          </a:p>
          <a:p>
            <a:r>
              <a:rPr lang="en-US" b="1" dirty="0"/>
              <a:t>Main Outcomes and Measures</a:t>
            </a:r>
            <a:r>
              <a:rPr lang="en-US" dirty="0"/>
              <a:t>  Autism, ADHD, and intellectual disability based on </a:t>
            </a:r>
            <a:r>
              <a:rPr lang="en-US" i="1" dirty="0"/>
              <a:t>International Classification of Diseases, Ninth Revision</a:t>
            </a:r>
            <a:r>
              <a:rPr lang="en-US" dirty="0"/>
              <a:t> and </a:t>
            </a:r>
            <a:r>
              <a:rPr lang="en-US" i="1" dirty="0"/>
              <a:t>International Classification of Diseases, Tenth Revision</a:t>
            </a:r>
            <a:r>
              <a:rPr lang="en-US" dirty="0"/>
              <a:t> codes in health </a:t>
            </a:r>
            <a:r>
              <a:rPr lang="en-US"/>
              <a:t>registers.</a:t>
            </a:r>
          </a:p>
          <a:p>
            <a:endParaRPr lang="en-US" dirty="0"/>
          </a:p>
          <a:p>
            <a:r>
              <a:rPr lang="en-US" dirty="0"/>
              <a:t>https://jamanetwork.com/journals/jama/fullarticle/2817406</a:t>
            </a:r>
          </a:p>
          <a:p>
            <a:endParaRPr lang="en-US" dirty="0"/>
          </a:p>
        </p:txBody>
      </p:sp>
    </p:spTree>
    <p:extLst>
      <p:ext uri="{BB962C8B-B14F-4D97-AF65-F5344CB8AC3E}">
        <p14:creationId xmlns:p14="http://schemas.microsoft.com/office/powerpoint/2010/main" val="3277595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C963D-C907-8F62-2E3F-F95FC03E74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723922-519F-DEE9-5AB0-C7BCC5E6E35E}"/>
              </a:ext>
            </a:extLst>
          </p:cNvPr>
          <p:cNvSpPr>
            <a:spLocks noGrp="1"/>
          </p:cNvSpPr>
          <p:nvPr>
            <p:ph idx="1"/>
          </p:nvPr>
        </p:nvSpPr>
        <p:spPr/>
        <p:txBody>
          <a:bodyPr>
            <a:normAutofit fontScale="70000" lnSpcReduction="20000"/>
          </a:bodyPr>
          <a:lstStyle/>
          <a:p>
            <a:r>
              <a:rPr lang="en-US" b="1" dirty="0"/>
              <a:t>Results</a:t>
            </a:r>
            <a:r>
              <a:rPr lang="en-US" dirty="0"/>
              <a:t>  In total, 185 909 children (7.49%) were exposed to acetaminophen during pregnancy. Crude absolute risks at 10 years of age for those not exposed vs those exposed to acetaminophen were 1.33% vs 1.53% for autism, 2.46% vs 2.87% for ADHD, and 0.70% vs 0.82% for intellectual disability. In models without sibling control, ever-use vs no use of acetaminophen during pregnancy was associated with marginally increased risk of autism (hazard ratio [HR], 1.05 [95% CI, 1.02-1.08]; risk difference [RD] at 10 years of age, 0.09% [95% CI, −0.01% to 0.20%]), ADHD (HR, 1.07 [95% CI, 1.05-1.10]; RD, 0.21% [95% CI, 0.08%-0.34%]), and intellectual disability (HR, 1.05 [95% CI, 1.00-1.10]; RD, 0.04% [95% CI, −0.04% to 0.12%]). To address unobserved confounding, matched full sibling pairs were also analyzed. Sibling control analyses found no evidence that acetaminophen use during pregnancy was associated with autism (HR, 0.98 [95% CI, 0.93-1.04]; RD, 0.02% [95% CI, −0.14% to 0.18%]), ADHD (HR, 0.98 [95% CI, 0.94-1.02]; RD, −0.02% [95% CI, −0.21% to 0.15%]), or intellectual disability (HR, 1.01 [95% CI, 0.92-1.10]; RD, 0% [95% CI, −0.10% to 0.13%]). Similarly, there was no evidence of a dose-response pattern in sibling control analyses. For example, for autism, compared with no use of acetaminophen, persons with low (&lt;25th percentile), medium (25th-75th percentile), and high (&gt;75th percentile) mean daily acetaminophen use had HRs of 0.85, 0.96, and 0.88, respectively.</a:t>
            </a:r>
          </a:p>
          <a:p>
            <a:r>
              <a:rPr lang="en-US" b="1" dirty="0"/>
              <a:t>Conclusions and Relevance</a:t>
            </a:r>
            <a:r>
              <a:rPr lang="en-US" dirty="0"/>
              <a:t>  Acetaminophen use during pregnancy was not associated with children’s risk of autism, ADHD, or intellectual disability in sibling control analysis. This suggests that associations observed in other models may have been attributable to familial confounding.</a:t>
            </a:r>
          </a:p>
          <a:p>
            <a:endParaRPr lang="en-US" dirty="0"/>
          </a:p>
        </p:txBody>
      </p:sp>
    </p:spTree>
    <p:extLst>
      <p:ext uri="{BB962C8B-B14F-4D97-AF65-F5344CB8AC3E}">
        <p14:creationId xmlns:p14="http://schemas.microsoft.com/office/powerpoint/2010/main" val="1885679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5D4AF-FA7A-3AEA-7370-1BC5AD857C06}"/>
              </a:ext>
            </a:extLst>
          </p:cNvPr>
          <p:cNvSpPr>
            <a:spLocks noGrp="1"/>
          </p:cNvSpPr>
          <p:nvPr>
            <p:ph type="title"/>
          </p:nvPr>
        </p:nvSpPr>
        <p:spPr/>
        <p:txBody>
          <a:bodyPr/>
          <a:lstStyle/>
          <a:p>
            <a:r>
              <a:rPr lang="en-US" dirty="0"/>
              <a:t>Reading the research</a:t>
            </a:r>
          </a:p>
        </p:txBody>
      </p:sp>
      <p:sp>
        <p:nvSpPr>
          <p:cNvPr id="3" name="Content Placeholder 2">
            <a:extLst>
              <a:ext uri="{FF2B5EF4-FFF2-40B4-BE49-F238E27FC236}">
                <a16:creationId xmlns:a16="http://schemas.microsoft.com/office/drawing/2014/main" id="{708F4937-94CD-4F1D-697B-2F19BDED0EC7}"/>
              </a:ext>
            </a:extLst>
          </p:cNvPr>
          <p:cNvSpPr>
            <a:spLocks noGrp="1"/>
          </p:cNvSpPr>
          <p:nvPr>
            <p:ph idx="1"/>
          </p:nvPr>
        </p:nvSpPr>
        <p:spPr/>
        <p:txBody>
          <a:bodyPr/>
          <a:lstStyle/>
          <a:p>
            <a:r>
              <a:rPr lang="en-US" dirty="0"/>
              <a:t>Extraneous variables</a:t>
            </a:r>
          </a:p>
          <a:p>
            <a:pPr lvl="1"/>
            <a:r>
              <a:rPr lang="en-US" dirty="0"/>
              <a:t>What other factors could lead to the observed association?</a:t>
            </a:r>
          </a:p>
          <a:p>
            <a:r>
              <a:rPr lang="en-US" dirty="0"/>
              <a:t>Samples</a:t>
            </a:r>
          </a:p>
          <a:p>
            <a:pPr lvl="1"/>
            <a:r>
              <a:rPr lang="en-US" dirty="0"/>
              <a:t>Size and source</a:t>
            </a:r>
          </a:p>
          <a:p>
            <a:r>
              <a:rPr lang="en-US" dirty="0"/>
              <a:t>Statistics</a:t>
            </a:r>
          </a:p>
          <a:p>
            <a:pPr lvl="1"/>
            <a:r>
              <a:rPr lang="en-US" dirty="0"/>
              <a:t>Effect sizes &gt; p-values</a:t>
            </a:r>
          </a:p>
          <a:p>
            <a:pPr lvl="2"/>
            <a:r>
              <a:rPr lang="en-US" dirty="0"/>
              <a:t>“was associated” is p&lt;.05</a:t>
            </a:r>
          </a:p>
          <a:p>
            <a:pPr lvl="2"/>
            <a:r>
              <a:rPr lang="en-US" dirty="0"/>
              <a:t>How strong was the association?</a:t>
            </a:r>
          </a:p>
          <a:p>
            <a:pPr lvl="1"/>
            <a:r>
              <a:rPr lang="en-US" dirty="0"/>
              <a:t>Be wary of reports focused on changing rates</a:t>
            </a:r>
          </a:p>
          <a:p>
            <a:pPr lvl="2"/>
            <a:r>
              <a:rPr lang="en-US" dirty="0"/>
              <a:t>Headlines particularly misleading</a:t>
            </a:r>
          </a:p>
        </p:txBody>
      </p:sp>
    </p:spTree>
    <p:extLst>
      <p:ext uri="{BB962C8B-B14F-4D97-AF65-F5344CB8AC3E}">
        <p14:creationId xmlns:p14="http://schemas.microsoft.com/office/powerpoint/2010/main" val="1835887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F526B-9082-E4DE-8FC7-CFD71ECFFB1E}"/>
              </a:ext>
            </a:extLst>
          </p:cNvPr>
          <p:cNvSpPr>
            <a:spLocks noGrp="1"/>
          </p:cNvSpPr>
          <p:nvPr>
            <p:ph type="title"/>
          </p:nvPr>
        </p:nvSpPr>
        <p:spPr/>
        <p:txBody>
          <a:bodyPr/>
          <a:lstStyle/>
          <a:p>
            <a:r>
              <a:rPr lang="en-US" dirty="0"/>
              <a:t>Implicit bias research</a:t>
            </a:r>
          </a:p>
        </p:txBody>
      </p:sp>
      <p:sp>
        <p:nvSpPr>
          <p:cNvPr id="3" name="Content Placeholder 2">
            <a:extLst>
              <a:ext uri="{FF2B5EF4-FFF2-40B4-BE49-F238E27FC236}">
                <a16:creationId xmlns:a16="http://schemas.microsoft.com/office/drawing/2014/main" id="{4555A2B6-D4A7-8C1F-BB15-EA53565023F5}"/>
              </a:ext>
            </a:extLst>
          </p:cNvPr>
          <p:cNvSpPr>
            <a:spLocks noGrp="1"/>
          </p:cNvSpPr>
          <p:nvPr>
            <p:ph idx="1"/>
          </p:nvPr>
        </p:nvSpPr>
        <p:spPr/>
        <p:txBody>
          <a:bodyPr/>
          <a:lstStyle/>
          <a:p>
            <a:r>
              <a:rPr lang="en-US" dirty="0" err="1"/>
              <a:t>Bargh</a:t>
            </a:r>
            <a:r>
              <a:rPr lang="en-US" dirty="0"/>
              <a:t>, Chen &amp; Burrows (1996) found that activating stereotypical concepts led to direct changes in behavior</a:t>
            </a:r>
          </a:p>
          <a:p>
            <a:pPr lvl="1"/>
            <a:r>
              <a:rPr lang="en-US" dirty="0"/>
              <a:t>Experiment 1: participants primed with the concept of rudeness interrupted the experimenter</a:t>
            </a:r>
          </a:p>
          <a:p>
            <a:pPr lvl="1"/>
            <a:r>
              <a:rPr lang="en-US" dirty="0"/>
              <a:t>Experiment 2: participants primed with an elderly stereotype walked more slowly after the study</a:t>
            </a:r>
          </a:p>
          <a:p>
            <a:pPr lvl="1"/>
            <a:endParaRPr lang="en-US" dirty="0"/>
          </a:p>
          <a:p>
            <a:endParaRPr lang="en-US" dirty="0"/>
          </a:p>
        </p:txBody>
      </p:sp>
    </p:spTree>
    <p:extLst>
      <p:ext uri="{BB962C8B-B14F-4D97-AF65-F5344CB8AC3E}">
        <p14:creationId xmlns:p14="http://schemas.microsoft.com/office/powerpoint/2010/main" val="1389193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7E5D7-4F1B-ED25-1BE5-AE1112173327}"/>
              </a:ext>
            </a:extLst>
          </p:cNvPr>
          <p:cNvSpPr>
            <a:spLocks noGrp="1"/>
          </p:cNvSpPr>
          <p:nvPr>
            <p:ph type="title"/>
          </p:nvPr>
        </p:nvSpPr>
        <p:spPr/>
        <p:txBody>
          <a:bodyPr/>
          <a:lstStyle/>
          <a:p>
            <a:r>
              <a:rPr lang="en-US" dirty="0"/>
              <a:t>“Rude” Priming manipulation</a:t>
            </a:r>
          </a:p>
        </p:txBody>
      </p:sp>
      <p:sp>
        <p:nvSpPr>
          <p:cNvPr id="3" name="Content Placeholder 2">
            <a:extLst>
              <a:ext uri="{FF2B5EF4-FFF2-40B4-BE49-F238E27FC236}">
                <a16:creationId xmlns:a16="http://schemas.microsoft.com/office/drawing/2014/main" id="{83E9E87D-43A7-EBDF-031B-80D220846B70}"/>
              </a:ext>
            </a:extLst>
          </p:cNvPr>
          <p:cNvSpPr>
            <a:spLocks noGrp="1"/>
          </p:cNvSpPr>
          <p:nvPr>
            <p:ph idx="1"/>
          </p:nvPr>
        </p:nvSpPr>
        <p:spPr/>
        <p:txBody>
          <a:bodyPr>
            <a:normAutofit fontScale="92500"/>
          </a:bodyPr>
          <a:lstStyle/>
          <a:p>
            <a:r>
              <a:rPr lang="en-US" dirty="0"/>
              <a:t>Participants asked use the five words listed to construct a grammatically correct four-word sentence as quickly as possible. </a:t>
            </a:r>
          </a:p>
          <a:p>
            <a:pPr lvl="1"/>
            <a:r>
              <a:rPr lang="en-US" dirty="0"/>
              <a:t>E.g., "he it hides finds instantly.“</a:t>
            </a:r>
          </a:p>
          <a:p>
            <a:pPr lvl="1"/>
            <a:r>
              <a:rPr lang="en-US" dirty="0"/>
              <a:t>15 of the 30 items contained words related to the trait in question.</a:t>
            </a:r>
          </a:p>
          <a:p>
            <a:r>
              <a:rPr lang="en-US" dirty="0"/>
              <a:t>For the rude priming version, the critical priming stimuli were: aggressively, bold, rude, bother, disturb, intrude, annoyingly, interrupt, audaciously, brazen, impolitely, infringe, obnoxious, aggravating, and bluntly </a:t>
            </a:r>
          </a:p>
          <a:p>
            <a:r>
              <a:rPr lang="en-US" dirty="0"/>
              <a:t>For the polite priming version, the stimuli were: respect, honor, considerate, appreciate, patiently, cordially, yield, polite, cautiously, courteous, graciously, sensitively, discreetly, behaved, and unobtrusively</a:t>
            </a:r>
          </a:p>
        </p:txBody>
      </p:sp>
    </p:spTree>
    <p:extLst>
      <p:ext uri="{BB962C8B-B14F-4D97-AF65-F5344CB8AC3E}">
        <p14:creationId xmlns:p14="http://schemas.microsoft.com/office/powerpoint/2010/main" val="148898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73492-5F41-879B-9B12-BA4DCCD1F81F}"/>
              </a:ext>
            </a:extLst>
          </p:cNvPr>
          <p:cNvSpPr>
            <a:spLocks noGrp="1"/>
          </p:cNvSpPr>
          <p:nvPr>
            <p:ph type="title"/>
          </p:nvPr>
        </p:nvSpPr>
        <p:spPr/>
        <p:txBody>
          <a:bodyPr/>
          <a:lstStyle/>
          <a:p>
            <a:r>
              <a:rPr lang="en-US" dirty="0"/>
              <a:t>Dependent variable</a:t>
            </a:r>
          </a:p>
        </p:txBody>
      </p:sp>
      <p:sp>
        <p:nvSpPr>
          <p:cNvPr id="3" name="Content Placeholder 2">
            <a:extLst>
              <a:ext uri="{FF2B5EF4-FFF2-40B4-BE49-F238E27FC236}">
                <a16:creationId xmlns:a16="http://schemas.microsoft.com/office/drawing/2014/main" id="{D4BF65F3-D6B6-88ED-95A2-3D7706E4EC1C}"/>
              </a:ext>
            </a:extLst>
          </p:cNvPr>
          <p:cNvSpPr>
            <a:spLocks noGrp="1"/>
          </p:cNvSpPr>
          <p:nvPr>
            <p:ph idx="1"/>
          </p:nvPr>
        </p:nvSpPr>
        <p:spPr/>
        <p:txBody>
          <a:bodyPr/>
          <a:lstStyle/>
          <a:p>
            <a:r>
              <a:rPr lang="en-US" dirty="0"/>
              <a:t>Participants told to come find the experimenter down the hall after completing the 5m sentence construction test</a:t>
            </a:r>
          </a:p>
          <a:p>
            <a:r>
              <a:rPr lang="en-US" dirty="0"/>
              <a:t>Experimenter and confederate pre-arranged to be in conversation when the participant emerged</a:t>
            </a:r>
          </a:p>
          <a:p>
            <a:pPr lvl="1"/>
            <a:r>
              <a:rPr lang="en-US" dirty="0"/>
              <a:t>Stopwatch started</a:t>
            </a:r>
          </a:p>
          <a:p>
            <a:r>
              <a:rPr lang="en-US" dirty="0"/>
              <a:t>Conversation continued until participant interrupted (10 min max)</a:t>
            </a:r>
          </a:p>
          <a:p>
            <a:pPr lvl="1"/>
            <a:r>
              <a:rPr lang="en-US" dirty="0"/>
              <a:t>Waiting time measured</a:t>
            </a:r>
          </a:p>
          <a:p>
            <a:pPr lvl="1"/>
            <a:r>
              <a:rPr lang="en-US" dirty="0"/>
              <a:t>Rude condition, M = 326 s</a:t>
            </a:r>
          </a:p>
          <a:p>
            <a:pPr lvl="1"/>
            <a:r>
              <a:rPr lang="en-US" dirty="0"/>
              <a:t>Polite condition, M = 558 s</a:t>
            </a:r>
          </a:p>
        </p:txBody>
      </p:sp>
    </p:spTree>
    <p:extLst>
      <p:ext uri="{BB962C8B-B14F-4D97-AF65-F5344CB8AC3E}">
        <p14:creationId xmlns:p14="http://schemas.microsoft.com/office/powerpoint/2010/main" val="2274936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F3755-0DD8-243A-DF52-AC4EF0409EFD}"/>
              </a:ext>
            </a:extLst>
          </p:cNvPr>
          <p:cNvSpPr>
            <a:spLocks noGrp="1"/>
          </p:cNvSpPr>
          <p:nvPr>
            <p:ph type="title"/>
          </p:nvPr>
        </p:nvSpPr>
        <p:spPr/>
        <p:txBody>
          <a:bodyPr/>
          <a:lstStyle/>
          <a:p>
            <a:r>
              <a:rPr lang="en-US" dirty="0"/>
              <a:t>Walking speed</a:t>
            </a:r>
          </a:p>
        </p:txBody>
      </p:sp>
      <p:sp>
        <p:nvSpPr>
          <p:cNvPr id="3" name="Content Placeholder 2">
            <a:extLst>
              <a:ext uri="{FF2B5EF4-FFF2-40B4-BE49-F238E27FC236}">
                <a16:creationId xmlns:a16="http://schemas.microsoft.com/office/drawing/2014/main" id="{69406E9C-8843-CB5C-206C-F4B46FC7D1AB}"/>
              </a:ext>
            </a:extLst>
          </p:cNvPr>
          <p:cNvSpPr>
            <a:spLocks noGrp="1"/>
          </p:cNvSpPr>
          <p:nvPr>
            <p:ph idx="1"/>
          </p:nvPr>
        </p:nvSpPr>
        <p:spPr/>
        <p:txBody>
          <a:bodyPr>
            <a:normAutofit lnSpcReduction="10000"/>
          </a:bodyPr>
          <a:lstStyle/>
          <a:p>
            <a:r>
              <a:rPr lang="en-US" dirty="0"/>
              <a:t>Priming is sentence construction with words related to elderly/aging</a:t>
            </a:r>
          </a:p>
          <a:p>
            <a:r>
              <a:rPr lang="en-US" dirty="0"/>
              <a:t>Walking speed down a hallway measured after priming task</a:t>
            </a:r>
          </a:p>
          <a:p>
            <a:pPr lvl="1"/>
            <a:r>
              <a:rPr lang="en-US" dirty="0" err="1"/>
              <a:t>Bargh</a:t>
            </a:r>
            <a:r>
              <a:rPr lang="en-US" dirty="0"/>
              <a:t>, Chen &amp; Burrows (1996) found slower walking measured with stopwatch by experimenter</a:t>
            </a:r>
          </a:p>
          <a:p>
            <a:pPr lvl="1"/>
            <a:r>
              <a:rPr lang="en-US" dirty="0"/>
              <a:t>Doyen, Klein, Pichon &amp; </a:t>
            </a:r>
            <a:r>
              <a:rPr lang="en-US" dirty="0" err="1"/>
              <a:t>Cleeremans</a:t>
            </a:r>
            <a:r>
              <a:rPr lang="en-US" dirty="0"/>
              <a:t> (2012) found no effect with automatic timing measure (sensors)</a:t>
            </a:r>
          </a:p>
          <a:p>
            <a:pPr lvl="1"/>
            <a:r>
              <a:rPr lang="en-US" dirty="0"/>
              <a:t>Further found that with stopwatches, the effect depended on research assistant training knowing the hypothesis (or reversed)</a:t>
            </a:r>
          </a:p>
          <a:p>
            <a:pPr lvl="2"/>
            <a:r>
              <a:rPr lang="en-US" dirty="0"/>
              <a:t>Implicit bias in experimenters</a:t>
            </a:r>
          </a:p>
          <a:p>
            <a:r>
              <a:rPr lang="en-US" dirty="0"/>
              <a:t>“Rosenthal effect”</a:t>
            </a:r>
          </a:p>
          <a:p>
            <a:pPr lvl="1"/>
            <a:r>
              <a:rPr lang="en-US" dirty="0"/>
              <a:t>Implicit experimenter bias influencing the dependent measure</a:t>
            </a:r>
          </a:p>
          <a:p>
            <a:pPr lvl="1"/>
            <a:endParaRPr lang="en-US" dirty="0"/>
          </a:p>
        </p:txBody>
      </p:sp>
    </p:spTree>
    <p:extLst>
      <p:ext uri="{BB962C8B-B14F-4D97-AF65-F5344CB8AC3E}">
        <p14:creationId xmlns:p14="http://schemas.microsoft.com/office/powerpoint/2010/main" val="390008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5C06C-0037-FA46-A274-7077A1FD1C2A}"/>
              </a:ext>
            </a:extLst>
          </p:cNvPr>
          <p:cNvSpPr>
            <a:spLocks noGrp="1"/>
          </p:cNvSpPr>
          <p:nvPr>
            <p:ph type="title"/>
          </p:nvPr>
        </p:nvSpPr>
        <p:spPr/>
        <p:txBody>
          <a:bodyPr/>
          <a:lstStyle/>
          <a:p>
            <a:r>
              <a:rPr lang="en-US" dirty="0"/>
              <a:t>Avoiding experimenter bias</a:t>
            </a:r>
          </a:p>
        </p:txBody>
      </p:sp>
      <p:sp>
        <p:nvSpPr>
          <p:cNvPr id="3" name="Content Placeholder 2">
            <a:extLst>
              <a:ext uri="{FF2B5EF4-FFF2-40B4-BE49-F238E27FC236}">
                <a16:creationId xmlns:a16="http://schemas.microsoft.com/office/drawing/2014/main" id="{3F91A849-F44A-D7AB-3BA5-2FCA87BE595D}"/>
              </a:ext>
            </a:extLst>
          </p:cNvPr>
          <p:cNvSpPr>
            <a:spLocks noGrp="1"/>
          </p:cNvSpPr>
          <p:nvPr>
            <p:ph idx="1"/>
          </p:nvPr>
        </p:nvSpPr>
        <p:spPr/>
        <p:txBody>
          <a:bodyPr/>
          <a:lstStyle/>
          <a:p>
            <a:r>
              <a:rPr lang="en-US" dirty="0"/>
              <a:t>Use automatic measures whenever possible</a:t>
            </a:r>
          </a:p>
          <a:p>
            <a:pPr lvl="1"/>
            <a:r>
              <a:rPr lang="en-US" dirty="0"/>
              <a:t>Reaction time measures depend on accurate start/stop signals</a:t>
            </a:r>
          </a:p>
          <a:p>
            <a:r>
              <a:rPr lang="en-US" dirty="0"/>
              <a:t>Avoid interacting with participants while dependent measures are collected</a:t>
            </a:r>
          </a:p>
          <a:p>
            <a:r>
              <a:rPr lang="en-US" dirty="0"/>
              <a:t>Plan for possibly ambiguous responses</a:t>
            </a:r>
          </a:p>
          <a:p>
            <a:pPr lvl="1"/>
            <a:r>
              <a:rPr lang="en-US" dirty="0"/>
              <a:t>Misspellings</a:t>
            </a:r>
          </a:p>
          <a:p>
            <a:pPr lvl="1"/>
            <a:r>
              <a:rPr lang="en-US" dirty="0"/>
              <a:t>Misunderstanding instructions</a:t>
            </a:r>
          </a:p>
          <a:p>
            <a:pPr lvl="1"/>
            <a:r>
              <a:rPr lang="en-US" dirty="0"/>
              <a:t>Scripted scoring systems</a:t>
            </a:r>
          </a:p>
        </p:txBody>
      </p:sp>
    </p:spTree>
    <p:extLst>
      <p:ext uri="{BB962C8B-B14F-4D97-AF65-F5344CB8AC3E}">
        <p14:creationId xmlns:p14="http://schemas.microsoft.com/office/powerpoint/2010/main" val="3510523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0A618-C2FB-DED9-10BD-1237C1336CF4}"/>
              </a:ext>
            </a:extLst>
          </p:cNvPr>
          <p:cNvSpPr>
            <a:spLocks noGrp="1"/>
          </p:cNvSpPr>
          <p:nvPr>
            <p:ph type="title"/>
          </p:nvPr>
        </p:nvSpPr>
        <p:spPr/>
        <p:txBody>
          <a:bodyPr/>
          <a:lstStyle/>
          <a:p>
            <a:r>
              <a:rPr lang="en-US" dirty="0"/>
              <a:t>Demand characteristics</a:t>
            </a:r>
          </a:p>
        </p:txBody>
      </p:sp>
      <p:sp>
        <p:nvSpPr>
          <p:cNvPr id="3" name="Content Placeholder 2">
            <a:extLst>
              <a:ext uri="{FF2B5EF4-FFF2-40B4-BE49-F238E27FC236}">
                <a16:creationId xmlns:a16="http://schemas.microsoft.com/office/drawing/2014/main" id="{EEFE6C36-FF48-4B28-C34C-30E0D6AEF19E}"/>
              </a:ext>
            </a:extLst>
          </p:cNvPr>
          <p:cNvSpPr>
            <a:spLocks noGrp="1"/>
          </p:cNvSpPr>
          <p:nvPr>
            <p:ph idx="1"/>
          </p:nvPr>
        </p:nvSpPr>
        <p:spPr/>
        <p:txBody>
          <a:bodyPr/>
          <a:lstStyle/>
          <a:p>
            <a:r>
              <a:rPr lang="en-US" dirty="0"/>
              <a:t>Participants will (sometimes) try to give you the answer they think you want to hear</a:t>
            </a:r>
          </a:p>
          <a:p>
            <a:pPr lvl="1"/>
            <a:r>
              <a:rPr lang="en-US" dirty="0"/>
              <a:t>Accidental bias can happen from experimenter encouragement</a:t>
            </a:r>
          </a:p>
          <a:p>
            <a:r>
              <a:rPr lang="en-US" dirty="0"/>
              <a:t>Participants are usually kept “blind” to the hypothesis or design</a:t>
            </a:r>
          </a:p>
          <a:p>
            <a:pPr lvl="1"/>
            <a:r>
              <a:rPr lang="en-US" dirty="0"/>
              <a:t>As in Experiment 1</a:t>
            </a:r>
          </a:p>
          <a:p>
            <a:pPr lvl="1"/>
            <a:r>
              <a:rPr lang="en-US" dirty="0"/>
              <a:t>You didn’t know if you were in the condition supposed to produce better memory</a:t>
            </a:r>
          </a:p>
          <a:p>
            <a:r>
              <a:rPr lang="en-US" dirty="0"/>
              <a:t>Wording of assessment questions chosen carefully</a:t>
            </a:r>
          </a:p>
          <a:p>
            <a:pPr lvl="1"/>
            <a:r>
              <a:rPr lang="en-US" dirty="0"/>
              <a:t>Kept constant across conditions wherever possible</a:t>
            </a:r>
          </a:p>
          <a:p>
            <a:pPr lvl="1"/>
            <a:r>
              <a:rPr lang="en-US" dirty="0"/>
              <a:t>Chapter 14 will discuss avoiding biased wording</a:t>
            </a:r>
          </a:p>
        </p:txBody>
      </p:sp>
    </p:spTree>
    <p:extLst>
      <p:ext uri="{BB962C8B-B14F-4D97-AF65-F5344CB8AC3E}">
        <p14:creationId xmlns:p14="http://schemas.microsoft.com/office/powerpoint/2010/main" val="2814070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55DC0-4D65-04CD-4E88-D1A11FCD9E56}"/>
              </a:ext>
            </a:extLst>
          </p:cNvPr>
          <p:cNvSpPr>
            <a:spLocks noGrp="1"/>
          </p:cNvSpPr>
          <p:nvPr>
            <p:ph type="title"/>
          </p:nvPr>
        </p:nvSpPr>
        <p:spPr/>
        <p:txBody>
          <a:bodyPr/>
          <a:lstStyle/>
          <a:p>
            <a:r>
              <a:rPr lang="en-US" dirty="0"/>
              <a:t>Double Blind studies</a:t>
            </a:r>
          </a:p>
        </p:txBody>
      </p:sp>
      <p:sp>
        <p:nvSpPr>
          <p:cNvPr id="3" name="Content Placeholder 2">
            <a:extLst>
              <a:ext uri="{FF2B5EF4-FFF2-40B4-BE49-F238E27FC236}">
                <a16:creationId xmlns:a16="http://schemas.microsoft.com/office/drawing/2014/main" id="{CDD86298-9CBD-D846-F00E-997BD0C88137}"/>
              </a:ext>
            </a:extLst>
          </p:cNvPr>
          <p:cNvSpPr>
            <a:spLocks noGrp="1"/>
          </p:cNvSpPr>
          <p:nvPr>
            <p:ph idx="1"/>
          </p:nvPr>
        </p:nvSpPr>
        <p:spPr/>
        <p:txBody>
          <a:bodyPr/>
          <a:lstStyle/>
          <a:p>
            <a:r>
              <a:rPr lang="en-US" dirty="0"/>
              <a:t>The experimenters do not know the condition of the IV</a:t>
            </a:r>
          </a:p>
          <a:p>
            <a:pPr lvl="1"/>
            <a:r>
              <a:rPr lang="en-US" dirty="0"/>
              <a:t>Requires external support to prepare research materials</a:t>
            </a:r>
          </a:p>
          <a:p>
            <a:r>
              <a:rPr lang="en-US" dirty="0"/>
              <a:t>Common in medical intervention research, e.g., drug studies</a:t>
            </a:r>
          </a:p>
          <a:p>
            <a:pPr lvl="1"/>
            <a:r>
              <a:rPr lang="en-US" dirty="0"/>
              <a:t>Research pharmacy prepares numbered doses</a:t>
            </a:r>
          </a:p>
          <a:p>
            <a:pPr lvl="1"/>
            <a:r>
              <a:rPr lang="en-US" dirty="0"/>
              <a:t>Conditions only revealed after data collection complete</a:t>
            </a:r>
          </a:p>
          <a:p>
            <a:pPr lvl="1"/>
            <a:r>
              <a:rPr lang="en-US" dirty="0"/>
              <a:t>Randomized Clinical Trials (RCT)</a:t>
            </a:r>
          </a:p>
          <a:p>
            <a:pPr lvl="1"/>
            <a:endParaRPr lang="en-US" dirty="0"/>
          </a:p>
          <a:p>
            <a:r>
              <a:rPr lang="en-US" dirty="0"/>
              <a:t>Unusual in experimental psychological research</a:t>
            </a:r>
          </a:p>
          <a:p>
            <a:endParaRPr lang="en-US" dirty="0"/>
          </a:p>
        </p:txBody>
      </p:sp>
    </p:spTree>
    <p:extLst>
      <p:ext uri="{BB962C8B-B14F-4D97-AF65-F5344CB8AC3E}">
        <p14:creationId xmlns:p14="http://schemas.microsoft.com/office/powerpoint/2010/main" val="473472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7E8B2-E512-3FF3-51B7-CF4C8C077CD7}"/>
              </a:ext>
            </a:extLst>
          </p:cNvPr>
          <p:cNvSpPr>
            <a:spLocks noGrp="1"/>
          </p:cNvSpPr>
          <p:nvPr>
            <p:ph type="title"/>
          </p:nvPr>
        </p:nvSpPr>
        <p:spPr/>
        <p:txBody>
          <a:bodyPr/>
          <a:lstStyle/>
          <a:p>
            <a:r>
              <a:rPr lang="en-US" dirty="0"/>
              <a:t>Independent raters</a:t>
            </a:r>
          </a:p>
        </p:txBody>
      </p:sp>
      <p:sp>
        <p:nvSpPr>
          <p:cNvPr id="3" name="Content Placeholder 2">
            <a:extLst>
              <a:ext uri="{FF2B5EF4-FFF2-40B4-BE49-F238E27FC236}">
                <a16:creationId xmlns:a16="http://schemas.microsoft.com/office/drawing/2014/main" id="{8B12D09F-9878-95D7-C60D-01711613269D}"/>
              </a:ext>
            </a:extLst>
          </p:cNvPr>
          <p:cNvSpPr>
            <a:spLocks noGrp="1"/>
          </p:cNvSpPr>
          <p:nvPr>
            <p:ph idx="1"/>
          </p:nvPr>
        </p:nvSpPr>
        <p:spPr/>
        <p:txBody>
          <a:bodyPr>
            <a:normAutofit/>
          </a:bodyPr>
          <a:lstStyle/>
          <a:p>
            <a:r>
              <a:rPr lang="en-US" dirty="0"/>
              <a:t>When subjective judgments are required, use “independent raters”</a:t>
            </a:r>
          </a:p>
          <a:p>
            <a:pPr lvl="1"/>
            <a:r>
              <a:rPr lang="en-US" dirty="0"/>
              <a:t>Research assistants kept blind to condition</a:t>
            </a:r>
          </a:p>
          <a:p>
            <a:pPr lvl="1"/>
            <a:r>
              <a:rPr lang="en-US" dirty="0"/>
              <a:t>Experimenters know the research hypothesis, but personnel carrying out scoring do not</a:t>
            </a:r>
          </a:p>
          <a:p>
            <a:endParaRPr lang="en-US" dirty="0"/>
          </a:p>
          <a:p>
            <a:r>
              <a:rPr lang="en-US" dirty="0"/>
              <a:t>Examples</a:t>
            </a:r>
          </a:p>
          <a:p>
            <a:pPr lvl="1"/>
            <a:r>
              <a:rPr lang="en-US" dirty="0"/>
              <a:t>Emotional reactions such as laughing</a:t>
            </a:r>
          </a:p>
          <a:p>
            <a:pPr lvl="1"/>
            <a:r>
              <a:rPr lang="en-US" dirty="0"/>
              <a:t>Playground aggression</a:t>
            </a:r>
          </a:p>
          <a:p>
            <a:pPr lvl="1"/>
            <a:r>
              <a:rPr lang="en-US" dirty="0"/>
              <a:t>Speech performance after anxiety treatment</a:t>
            </a:r>
          </a:p>
        </p:txBody>
      </p:sp>
    </p:spTree>
    <p:extLst>
      <p:ext uri="{BB962C8B-B14F-4D97-AF65-F5344CB8AC3E}">
        <p14:creationId xmlns:p14="http://schemas.microsoft.com/office/powerpoint/2010/main" val="3789152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7B1B6-05E6-2B41-A1D3-7EED93F4E84F}"/>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98927422-C653-9C7C-C5DD-48AB328C3720}"/>
              </a:ext>
            </a:extLst>
          </p:cNvPr>
          <p:cNvSpPr>
            <a:spLocks noGrp="1"/>
          </p:cNvSpPr>
          <p:nvPr>
            <p:ph idx="1"/>
          </p:nvPr>
        </p:nvSpPr>
        <p:spPr/>
        <p:txBody>
          <a:bodyPr/>
          <a:lstStyle/>
          <a:p>
            <a:r>
              <a:rPr lang="en-US" dirty="0"/>
              <a:t>Read the brief summary of the following study: “Participants drank either coffee or tea before taking a cognitive test. The coffee group performed significantly better.” What potential confounds should the researcher consider?</a:t>
            </a:r>
          </a:p>
          <a:p>
            <a:r>
              <a:rPr lang="en-US" dirty="0"/>
              <a:t>You are doing a study at a local school.  Because of the way things area scheduled, you can have one small testing room in the morning and another much larger testing room in the afternoon.  If you have two treatment conditions (A and B), how can you assign subjects to the testing rooms so that the type of room will not lead to confounding your experiment?</a:t>
            </a:r>
          </a:p>
          <a:p>
            <a:endParaRPr lang="en-US" dirty="0"/>
          </a:p>
          <a:p>
            <a:endParaRPr lang="en-US" dirty="0"/>
          </a:p>
        </p:txBody>
      </p:sp>
    </p:spTree>
    <p:extLst>
      <p:ext uri="{BB962C8B-B14F-4D97-AF65-F5344CB8AC3E}">
        <p14:creationId xmlns:p14="http://schemas.microsoft.com/office/powerpoint/2010/main" val="1127597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DDE3D-EB1B-791E-A3F4-59A6E17A4CCA}"/>
              </a:ext>
            </a:extLst>
          </p:cNvPr>
          <p:cNvSpPr>
            <a:spLocks noGrp="1"/>
          </p:cNvSpPr>
          <p:nvPr>
            <p:ph type="title"/>
          </p:nvPr>
        </p:nvSpPr>
        <p:spPr/>
        <p:txBody>
          <a:bodyPr/>
          <a:lstStyle/>
          <a:p>
            <a:r>
              <a:rPr lang="en-US" dirty="0"/>
              <a:t>Random assignment</a:t>
            </a:r>
          </a:p>
        </p:txBody>
      </p:sp>
      <p:sp>
        <p:nvSpPr>
          <p:cNvPr id="3" name="Content Placeholder 2">
            <a:extLst>
              <a:ext uri="{FF2B5EF4-FFF2-40B4-BE49-F238E27FC236}">
                <a16:creationId xmlns:a16="http://schemas.microsoft.com/office/drawing/2014/main" id="{BC0109E7-AD86-DD53-8938-35FB77F9B1A9}"/>
              </a:ext>
            </a:extLst>
          </p:cNvPr>
          <p:cNvSpPr>
            <a:spLocks noGrp="1"/>
          </p:cNvSpPr>
          <p:nvPr>
            <p:ph idx="1"/>
          </p:nvPr>
        </p:nvSpPr>
        <p:spPr/>
        <p:txBody>
          <a:bodyPr/>
          <a:lstStyle/>
          <a:p>
            <a:r>
              <a:rPr lang="en-US" dirty="0"/>
              <a:t>Participant variables are not a problem for experimental design if random assignment is used</a:t>
            </a:r>
          </a:p>
          <a:p>
            <a:pPr lvl="1"/>
            <a:r>
              <a:rPr lang="en-US" dirty="0"/>
              <a:t>Any unbiased process for assignment works</a:t>
            </a:r>
          </a:p>
          <a:p>
            <a:pPr lvl="2"/>
            <a:r>
              <a:rPr lang="en-US" dirty="0"/>
              <a:t>ABAB will be random and keep group sizes similar</a:t>
            </a:r>
          </a:p>
          <a:p>
            <a:pPr lvl="1"/>
            <a:r>
              <a:rPr lang="en-US" dirty="0"/>
              <a:t>Picking the condition may not be unbiased</a:t>
            </a:r>
          </a:p>
        </p:txBody>
      </p:sp>
    </p:spTree>
    <p:extLst>
      <p:ext uri="{BB962C8B-B14F-4D97-AF65-F5344CB8AC3E}">
        <p14:creationId xmlns:p14="http://schemas.microsoft.com/office/powerpoint/2010/main" val="1290392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2C204-E200-25C6-DF5E-0A4B2583381E}"/>
              </a:ext>
            </a:extLst>
          </p:cNvPr>
          <p:cNvSpPr>
            <a:spLocks noGrp="1"/>
          </p:cNvSpPr>
          <p:nvPr>
            <p:ph type="title"/>
          </p:nvPr>
        </p:nvSpPr>
        <p:spPr/>
        <p:txBody>
          <a:bodyPr/>
          <a:lstStyle/>
          <a:p>
            <a:r>
              <a:rPr lang="en-US" dirty="0"/>
              <a:t>Confederates</a:t>
            </a:r>
          </a:p>
        </p:txBody>
      </p:sp>
      <p:sp>
        <p:nvSpPr>
          <p:cNvPr id="3" name="Content Placeholder 2">
            <a:extLst>
              <a:ext uri="{FF2B5EF4-FFF2-40B4-BE49-F238E27FC236}">
                <a16:creationId xmlns:a16="http://schemas.microsoft.com/office/drawing/2014/main" id="{73AC138A-29A6-6826-CE88-15879F181EE5}"/>
              </a:ext>
            </a:extLst>
          </p:cNvPr>
          <p:cNvSpPr>
            <a:spLocks noGrp="1"/>
          </p:cNvSpPr>
          <p:nvPr>
            <p:ph idx="1"/>
          </p:nvPr>
        </p:nvSpPr>
        <p:spPr/>
        <p:txBody>
          <a:bodyPr/>
          <a:lstStyle/>
          <a:p>
            <a:r>
              <a:rPr lang="en-US" dirty="0"/>
              <a:t>Some research may use research personnel acting as other participants</a:t>
            </a:r>
          </a:p>
          <a:p>
            <a:r>
              <a:rPr lang="en-US" dirty="0"/>
              <a:t>Procedure needs to be thoroughly and carefully scripted</a:t>
            </a:r>
          </a:p>
          <a:p>
            <a:pPr lvl="1"/>
            <a:r>
              <a:rPr lang="en-US" dirty="0"/>
              <a:t>E.g., conversing until interrupted</a:t>
            </a:r>
          </a:p>
          <a:p>
            <a:pPr lvl="1"/>
            <a:r>
              <a:rPr lang="en-US" dirty="0"/>
              <a:t>Acting experience a plus</a:t>
            </a:r>
          </a:p>
          <a:p>
            <a:r>
              <a:rPr lang="en-US" dirty="0"/>
              <a:t>Extraneous variables to consider</a:t>
            </a:r>
          </a:p>
          <a:p>
            <a:pPr lvl="1"/>
            <a:r>
              <a:rPr lang="en-US" dirty="0"/>
              <a:t>Differences among confederates</a:t>
            </a:r>
          </a:p>
          <a:p>
            <a:pPr lvl="1"/>
            <a:r>
              <a:rPr lang="en-US" dirty="0"/>
              <a:t>Consistency of protocol</a:t>
            </a:r>
          </a:p>
          <a:p>
            <a:pPr lvl="1"/>
            <a:r>
              <a:rPr lang="en-US" dirty="0"/>
              <a:t>Fatigue in personnel</a:t>
            </a:r>
          </a:p>
        </p:txBody>
      </p:sp>
    </p:spTree>
    <p:extLst>
      <p:ext uri="{BB962C8B-B14F-4D97-AF65-F5344CB8AC3E}">
        <p14:creationId xmlns:p14="http://schemas.microsoft.com/office/powerpoint/2010/main" val="2846746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BE25-3A34-4500-5A69-3D525FE4BA4A}"/>
              </a:ext>
            </a:extLst>
          </p:cNvPr>
          <p:cNvSpPr>
            <a:spLocks noGrp="1"/>
          </p:cNvSpPr>
          <p:nvPr>
            <p:ph type="title"/>
          </p:nvPr>
        </p:nvSpPr>
        <p:spPr/>
        <p:txBody>
          <a:bodyPr/>
          <a:lstStyle/>
          <a:p>
            <a:r>
              <a:rPr lang="en-US" dirty="0"/>
              <a:t>For Friday</a:t>
            </a:r>
          </a:p>
        </p:txBody>
      </p:sp>
      <p:sp>
        <p:nvSpPr>
          <p:cNvPr id="3" name="Content Placeholder 2">
            <a:extLst>
              <a:ext uri="{FF2B5EF4-FFF2-40B4-BE49-F238E27FC236}">
                <a16:creationId xmlns:a16="http://schemas.microsoft.com/office/drawing/2014/main" id="{5871367B-E6F5-1E5B-2C16-5B8EA92DC485}"/>
              </a:ext>
            </a:extLst>
          </p:cNvPr>
          <p:cNvSpPr>
            <a:spLocks noGrp="1"/>
          </p:cNvSpPr>
          <p:nvPr>
            <p:ph idx="1"/>
          </p:nvPr>
        </p:nvSpPr>
        <p:spPr/>
        <p:txBody>
          <a:bodyPr/>
          <a:lstStyle/>
          <a:p>
            <a:r>
              <a:rPr lang="en-US" dirty="0"/>
              <a:t>Chapter 5, Sampling, Qs. 1-6</a:t>
            </a:r>
          </a:p>
          <a:p>
            <a:pPr lvl="1"/>
            <a:r>
              <a:rPr lang="en-US"/>
              <a:t>Recruiting participants</a:t>
            </a:r>
            <a:endParaRPr lang="en-US" dirty="0"/>
          </a:p>
        </p:txBody>
      </p:sp>
    </p:spTree>
    <p:extLst>
      <p:ext uri="{BB962C8B-B14F-4D97-AF65-F5344CB8AC3E}">
        <p14:creationId xmlns:p14="http://schemas.microsoft.com/office/powerpoint/2010/main" val="1671477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15188</TotalTime>
  <Words>1362</Words>
  <Application>Microsoft Office PowerPoint</Application>
  <PresentationFormat>Widescreen</PresentationFormat>
  <Paragraphs>105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205 Sep 24, Class 4</vt:lpstr>
      <vt:lpstr>PowerPoint Presentation</vt:lpstr>
      <vt:lpstr>Abstract</vt:lpstr>
      <vt:lpstr>PowerPoint Presentation</vt:lpstr>
      <vt:lpstr>Reading the research</vt:lpstr>
      <vt:lpstr>Implicit bias research</vt:lpstr>
      <vt:lpstr>“Rude” Priming manipulation</vt:lpstr>
      <vt:lpstr>Dependent variable</vt:lpstr>
      <vt:lpstr>Walking speed</vt:lpstr>
      <vt:lpstr>Avoiding experimenter bias</vt:lpstr>
      <vt:lpstr>Demand characteristics</vt:lpstr>
      <vt:lpstr>Double Blind studies</vt:lpstr>
      <vt:lpstr>Independent raters</vt:lpstr>
      <vt:lpstr>Homework</vt:lpstr>
      <vt:lpstr>Random assignment</vt:lpstr>
      <vt:lpstr>Confederates</vt:lpstr>
      <vt:lpstr>For Friday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Sep 28, Class 4</dc:title>
  <dc:creator>Paul Reber</dc:creator>
  <cp:lastModifiedBy>Paul Reber</cp:lastModifiedBy>
  <cp:revision>27</cp:revision>
  <cp:lastPrinted>2025-09-24T14:30:10Z</cp:lastPrinted>
  <dcterms:created xsi:type="dcterms:W3CDTF">2022-09-22T18:13:33Z</dcterms:created>
  <dcterms:modified xsi:type="dcterms:W3CDTF">2025-09-25T15:37:57Z</dcterms:modified>
</cp:coreProperties>
</file>