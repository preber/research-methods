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5" r:id="rId3"/>
    <p:sldId id="277" r:id="rId4"/>
    <p:sldId id="278" r:id="rId5"/>
    <p:sldId id="331" r:id="rId6"/>
    <p:sldId id="332" r:id="rId7"/>
    <p:sldId id="333" r:id="rId8"/>
    <p:sldId id="294" r:id="rId9"/>
    <p:sldId id="329" r:id="rId10"/>
    <p:sldId id="312" r:id="rId11"/>
    <p:sldId id="326" r:id="rId12"/>
    <p:sldId id="327" r:id="rId13"/>
    <p:sldId id="315" r:id="rId14"/>
    <p:sldId id="328" r:id="rId15"/>
    <p:sldId id="316" r:id="rId16"/>
    <p:sldId id="334" r:id="rId17"/>
    <p:sldId id="330" r:id="rId18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60"/>
  </p:normalViewPr>
  <p:slideViewPr>
    <p:cSldViewPr snapToGrid="0">
      <p:cViewPr varScale="1">
        <p:scale>
          <a:sx n="64" d="100"/>
          <a:sy n="64" d="100"/>
        </p:scale>
        <p:origin x="5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6E0855E8-6030-425E-AD5A-E8A6F1633C7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1B879628-1E62-4151-8430-F9F62909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2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09961E-0A26-45CB-B2A9-D09862605DC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37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B7AE-D66E-21EF-C691-E1E2D16A0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16BAC-2B9A-3A48-5CE9-1FEB28AD0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D6E72-5ECF-26B4-C7B1-B4B42FDE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48563-EF58-E867-5C62-2743D4C8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0A52F-C7F9-0E29-9CA4-8882BDF6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05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B1C1-E1A1-989A-7C63-745C11439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BE314-7F81-FFBC-67F5-F5749A704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03FEC-35AD-809D-D344-8FB672E5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B4AA4-1481-1E30-161E-B36F44BA8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6BF10-1282-95FF-4CE3-B2476701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3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7619-8DEA-31B4-4BF4-4B1D12407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B3D42-73C4-8FA1-E423-4784884C7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3196B-AC56-6070-CB9C-BDC3E9FB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7E795-3344-A51C-C9AF-D32AC124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0C57C-A8E4-5977-A04B-4D3E7BDEE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02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E0EB-C91A-40E0-12A3-1298129AA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42AB0-FBEF-545C-5D1A-C3AA5E6E1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3123-5B57-5746-A45C-75EBB5024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DFBFC-E63A-21E6-82E2-E5E1FDC0D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3F605-CD5D-CC2B-F669-B3097D9D6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4B3B5-EC05-90D1-99C4-29D726BB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1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8FCA-73BE-637B-8AF6-709F4DB80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8C5A7-320F-B516-1D5B-A95942A54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3494B-095F-58A4-FE5B-BB12DD9A8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C4DDB0-02FA-FAEF-7021-DAABE313C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DB9B9-6A16-CC2C-C5FC-9A08AFDC9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27A3DE-EDE8-DAF4-6A4C-B0C2387B9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8F8D31-2259-7597-5B58-8D6C18F7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4ADE6-62F9-9A69-8AE9-5C4B6A26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E3C7-4A6A-65C3-9BF3-7DA7507E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A6F22-37AE-1B21-6FF9-59237C349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B8930-A75E-6A03-FFEE-62CF0F1A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1AB8F-37D2-3F64-3B8D-F74BA925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0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01B9AF-B947-5A9D-2CDA-064F00F18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E3823-FDBF-20BD-F6DF-22CB6376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568F1-3BE4-E042-D0A8-83645C95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6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D5707-A359-972C-A780-76224709D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1BE52-F627-B751-2FBA-96EE7F8A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90C8C-1C20-0746-0D87-D9A9A4905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7452B-7E9B-0F04-370B-B329C010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94EB7-4E0D-D358-FED1-AE21BE10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60F57-2D20-9913-5E7C-E0B3A73B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5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585D1-3E2B-5501-EE2B-2CC04B2E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7324D4-1C97-3363-EDB7-02707DF3C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B58D8-ED26-1AEF-8CC5-CDD2D8DB7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E675A-F63E-7A5A-784C-7AB71445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54CE7-549C-D31B-9214-FE2E99E1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2B550-4E61-B7FC-B9AF-6283DC39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04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1A887-862F-C45F-DEB5-1701B1F6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5FE92-B7B6-4007-955F-113E1596F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C82C4-58F2-6FDA-C1D4-F242CF49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D17F4-5BDA-ADD6-AF71-4E46F52A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65581-B35C-2138-83DC-1B0B5254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80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DB0D9B-AB43-6961-4D02-BECBACC8B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50472-A3D9-2094-8678-BC28150E3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FEE08-7750-1626-A4DF-CE3B2A29E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4AB27-9632-76BA-EF99-A143BB08D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B45BF-BF13-E432-E4A4-7CD9F4331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3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0ADEA5-7CCB-71DD-5A83-A91C65C7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A3740-AC1D-5B3C-2EB4-BA8FBD4B0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02FF3-EE6F-8BBE-6F74-7177D8E7C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1FF97-7202-4846-BECC-3E8C42FA3EFA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8E8F6-5310-5015-B922-A953E9183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2BDF0-ED24-FDB2-ADC1-8686E4889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6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6B6290-B1AF-3166-9E4E-E8C9ACAA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301 </a:t>
            </a:r>
            <a:r>
              <a:rPr lang="en-US" dirty="0"/>
              <a:t>Sep 29, Class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73A8F4-4F60-6EB6-F421-72A8C17F8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 1 background</a:t>
            </a:r>
          </a:p>
          <a:p>
            <a:endParaRPr lang="en-US" dirty="0"/>
          </a:p>
          <a:p>
            <a:r>
              <a:rPr lang="en-US" dirty="0"/>
              <a:t>Levels of Processing theory</a:t>
            </a:r>
          </a:p>
          <a:p>
            <a:pPr lvl="1"/>
            <a:r>
              <a:rPr lang="en-US" dirty="0"/>
              <a:t>Prior research</a:t>
            </a:r>
          </a:p>
        </p:txBody>
      </p:sp>
    </p:spTree>
    <p:extLst>
      <p:ext uri="{BB962C8B-B14F-4D97-AF65-F5344CB8AC3E}">
        <p14:creationId xmlns:p14="http://schemas.microsoft.com/office/powerpoint/2010/main" val="226088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9338-4AAD-2586-B8C1-A78F55F1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Craik &amp; Lockhart (1972): Depth of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A1CBE-6AD3-153A-910D-BA1D82A64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 background</a:t>
            </a:r>
          </a:p>
          <a:p>
            <a:pPr lvl="1"/>
            <a:r>
              <a:rPr lang="en-US" dirty="0"/>
              <a:t>Somewhat archaic terms (STS, LTS)</a:t>
            </a:r>
          </a:p>
          <a:p>
            <a:pPr lvl="1"/>
            <a:r>
              <a:rPr lang="en-US" dirty="0"/>
              <a:t>Modern framework has similar structure (Multistore)</a:t>
            </a:r>
          </a:p>
          <a:p>
            <a:pPr lvl="2"/>
            <a:r>
              <a:rPr lang="en-US" dirty="0"/>
              <a:t>Working memory (from perception): capacity-limited, rapidly fading</a:t>
            </a:r>
          </a:p>
          <a:p>
            <a:pPr lvl="2"/>
            <a:r>
              <a:rPr lang="en-US" dirty="0"/>
              <a:t>Long-term memory: large capacity, highly persistent</a:t>
            </a:r>
          </a:p>
          <a:p>
            <a:pPr lvl="1"/>
            <a:r>
              <a:rPr lang="en-US" dirty="0"/>
              <a:t>LTM is all stored knowledge</a:t>
            </a:r>
          </a:p>
          <a:p>
            <a:pPr lvl="2"/>
            <a:r>
              <a:rPr lang="en-US" dirty="0"/>
              <a:t>Knowledge of general facts = Semantic</a:t>
            </a:r>
          </a:p>
          <a:p>
            <a:pPr lvl="2"/>
            <a:r>
              <a:rPr lang="en-US" dirty="0"/>
              <a:t>Knowledge of personal experiences = Episodic</a:t>
            </a:r>
          </a:p>
          <a:p>
            <a:r>
              <a:rPr lang="en-US" dirty="0"/>
              <a:t>Semantic memory includes knowing what a word means </a:t>
            </a:r>
          </a:p>
          <a:p>
            <a:r>
              <a:rPr lang="en-US" dirty="0"/>
              <a:t>Episodic memory refers to the event of encountering that word during the study phase</a:t>
            </a:r>
          </a:p>
        </p:txBody>
      </p:sp>
    </p:spTree>
    <p:extLst>
      <p:ext uri="{BB962C8B-B14F-4D97-AF65-F5344CB8AC3E}">
        <p14:creationId xmlns:p14="http://schemas.microsoft.com/office/powerpoint/2010/main" val="1667505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D9B8-570D-6B5E-75CF-0462B341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CL1972 HW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4B38-329E-EB87-7E86-C2451FC09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What is 'depth of processing' and why might it lead to better memory?</a:t>
            </a:r>
          </a:p>
          <a:p>
            <a:endParaRPr lang="en-US" dirty="0"/>
          </a:p>
          <a:p>
            <a:r>
              <a:rPr lang="en-US" dirty="0"/>
              <a:t>2. In our study, what was the operational definition of 'deep encoding'?</a:t>
            </a:r>
          </a:p>
          <a:p>
            <a:endParaRPr lang="en-US" dirty="0"/>
          </a:p>
          <a:p>
            <a:r>
              <a:rPr lang="en-US" dirty="0"/>
              <a:t>3  In our study, what was the operational definition of 'shallow encoding'?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0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7523-D22D-AF49-F20A-CB470593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CL1972 HW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EA49-11E6-F0A1-B93D-311236448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4. From the prior work cited (e.g., p 677), give another example of how researchers have implemented a different procedure to create shallow encoding.</a:t>
            </a:r>
          </a:p>
          <a:p>
            <a:endParaRPr lang="en-US" dirty="0"/>
          </a:p>
          <a:p>
            <a:r>
              <a:rPr lang="en-US" dirty="0"/>
              <a:t>5. Give another example of deep encoding from the briefly reviewed prior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111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BF63-991F-9D7A-44FE-CA5808F9A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work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538B30-0165-936D-F762-46A37AA412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Brief summaries of prior work in which study conditions included procedures similar to those used in depth of processing</a:t>
            </a:r>
          </a:p>
          <a:p>
            <a:endParaRPr lang="en-US" dirty="0"/>
          </a:p>
          <a:p>
            <a:r>
              <a:rPr lang="en-US" dirty="0"/>
              <a:t>These operational definitions arose from different constructs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27B9AA-C2C1-D0F5-9624-A29A230299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55EA2-5530-A439-7161-58F5B21AD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67756"/>
            <a:ext cx="541972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95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E5071-1307-3592-2E77-D2DDFB055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Incidental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30E0F-7D77-81BD-7CA1-E379E6585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Contrasted with intentional learning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Was our Experiment 1 incidental or intentional learning?</a:t>
            </a:r>
          </a:p>
          <a:p>
            <a:pPr lvl="1"/>
            <a:r>
              <a:rPr lang="en-US" dirty="0"/>
              <a:t>How does this affect the conclusions we will draw?</a:t>
            </a:r>
          </a:p>
        </p:txBody>
      </p:sp>
    </p:spTree>
    <p:extLst>
      <p:ext uri="{BB962C8B-B14F-4D97-AF65-F5344CB8AC3E}">
        <p14:creationId xmlns:p14="http://schemas.microsoft.com/office/powerpoint/2010/main" val="3361580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D6DB0-2846-B132-C9A4-AC5CDE03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00919-4421-AACD-E7E5-1734F7E05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DCE52-E2A4-FD53-4231-38D9A1909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762" y="0"/>
            <a:ext cx="51544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724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143C4-D941-4132-81D3-1E0CE4262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Craik &amp; Tulving (1975)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51177-5181-441B-845B-B96FB7B12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 experiments</a:t>
            </a:r>
          </a:p>
          <a:p>
            <a:r>
              <a:rPr lang="en-US" dirty="0"/>
              <a:t>Multiple replications</a:t>
            </a:r>
          </a:p>
          <a:p>
            <a:pPr lvl="1"/>
            <a:r>
              <a:rPr lang="en-US" dirty="0"/>
              <a:t>Value of different approaches to IV and DV</a:t>
            </a:r>
          </a:p>
          <a:p>
            <a:r>
              <a:rPr lang="en-US" dirty="0"/>
              <a:t>Writing and presentation, methodological detail, results</a:t>
            </a:r>
          </a:p>
          <a:p>
            <a:pPr lvl="1"/>
            <a:r>
              <a:rPr lang="en-US" dirty="0"/>
              <a:t>This is an older variant of APA style</a:t>
            </a:r>
          </a:p>
          <a:p>
            <a:pPr lvl="1"/>
            <a:r>
              <a:rPr lang="en-US" dirty="0"/>
              <a:t>Your report should be in modern style</a:t>
            </a:r>
          </a:p>
        </p:txBody>
      </p:sp>
    </p:spTree>
    <p:extLst>
      <p:ext uri="{BB962C8B-B14F-4D97-AF65-F5344CB8AC3E}">
        <p14:creationId xmlns:p14="http://schemas.microsoft.com/office/powerpoint/2010/main" val="2404159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797EFB-6FEA-4D10-83E5-1D0551A71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57200"/>
            <a:ext cx="6858000" cy="585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7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9E41E-B0A8-4B11-B5C0-A0A1D5A5D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16A93-1A92-4F81-BAD7-A78A5FD02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In Experiment 1, how many levels of the IV were used? </a:t>
            </a:r>
          </a:p>
          <a:p>
            <a:endParaRPr lang="en-US" b="0" i="0" dirty="0">
              <a:solidFill>
                <a:srgbClr val="2D3B45"/>
              </a:solidFill>
              <a:effectLst/>
              <a:latin typeface="Lato Extended"/>
            </a:endParaRPr>
          </a:p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What was the DV measure of memory?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919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81427-2AB0-4EF6-A1B8-CE17AA61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 1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5D17B-4F10-4C43-8ED1-02A1FDCB8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5A2BF-4C96-4781-AB8D-16EB44EE2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901" y="1527951"/>
            <a:ext cx="2981325" cy="1857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5BC305-7860-41E5-AE26-399FA9721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226" y="3276601"/>
            <a:ext cx="2924175" cy="1266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63DD16-993F-4CD8-B64C-D04212B7E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7227" y="1724361"/>
            <a:ext cx="2981325" cy="2695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167D9B-AE28-4462-A8DB-1A84B8987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7226" y="4543426"/>
            <a:ext cx="2981325" cy="20478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D8BF7A-51C9-4FA7-A516-07208D19C8C8}"/>
              </a:ext>
            </a:extLst>
          </p:cNvPr>
          <p:cNvSpPr txBox="1"/>
          <p:nvPr/>
        </p:nvSpPr>
        <p:spPr>
          <a:xfrm>
            <a:off x="8382000" y="1539694"/>
            <a:ext cx="106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Materials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B08F26-E804-4499-9894-267ACB7ADD1D}"/>
              </a:ext>
            </a:extLst>
          </p:cNvPr>
          <p:cNvCxnSpPr/>
          <p:nvPr/>
        </p:nvCxnSpPr>
        <p:spPr>
          <a:xfrm flipH="1">
            <a:off x="8153400" y="1981200"/>
            <a:ext cx="100925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9AB1AE0-3FD8-4625-AF32-F6C898238898}"/>
              </a:ext>
            </a:extLst>
          </p:cNvPr>
          <p:cNvSpPr txBox="1"/>
          <p:nvPr/>
        </p:nvSpPr>
        <p:spPr>
          <a:xfrm>
            <a:off x="8382000" y="2514600"/>
            <a:ext cx="115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Procedure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7AB5B9-14F5-40F3-815E-400A8825469C}"/>
              </a:ext>
            </a:extLst>
          </p:cNvPr>
          <p:cNvCxnSpPr/>
          <p:nvPr/>
        </p:nvCxnSpPr>
        <p:spPr>
          <a:xfrm flipH="1">
            <a:off x="8153400" y="2956106"/>
            <a:ext cx="100925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015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4584E-FD42-4DDF-BE64-4BFC8AF7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 1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7AA72-F8BC-43C5-BADE-35E68CE68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26E72-E496-44F6-A7BB-C6BEC5CE1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962" y="1905000"/>
            <a:ext cx="4790076" cy="36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10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EFAA3-2994-4D39-A732-B40FDC2CA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10BD1-1C15-472B-9B56-56A81B300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Experiment 5 is carefully designed to address what confounding alternative hypothesis? </a:t>
            </a:r>
          </a:p>
          <a:p>
            <a:endParaRPr lang="en-US" b="0" i="0" dirty="0">
              <a:solidFill>
                <a:srgbClr val="2D3B45"/>
              </a:solidFill>
              <a:effectLst/>
              <a:latin typeface="Lato Extended"/>
            </a:endParaRPr>
          </a:p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To do so, what aspect of the IV is made as constant as possible?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536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F209B-768B-4D90-8279-034BA4173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3DB0-9760-4FA6-A46C-93485E8BE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61E51-487B-45D2-85EA-6F430E511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4" y="614363"/>
            <a:ext cx="3095625" cy="1971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7EB59D-2546-46AA-9624-76EC90E99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964" y="2505076"/>
            <a:ext cx="2790825" cy="3514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D3BC5A-1086-41DF-AB65-071F7FD9C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750" y="1600200"/>
            <a:ext cx="4737150" cy="381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54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353B-CE6C-42CD-8F73-66BD287EA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62AFA-0DAF-4CD7-A93B-8F37DF59D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In what way was Experiment 9 similar to our in-class experiment? </a:t>
            </a:r>
          </a:p>
          <a:p>
            <a:endParaRPr lang="en-US" b="0" i="0" dirty="0">
              <a:solidFill>
                <a:srgbClr val="2D3B45"/>
              </a:solidFill>
              <a:effectLst/>
              <a:latin typeface="Lato Extended"/>
            </a:endParaRPr>
          </a:p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Identify some methodological differences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004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40333-DC09-BAC6-392A-DC0CED5A8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for classroom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3132-80C8-3556-DC34-920EA9498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7E4B4-032D-36B4-BADA-A06AA544E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7" y="1690688"/>
            <a:ext cx="3733692" cy="4122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D7823E-18DF-6415-14EE-8914A4FA6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389" y="1690688"/>
            <a:ext cx="3733693" cy="37823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7F8943-98D9-DE43-19F7-A16979261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081" y="1799015"/>
            <a:ext cx="3830987" cy="15202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36D70A-0C5C-53E5-0BA4-70AEEA686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1729" y="3179978"/>
            <a:ext cx="3733692" cy="71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8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91B2-01BC-3F50-EC53-AFAD3F441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Wed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5D4E0-D987-83AB-3A6C-15B8E8483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6</a:t>
            </a:r>
          </a:p>
          <a:p>
            <a:pPr lvl="1"/>
            <a:r>
              <a:rPr lang="en-US" dirty="0"/>
              <a:t>Statistics 1</a:t>
            </a:r>
          </a:p>
          <a:p>
            <a:pPr lvl="1"/>
            <a:endParaRPr lang="en-US" dirty="0"/>
          </a:p>
          <a:p>
            <a:r>
              <a:rPr lang="en-US" dirty="0"/>
              <a:t>Operations Manual, Experiment 1 t-test</a:t>
            </a:r>
          </a:p>
          <a:p>
            <a:pPr lvl="1"/>
            <a:r>
              <a:rPr lang="en-US" dirty="0"/>
              <a:t>Using Excel to calculate descriptive statistics</a:t>
            </a:r>
          </a:p>
          <a:p>
            <a:pPr lvl="1"/>
            <a:r>
              <a:rPr lang="en-US" dirty="0"/>
              <a:t>Using R to run the t-test</a:t>
            </a:r>
          </a:p>
          <a:p>
            <a:pPr lvl="2"/>
            <a:r>
              <a:rPr lang="en-US" dirty="0"/>
              <a:t>Scripts provided</a:t>
            </a:r>
          </a:p>
          <a:p>
            <a:pPr lvl="1"/>
            <a:r>
              <a:rPr lang="en-US" dirty="0"/>
              <a:t>Using Excel to make a figure</a:t>
            </a:r>
          </a:p>
          <a:p>
            <a:pPr lvl="2"/>
            <a:r>
              <a:rPr lang="en-US" dirty="0"/>
              <a:t>Online version does not have the error </a:t>
            </a:r>
            <a:r>
              <a:rPr lang="en-US"/>
              <a:t>bar feature we need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980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27510</TotalTime>
  <Words>416</Words>
  <Application>Microsoft Office PowerPoint</Application>
  <PresentationFormat>Widescreen</PresentationFormat>
  <Paragraphs>72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Lato Extended</vt:lpstr>
      <vt:lpstr>Office Theme</vt:lpstr>
      <vt:lpstr>301 Sep 29, Class 6</vt:lpstr>
      <vt:lpstr>Craik &amp; Lockhart (1972): Depth of processing</vt:lpstr>
      <vt:lpstr>CL1972 HW Questions</vt:lpstr>
      <vt:lpstr>CL1972 HW Questions</vt:lpstr>
      <vt:lpstr>Prior work</vt:lpstr>
      <vt:lpstr>Incidental learning</vt:lpstr>
      <vt:lpstr>PowerPoint Presentation</vt:lpstr>
      <vt:lpstr>Craik &amp; Tulving (1975)</vt:lpstr>
      <vt:lpstr>PowerPoint Presentation</vt:lpstr>
      <vt:lpstr>Q1</vt:lpstr>
      <vt:lpstr>Exp 1 Methods</vt:lpstr>
      <vt:lpstr>Exp 1 Results</vt:lpstr>
      <vt:lpstr>Q2</vt:lpstr>
      <vt:lpstr>PowerPoint Presentation</vt:lpstr>
      <vt:lpstr>Q3</vt:lpstr>
      <vt:lpstr>Rational for classroom study</vt:lpstr>
      <vt:lpstr>For Wed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Oct 3, Class 6</dc:title>
  <dc:creator>Paul Reber</dc:creator>
  <cp:lastModifiedBy>Paul J Reber</cp:lastModifiedBy>
  <cp:revision>21</cp:revision>
  <cp:lastPrinted>2025-09-29T14:30:16Z</cp:lastPrinted>
  <dcterms:created xsi:type="dcterms:W3CDTF">2022-09-23T22:23:38Z</dcterms:created>
  <dcterms:modified xsi:type="dcterms:W3CDTF">2025-09-29T18:57:11Z</dcterms:modified>
</cp:coreProperties>
</file>