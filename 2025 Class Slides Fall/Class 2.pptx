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82" r:id="rId3"/>
    <p:sldId id="277" r:id="rId4"/>
    <p:sldId id="275" r:id="rId5"/>
    <p:sldId id="259" r:id="rId6"/>
    <p:sldId id="258" r:id="rId7"/>
    <p:sldId id="280" r:id="rId8"/>
    <p:sldId id="267" r:id="rId9"/>
    <p:sldId id="264" r:id="rId10"/>
    <p:sldId id="268" r:id="rId11"/>
    <p:sldId id="281" r:id="rId12"/>
  </p:sldIdLst>
  <p:sldSz cx="12192000" cy="6858000"/>
  <p:notesSz cx="7102475" cy="93884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85" autoAdjust="0"/>
    <p:restoredTop sz="94660"/>
  </p:normalViewPr>
  <p:slideViewPr>
    <p:cSldViewPr snapToGrid="0">
      <p:cViewPr varScale="1">
        <p:scale>
          <a:sx n="59" d="100"/>
          <a:sy n="59" d="100"/>
        </p:scale>
        <p:origin x="336"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7739" cy="471054"/>
          </a:xfrm>
          <a:prstGeom prst="rect">
            <a:avLst/>
          </a:prstGeom>
        </p:spPr>
        <p:txBody>
          <a:bodyPr vert="horz" lIns="94229" tIns="47114" rIns="94229" bIns="47114" rtlCol="0"/>
          <a:lstStyle>
            <a:lvl1pPr algn="l">
              <a:defRPr sz="1200"/>
            </a:lvl1pPr>
          </a:lstStyle>
          <a:p>
            <a:endParaRPr lang="en-US"/>
          </a:p>
        </p:txBody>
      </p:sp>
      <p:sp>
        <p:nvSpPr>
          <p:cNvPr id="3" name="Date Placeholder 2"/>
          <p:cNvSpPr>
            <a:spLocks noGrp="1"/>
          </p:cNvSpPr>
          <p:nvPr>
            <p:ph type="dt" idx="1"/>
          </p:nvPr>
        </p:nvSpPr>
        <p:spPr>
          <a:xfrm>
            <a:off x="4023092" y="0"/>
            <a:ext cx="3077739" cy="471054"/>
          </a:xfrm>
          <a:prstGeom prst="rect">
            <a:avLst/>
          </a:prstGeom>
        </p:spPr>
        <p:txBody>
          <a:bodyPr vert="horz" lIns="94229" tIns="47114" rIns="94229" bIns="47114" rtlCol="0"/>
          <a:lstStyle>
            <a:lvl1pPr algn="r">
              <a:defRPr sz="1200"/>
            </a:lvl1pPr>
          </a:lstStyle>
          <a:p>
            <a:fld id="{26012E65-6D00-4874-A141-BBD0C6DF8AA4}" type="datetimeFigureOut">
              <a:rPr lang="en-US" smtClean="0"/>
              <a:t>9/19/2025</a:t>
            </a:fld>
            <a:endParaRPr lang="en-US"/>
          </a:p>
        </p:txBody>
      </p:sp>
      <p:sp>
        <p:nvSpPr>
          <p:cNvPr id="4" name="Slide Image Placeholder 3"/>
          <p:cNvSpPr>
            <a:spLocks noGrp="1" noRot="1" noChangeAspect="1"/>
          </p:cNvSpPr>
          <p:nvPr>
            <p:ph type="sldImg" idx="2"/>
          </p:nvPr>
        </p:nvSpPr>
        <p:spPr>
          <a:xfrm>
            <a:off x="735013" y="1173163"/>
            <a:ext cx="5632450" cy="3168650"/>
          </a:xfrm>
          <a:prstGeom prst="rect">
            <a:avLst/>
          </a:prstGeom>
          <a:noFill/>
          <a:ln w="12700">
            <a:solidFill>
              <a:prstClr val="black"/>
            </a:solidFill>
          </a:ln>
        </p:spPr>
        <p:txBody>
          <a:bodyPr vert="horz" lIns="94229" tIns="47114" rIns="94229" bIns="47114" rtlCol="0" anchor="ctr"/>
          <a:lstStyle/>
          <a:p>
            <a:endParaRPr lang="en-US"/>
          </a:p>
        </p:txBody>
      </p:sp>
      <p:sp>
        <p:nvSpPr>
          <p:cNvPr id="5" name="Notes Placeholder 4"/>
          <p:cNvSpPr>
            <a:spLocks noGrp="1"/>
          </p:cNvSpPr>
          <p:nvPr>
            <p:ph type="body" sz="quarter" idx="3"/>
          </p:nvPr>
        </p:nvSpPr>
        <p:spPr>
          <a:xfrm>
            <a:off x="710248" y="4518204"/>
            <a:ext cx="5681980" cy="3696712"/>
          </a:xfrm>
          <a:prstGeom prst="rect">
            <a:avLst/>
          </a:prstGeom>
        </p:spPr>
        <p:txBody>
          <a:bodyPr vert="horz" lIns="94229" tIns="47114" rIns="94229" bIns="47114"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917422"/>
            <a:ext cx="3077739" cy="471053"/>
          </a:xfrm>
          <a:prstGeom prst="rect">
            <a:avLst/>
          </a:prstGeom>
        </p:spPr>
        <p:txBody>
          <a:bodyPr vert="horz" lIns="94229" tIns="47114" rIns="94229" bIns="47114" rtlCol="0" anchor="b"/>
          <a:lstStyle>
            <a:lvl1pPr algn="l">
              <a:defRPr sz="1200"/>
            </a:lvl1pPr>
          </a:lstStyle>
          <a:p>
            <a:endParaRPr lang="en-US"/>
          </a:p>
        </p:txBody>
      </p:sp>
      <p:sp>
        <p:nvSpPr>
          <p:cNvPr id="7" name="Slide Number Placeholder 6"/>
          <p:cNvSpPr>
            <a:spLocks noGrp="1"/>
          </p:cNvSpPr>
          <p:nvPr>
            <p:ph type="sldNum" sz="quarter" idx="5"/>
          </p:nvPr>
        </p:nvSpPr>
        <p:spPr>
          <a:xfrm>
            <a:off x="4023092" y="8917422"/>
            <a:ext cx="3077739" cy="471053"/>
          </a:xfrm>
          <a:prstGeom prst="rect">
            <a:avLst/>
          </a:prstGeom>
        </p:spPr>
        <p:txBody>
          <a:bodyPr vert="horz" lIns="94229" tIns="47114" rIns="94229" bIns="47114" rtlCol="0" anchor="b"/>
          <a:lstStyle>
            <a:lvl1pPr algn="r">
              <a:defRPr sz="1200"/>
            </a:lvl1pPr>
          </a:lstStyle>
          <a:p>
            <a:fld id="{462A5A6A-2CB2-4CD8-9084-9281734CDDB8}" type="slidenum">
              <a:rPr lang="en-US" smtClean="0"/>
              <a:t>‹#›</a:t>
            </a:fld>
            <a:endParaRPr lang="en-US"/>
          </a:p>
        </p:txBody>
      </p:sp>
    </p:spTree>
    <p:extLst>
      <p:ext uri="{BB962C8B-B14F-4D97-AF65-F5344CB8AC3E}">
        <p14:creationId xmlns:p14="http://schemas.microsoft.com/office/powerpoint/2010/main" val="38540139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p:cNvSpPr>
            <a:spLocks noGrp="1" noChangeArrowheads="1"/>
          </p:cNvSpPr>
          <p:nvPr>
            <p:ph type="sldNum" sz="quarter" idx="5"/>
          </p:nvPr>
        </p:nvSpPr>
        <p:spPr>
          <a:noFill/>
        </p:spPr>
        <p:txBody>
          <a:bodyPr/>
          <a:lstStyle/>
          <a:p>
            <a:fld id="{AA8EB516-4CF1-4418-ACA6-4CBB00073677}" type="slidenum">
              <a:rPr lang="en-US"/>
              <a:pPr/>
              <a:t>5</a:t>
            </a:fld>
            <a:endParaRPr lang="en-US"/>
          </a:p>
        </p:txBody>
      </p:sp>
      <p:sp>
        <p:nvSpPr>
          <p:cNvPr id="11267" name="Rectangle 2"/>
          <p:cNvSpPr>
            <a:spLocks noGrp="1" noRot="1" noChangeAspect="1" noChangeArrowheads="1" noTextEdit="1"/>
          </p:cNvSpPr>
          <p:nvPr>
            <p:ph type="sldImg"/>
          </p:nvPr>
        </p:nvSpPr>
        <p:spPr>
          <a:ln/>
        </p:spPr>
      </p:sp>
      <p:sp>
        <p:nvSpPr>
          <p:cNvPr id="11268"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9802975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p:cNvSpPr>
            <a:spLocks noGrp="1" noChangeArrowheads="1"/>
          </p:cNvSpPr>
          <p:nvPr>
            <p:ph type="sldNum" sz="quarter" idx="5"/>
          </p:nvPr>
        </p:nvSpPr>
        <p:spPr>
          <a:noFill/>
        </p:spPr>
        <p:txBody>
          <a:bodyPr/>
          <a:lstStyle/>
          <a:p>
            <a:fld id="{5D5A137B-4407-4FD0-B3D1-1C7C10183054}" type="slidenum">
              <a:rPr lang="en-US"/>
              <a:pPr/>
              <a:t>6</a:t>
            </a:fld>
            <a:endParaRPr lang="en-US"/>
          </a:p>
        </p:txBody>
      </p:sp>
      <p:sp>
        <p:nvSpPr>
          <p:cNvPr id="10243" name="Rectangle 2"/>
          <p:cNvSpPr>
            <a:spLocks noGrp="1" noRot="1" noChangeAspect="1" noChangeArrowheads="1" noTextEdit="1"/>
          </p:cNvSpPr>
          <p:nvPr>
            <p:ph type="sldImg"/>
          </p:nvPr>
        </p:nvSpPr>
        <p:spPr>
          <a:ln/>
        </p:spPr>
      </p:sp>
      <p:sp>
        <p:nvSpPr>
          <p:cNvPr id="10244"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5073597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6DD7B6-746E-FA8D-8936-AC29A254210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C41D84D-2617-1596-ADDF-607A11A7EFB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DE2CD23-061C-00B5-423D-4776A9766211}"/>
              </a:ext>
            </a:extLst>
          </p:cNvPr>
          <p:cNvSpPr>
            <a:spLocks noGrp="1"/>
          </p:cNvSpPr>
          <p:nvPr>
            <p:ph type="dt" sz="half" idx="10"/>
          </p:nvPr>
        </p:nvSpPr>
        <p:spPr/>
        <p:txBody>
          <a:bodyPr/>
          <a:lstStyle/>
          <a:p>
            <a:fld id="{8BE514D3-B357-4D03-A6FB-3E0AE5AFB55B}" type="datetimeFigureOut">
              <a:rPr lang="en-US" smtClean="0"/>
              <a:t>9/19/2025</a:t>
            </a:fld>
            <a:endParaRPr lang="en-US"/>
          </a:p>
        </p:txBody>
      </p:sp>
      <p:sp>
        <p:nvSpPr>
          <p:cNvPr id="5" name="Footer Placeholder 4">
            <a:extLst>
              <a:ext uri="{FF2B5EF4-FFF2-40B4-BE49-F238E27FC236}">
                <a16:creationId xmlns:a16="http://schemas.microsoft.com/office/drawing/2014/main" id="{59A506CE-EDC2-889A-01DD-45BEA87E63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C9C4006-6D52-FE26-EB96-F0075578CA2B}"/>
              </a:ext>
            </a:extLst>
          </p:cNvPr>
          <p:cNvSpPr>
            <a:spLocks noGrp="1"/>
          </p:cNvSpPr>
          <p:nvPr>
            <p:ph type="sldNum" sz="quarter" idx="12"/>
          </p:nvPr>
        </p:nvSpPr>
        <p:spPr/>
        <p:txBody>
          <a:bodyPr/>
          <a:lstStyle/>
          <a:p>
            <a:fld id="{4CF655EF-5846-499E-942F-3956EF3AF250}" type="slidenum">
              <a:rPr lang="en-US" smtClean="0"/>
              <a:t>‹#›</a:t>
            </a:fld>
            <a:endParaRPr lang="en-US"/>
          </a:p>
        </p:txBody>
      </p:sp>
    </p:spTree>
    <p:extLst>
      <p:ext uri="{BB962C8B-B14F-4D97-AF65-F5344CB8AC3E}">
        <p14:creationId xmlns:p14="http://schemas.microsoft.com/office/powerpoint/2010/main" val="9435434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DB823F-15A6-54EB-F871-252FF34C66F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D8742E0-19D8-C03F-0609-C9236DA0799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9C30708-928A-0C98-C047-501C72849BFE}"/>
              </a:ext>
            </a:extLst>
          </p:cNvPr>
          <p:cNvSpPr>
            <a:spLocks noGrp="1"/>
          </p:cNvSpPr>
          <p:nvPr>
            <p:ph type="dt" sz="half" idx="10"/>
          </p:nvPr>
        </p:nvSpPr>
        <p:spPr/>
        <p:txBody>
          <a:bodyPr/>
          <a:lstStyle/>
          <a:p>
            <a:fld id="{8BE514D3-B357-4D03-A6FB-3E0AE5AFB55B}" type="datetimeFigureOut">
              <a:rPr lang="en-US" smtClean="0"/>
              <a:t>9/19/2025</a:t>
            </a:fld>
            <a:endParaRPr lang="en-US"/>
          </a:p>
        </p:txBody>
      </p:sp>
      <p:sp>
        <p:nvSpPr>
          <p:cNvPr id="5" name="Footer Placeholder 4">
            <a:extLst>
              <a:ext uri="{FF2B5EF4-FFF2-40B4-BE49-F238E27FC236}">
                <a16:creationId xmlns:a16="http://schemas.microsoft.com/office/drawing/2014/main" id="{0808C092-E5A5-5160-418F-6292325160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1F8F156-3FE8-3F48-D662-274A8FAA7238}"/>
              </a:ext>
            </a:extLst>
          </p:cNvPr>
          <p:cNvSpPr>
            <a:spLocks noGrp="1"/>
          </p:cNvSpPr>
          <p:nvPr>
            <p:ph type="sldNum" sz="quarter" idx="12"/>
          </p:nvPr>
        </p:nvSpPr>
        <p:spPr/>
        <p:txBody>
          <a:bodyPr/>
          <a:lstStyle/>
          <a:p>
            <a:fld id="{4CF655EF-5846-499E-942F-3956EF3AF250}" type="slidenum">
              <a:rPr lang="en-US" smtClean="0"/>
              <a:t>‹#›</a:t>
            </a:fld>
            <a:endParaRPr lang="en-US"/>
          </a:p>
        </p:txBody>
      </p:sp>
    </p:spTree>
    <p:extLst>
      <p:ext uri="{BB962C8B-B14F-4D97-AF65-F5344CB8AC3E}">
        <p14:creationId xmlns:p14="http://schemas.microsoft.com/office/powerpoint/2010/main" val="31170132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1462C5-9037-0DC6-B288-777BC2A2559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225DB9C-5806-82F6-EC35-7B108E45F69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BAC40C5-7453-9D42-5594-9EA4F7BDBBE0}"/>
              </a:ext>
            </a:extLst>
          </p:cNvPr>
          <p:cNvSpPr>
            <a:spLocks noGrp="1"/>
          </p:cNvSpPr>
          <p:nvPr>
            <p:ph type="dt" sz="half" idx="10"/>
          </p:nvPr>
        </p:nvSpPr>
        <p:spPr/>
        <p:txBody>
          <a:bodyPr/>
          <a:lstStyle/>
          <a:p>
            <a:fld id="{8BE514D3-B357-4D03-A6FB-3E0AE5AFB55B}" type="datetimeFigureOut">
              <a:rPr lang="en-US" smtClean="0"/>
              <a:t>9/19/2025</a:t>
            </a:fld>
            <a:endParaRPr lang="en-US"/>
          </a:p>
        </p:txBody>
      </p:sp>
      <p:sp>
        <p:nvSpPr>
          <p:cNvPr id="5" name="Footer Placeholder 4">
            <a:extLst>
              <a:ext uri="{FF2B5EF4-FFF2-40B4-BE49-F238E27FC236}">
                <a16:creationId xmlns:a16="http://schemas.microsoft.com/office/drawing/2014/main" id="{D471D675-AEDA-5740-A829-A65408969AD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2D4EDB-9226-FAF1-E694-6100E386491A}"/>
              </a:ext>
            </a:extLst>
          </p:cNvPr>
          <p:cNvSpPr>
            <a:spLocks noGrp="1"/>
          </p:cNvSpPr>
          <p:nvPr>
            <p:ph type="sldNum" sz="quarter" idx="12"/>
          </p:nvPr>
        </p:nvSpPr>
        <p:spPr/>
        <p:txBody>
          <a:bodyPr/>
          <a:lstStyle/>
          <a:p>
            <a:fld id="{4CF655EF-5846-499E-942F-3956EF3AF250}" type="slidenum">
              <a:rPr lang="en-US" smtClean="0"/>
              <a:t>‹#›</a:t>
            </a:fld>
            <a:endParaRPr lang="en-US"/>
          </a:p>
        </p:txBody>
      </p:sp>
    </p:spTree>
    <p:extLst>
      <p:ext uri="{BB962C8B-B14F-4D97-AF65-F5344CB8AC3E}">
        <p14:creationId xmlns:p14="http://schemas.microsoft.com/office/powerpoint/2010/main" val="24516047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602623-18F3-B53D-C1B9-2844D9D00EC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259C3E8-1F70-ED32-6DA6-CBEB215CDF9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52C5459-FA4D-A695-6E40-C6F2121290B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E9C68CB-2EBC-BBC0-86CD-6A17571CD622}"/>
              </a:ext>
            </a:extLst>
          </p:cNvPr>
          <p:cNvSpPr>
            <a:spLocks noGrp="1"/>
          </p:cNvSpPr>
          <p:nvPr>
            <p:ph type="dt" sz="half" idx="10"/>
          </p:nvPr>
        </p:nvSpPr>
        <p:spPr/>
        <p:txBody>
          <a:bodyPr/>
          <a:lstStyle/>
          <a:p>
            <a:fld id="{8BE514D3-B357-4D03-A6FB-3E0AE5AFB55B}" type="datetimeFigureOut">
              <a:rPr lang="en-US" smtClean="0"/>
              <a:t>9/19/2025</a:t>
            </a:fld>
            <a:endParaRPr lang="en-US"/>
          </a:p>
        </p:txBody>
      </p:sp>
      <p:sp>
        <p:nvSpPr>
          <p:cNvPr id="6" name="Footer Placeholder 5">
            <a:extLst>
              <a:ext uri="{FF2B5EF4-FFF2-40B4-BE49-F238E27FC236}">
                <a16:creationId xmlns:a16="http://schemas.microsoft.com/office/drawing/2014/main" id="{CB9934B8-2D08-8659-F202-48C60860F87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88264F3-F436-0154-C363-9D53954CD9F7}"/>
              </a:ext>
            </a:extLst>
          </p:cNvPr>
          <p:cNvSpPr>
            <a:spLocks noGrp="1"/>
          </p:cNvSpPr>
          <p:nvPr>
            <p:ph type="sldNum" sz="quarter" idx="12"/>
          </p:nvPr>
        </p:nvSpPr>
        <p:spPr/>
        <p:txBody>
          <a:bodyPr/>
          <a:lstStyle/>
          <a:p>
            <a:fld id="{4CF655EF-5846-499E-942F-3956EF3AF250}" type="slidenum">
              <a:rPr lang="en-US" smtClean="0"/>
              <a:t>‹#›</a:t>
            </a:fld>
            <a:endParaRPr lang="en-US"/>
          </a:p>
        </p:txBody>
      </p:sp>
    </p:spTree>
    <p:extLst>
      <p:ext uri="{BB962C8B-B14F-4D97-AF65-F5344CB8AC3E}">
        <p14:creationId xmlns:p14="http://schemas.microsoft.com/office/powerpoint/2010/main" val="5818640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685996-16C6-C7BB-712D-A6C7535CFE9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F8BC44E-919D-9D05-E629-60A82B17E25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EAE72BD-C7C2-D4F7-7330-24047A8C038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5BB6307-9DA0-465B-BA92-C2AFEB983AE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0FDF0DD-245D-F4E1-2DFD-6274A2633AE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A9AA4C5-AEA9-B229-2427-101E08F88B19}"/>
              </a:ext>
            </a:extLst>
          </p:cNvPr>
          <p:cNvSpPr>
            <a:spLocks noGrp="1"/>
          </p:cNvSpPr>
          <p:nvPr>
            <p:ph type="dt" sz="half" idx="10"/>
          </p:nvPr>
        </p:nvSpPr>
        <p:spPr/>
        <p:txBody>
          <a:bodyPr/>
          <a:lstStyle/>
          <a:p>
            <a:fld id="{8BE514D3-B357-4D03-A6FB-3E0AE5AFB55B}" type="datetimeFigureOut">
              <a:rPr lang="en-US" smtClean="0"/>
              <a:t>9/19/2025</a:t>
            </a:fld>
            <a:endParaRPr lang="en-US"/>
          </a:p>
        </p:txBody>
      </p:sp>
      <p:sp>
        <p:nvSpPr>
          <p:cNvPr id="8" name="Footer Placeholder 7">
            <a:extLst>
              <a:ext uri="{FF2B5EF4-FFF2-40B4-BE49-F238E27FC236}">
                <a16:creationId xmlns:a16="http://schemas.microsoft.com/office/drawing/2014/main" id="{3051F22C-B520-B8BF-0E92-850C844A817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1DE0BB0-A686-CA4B-DFBC-E92A4C2269DE}"/>
              </a:ext>
            </a:extLst>
          </p:cNvPr>
          <p:cNvSpPr>
            <a:spLocks noGrp="1"/>
          </p:cNvSpPr>
          <p:nvPr>
            <p:ph type="sldNum" sz="quarter" idx="12"/>
          </p:nvPr>
        </p:nvSpPr>
        <p:spPr/>
        <p:txBody>
          <a:bodyPr/>
          <a:lstStyle/>
          <a:p>
            <a:fld id="{4CF655EF-5846-499E-942F-3956EF3AF250}" type="slidenum">
              <a:rPr lang="en-US" smtClean="0"/>
              <a:t>‹#›</a:t>
            </a:fld>
            <a:endParaRPr lang="en-US"/>
          </a:p>
        </p:txBody>
      </p:sp>
    </p:spTree>
    <p:extLst>
      <p:ext uri="{BB962C8B-B14F-4D97-AF65-F5344CB8AC3E}">
        <p14:creationId xmlns:p14="http://schemas.microsoft.com/office/powerpoint/2010/main" val="32263864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BE20F8-8164-33E9-F662-975306662FB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2FDA240-92FC-3052-BB58-BF14AD2AB430}"/>
              </a:ext>
            </a:extLst>
          </p:cNvPr>
          <p:cNvSpPr>
            <a:spLocks noGrp="1"/>
          </p:cNvSpPr>
          <p:nvPr>
            <p:ph type="dt" sz="half" idx="10"/>
          </p:nvPr>
        </p:nvSpPr>
        <p:spPr/>
        <p:txBody>
          <a:bodyPr/>
          <a:lstStyle/>
          <a:p>
            <a:fld id="{8BE514D3-B357-4D03-A6FB-3E0AE5AFB55B}" type="datetimeFigureOut">
              <a:rPr lang="en-US" smtClean="0"/>
              <a:t>9/19/2025</a:t>
            </a:fld>
            <a:endParaRPr lang="en-US"/>
          </a:p>
        </p:txBody>
      </p:sp>
      <p:sp>
        <p:nvSpPr>
          <p:cNvPr id="4" name="Footer Placeholder 3">
            <a:extLst>
              <a:ext uri="{FF2B5EF4-FFF2-40B4-BE49-F238E27FC236}">
                <a16:creationId xmlns:a16="http://schemas.microsoft.com/office/drawing/2014/main" id="{C73F1430-0F74-18B3-AEC2-7D16DBA5791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875D15D-36BA-DAE8-D09E-FB2FD9BC91AD}"/>
              </a:ext>
            </a:extLst>
          </p:cNvPr>
          <p:cNvSpPr>
            <a:spLocks noGrp="1"/>
          </p:cNvSpPr>
          <p:nvPr>
            <p:ph type="sldNum" sz="quarter" idx="12"/>
          </p:nvPr>
        </p:nvSpPr>
        <p:spPr/>
        <p:txBody>
          <a:bodyPr/>
          <a:lstStyle/>
          <a:p>
            <a:fld id="{4CF655EF-5846-499E-942F-3956EF3AF250}" type="slidenum">
              <a:rPr lang="en-US" smtClean="0"/>
              <a:t>‹#›</a:t>
            </a:fld>
            <a:endParaRPr lang="en-US"/>
          </a:p>
        </p:txBody>
      </p:sp>
    </p:spTree>
    <p:extLst>
      <p:ext uri="{BB962C8B-B14F-4D97-AF65-F5344CB8AC3E}">
        <p14:creationId xmlns:p14="http://schemas.microsoft.com/office/powerpoint/2010/main" val="33484275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811F953-507C-6DEA-4180-CEB80468D458}"/>
              </a:ext>
            </a:extLst>
          </p:cNvPr>
          <p:cNvSpPr>
            <a:spLocks noGrp="1"/>
          </p:cNvSpPr>
          <p:nvPr>
            <p:ph type="dt" sz="half" idx="10"/>
          </p:nvPr>
        </p:nvSpPr>
        <p:spPr/>
        <p:txBody>
          <a:bodyPr/>
          <a:lstStyle/>
          <a:p>
            <a:fld id="{8BE514D3-B357-4D03-A6FB-3E0AE5AFB55B}" type="datetimeFigureOut">
              <a:rPr lang="en-US" smtClean="0"/>
              <a:t>9/19/2025</a:t>
            </a:fld>
            <a:endParaRPr lang="en-US"/>
          </a:p>
        </p:txBody>
      </p:sp>
      <p:sp>
        <p:nvSpPr>
          <p:cNvPr id="3" name="Footer Placeholder 2">
            <a:extLst>
              <a:ext uri="{FF2B5EF4-FFF2-40B4-BE49-F238E27FC236}">
                <a16:creationId xmlns:a16="http://schemas.microsoft.com/office/drawing/2014/main" id="{7A1330F2-2262-F920-922B-D6B02FC7169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FF86CB1-848E-37EB-D432-DFF409C79237}"/>
              </a:ext>
            </a:extLst>
          </p:cNvPr>
          <p:cNvSpPr>
            <a:spLocks noGrp="1"/>
          </p:cNvSpPr>
          <p:nvPr>
            <p:ph type="sldNum" sz="quarter" idx="12"/>
          </p:nvPr>
        </p:nvSpPr>
        <p:spPr/>
        <p:txBody>
          <a:bodyPr/>
          <a:lstStyle/>
          <a:p>
            <a:fld id="{4CF655EF-5846-499E-942F-3956EF3AF250}" type="slidenum">
              <a:rPr lang="en-US" smtClean="0"/>
              <a:t>‹#›</a:t>
            </a:fld>
            <a:endParaRPr lang="en-US"/>
          </a:p>
        </p:txBody>
      </p:sp>
    </p:spTree>
    <p:extLst>
      <p:ext uri="{BB962C8B-B14F-4D97-AF65-F5344CB8AC3E}">
        <p14:creationId xmlns:p14="http://schemas.microsoft.com/office/powerpoint/2010/main" val="28498746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2FCC4C-0CED-0A6E-3B2D-E38F8DD50A9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5949E6C-EB1D-CD33-BE3D-DC434AEE76B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8F5F298-4D69-6A38-92C1-D35A5D29BD2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743974B-EDA1-22F7-5988-9894D8A35B6C}"/>
              </a:ext>
            </a:extLst>
          </p:cNvPr>
          <p:cNvSpPr>
            <a:spLocks noGrp="1"/>
          </p:cNvSpPr>
          <p:nvPr>
            <p:ph type="dt" sz="half" idx="10"/>
          </p:nvPr>
        </p:nvSpPr>
        <p:spPr/>
        <p:txBody>
          <a:bodyPr/>
          <a:lstStyle/>
          <a:p>
            <a:fld id="{8BE514D3-B357-4D03-A6FB-3E0AE5AFB55B}" type="datetimeFigureOut">
              <a:rPr lang="en-US" smtClean="0"/>
              <a:t>9/19/2025</a:t>
            </a:fld>
            <a:endParaRPr lang="en-US"/>
          </a:p>
        </p:txBody>
      </p:sp>
      <p:sp>
        <p:nvSpPr>
          <p:cNvPr id="6" name="Footer Placeholder 5">
            <a:extLst>
              <a:ext uri="{FF2B5EF4-FFF2-40B4-BE49-F238E27FC236}">
                <a16:creationId xmlns:a16="http://schemas.microsoft.com/office/drawing/2014/main" id="{F5E2882F-1820-C281-79E8-E882FB1ABA2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5397EF-98AF-243A-3701-DF6881EE24B1}"/>
              </a:ext>
            </a:extLst>
          </p:cNvPr>
          <p:cNvSpPr>
            <a:spLocks noGrp="1"/>
          </p:cNvSpPr>
          <p:nvPr>
            <p:ph type="sldNum" sz="quarter" idx="12"/>
          </p:nvPr>
        </p:nvSpPr>
        <p:spPr/>
        <p:txBody>
          <a:bodyPr/>
          <a:lstStyle/>
          <a:p>
            <a:fld id="{4CF655EF-5846-499E-942F-3956EF3AF250}" type="slidenum">
              <a:rPr lang="en-US" smtClean="0"/>
              <a:t>‹#›</a:t>
            </a:fld>
            <a:endParaRPr lang="en-US"/>
          </a:p>
        </p:txBody>
      </p:sp>
    </p:spTree>
    <p:extLst>
      <p:ext uri="{BB962C8B-B14F-4D97-AF65-F5344CB8AC3E}">
        <p14:creationId xmlns:p14="http://schemas.microsoft.com/office/powerpoint/2010/main" val="18016610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D08499-7D8B-A1AE-9CD5-0FB015C113D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0FCC761-7341-AF4D-DDCB-2DB185D5C16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171D4EC-3C0D-60C8-E722-B9A72A5307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719EE59-7564-2FF1-0934-30553BB25227}"/>
              </a:ext>
            </a:extLst>
          </p:cNvPr>
          <p:cNvSpPr>
            <a:spLocks noGrp="1"/>
          </p:cNvSpPr>
          <p:nvPr>
            <p:ph type="dt" sz="half" idx="10"/>
          </p:nvPr>
        </p:nvSpPr>
        <p:spPr/>
        <p:txBody>
          <a:bodyPr/>
          <a:lstStyle/>
          <a:p>
            <a:fld id="{8BE514D3-B357-4D03-A6FB-3E0AE5AFB55B}" type="datetimeFigureOut">
              <a:rPr lang="en-US" smtClean="0"/>
              <a:t>9/19/2025</a:t>
            </a:fld>
            <a:endParaRPr lang="en-US"/>
          </a:p>
        </p:txBody>
      </p:sp>
      <p:sp>
        <p:nvSpPr>
          <p:cNvPr id="6" name="Footer Placeholder 5">
            <a:extLst>
              <a:ext uri="{FF2B5EF4-FFF2-40B4-BE49-F238E27FC236}">
                <a16:creationId xmlns:a16="http://schemas.microsoft.com/office/drawing/2014/main" id="{705D305D-9073-C189-BFAB-249948F9FFD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DEEA2BA-E03F-A58F-0855-33E4709F65E5}"/>
              </a:ext>
            </a:extLst>
          </p:cNvPr>
          <p:cNvSpPr>
            <a:spLocks noGrp="1"/>
          </p:cNvSpPr>
          <p:nvPr>
            <p:ph type="sldNum" sz="quarter" idx="12"/>
          </p:nvPr>
        </p:nvSpPr>
        <p:spPr/>
        <p:txBody>
          <a:bodyPr/>
          <a:lstStyle/>
          <a:p>
            <a:fld id="{4CF655EF-5846-499E-942F-3956EF3AF250}" type="slidenum">
              <a:rPr lang="en-US" smtClean="0"/>
              <a:t>‹#›</a:t>
            </a:fld>
            <a:endParaRPr lang="en-US"/>
          </a:p>
        </p:txBody>
      </p:sp>
    </p:spTree>
    <p:extLst>
      <p:ext uri="{BB962C8B-B14F-4D97-AF65-F5344CB8AC3E}">
        <p14:creationId xmlns:p14="http://schemas.microsoft.com/office/powerpoint/2010/main" val="30995909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AF007B-D6B4-5AE3-7FAA-A492944EAF9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164ED14-72D7-F9A1-D675-7C5EBAB3791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536C19A-17F3-85AB-575D-1560768163AF}"/>
              </a:ext>
            </a:extLst>
          </p:cNvPr>
          <p:cNvSpPr>
            <a:spLocks noGrp="1"/>
          </p:cNvSpPr>
          <p:nvPr>
            <p:ph type="dt" sz="half" idx="10"/>
          </p:nvPr>
        </p:nvSpPr>
        <p:spPr/>
        <p:txBody>
          <a:bodyPr/>
          <a:lstStyle/>
          <a:p>
            <a:fld id="{8BE514D3-B357-4D03-A6FB-3E0AE5AFB55B}" type="datetimeFigureOut">
              <a:rPr lang="en-US" smtClean="0"/>
              <a:t>9/19/2025</a:t>
            </a:fld>
            <a:endParaRPr lang="en-US"/>
          </a:p>
        </p:txBody>
      </p:sp>
      <p:sp>
        <p:nvSpPr>
          <p:cNvPr id="5" name="Footer Placeholder 4">
            <a:extLst>
              <a:ext uri="{FF2B5EF4-FFF2-40B4-BE49-F238E27FC236}">
                <a16:creationId xmlns:a16="http://schemas.microsoft.com/office/drawing/2014/main" id="{E514F79E-D4C0-7F2D-9C08-6931666E17D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DFBC79-13A9-B2D2-3C33-5FEEDF4B1EC2}"/>
              </a:ext>
            </a:extLst>
          </p:cNvPr>
          <p:cNvSpPr>
            <a:spLocks noGrp="1"/>
          </p:cNvSpPr>
          <p:nvPr>
            <p:ph type="sldNum" sz="quarter" idx="12"/>
          </p:nvPr>
        </p:nvSpPr>
        <p:spPr/>
        <p:txBody>
          <a:bodyPr/>
          <a:lstStyle/>
          <a:p>
            <a:fld id="{4CF655EF-5846-499E-942F-3956EF3AF250}" type="slidenum">
              <a:rPr lang="en-US" smtClean="0"/>
              <a:t>‹#›</a:t>
            </a:fld>
            <a:endParaRPr lang="en-US"/>
          </a:p>
        </p:txBody>
      </p:sp>
    </p:spTree>
    <p:extLst>
      <p:ext uri="{BB962C8B-B14F-4D97-AF65-F5344CB8AC3E}">
        <p14:creationId xmlns:p14="http://schemas.microsoft.com/office/powerpoint/2010/main" val="41276213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4F6B897-6BDB-D466-2912-87DD126EBF6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8FCD824-F194-971F-A1E5-C01388A3DDF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BFBE49A-CB95-68F6-3BB8-A1FF7813AB96}"/>
              </a:ext>
            </a:extLst>
          </p:cNvPr>
          <p:cNvSpPr>
            <a:spLocks noGrp="1"/>
          </p:cNvSpPr>
          <p:nvPr>
            <p:ph type="dt" sz="half" idx="10"/>
          </p:nvPr>
        </p:nvSpPr>
        <p:spPr/>
        <p:txBody>
          <a:bodyPr/>
          <a:lstStyle/>
          <a:p>
            <a:fld id="{8BE514D3-B357-4D03-A6FB-3E0AE5AFB55B}" type="datetimeFigureOut">
              <a:rPr lang="en-US" smtClean="0"/>
              <a:t>9/19/2025</a:t>
            </a:fld>
            <a:endParaRPr lang="en-US"/>
          </a:p>
        </p:txBody>
      </p:sp>
      <p:sp>
        <p:nvSpPr>
          <p:cNvPr id="5" name="Footer Placeholder 4">
            <a:extLst>
              <a:ext uri="{FF2B5EF4-FFF2-40B4-BE49-F238E27FC236}">
                <a16:creationId xmlns:a16="http://schemas.microsoft.com/office/drawing/2014/main" id="{4B89C803-B84A-C823-A896-370E6A195F5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2CD6598-269E-B17D-7945-409F50208A02}"/>
              </a:ext>
            </a:extLst>
          </p:cNvPr>
          <p:cNvSpPr>
            <a:spLocks noGrp="1"/>
          </p:cNvSpPr>
          <p:nvPr>
            <p:ph type="sldNum" sz="quarter" idx="12"/>
          </p:nvPr>
        </p:nvSpPr>
        <p:spPr/>
        <p:txBody>
          <a:bodyPr/>
          <a:lstStyle/>
          <a:p>
            <a:fld id="{4CF655EF-5846-499E-942F-3956EF3AF250}" type="slidenum">
              <a:rPr lang="en-US" smtClean="0"/>
              <a:t>‹#›</a:t>
            </a:fld>
            <a:endParaRPr lang="en-US"/>
          </a:p>
        </p:txBody>
      </p:sp>
    </p:spTree>
    <p:extLst>
      <p:ext uri="{BB962C8B-B14F-4D97-AF65-F5344CB8AC3E}">
        <p14:creationId xmlns:p14="http://schemas.microsoft.com/office/powerpoint/2010/main" val="20241136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C64FAE8-7737-7540-9D17-F7066829EF5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E2FAD24-B910-24F0-3B4E-23981946391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A90D7FA-BF53-8FF7-1F3D-4097A965B36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BE514D3-B357-4D03-A6FB-3E0AE5AFB55B}" type="datetimeFigureOut">
              <a:rPr lang="en-US" smtClean="0"/>
              <a:t>9/19/2025</a:t>
            </a:fld>
            <a:endParaRPr lang="en-US"/>
          </a:p>
        </p:txBody>
      </p:sp>
      <p:sp>
        <p:nvSpPr>
          <p:cNvPr id="5" name="Footer Placeholder 4">
            <a:extLst>
              <a:ext uri="{FF2B5EF4-FFF2-40B4-BE49-F238E27FC236}">
                <a16:creationId xmlns:a16="http://schemas.microsoft.com/office/drawing/2014/main" id="{21B94DA8-61EE-B4C1-1306-E34AFAE5F61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82EFF31-410D-2876-C623-D8D66F1A8EA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CF655EF-5846-499E-942F-3956EF3AF250}" type="slidenum">
              <a:rPr lang="en-US" smtClean="0"/>
              <a:t>‹#›</a:t>
            </a:fld>
            <a:endParaRPr lang="en-US"/>
          </a:p>
        </p:txBody>
      </p:sp>
    </p:spTree>
    <p:extLst>
      <p:ext uri="{BB962C8B-B14F-4D97-AF65-F5344CB8AC3E}">
        <p14:creationId xmlns:p14="http://schemas.microsoft.com/office/powerpoint/2010/main" val="18907831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8B4F961-0757-D2B8-842E-86DF2976EDF7}"/>
              </a:ext>
            </a:extLst>
          </p:cNvPr>
          <p:cNvSpPr>
            <a:spLocks noGrp="1"/>
          </p:cNvSpPr>
          <p:nvPr>
            <p:ph type="title"/>
          </p:nvPr>
        </p:nvSpPr>
        <p:spPr/>
        <p:txBody>
          <a:bodyPr/>
          <a:lstStyle/>
          <a:p>
            <a:r>
              <a:rPr lang="en-US" dirty="0"/>
              <a:t>205 Sep 19, Class 2</a:t>
            </a:r>
          </a:p>
        </p:txBody>
      </p:sp>
      <p:sp>
        <p:nvSpPr>
          <p:cNvPr id="5" name="Content Placeholder 4">
            <a:extLst>
              <a:ext uri="{FF2B5EF4-FFF2-40B4-BE49-F238E27FC236}">
                <a16:creationId xmlns:a16="http://schemas.microsoft.com/office/drawing/2014/main" id="{9906ADE8-E432-6D03-421D-EF4369ADB3FF}"/>
              </a:ext>
            </a:extLst>
          </p:cNvPr>
          <p:cNvSpPr>
            <a:spLocks noGrp="1"/>
          </p:cNvSpPr>
          <p:nvPr>
            <p:ph idx="1"/>
          </p:nvPr>
        </p:nvSpPr>
        <p:spPr/>
        <p:txBody>
          <a:bodyPr/>
          <a:lstStyle/>
          <a:p>
            <a:r>
              <a:rPr lang="en-US" dirty="0"/>
              <a:t>Chapter 1: Basics of experimentation</a:t>
            </a:r>
          </a:p>
          <a:p>
            <a:pPr lvl="1"/>
            <a:endParaRPr lang="en-US" dirty="0"/>
          </a:p>
          <a:p>
            <a:r>
              <a:rPr lang="en-US" dirty="0"/>
              <a:t>Chapter 2: Measurement</a:t>
            </a:r>
          </a:p>
          <a:p>
            <a:pPr lvl="1"/>
            <a:endParaRPr lang="en-US" dirty="0"/>
          </a:p>
        </p:txBody>
      </p:sp>
    </p:spTree>
    <p:extLst>
      <p:ext uri="{BB962C8B-B14F-4D97-AF65-F5344CB8AC3E}">
        <p14:creationId xmlns:p14="http://schemas.microsoft.com/office/powerpoint/2010/main" val="16650691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FD1EA1-68CD-9697-72E8-B8521CCD50C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0CF9BDC-E898-A03D-46EC-702DF40FBCEE}"/>
              </a:ext>
            </a:extLst>
          </p:cNvPr>
          <p:cNvSpPr>
            <a:spLocks noGrp="1"/>
          </p:cNvSpPr>
          <p:nvPr>
            <p:ph idx="1"/>
          </p:nvPr>
        </p:nvSpPr>
        <p:spPr/>
        <p:txBody>
          <a:bodyPr>
            <a:normAutofit/>
          </a:bodyPr>
          <a:lstStyle/>
          <a:p>
            <a:pPr algn="l"/>
            <a:r>
              <a:rPr lang="en-US" dirty="0">
                <a:latin typeface="ElsevierGulliver"/>
              </a:rPr>
              <a:t>To examine whether playing aggressive video games led to aggressive behavior, researchers </a:t>
            </a:r>
            <a:r>
              <a:rPr lang="en-US" b="0" i="0" dirty="0">
                <a:solidFill>
                  <a:srgbClr val="1F1F1F"/>
                </a:solidFill>
                <a:effectLst/>
                <a:latin typeface="ElsevierGulliver"/>
              </a:rPr>
              <a:t>randomly assigned fourth- and fifth-graders to play an aggressive video game (</a:t>
            </a:r>
            <a:r>
              <a:rPr lang="en-US" b="0" i="1" dirty="0">
                <a:solidFill>
                  <a:srgbClr val="1F1F1F"/>
                </a:solidFill>
                <a:effectLst/>
                <a:latin typeface="ElsevierGulliver"/>
              </a:rPr>
              <a:t>Missile Command</a:t>
            </a:r>
            <a:r>
              <a:rPr lang="en-US" b="0" i="0" dirty="0">
                <a:solidFill>
                  <a:srgbClr val="1F1F1F"/>
                </a:solidFill>
                <a:effectLst/>
                <a:latin typeface="ElsevierGulliver"/>
              </a:rPr>
              <a:t>) or a low aggressive game (</a:t>
            </a:r>
            <a:r>
              <a:rPr lang="en-US" b="0" i="1" dirty="0">
                <a:solidFill>
                  <a:srgbClr val="1F1F1F"/>
                </a:solidFill>
                <a:effectLst/>
                <a:latin typeface="ElsevierGulliver"/>
              </a:rPr>
              <a:t>Pac Man) </a:t>
            </a:r>
            <a:r>
              <a:rPr lang="en-US" b="0" dirty="0">
                <a:solidFill>
                  <a:srgbClr val="1F1F1F"/>
                </a:solidFill>
                <a:effectLst/>
                <a:latin typeface="ElsevierGulliver"/>
              </a:rPr>
              <a:t>for 20 minutes</a:t>
            </a:r>
            <a:r>
              <a:rPr lang="en-US" b="0" i="1" dirty="0">
                <a:solidFill>
                  <a:srgbClr val="1F1F1F"/>
                </a:solidFill>
                <a:effectLst/>
                <a:latin typeface="ElsevierGulliver"/>
              </a:rPr>
              <a:t>. </a:t>
            </a:r>
            <a:r>
              <a:rPr lang="en-US" dirty="0">
                <a:solidFill>
                  <a:srgbClr val="1F1F1F"/>
                </a:solidFill>
                <a:latin typeface="ElsevierGulliver"/>
              </a:rPr>
              <a:t>T</a:t>
            </a:r>
            <a:r>
              <a:rPr lang="en-US" b="0" i="0" dirty="0">
                <a:solidFill>
                  <a:srgbClr val="1F1F1F"/>
                </a:solidFill>
                <a:effectLst/>
                <a:latin typeface="ElsevierGulliver"/>
              </a:rPr>
              <a:t>he children were then asked to indicate how much punishment they would give to a hypothetical “bad child” and how much reward they would give to a hypothetical “good child” by pressing a buzzer. The duration of the buzzer press indicated how much reward or punishment participants chose to administer to the hypothetical child.  </a:t>
            </a:r>
            <a:r>
              <a:rPr lang="en-US" dirty="0">
                <a:solidFill>
                  <a:srgbClr val="1F1F1F"/>
                </a:solidFill>
                <a:latin typeface="ElsevierGulliver"/>
              </a:rPr>
              <a:t>Longer button presses were given by children after playing the aggressive video game, leading the researchers to conclude that video games cause aggression.</a:t>
            </a:r>
            <a:endParaRPr lang="en-US" b="0" i="0" dirty="0">
              <a:solidFill>
                <a:srgbClr val="1F1F1F"/>
              </a:solidFill>
              <a:effectLst/>
              <a:latin typeface="ElsevierGulliver"/>
            </a:endParaRPr>
          </a:p>
          <a:p>
            <a:endParaRPr lang="en-US" dirty="0"/>
          </a:p>
        </p:txBody>
      </p:sp>
    </p:spTree>
    <p:extLst>
      <p:ext uri="{BB962C8B-B14F-4D97-AF65-F5344CB8AC3E}">
        <p14:creationId xmlns:p14="http://schemas.microsoft.com/office/powerpoint/2010/main" val="1464278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0A593F-F8AE-3312-68AA-57DCABCAFA67}"/>
              </a:ext>
            </a:extLst>
          </p:cNvPr>
          <p:cNvSpPr>
            <a:spLocks noGrp="1"/>
          </p:cNvSpPr>
          <p:nvPr>
            <p:ph type="title"/>
          </p:nvPr>
        </p:nvSpPr>
        <p:spPr/>
        <p:txBody>
          <a:bodyPr/>
          <a:lstStyle/>
          <a:p>
            <a:r>
              <a:rPr lang="en-US" dirty="0"/>
              <a:t>Challenges with the operational definitions</a:t>
            </a:r>
          </a:p>
        </p:txBody>
      </p:sp>
      <p:sp>
        <p:nvSpPr>
          <p:cNvPr id="3" name="Content Placeholder 2">
            <a:extLst>
              <a:ext uri="{FF2B5EF4-FFF2-40B4-BE49-F238E27FC236}">
                <a16:creationId xmlns:a16="http://schemas.microsoft.com/office/drawing/2014/main" id="{1D600E67-EB1B-6792-3743-C7765977C35C}"/>
              </a:ext>
            </a:extLst>
          </p:cNvPr>
          <p:cNvSpPr>
            <a:spLocks noGrp="1"/>
          </p:cNvSpPr>
          <p:nvPr>
            <p:ph idx="1"/>
          </p:nvPr>
        </p:nvSpPr>
        <p:spPr/>
        <p:txBody>
          <a:bodyPr>
            <a:normAutofit fontScale="77500" lnSpcReduction="20000"/>
          </a:bodyPr>
          <a:lstStyle/>
          <a:p>
            <a:r>
              <a:rPr lang="en-US" dirty="0"/>
              <a:t>Cooper &amp; Mackie (1986) actually tested boys and girls in pairs, one player and one observer.</a:t>
            </a:r>
          </a:p>
          <a:p>
            <a:r>
              <a:rPr lang="en-US" dirty="0"/>
              <a:t>Free play behaviors coded after video game play was the main DV.</a:t>
            </a:r>
          </a:p>
          <a:p>
            <a:r>
              <a:rPr lang="en-US" b="0" i="0" dirty="0">
                <a:solidFill>
                  <a:srgbClr val="1F1F1F"/>
                </a:solidFill>
                <a:effectLst/>
                <a:latin typeface="ElsevierGulliver"/>
              </a:rPr>
              <a:t>Results indicated that VG type affected only girls’ aggressive free play, with the aggressive VG producing higher levels of aggressive free play. </a:t>
            </a:r>
          </a:p>
          <a:p>
            <a:pPr lvl="1"/>
            <a:r>
              <a:rPr lang="en-US" b="0" i="0" dirty="0">
                <a:solidFill>
                  <a:srgbClr val="1F1F1F"/>
                </a:solidFill>
                <a:effectLst/>
                <a:latin typeface="ElsevierGulliver"/>
              </a:rPr>
              <a:t>Interestingly, the VG did not affect boys’ aggressive free play, and the increased aggression among the girls in the aggressive VG condition resulted in bringing these girls’ level of aggression up to that of the boys. </a:t>
            </a:r>
          </a:p>
          <a:p>
            <a:r>
              <a:rPr lang="en-US" b="0" i="0" dirty="0">
                <a:solidFill>
                  <a:srgbClr val="1F1F1F"/>
                </a:solidFill>
                <a:effectLst/>
                <a:latin typeface="ElsevierGulliver"/>
              </a:rPr>
              <a:t>There was no effect of VG on rewards or punishments given to the hypothetical “good child” or “bad child,” respectively. </a:t>
            </a:r>
          </a:p>
          <a:p>
            <a:pPr lvl="1"/>
            <a:r>
              <a:rPr lang="en-US" b="0" i="0" dirty="0">
                <a:solidFill>
                  <a:srgbClr val="1F1F1F"/>
                </a:solidFill>
                <a:effectLst/>
                <a:latin typeface="ElsevierGulliver"/>
              </a:rPr>
              <a:t>Boys tended to give both more rewards and more punishments. Players, rather than observers, also gave more rewards and punishments; this was the only effect of the player/observer distinction. </a:t>
            </a:r>
          </a:p>
          <a:p>
            <a:r>
              <a:rPr lang="en-US" b="0" i="0" dirty="0">
                <a:solidFill>
                  <a:srgbClr val="1F1F1F"/>
                </a:solidFill>
                <a:effectLst/>
                <a:latin typeface="ElsevierGulliver"/>
              </a:rPr>
              <a:t>Other research studies have designated Pac-man an aggressive game in comparison.</a:t>
            </a:r>
          </a:p>
          <a:p>
            <a:r>
              <a:rPr lang="en-US" dirty="0">
                <a:solidFill>
                  <a:srgbClr val="1F1F1F"/>
                </a:solidFill>
                <a:latin typeface="ElsevierGulliver"/>
              </a:rPr>
              <a:t>This research is still cited as one that shows a video game/aggression link</a:t>
            </a:r>
            <a:endParaRPr lang="en-US" b="0" i="0" dirty="0">
              <a:solidFill>
                <a:srgbClr val="1F1F1F"/>
              </a:solidFill>
              <a:effectLst/>
              <a:latin typeface="ElsevierGulliver"/>
            </a:endParaRPr>
          </a:p>
          <a:p>
            <a:endParaRPr lang="en-US" b="0" i="0" dirty="0">
              <a:solidFill>
                <a:srgbClr val="1F1F1F"/>
              </a:solidFill>
              <a:effectLst/>
              <a:latin typeface="ElsevierGulliver"/>
            </a:endParaRPr>
          </a:p>
          <a:p>
            <a:endParaRPr lang="en-US" b="0" i="0" dirty="0">
              <a:solidFill>
                <a:srgbClr val="1F1F1F"/>
              </a:solidFill>
              <a:effectLst/>
              <a:latin typeface="ElsevierGulliver"/>
            </a:endParaRPr>
          </a:p>
          <a:p>
            <a:endParaRPr lang="en-US" dirty="0"/>
          </a:p>
        </p:txBody>
      </p:sp>
    </p:spTree>
    <p:extLst>
      <p:ext uri="{BB962C8B-B14F-4D97-AF65-F5344CB8AC3E}">
        <p14:creationId xmlns:p14="http://schemas.microsoft.com/office/powerpoint/2010/main" val="9226537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08F68A-AC5C-8C82-B26F-9CBB16B08726}"/>
              </a:ext>
            </a:extLst>
          </p:cNvPr>
          <p:cNvSpPr>
            <a:spLocks noGrp="1"/>
          </p:cNvSpPr>
          <p:nvPr>
            <p:ph type="title"/>
          </p:nvPr>
        </p:nvSpPr>
        <p:spPr/>
        <p:txBody>
          <a:bodyPr/>
          <a:lstStyle/>
          <a:p>
            <a:r>
              <a:rPr lang="en-US" dirty="0"/>
              <a:t>Experimental Design Overview</a:t>
            </a:r>
          </a:p>
        </p:txBody>
      </p:sp>
      <p:sp>
        <p:nvSpPr>
          <p:cNvPr id="3" name="Content Placeholder 2">
            <a:extLst>
              <a:ext uri="{FF2B5EF4-FFF2-40B4-BE49-F238E27FC236}">
                <a16:creationId xmlns:a16="http://schemas.microsoft.com/office/drawing/2014/main" id="{1636F4B6-6872-40B6-FBB8-A8CD1397DA4F}"/>
              </a:ext>
            </a:extLst>
          </p:cNvPr>
          <p:cNvSpPr>
            <a:spLocks noGrp="1"/>
          </p:cNvSpPr>
          <p:nvPr>
            <p:ph idx="1"/>
          </p:nvPr>
        </p:nvSpPr>
        <p:spPr/>
        <p:txBody>
          <a:bodyPr/>
          <a:lstStyle/>
          <a:p>
            <a:r>
              <a:rPr lang="en-US" dirty="0"/>
              <a:t>Construct</a:t>
            </a:r>
          </a:p>
          <a:p>
            <a:r>
              <a:rPr lang="en-US" dirty="0"/>
              <a:t>Operational definitions: IV, DV</a:t>
            </a:r>
          </a:p>
          <a:p>
            <a:pPr lvl="1"/>
            <a:r>
              <a:rPr lang="en-US" dirty="0"/>
              <a:t>Implementing a procedure</a:t>
            </a:r>
          </a:p>
          <a:p>
            <a:r>
              <a:rPr lang="en-US" dirty="0"/>
              <a:t>Data</a:t>
            </a:r>
          </a:p>
          <a:p>
            <a:r>
              <a:rPr lang="en-US" dirty="0"/>
              <a:t>Analysis</a:t>
            </a:r>
          </a:p>
          <a:p>
            <a:pPr lvl="1"/>
            <a:r>
              <a:rPr lang="en-US" dirty="0"/>
              <a:t>Statement about how/if IV affected DV</a:t>
            </a:r>
          </a:p>
          <a:p>
            <a:r>
              <a:rPr lang="en-US" dirty="0"/>
              <a:t>Inference about results</a:t>
            </a:r>
          </a:p>
          <a:p>
            <a:pPr lvl="1"/>
            <a:r>
              <a:rPr lang="en-US" dirty="0"/>
              <a:t>Statement about relationship among constructs</a:t>
            </a:r>
          </a:p>
        </p:txBody>
      </p:sp>
    </p:spTree>
    <p:extLst>
      <p:ext uri="{BB962C8B-B14F-4D97-AF65-F5344CB8AC3E}">
        <p14:creationId xmlns:p14="http://schemas.microsoft.com/office/powerpoint/2010/main" val="32297813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pPr eaLnBrk="1" hangingPunct="1"/>
            <a:r>
              <a:rPr lang="en-US"/>
              <a:t>Critical thinking</a:t>
            </a:r>
          </a:p>
        </p:txBody>
      </p:sp>
      <p:sp>
        <p:nvSpPr>
          <p:cNvPr id="4099" name="Rectangle 3"/>
          <p:cNvSpPr>
            <a:spLocks noGrp="1" noChangeArrowheads="1"/>
          </p:cNvSpPr>
          <p:nvPr>
            <p:ph type="body" idx="1"/>
          </p:nvPr>
        </p:nvSpPr>
        <p:spPr/>
        <p:txBody>
          <a:bodyPr/>
          <a:lstStyle/>
          <a:p>
            <a:pPr eaLnBrk="1" hangingPunct="1"/>
            <a:r>
              <a:rPr lang="en-US" dirty="0"/>
              <a:t>Validity</a:t>
            </a:r>
          </a:p>
          <a:p>
            <a:pPr lvl="1" eaLnBrk="1" hangingPunct="1"/>
            <a:r>
              <a:rPr lang="en-US" dirty="0"/>
              <a:t>Design logic</a:t>
            </a:r>
          </a:p>
          <a:p>
            <a:pPr lvl="1" eaLnBrk="1" hangingPunct="1"/>
            <a:r>
              <a:rPr lang="en-US" dirty="0"/>
              <a:t>Interpreting results</a:t>
            </a:r>
          </a:p>
          <a:p>
            <a:pPr lvl="1" eaLnBrk="1" hangingPunct="1"/>
            <a:r>
              <a:rPr lang="en-US" dirty="0"/>
              <a:t>Identifying confounds</a:t>
            </a:r>
          </a:p>
          <a:p>
            <a:r>
              <a:rPr lang="en-US" dirty="0"/>
              <a:t>Reliability</a:t>
            </a:r>
          </a:p>
          <a:p>
            <a:pPr lvl="1"/>
            <a:r>
              <a:rPr lang="en-US" dirty="0"/>
              <a:t>Statistical relationships among variables</a:t>
            </a:r>
          </a:p>
          <a:p>
            <a:pPr lvl="1"/>
            <a:r>
              <a:rPr lang="en-US" dirty="0"/>
              <a:t>Accuracy of operational definitions to constructs</a:t>
            </a:r>
          </a:p>
          <a:p>
            <a:pPr lvl="1"/>
            <a:r>
              <a:rPr lang="en-US" dirty="0"/>
              <a:t>Selection artifacts/bias</a:t>
            </a:r>
          </a:p>
          <a:p>
            <a:r>
              <a:rPr lang="en-US" dirty="0"/>
              <a:t>Understanding published research</a:t>
            </a:r>
          </a:p>
          <a:p>
            <a:pPr lvl="1"/>
            <a:r>
              <a:rPr lang="en-US" dirty="0"/>
              <a:t>Including from media report summaries</a:t>
            </a:r>
          </a:p>
          <a:p>
            <a:pPr eaLnBrk="1" hangingPunct="1"/>
            <a:endParaRPr lang="en-US" dirty="0"/>
          </a:p>
        </p:txBody>
      </p:sp>
    </p:spTree>
    <p:extLst>
      <p:ext uri="{BB962C8B-B14F-4D97-AF65-F5344CB8AC3E}">
        <p14:creationId xmlns:p14="http://schemas.microsoft.com/office/powerpoint/2010/main" val="14009856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4"/>
          <p:cNvSpPr>
            <a:spLocks noGrp="1" noChangeArrowheads="1"/>
          </p:cNvSpPr>
          <p:nvPr>
            <p:ph type="title"/>
          </p:nvPr>
        </p:nvSpPr>
        <p:spPr/>
        <p:txBody>
          <a:bodyPr>
            <a:normAutofit/>
          </a:bodyPr>
          <a:lstStyle/>
          <a:p>
            <a:r>
              <a:rPr lang="en-US" dirty="0"/>
              <a:t>Basic research methods</a:t>
            </a:r>
          </a:p>
        </p:txBody>
      </p:sp>
      <p:sp>
        <p:nvSpPr>
          <p:cNvPr id="3075" name="Rectangle 5"/>
          <p:cNvSpPr>
            <a:spLocks noGrp="1" noChangeArrowheads="1"/>
          </p:cNvSpPr>
          <p:nvPr>
            <p:ph type="body" idx="1"/>
          </p:nvPr>
        </p:nvSpPr>
        <p:spPr/>
        <p:txBody>
          <a:bodyPr/>
          <a:lstStyle/>
          <a:p>
            <a:r>
              <a:rPr lang="en-US" dirty="0"/>
              <a:t>Experimental design</a:t>
            </a:r>
          </a:p>
          <a:p>
            <a:pPr lvl="1"/>
            <a:r>
              <a:rPr lang="en-US" dirty="0"/>
              <a:t>Between/within participant designs</a:t>
            </a:r>
          </a:p>
          <a:p>
            <a:pPr lvl="1"/>
            <a:r>
              <a:rPr lang="en-US" dirty="0"/>
              <a:t>Factorial designs</a:t>
            </a:r>
          </a:p>
          <a:p>
            <a:pPr lvl="1"/>
            <a:r>
              <a:rPr lang="en-US" dirty="0"/>
              <a:t>Correlational design</a:t>
            </a:r>
          </a:p>
          <a:p>
            <a:r>
              <a:rPr lang="en-US" dirty="0"/>
              <a:t>Experimental statistics</a:t>
            </a:r>
          </a:p>
          <a:p>
            <a:pPr lvl="1"/>
            <a:r>
              <a:rPr lang="en-US" dirty="0"/>
              <a:t>Descriptive statistics: mean, standard deviation, standard error</a:t>
            </a:r>
          </a:p>
          <a:p>
            <a:pPr lvl="1"/>
            <a:r>
              <a:rPr lang="en-US" dirty="0"/>
              <a:t>Inferential statistics: t-test, ANOVA, correlation, chi squared</a:t>
            </a:r>
          </a:p>
          <a:p>
            <a:r>
              <a:rPr lang="en-US" dirty="0"/>
              <a:t>Research ethics</a:t>
            </a:r>
          </a:p>
          <a:p>
            <a:pPr lvl="1"/>
            <a:r>
              <a:rPr lang="en-US" dirty="0"/>
              <a:t>Fair and equitable treatment of participants</a:t>
            </a:r>
          </a:p>
          <a:p>
            <a:pPr lvl="1"/>
            <a:r>
              <a:rPr lang="en-US" dirty="0"/>
              <a:t>Responsible Conduct of Research</a:t>
            </a:r>
          </a:p>
        </p:txBody>
      </p:sp>
    </p:spTree>
    <p:extLst>
      <p:ext uri="{BB962C8B-B14F-4D97-AF65-F5344CB8AC3E}">
        <p14:creationId xmlns:p14="http://schemas.microsoft.com/office/powerpoint/2010/main" val="39215232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99FA3-BC5B-616A-B0C1-5C15EE0D5AA2}"/>
              </a:ext>
            </a:extLst>
          </p:cNvPr>
          <p:cNvSpPr>
            <a:spLocks noGrp="1"/>
          </p:cNvSpPr>
          <p:nvPr>
            <p:ph type="title"/>
          </p:nvPr>
        </p:nvSpPr>
        <p:spPr/>
        <p:txBody>
          <a:bodyPr/>
          <a:lstStyle/>
          <a:p>
            <a:r>
              <a:rPr lang="en-US" dirty="0"/>
              <a:t>Scientific writing</a:t>
            </a:r>
          </a:p>
        </p:txBody>
      </p:sp>
      <p:sp>
        <p:nvSpPr>
          <p:cNvPr id="3" name="Content Placeholder 2">
            <a:extLst>
              <a:ext uri="{FF2B5EF4-FFF2-40B4-BE49-F238E27FC236}">
                <a16:creationId xmlns:a16="http://schemas.microsoft.com/office/drawing/2014/main" id="{A49F7413-7834-A46D-7B70-17FBC96004C1}"/>
              </a:ext>
            </a:extLst>
          </p:cNvPr>
          <p:cNvSpPr>
            <a:spLocks noGrp="1"/>
          </p:cNvSpPr>
          <p:nvPr>
            <p:ph idx="1"/>
          </p:nvPr>
        </p:nvSpPr>
        <p:spPr/>
        <p:txBody>
          <a:bodyPr/>
          <a:lstStyle/>
          <a:p>
            <a:pPr eaLnBrk="1" hangingPunct="1"/>
            <a:r>
              <a:rPr lang="en-US" dirty="0"/>
              <a:t>How to read published research reports</a:t>
            </a:r>
          </a:p>
          <a:p>
            <a:pPr lvl="1"/>
            <a:r>
              <a:rPr lang="en-US" dirty="0"/>
              <a:t>Theory, methods, conclusions</a:t>
            </a:r>
          </a:p>
          <a:p>
            <a:pPr eaLnBrk="1" hangingPunct="1"/>
            <a:r>
              <a:rPr lang="en-US" dirty="0"/>
              <a:t>How to write an APA-format paper</a:t>
            </a:r>
          </a:p>
          <a:p>
            <a:pPr lvl="1" eaLnBrk="1" hangingPunct="1"/>
            <a:r>
              <a:rPr lang="en-US" dirty="0"/>
              <a:t>Abstract, Introduction, Methods, Results, Discussion, References,</a:t>
            </a:r>
          </a:p>
          <a:p>
            <a:pPr lvl="1" eaLnBrk="1" hangingPunct="1"/>
            <a:r>
              <a:rPr lang="en-US" dirty="0"/>
              <a:t>Figures &amp; Tables for data visualization</a:t>
            </a:r>
          </a:p>
          <a:p>
            <a:pPr lvl="1" eaLnBrk="1" hangingPunct="1"/>
            <a:r>
              <a:rPr lang="en-US" dirty="0"/>
              <a:t>How to design and plan a study</a:t>
            </a:r>
          </a:p>
          <a:p>
            <a:pPr lvl="2" eaLnBrk="1" hangingPunct="1"/>
            <a:r>
              <a:rPr lang="en-US" dirty="0"/>
              <a:t>Collecting data</a:t>
            </a:r>
          </a:p>
          <a:p>
            <a:pPr lvl="2" eaLnBrk="1" hangingPunct="1"/>
            <a:r>
              <a:rPr lang="en-US" dirty="0"/>
              <a:t>Organizing data for analysis</a:t>
            </a:r>
          </a:p>
          <a:p>
            <a:pPr lvl="1"/>
            <a:r>
              <a:rPr lang="en-US" dirty="0"/>
              <a:t>Background research to present theory and conclusions</a:t>
            </a:r>
          </a:p>
          <a:p>
            <a:r>
              <a:rPr lang="en-US" dirty="0"/>
              <a:t>Presenting your Final Project to the class</a:t>
            </a:r>
          </a:p>
          <a:p>
            <a:endParaRPr lang="en-US" dirty="0"/>
          </a:p>
        </p:txBody>
      </p:sp>
    </p:spTree>
    <p:extLst>
      <p:ext uri="{BB962C8B-B14F-4D97-AF65-F5344CB8AC3E}">
        <p14:creationId xmlns:p14="http://schemas.microsoft.com/office/powerpoint/2010/main" val="40600601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400AE1-0CE7-C14E-BB98-F8C8CF43D229}"/>
              </a:ext>
            </a:extLst>
          </p:cNvPr>
          <p:cNvSpPr>
            <a:spLocks noGrp="1"/>
          </p:cNvSpPr>
          <p:nvPr>
            <p:ph type="title"/>
          </p:nvPr>
        </p:nvSpPr>
        <p:spPr/>
        <p:txBody>
          <a:bodyPr/>
          <a:lstStyle/>
          <a:p>
            <a:r>
              <a:rPr lang="en-US" dirty="0"/>
              <a:t>Levels of measurement</a:t>
            </a:r>
          </a:p>
        </p:txBody>
      </p:sp>
      <p:sp>
        <p:nvSpPr>
          <p:cNvPr id="3" name="Content Placeholder 2">
            <a:extLst>
              <a:ext uri="{FF2B5EF4-FFF2-40B4-BE49-F238E27FC236}">
                <a16:creationId xmlns:a16="http://schemas.microsoft.com/office/drawing/2014/main" id="{09E92628-1328-7B4C-3D43-882B914228C4}"/>
              </a:ext>
            </a:extLst>
          </p:cNvPr>
          <p:cNvSpPr>
            <a:spLocks noGrp="1"/>
          </p:cNvSpPr>
          <p:nvPr>
            <p:ph idx="1"/>
          </p:nvPr>
        </p:nvSpPr>
        <p:spPr/>
        <p:txBody>
          <a:bodyPr>
            <a:normAutofit fontScale="92500" lnSpcReduction="10000"/>
          </a:bodyPr>
          <a:lstStyle/>
          <a:p>
            <a:r>
              <a:rPr lang="en-US" dirty="0"/>
              <a:t>Categorical versus continuous measures</a:t>
            </a:r>
          </a:p>
          <a:p>
            <a:pPr lvl="1"/>
            <a:r>
              <a:rPr lang="en-US" dirty="0"/>
              <a:t>Nominal, ordinal are categorical</a:t>
            </a:r>
          </a:p>
          <a:p>
            <a:pPr lvl="1"/>
            <a:r>
              <a:rPr lang="en-US" dirty="0"/>
              <a:t>Interval, ratio are continuous</a:t>
            </a:r>
          </a:p>
          <a:p>
            <a:r>
              <a:rPr lang="en-US" dirty="0"/>
              <a:t>Require different statistical analysis for the DV</a:t>
            </a:r>
          </a:p>
          <a:p>
            <a:pPr lvl="1"/>
            <a:r>
              <a:rPr lang="en-US" dirty="0"/>
              <a:t>Continuous measures are appropriate for t-test, ANOVA, general linear model</a:t>
            </a:r>
          </a:p>
          <a:p>
            <a:pPr lvl="1"/>
            <a:r>
              <a:rPr lang="en-US" dirty="0"/>
              <a:t>Categorical measures require non-parametric tests</a:t>
            </a:r>
          </a:p>
          <a:p>
            <a:pPr lvl="1"/>
            <a:endParaRPr lang="en-US" dirty="0"/>
          </a:p>
          <a:p>
            <a:r>
              <a:rPr lang="en-US" dirty="0"/>
              <a:t>What kinds of measures are:</a:t>
            </a:r>
          </a:p>
          <a:p>
            <a:pPr lvl="1"/>
            <a:r>
              <a:rPr lang="en-US" dirty="0"/>
              <a:t>Recognition memory</a:t>
            </a:r>
          </a:p>
          <a:p>
            <a:pPr lvl="1"/>
            <a:r>
              <a:rPr lang="en-US" dirty="0"/>
              <a:t>Ranking</a:t>
            </a:r>
          </a:p>
          <a:p>
            <a:pPr lvl="1"/>
            <a:r>
              <a:rPr lang="en-US" dirty="0"/>
              <a:t>Times accessing medical records</a:t>
            </a:r>
          </a:p>
          <a:p>
            <a:pPr lvl="1"/>
            <a:r>
              <a:rPr lang="en-US"/>
              <a:t>Handedness</a:t>
            </a:r>
            <a:endParaRPr lang="en-US" dirty="0"/>
          </a:p>
        </p:txBody>
      </p:sp>
    </p:spTree>
    <p:extLst>
      <p:ext uri="{BB962C8B-B14F-4D97-AF65-F5344CB8AC3E}">
        <p14:creationId xmlns:p14="http://schemas.microsoft.com/office/powerpoint/2010/main" val="20756288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79CC4-F29C-8C2F-E8D3-E50E105FD703}"/>
              </a:ext>
            </a:extLst>
          </p:cNvPr>
          <p:cNvSpPr>
            <a:spLocks noGrp="1"/>
          </p:cNvSpPr>
          <p:nvPr>
            <p:ph type="title"/>
          </p:nvPr>
        </p:nvSpPr>
        <p:spPr/>
        <p:txBody>
          <a:bodyPr/>
          <a:lstStyle/>
          <a:p>
            <a:r>
              <a:rPr lang="en-US" dirty="0"/>
              <a:t>Operational definitions for aphorisms</a:t>
            </a:r>
          </a:p>
        </p:txBody>
      </p:sp>
      <p:sp>
        <p:nvSpPr>
          <p:cNvPr id="3" name="Content Placeholder 2">
            <a:extLst>
              <a:ext uri="{FF2B5EF4-FFF2-40B4-BE49-F238E27FC236}">
                <a16:creationId xmlns:a16="http://schemas.microsoft.com/office/drawing/2014/main" id="{4D5C2061-5D14-D022-79EB-83DB5478F1A8}"/>
              </a:ext>
            </a:extLst>
          </p:cNvPr>
          <p:cNvSpPr>
            <a:spLocks noGrp="1"/>
          </p:cNvSpPr>
          <p:nvPr>
            <p:ph idx="1"/>
          </p:nvPr>
        </p:nvSpPr>
        <p:spPr/>
        <p:txBody>
          <a:bodyPr/>
          <a:lstStyle/>
          <a:p>
            <a:r>
              <a:rPr lang="en-US" dirty="0"/>
              <a:t>People feel sadder in blue rooms than in pink rooms</a:t>
            </a:r>
          </a:p>
          <a:p>
            <a:endParaRPr lang="en-US" dirty="0"/>
          </a:p>
          <a:p>
            <a:r>
              <a:rPr lang="en-US" dirty="0"/>
              <a:t>It takes longer to recognize a person in a photograph seen upside down</a:t>
            </a:r>
          </a:p>
          <a:p>
            <a:endParaRPr lang="en-US" dirty="0"/>
          </a:p>
          <a:p>
            <a:r>
              <a:rPr lang="en-US" dirty="0"/>
              <a:t>Absence makes the heart grow fonder</a:t>
            </a:r>
          </a:p>
          <a:p>
            <a:endParaRPr lang="en-US" dirty="0"/>
          </a:p>
        </p:txBody>
      </p:sp>
    </p:spTree>
    <p:extLst>
      <p:ext uri="{BB962C8B-B14F-4D97-AF65-F5344CB8AC3E}">
        <p14:creationId xmlns:p14="http://schemas.microsoft.com/office/powerpoint/2010/main" val="32565901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4E7F27-6295-7908-E052-8567E4A42214}"/>
              </a:ext>
            </a:extLst>
          </p:cNvPr>
          <p:cNvSpPr>
            <a:spLocks noGrp="1"/>
          </p:cNvSpPr>
          <p:nvPr>
            <p:ph type="title"/>
          </p:nvPr>
        </p:nvSpPr>
        <p:spPr/>
        <p:txBody>
          <a:bodyPr/>
          <a:lstStyle/>
          <a:p>
            <a:r>
              <a:rPr lang="en-US" dirty="0"/>
              <a:t>Converging evidence</a:t>
            </a:r>
          </a:p>
        </p:txBody>
      </p:sp>
      <p:sp>
        <p:nvSpPr>
          <p:cNvPr id="3" name="Content Placeholder 2">
            <a:extLst>
              <a:ext uri="{FF2B5EF4-FFF2-40B4-BE49-F238E27FC236}">
                <a16:creationId xmlns:a16="http://schemas.microsoft.com/office/drawing/2014/main" id="{3D5EB3F8-06CA-2EE3-B8DB-E428BBDF9508}"/>
              </a:ext>
            </a:extLst>
          </p:cNvPr>
          <p:cNvSpPr>
            <a:spLocks noGrp="1"/>
          </p:cNvSpPr>
          <p:nvPr>
            <p:ph idx="1"/>
          </p:nvPr>
        </p:nvSpPr>
        <p:spPr/>
        <p:txBody>
          <a:bodyPr/>
          <a:lstStyle/>
          <a:p>
            <a:r>
              <a:rPr lang="en-US" dirty="0"/>
              <a:t>Validity</a:t>
            </a:r>
          </a:p>
          <a:p>
            <a:pPr lvl="1"/>
            <a:r>
              <a:rPr lang="en-US" dirty="0"/>
              <a:t>How do we know if a measure accurately captures the construct?</a:t>
            </a:r>
          </a:p>
          <a:p>
            <a:pPr lvl="1"/>
            <a:r>
              <a:rPr lang="en-US" dirty="0"/>
              <a:t>Face validity</a:t>
            </a:r>
          </a:p>
          <a:p>
            <a:pPr lvl="1"/>
            <a:endParaRPr lang="en-US" dirty="0"/>
          </a:p>
          <a:p>
            <a:r>
              <a:rPr lang="en-US" dirty="0"/>
              <a:t>Multiple operational definitions across studies</a:t>
            </a:r>
          </a:p>
          <a:p>
            <a:pPr lvl="1"/>
            <a:r>
              <a:rPr lang="en-US" dirty="0"/>
              <a:t>Increases confidence in the validity of the measure</a:t>
            </a:r>
          </a:p>
          <a:p>
            <a:pPr lvl="1"/>
            <a:r>
              <a:rPr lang="en-US" dirty="0"/>
              <a:t>For rating scales, helps identify key questions</a:t>
            </a:r>
          </a:p>
          <a:p>
            <a:pPr lvl="1"/>
            <a:r>
              <a:rPr lang="en-US" dirty="0"/>
              <a:t>Improving measures advances the underlying theory</a:t>
            </a:r>
          </a:p>
        </p:txBody>
      </p:sp>
    </p:spTree>
    <p:extLst>
      <p:ext uri="{BB962C8B-B14F-4D97-AF65-F5344CB8AC3E}">
        <p14:creationId xmlns:p14="http://schemas.microsoft.com/office/powerpoint/2010/main" val="37337946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9A8BEC-6590-891B-9500-A11A10A008A4}"/>
              </a:ext>
            </a:extLst>
          </p:cNvPr>
          <p:cNvSpPr>
            <a:spLocks noGrp="1"/>
          </p:cNvSpPr>
          <p:nvPr>
            <p:ph type="title"/>
          </p:nvPr>
        </p:nvSpPr>
        <p:spPr/>
        <p:txBody>
          <a:bodyPr/>
          <a:lstStyle/>
          <a:p>
            <a:r>
              <a:rPr lang="en-US" dirty="0"/>
              <a:t>For Monday</a:t>
            </a:r>
          </a:p>
        </p:txBody>
      </p:sp>
      <p:sp>
        <p:nvSpPr>
          <p:cNvPr id="3" name="Content Placeholder 2">
            <a:extLst>
              <a:ext uri="{FF2B5EF4-FFF2-40B4-BE49-F238E27FC236}">
                <a16:creationId xmlns:a16="http://schemas.microsoft.com/office/drawing/2014/main" id="{DDBB8FF8-DBC4-D80E-1A99-54C5890066EF}"/>
              </a:ext>
            </a:extLst>
          </p:cNvPr>
          <p:cNvSpPr>
            <a:spLocks noGrp="1"/>
          </p:cNvSpPr>
          <p:nvPr>
            <p:ph idx="1"/>
          </p:nvPr>
        </p:nvSpPr>
        <p:spPr/>
        <p:txBody>
          <a:bodyPr/>
          <a:lstStyle/>
          <a:p>
            <a:r>
              <a:rPr lang="en-US" dirty="0"/>
              <a:t>Chapter 3, Experimental Control, Qs. 1, 2 &amp; 5</a:t>
            </a:r>
          </a:p>
          <a:p>
            <a:pPr lvl="1"/>
            <a:r>
              <a:rPr lang="en-US" dirty="0"/>
              <a:t>Experimental control of extraneous variables</a:t>
            </a:r>
          </a:p>
        </p:txBody>
      </p:sp>
    </p:spTree>
    <p:extLst>
      <p:ext uri="{BB962C8B-B14F-4D97-AF65-F5344CB8AC3E}">
        <p14:creationId xmlns:p14="http://schemas.microsoft.com/office/powerpoint/2010/main" val="33701821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16651</TotalTime>
  <Words>664</Words>
  <Application>Microsoft Office PowerPoint</Application>
  <PresentationFormat>Widescreen</PresentationFormat>
  <Paragraphs>90</Paragraphs>
  <Slides>11</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Calibri Light</vt:lpstr>
      <vt:lpstr>ElsevierGulliver</vt:lpstr>
      <vt:lpstr>Office Theme</vt:lpstr>
      <vt:lpstr>205 Sep 19, Class 2</vt:lpstr>
      <vt:lpstr>PowerPoint Presentation</vt:lpstr>
      <vt:lpstr>Challenges with the operational definitions</vt:lpstr>
      <vt:lpstr>Experimental Design Overview</vt:lpstr>
      <vt:lpstr>Critical thinking</vt:lpstr>
      <vt:lpstr>Basic research methods</vt:lpstr>
      <vt:lpstr>Scientific writing</vt:lpstr>
      <vt:lpstr>Levels of measurement</vt:lpstr>
      <vt:lpstr>Operational definitions for aphorisms</vt:lpstr>
      <vt:lpstr>Converging evidence</vt:lpstr>
      <vt:lpstr>For Monday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205 Sep 23, Class 2</dc:title>
  <dc:creator>Paul Reber</dc:creator>
  <cp:lastModifiedBy>Paul J Reber</cp:lastModifiedBy>
  <cp:revision>20</cp:revision>
  <cp:lastPrinted>2024-09-26T23:52:31Z</cp:lastPrinted>
  <dcterms:created xsi:type="dcterms:W3CDTF">2022-09-13T14:04:12Z</dcterms:created>
  <dcterms:modified xsi:type="dcterms:W3CDTF">2025-09-19T14:36:42Z</dcterms:modified>
</cp:coreProperties>
</file>