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824" r:id="rId2"/>
    <p:sldId id="825" r:id="rId3"/>
    <p:sldId id="469" r:id="rId4"/>
    <p:sldId id="470" r:id="rId5"/>
    <p:sldId id="471" r:id="rId6"/>
    <p:sldId id="472" r:id="rId7"/>
    <p:sldId id="473" r:id="rId8"/>
    <p:sldId id="475" r:id="rId9"/>
    <p:sldId id="827" r:id="rId10"/>
    <p:sldId id="291" r:id="rId11"/>
    <p:sldId id="289" r:id="rId12"/>
    <p:sldId id="262" r:id="rId13"/>
    <p:sldId id="259" r:id="rId14"/>
    <p:sldId id="280" r:id="rId15"/>
    <p:sldId id="257" r:id="rId16"/>
    <p:sldId id="288" r:id="rId17"/>
    <p:sldId id="287" r:id="rId18"/>
    <p:sldId id="826" r:id="rId19"/>
  </p:sldIdLst>
  <p:sldSz cx="12192000" cy="685800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85" autoAdjust="0"/>
    <p:restoredTop sz="94660"/>
  </p:normalViewPr>
  <p:slideViewPr>
    <p:cSldViewPr snapToGrid="0">
      <p:cViewPr varScale="1">
        <p:scale>
          <a:sx n="97" d="100"/>
          <a:sy n="97" d="100"/>
        </p:scale>
        <p:origin x="12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AE8AD1E7-AB51-422C-A8BB-A7FEA0FB755B}" type="datetimeFigureOut">
              <a:rPr lang="en-US" smtClean="0"/>
              <a:t>10/24/2025</a:t>
            </a:fld>
            <a:endParaRPr lang="en-US"/>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4518204"/>
            <a:ext cx="5681980" cy="3696712"/>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888A7875-4471-4DD7-A530-94B14D5358F8}" type="slidenum">
              <a:rPr lang="en-US" smtClean="0"/>
              <a:t>‹#›</a:t>
            </a:fld>
            <a:endParaRPr lang="en-US"/>
          </a:p>
        </p:txBody>
      </p:sp>
    </p:spTree>
    <p:extLst>
      <p:ext uri="{BB962C8B-B14F-4D97-AF65-F5344CB8AC3E}">
        <p14:creationId xmlns:p14="http://schemas.microsoft.com/office/powerpoint/2010/main" val="3279466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p>
            <a:fld id="{A354EFBD-6600-4418-B4F2-BB56FF6BF105}" type="slidenum">
              <a:rPr lang="en-US"/>
              <a:pPr/>
              <a:t>10</a:t>
            </a:fld>
            <a:endParaRPr lang="en-US"/>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7911543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85372-B9AC-3123-0C55-4B85130FCD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0015DCE-5AD6-A4FF-2FF7-2C30D05C32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AF19604-F34C-13C1-7588-AFA3AD2207F0}"/>
              </a:ext>
            </a:extLst>
          </p:cNvPr>
          <p:cNvSpPr>
            <a:spLocks noGrp="1"/>
          </p:cNvSpPr>
          <p:nvPr>
            <p:ph type="dt" sz="half" idx="10"/>
          </p:nvPr>
        </p:nvSpPr>
        <p:spPr/>
        <p:txBody>
          <a:bodyPr/>
          <a:lstStyle/>
          <a:p>
            <a:fld id="{3C9621BD-9A58-4B6A-8D79-A1F7EB728343}" type="datetimeFigureOut">
              <a:rPr lang="en-US" smtClean="0"/>
              <a:t>10/24/2025</a:t>
            </a:fld>
            <a:endParaRPr lang="en-US"/>
          </a:p>
        </p:txBody>
      </p:sp>
      <p:sp>
        <p:nvSpPr>
          <p:cNvPr id="5" name="Footer Placeholder 4">
            <a:extLst>
              <a:ext uri="{FF2B5EF4-FFF2-40B4-BE49-F238E27FC236}">
                <a16:creationId xmlns:a16="http://schemas.microsoft.com/office/drawing/2014/main" id="{DBBE4BCE-A9DC-58DD-3698-7692209EAE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24E68F-CBCD-F76C-6FAD-0C2D324D9E32}"/>
              </a:ext>
            </a:extLst>
          </p:cNvPr>
          <p:cNvSpPr>
            <a:spLocks noGrp="1"/>
          </p:cNvSpPr>
          <p:nvPr>
            <p:ph type="sldNum" sz="quarter" idx="12"/>
          </p:nvPr>
        </p:nvSpPr>
        <p:spPr/>
        <p:txBody>
          <a:bodyPr/>
          <a:lstStyle/>
          <a:p>
            <a:fld id="{54C774E1-256C-41E1-913F-7853C47714A4}" type="slidenum">
              <a:rPr lang="en-US" smtClean="0"/>
              <a:t>‹#›</a:t>
            </a:fld>
            <a:endParaRPr lang="en-US"/>
          </a:p>
        </p:txBody>
      </p:sp>
    </p:spTree>
    <p:extLst>
      <p:ext uri="{BB962C8B-B14F-4D97-AF65-F5344CB8AC3E}">
        <p14:creationId xmlns:p14="http://schemas.microsoft.com/office/powerpoint/2010/main" val="1290551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A0550-0A6F-FF87-6159-98A0B00589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697261-6062-4CD3-85A4-D0A4583A80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50F1A1-240D-61F3-AB3B-DFAE789E482D}"/>
              </a:ext>
            </a:extLst>
          </p:cNvPr>
          <p:cNvSpPr>
            <a:spLocks noGrp="1"/>
          </p:cNvSpPr>
          <p:nvPr>
            <p:ph type="dt" sz="half" idx="10"/>
          </p:nvPr>
        </p:nvSpPr>
        <p:spPr/>
        <p:txBody>
          <a:bodyPr/>
          <a:lstStyle/>
          <a:p>
            <a:fld id="{3C9621BD-9A58-4B6A-8D79-A1F7EB728343}" type="datetimeFigureOut">
              <a:rPr lang="en-US" smtClean="0"/>
              <a:t>10/24/2025</a:t>
            </a:fld>
            <a:endParaRPr lang="en-US"/>
          </a:p>
        </p:txBody>
      </p:sp>
      <p:sp>
        <p:nvSpPr>
          <p:cNvPr id="5" name="Footer Placeholder 4">
            <a:extLst>
              <a:ext uri="{FF2B5EF4-FFF2-40B4-BE49-F238E27FC236}">
                <a16:creationId xmlns:a16="http://schemas.microsoft.com/office/drawing/2014/main" id="{C16DD000-BDBF-B231-AB26-F18947FD19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B70968-FCE1-5E21-CE83-FD1FFBC13B9F}"/>
              </a:ext>
            </a:extLst>
          </p:cNvPr>
          <p:cNvSpPr>
            <a:spLocks noGrp="1"/>
          </p:cNvSpPr>
          <p:nvPr>
            <p:ph type="sldNum" sz="quarter" idx="12"/>
          </p:nvPr>
        </p:nvSpPr>
        <p:spPr/>
        <p:txBody>
          <a:bodyPr/>
          <a:lstStyle/>
          <a:p>
            <a:fld id="{54C774E1-256C-41E1-913F-7853C47714A4}" type="slidenum">
              <a:rPr lang="en-US" smtClean="0"/>
              <a:t>‹#›</a:t>
            </a:fld>
            <a:endParaRPr lang="en-US"/>
          </a:p>
        </p:txBody>
      </p:sp>
    </p:spTree>
    <p:extLst>
      <p:ext uri="{BB962C8B-B14F-4D97-AF65-F5344CB8AC3E}">
        <p14:creationId xmlns:p14="http://schemas.microsoft.com/office/powerpoint/2010/main" val="6218745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947F2-CD63-0542-035D-0F6A619AF3F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D9A9775-01F0-0B9D-400E-927EAA5A535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97DB248-9691-EAF8-644D-079789A438F5}"/>
              </a:ext>
            </a:extLst>
          </p:cNvPr>
          <p:cNvSpPr>
            <a:spLocks noGrp="1"/>
          </p:cNvSpPr>
          <p:nvPr>
            <p:ph type="dt" sz="half" idx="10"/>
          </p:nvPr>
        </p:nvSpPr>
        <p:spPr/>
        <p:txBody>
          <a:bodyPr/>
          <a:lstStyle/>
          <a:p>
            <a:fld id="{3C9621BD-9A58-4B6A-8D79-A1F7EB728343}" type="datetimeFigureOut">
              <a:rPr lang="en-US" smtClean="0"/>
              <a:t>10/24/2025</a:t>
            </a:fld>
            <a:endParaRPr lang="en-US"/>
          </a:p>
        </p:txBody>
      </p:sp>
      <p:sp>
        <p:nvSpPr>
          <p:cNvPr id="5" name="Footer Placeholder 4">
            <a:extLst>
              <a:ext uri="{FF2B5EF4-FFF2-40B4-BE49-F238E27FC236}">
                <a16:creationId xmlns:a16="http://schemas.microsoft.com/office/drawing/2014/main" id="{1A5882D8-D774-A836-16E9-0EF3C3515C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DB22D7-A969-000D-F06E-8BB314AC4696}"/>
              </a:ext>
            </a:extLst>
          </p:cNvPr>
          <p:cNvSpPr>
            <a:spLocks noGrp="1"/>
          </p:cNvSpPr>
          <p:nvPr>
            <p:ph type="sldNum" sz="quarter" idx="12"/>
          </p:nvPr>
        </p:nvSpPr>
        <p:spPr/>
        <p:txBody>
          <a:bodyPr/>
          <a:lstStyle/>
          <a:p>
            <a:fld id="{54C774E1-256C-41E1-913F-7853C47714A4}" type="slidenum">
              <a:rPr lang="en-US" smtClean="0"/>
              <a:t>‹#›</a:t>
            </a:fld>
            <a:endParaRPr lang="en-US"/>
          </a:p>
        </p:txBody>
      </p:sp>
    </p:spTree>
    <p:extLst>
      <p:ext uri="{BB962C8B-B14F-4D97-AF65-F5344CB8AC3E}">
        <p14:creationId xmlns:p14="http://schemas.microsoft.com/office/powerpoint/2010/main" val="34652708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3E596-EF06-EF8C-24E2-6997581424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986A76F-5333-D7AA-ABCF-8EF3B85D2F7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F61325-D769-C7D2-462E-2D467A66C0D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302EB7F-0822-7A14-3E09-6E7901056A60}"/>
              </a:ext>
            </a:extLst>
          </p:cNvPr>
          <p:cNvSpPr>
            <a:spLocks noGrp="1"/>
          </p:cNvSpPr>
          <p:nvPr>
            <p:ph type="dt" sz="half" idx="10"/>
          </p:nvPr>
        </p:nvSpPr>
        <p:spPr/>
        <p:txBody>
          <a:bodyPr/>
          <a:lstStyle/>
          <a:p>
            <a:fld id="{3C9621BD-9A58-4B6A-8D79-A1F7EB728343}" type="datetimeFigureOut">
              <a:rPr lang="en-US" smtClean="0"/>
              <a:t>10/24/2025</a:t>
            </a:fld>
            <a:endParaRPr lang="en-US"/>
          </a:p>
        </p:txBody>
      </p:sp>
      <p:sp>
        <p:nvSpPr>
          <p:cNvPr id="6" name="Footer Placeholder 5">
            <a:extLst>
              <a:ext uri="{FF2B5EF4-FFF2-40B4-BE49-F238E27FC236}">
                <a16:creationId xmlns:a16="http://schemas.microsoft.com/office/drawing/2014/main" id="{5AB0DFF9-AF13-9B87-851B-8EF67FADBA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B1AAA7-4B47-1D3B-09F7-9257D4A2C0CA}"/>
              </a:ext>
            </a:extLst>
          </p:cNvPr>
          <p:cNvSpPr>
            <a:spLocks noGrp="1"/>
          </p:cNvSpPr>
          <p:nvPr>
            <p:ph type="sldNum" sz="quarter" idx="12"/>
          </p:nvPr>
        </p:nvSpPr>
        <p:spPr/>
        <p:txBody>
          <a:bodyPr/>
          <a:lstStyle/>
          <a:p>
            <a:fld id="{54C774E1-256C-41E1-913F-7853C47714A4}" type="slidenum">
              <a:rPr lang="en-US" smtClean="0"/>
              <a:t>‹#›</a:t>
            </a:fld>
            <a:endParaRPr lang="en-US"/>
          </a:p>
        </p:txBody>
      </p:sp>
    </p:spTree>
    <p:extLst>
      <p:ext uri="{BB962C8B-B14F-4D97-AF65-F5344CB8AC3E}">
        <p14:creationId xmlns:p14="http://schemas.microsoft.com/office/powerpoint/2010/main" val="544370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3B7C0-D671-4EC8-C95D-C6F114DCDD9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727D47F-AD41-C04E-4BB3-0FDF270D20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3BEF29-1C77-B509-B4D5-23D46F51C68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C3FB90B-7931-1399-BAD0-EBDACC997F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A077BF-519D-A71C-8F4F-DD5B3D1621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07938A7-A5EC-98B1-E76A-1B805AE5864F}"/>
              </a:ext>
            </a:extLst>
          </p:cNvPr>
          <p:cNvSpPr>
            <a:spLocks noGrp="1"/>
          </p:cNvSpPr>
          <p:nvPr>
            <p:ph type="dt" sz="half" idx="10"/>
          </p:nvPr>
        </p:nvSpPr>
        <p:spPr/>
        <p:txBody>
          <a:bodyPr/>
          <a:lstStyle/>
          <a:p>
            <a:fld id="{3C9621BD-9A58-4B6A-8D79-A1F7EB728343}" type="datetimeFigureOut">
              <a:rPr lang="en-US" smtClean="0"/>
              <a:t>10/24/2025</a:t>
            </a:fld>
            <a:endParaRPr lang="en-US"/>
          </a:p>
        </p:txBody>
      </p:sp>
      <p:sp>
        <p:nvSpPr>
          <p:cNvPr id="8" name="Footer Placeholder 7">
            <a:extLst>
              <a:ext uri="{FF2B5EF4-FFF2-40B4-BE49-F238E27FC236}">
                <a16:creationId xmlns:a16="http://schemas.microsoft.com/office/drawing/2014/main" id="{DC40BA58-2D6D-02E7-0D3F-6C128951890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00FA02A-79B9-EED9-3E7B-C091130FB613}"/>
              </a:ext>
            </a:extLst>
          </p:cNvPr>
          <p:cNvSpPr>
            <a:spLocks noGrp="1"/>
          </p:cNvSpPr>
          <p:nvPr>
            <p:ph type="sldNum" sz="quarter" idx="12"/>
          </p:nvPr>
        </p:nvSpPr>
        <p:spPr/>
        <p:txBody>
          <a:bodyPr/>
          <a:lstStyle/>
          <a:p>
            <a:fld id="{54C774E1-256C-41E1-913F-7853C47714A4}" type="slidenum">
              <a:rPr lang="en-US" smtClean="0"/>
              <a:t>‹#›</a:t>
            </a:fld>
            <a:endParaRPr lang="en-US"/>
          </a:p>
        </p:txBody>
      </p:sp>
    </p:spTree>
    <p:extLst>
      <p:ext uri="{BB962C8B-B14F-4D97-AF65-F5344CB8AC3E}">
        <p14:creationId xmlns:p14="http://schemas.microsoft.com/office/powerpoint/2010/main" val="33503738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078BD-0442-5D3C-0442-BB9BEA03FEE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1D9EC34-F1CA-7652-8A07-42EB1B07A52C}"/>
              </a:ext>
            </a:extLst>
          </p:cNvPr>
          <p:cNvSpPr>
            <a:spLocks noGrp="1"/>
          </p:cNvSpPr>
          <p:nvPr>
            <p:ph type="dt" sz="half" idx="10"/>
          </p:nvPr>
        </p:nvSpPr>
        <p:spPr/>
        <p:txBody>
          <a:bodyPr/>
          <a:lstStyle/>
          <a:p>
            <a:fld id="{3C9621BD-9A58-4B6A-8D79-A1F7EB728343}" type="datetimeFigureOut">
              <a:rPr lang="en-US" smtClean="0"/>
              <a:t>10/24/2025</a:t>
            </a:fld>
            <a:endParaRPr lang="en-US"/>
          </a:p>
        </p:txBody>
      </p:sp>
      <p:sp>
        <p:nvSpPr>
          <p:cNvPr id="4" name="Footer Placeholder 3">
            <a:extLst>
              <a:ext uri="{FF2B5EF4-FFF2-40B4-BE49-F238E27FC236}">
                <a16:creationId xmlns:a16="http://schemas.microsoft.com/office/drawing/2014/main" id="{A92BE5E6-B0A4-2DCF-BC7A-388B376EE88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46ECC81-6313-F117-EE3F-F7C5DF251D76}"/>
              </a:ext>
            </a:extLst>
          </p:cNvPr>
          <p:cNvSpPr>
            <a:spLocks noGrp="1"/>
          </p:cNvSpPr>
          <p:nvPr>
            <p:ph type="sldNum" sz="quarter" idx="12"/>
          </p:nvPr>
        </p:nvSpPr>
        <p:spPr/>
        <p:txBody>
          <a:bodyPr/>
          <a:lstStyle/>
          <a:p>
            <a:fld id="{54C774E1-256C-41E1-913F-7853C47714A4}" type="slidenum">
              <a:rPr lang="en-US" smtClean="0"/>
              <a:t>‹#›</a:t>
            </a:fld>
            <a:endParaRPr lang="en-US"/>
          </a:p>
        </p:txBody>
      </p:sp>
    </p:spTree>
    <p:extLst>
      <p:ext uri="{BB962C8B-B14F-4D97-AF65-F5344CB8AC3E}">
        <p14:creationId xmlns:p14="http://schemas.microsoft.com/office/powerpoint/2010/main" val="7710948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50C5B5-E7D9-F3C9-997D-92D7569BAF5E}"/>
              </a:ext>
            </a:extLst>
          </p:cNvPr>
          <p:cNvSpPr>
            <a:spLocks noGrp="1"/>
          </p:cNvSpPr>
          <p:nvPr>
            <p:ph type="dt" sz="half" idx="10"/>
          </p:nvPr>
        </p:nvSpPr>
        <p:spPr/>
        <p:txBody>
          <a:bodyPr/>
          <a:lstStyle/>
          <a:p>
            <a:fld id="{3C9621BD-9A58-4B6A-8D79-A1F7EB728343}" type="datetimeFigureOut">
              <a:rPr lang="en-US" smtClean="0"/>
              <a:t>10/24/2025</a:t>
            </a:fld>
            <a:endParaRPr lang="en-US"/>
          </a:p>
        </p:txBody>
      </p:sp>
      <p:sp>
        <p:nvSpPr>
          <p:cNvPr id="3" name="Footer Placeholder 2">
            <a:extLst>
              <a:ext uri="{FF2B5EF4-FFF2-40B4-BE49-F238E27FC236}">
                <a16:creationId xmlns:a16="http://schemas.microsoft.com/office/drawing/2014/main" id="{4B5FF48D-5917-DFC0-B16B-6AB683941B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6451736-1DF4-40FA-F571-975DE62D77C8}"/>
              </a:ext>
            </a:extLst>
          </p:cNvPr>
          <p:cNvSpPr>
            <a:spLocks noGrp="1"/>
          </p:cNvSpPr>
          <p:nvPr>
            <p:ph type="sldNum" sz="quarter" idx="12"/>
          </p:nvPr>
        </p:nvSpPr>
        <p:spPr/>
        <p:txBody>
          <a:bodyPr/>
          <a:lstStyle/>
          <a:p>
            <a:fld id="{54C774E1-256C-41E1-913F-7853C47714A4}" type="slidenum">
              <a:rPr lang="en-US" smtClean="0"/>
              <a:t>‹#›</a:t>
            </a:fld>
            <a:endParaRPr lang="en-US"/>
          </a:p>
        </p:txBody>
      </p:sp>
    </p:spTree>
    <p:extLst>
      <p:ext uri="{BB962C8B-B14F-4D97-AF65-F5344CB8AC3E}">
        <p14:creationId xmlns:p14="http://schemas.microsoft.com/office/powerpoint/2010/main" val="28065871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17688-4CFB-B99F-6659-3B68F3B90C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9E32A05-C381-831B-16E1-B7E9EF6BBA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685AB9D-13C4-D46A-7E5A-277843F3B2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E66D3C-0BA2-E16B-512F-D214D05BA466}"/>
              </a:ext>
            </a:extLst>
          </p:cNvPr>
          <p:cNvSpPr>
            <a:spLocks noGrp="1"/>
          </p:cNvSpPr>
          <p:nvPr>
            <p:ph type="dt" sz="half" idx="10"/>
          </p:nvPr>
        </p:nvSpPr>
        <p:spPr/>
        <p:txBody>
          <a:bodyPr/>
          <a:lstStyle/>
          <a:p>
            <a:fld id="{3C9621BD-9A58-4B6A-8D79-A1F7EB728343}" type="datetimeFigureOut">
              <a:rPr lang="en-US" smtClean="0"/>
              <a:t>10/24/2025</a:t>
            </a:fld>
            <a:endParaRPr lang="en-US"/>
          </a:p>
        </p:txBody>
      </p:sp>
      <p:sp>
        <p:nvSpPr>
          <p:cNvPr id="6" name="Footer Placeholder 5">
            <a:extLst>
              <a:ext uri="{FF2B5EF4-FFF2-40B4-BE49-F238E27FC236}">
                <a16:creationId xmlns:a16="http://schemas.microsoft.com/office/drawing/2014/main" id="{EA82B9E2-1726-5544-3A04-1B25435DFF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731471-CC46-7182-1DB2-CA4EF4DBFF1A}"/>
              </a:ext>
            </a:extLst>
          </p:cNvPr>
          <p:cNvSpPr>
            <a:spLocks noGrp="1"/>
          </p:cNvSpPr>
          <p:nvPr>
            <p:ph type="sldNum" sz="quarter" idx="12"/>
          </p:nvPr>
        </p:nvSpPr>
        <p:spPr/>
        <p:txBody>
          <a:bodyPr/>
          <a:lstStyle/>
          <a:p>
            <a:fld id="{54C774E1-256C-41E1-913F-7853C47714A4}" type="slidenum">
              <a:rPr lang="en-US" smtClean="0"/>
              <a:t>‹#›</a:t>
            </a:fld>
            <a:endParaRPr lang="en-US"/>
          </a:p>
        </p:txBody>
      </p:sp>
    </p:spTree>
    <p:extLst>
      <p:ext uri="{BB962C8B-B14F-4D97-AF65-F5344CB8AC3E}">
        <p14:creationId xmlns:p14="http://schemas.microsoft.com/office/powerpoint/2010/main" val="22025431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3F10B-F0A8-F0C1-4316-7DA4B84C53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9860140-323D-241F-2834-B0CC60F8C6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07CFBB8-71C7-5109-D0F0-B506A4E1FF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DDC44F-C6AB-DA00-A1B0-1BF4F60D77F4}"/>
              </a:ext>
            </a:extLst>
          </p:cNvPr>
          <p:cNvSpPr>
            <a:spLocks noGrp="1"/>
          </p:cNvSpPr>
          <p:nvPr>
            <p:ph type="dt" sz="half" idx="10"/>
          </p:nvPr>
        </p:nvSpPr>
        <p:spPr/>
        <p:txBody>
          <a:bodyPr/>
          <a:lstStyle/>
          <a:p>
            <a:fld id="{3C9621BD-9A58-4B6A-8D79-A1F7EB728343}" type="datetimeFigureOut">
              <a:rPr lang="en-US" smtClean="0"/>
              <a:t>10/24/2025</a:t>
            </a:fld>
            <a:endParaRPr lang="en-US"/>
          </a:p>
        </p:txBody>
      </p:sp>
      <p:sp>
        <p:nvSpPr>
          <p:cNvPr id="6" name="Footer Placeholder 5">
            <a:extLst>
              <a:ext uri="{FF2B5EF4-FFF2-40B4-BE49-F238E27FC236}">
                <a16:creationId xmlns:a16="http://schemas.microsoft.com/office/drawing/2014/main" id="{2FECEEE2-2A9B-595C-7833-A674D636B0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7A7A10-93E2-B65D-587B-9E19DCAEA67C}"/>
              </a:ext>
            </a:extLst>
          </p:cNvPr>
          <p:cNvSpPr>
            <a:spLocks noGrp="1"/>
          </p:cNvSpPr>
          <p:nvPr>
            <p:ph type="sldNum" sz="quarter" idx="12"/>
          </p:nvPr>
        </p:nvSpPr>
        <p:spPr/>
        <p:txBody>
          <a:bodyPr/>
          <a:lstStyle/>
          <a:p>
            <a:fld id="{54C774E1-256C-41E1-913F-7853C47714A4}" type="slidenum">
              <a:rPr lang="en-US" smtClean="0"/>
              <a:t>‹#›</a:t>
            </a:fld>
            <a:endParaRPr lang="en-US"/>
          </a:p>
        </p:txBody>
      </p:sp>
    </p:spTree>
    <p:extLst>
      <p:ext uri="{BB962C8B-B14F-4D97-AF65-F5344CB8AC3E}">
        <p14:creationId xmlns:p14="http://schemas.microsoft.com/office/powerpoint/2010/main" val="5619929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688C3-DE8B-804E-4920-31BE9A79516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36C137F-A7A7-BF77-1298-E31EE71C22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AEB676-5D08-17BE-C391-6EABAD2F7F07}"/>
              </a:ext>
            </a:extLst>
          </p:cNvPr>
          <p:cNvSpPr>
            <a:spLocks noGrp="1"/>
          </p:cNvSpPr>
          <p:nvPr>
            <p:ph type="dt" sz="half" idx="10"/>
          </p:nvPr>
        </p:nvSpPr>
        <p:spPr/>
        <p:txBody>
          <a:bodyPr/>
          <a:lstStyle/>
          <a:p>
            <a:fld id="{3C9621BD-9A58-4B6A-8D79-A1F7EB728343}" type="datetimeFigureOut">
              <a:rPr lang="en-US" smtClean="0"/>
              <a:t>10/24/2025</a:t>
            </a:fld>
            <a:endParaRPr lang="en-US"/>
          </a:p>
        </p:txBody>
      </p:sp>
      <p:sp>
        <p:nvSpPr>
          <p:cNvPr id="5" name="Footer Placeholder 4">
            <a:extLst>
              <a:ext uri="{FF2B5EF4-FFF2-40B4-BE49-F238E27FC236}">
                <a16:creationId xmlns:a16="http://schemas.microsoft.com/office/drawing/2014/main" id="{D63B7271-0D51-F8C6-7E42-A7B018AAD8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D84B2F-A45A-154A-E105-1F7D28E768B9}"/>
              </a:ext>
            </a:extLst>
          </p:cNvPr>
          <p:cNvSpPr>
            <a:spLocks noGrp="1"/>
          </p:cNvSpPr>
          <p:nvPr>
            <p:ph type="sldNum" sz="quarter" idx="12"/>
          </p:nvPr>
        </p:nvSpPr>
        <p:spPr/>
        <p:txBody>
          <a:bodyPr/>
          <a:lstStyle/>
          <a:p>
            <a:fld id="{54C774E1-256C-41E1-913F-7853C47714A4}" type="slidenum">
              <a:rPr lang="en-US" smtClean="0"/>
              <a:t>‹#›</a:t>
            </a:fld>
            <a:endParaRPr lang="en-US"/>
          </a:p>
        </p:txBody>
      </p:sp>
    </p:spTree>
    <p:extLst>
      <p:ext uri="{BB962C8B-B14F-4D97-AF65-F5344CB8AC3E}">
        <p14:creationId xmlns:p14="http://schemas.microsoft.com/office/powerpoint/2010/main" val="26566138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847F4E5-B579-0227-BB97-7AF2819BE3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B33F903-903A-44BB-F655-F3A9107FEDC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EB5386-4DBB-EAE8-1EEE-AE5A77D0F17F}"/>
              </a:ext>
            </a:extLst>
          </p:cNvPr>
          <p:cNvSpPr>
            <a:spLocks noGrp="1"/>
          </p:cNvSpPr>
          <p:nvPr>
            <p:ph type="dt" sz="half" idx="10"/>
          </p:nvPr>
        </p:nvSpPr>
        <p:spPr/>
        <p:txBody>
          <a:bodyPr/>
          <a:lstStyle/>
          <a:p>
            <a:fld id="{3C9621BD-9A58-4B6A-8D79-A1F7EB728343}" type="datetimeFigureOut">
              <a:rPr lang="en-US" smtClean="0"/>
              <a:t>10/24/2025</a:t>
            </a:fld>
            <a:endParaRPr lang="en-US"/>
          </a:p>
        </p:txBody>
      </p:sp>
      <p:sp>
        <p:nvSpPr>
          <p:cNvPr id="5" name="Footer Placeholder 4">
            <a:extLst>
              <a:ext uri="{FF2B5EF4-FFF2-40B4-BE49-F238E27FC236}">
                <a16:creationId xmlns:a16="http://schemas.microsoft.com/office/drawing/2014/main" id="{7C35E63F-5A4B-61C9-E0C1-858F7F63FA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5B90D1-0850-95CE-ADA7-849D7E943007}"/>
              </a:ext>
            </a:extLst>
          </p:cNvPr>
          <p:cNvSpPr>
            <a:spLocks noGrp="1"/>
          </p:cNvSpPr>
          <p:nvPr>
            <p:ph type="sldNum" sz="quarter" idx="12"/>
          </p:nvPr>
        </p:nvSpPr>
        <p:spPr/>
        <p:txBody>
          <a:bodyPr/>
          <a:lstStyle/>
          <a:p>
            <a:fld id="{54C774E1-256C-41E1-913F-7853C47714A4}" type="slidenum">
              <a:rPr lang="en-US" smtClean="0"/>
              <a:t>‹#›</a:t>
            </a:fld>
            <a:endParaRPr lang="en-US"/>
          </a:p>
        </p:txBody>
      </p:sp>
    </p:spTree>
    <p:extLst>
      <p:ext uri="{BB962C8B-B14F-4D97-AF65-F5344CB8AC3E}">
        <p14:creationId xmlns:p14="http://schemas.microsoft.com/office/powerpoint/2010/main" val="2567830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1B3CBC2-976A-25FB-0F26-6C2CFF74CC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6988249-7E88-E0EF-A341-9BA582A0A8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453554-01F8-3C19-67BB-5977EE35D7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9621BD-9A58-4B6A-8D79-A1F7EB728343}" type="datetimeFigureOut">
              <a:rPr lang="en-US" smtClean="0"/>
              <a:t>10/24/2025</a:t>
            </a:fld>
            <a:endParaRPr lang="en-US"/>
          </a:p>
        </p:txBody>
      </p:sp>
      <p:sp>
        <p:nvSpPr>
          <p:cNvPr id="5" name="Footer Placeholder 4">
            <a:extLst>
              <a:ext uri="{FF2B5EF4-FFF2-40B4-BE49-F238E27FC236}">
                <a16:creationId xmlns:a16="http://schemas.microsoft.com/office/drawing/2014/main" id="{3CA972DE-4DCB-BB24-65F6-0CBB999E7F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AFBE4EF-B8CE-08DF-2525-05537147DC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C774E1-256C-41E1-913F-7853C47714A4}" type="slidenum">
              <a:rPr lang="en-US" smtClean="0"/>
              <a:t>‹#›</a:t>
            </a:fld>
            <a:endParaRPr lang="en-US"/>
          </a:p>
        </p:txBody>
      </p:sp>
    </p:spTree>
    <p:extLst>
      <p:ext uri="{BB962C8B-B14F-4D97-AF65-F5344CB8AC3E}">
        <p14:creationId xmlns:p14="http://schemas.microsoft.com/office/powerpoint/2010/main" val="24849984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432D71B-778C-F142-9995-0D7479E7A06B}"/>
              </a:ext>
            </a:extLst>
          </p:cNvPr>
          <p:cNvSpPr>
            <a:spLocks noGrp="1"/>
          </p:cNvSpPr>
          <p:nvPr>
            <p:ph type="title"/>
          </p:nvPr>
        </p:nvSpPr>
        <p:spPr/>
        <p:txBody>
          <a:bodyPr/>
          <a:lstStyle/>
          <a:p>
            <a:r>
              <a:rPr lang="en-US" dirty="0"/>
              <a:t>301, Nov 3, Class 21</a:t>
            </a:r>
          </a:p>
        </p:txBody>
      </p:sp>
      <p:sp>
        <p:nvSpPr>
          <p:cNvPr id="5" name="Content Placeholder 4">
            <a:extLst>
              <a:ext uri="{FF2B5EF4-FFF2-40B4-BE49-F238E27FC236}">
                <a16:creationId xmlns:a16="http://schemas.microsoft.com/office/drawing/2014/main" id="{2D9A0A37-5C6D-25B4-BB4E-BFD30A366F55}"/>
              </a:ext>
            </a:extLst>
          </p:cNvPr>
          <p:cNvSpPr>
            <a:spLocks noGrp="1"/>
          </p:cNvSpPr>
          <p:nvPr>
            <p:ph idx="1"/>
          </p:nvPr>
        </p:nvSpPr>
        <p:spPr/>
        <p:txBody>
          <a:bodyPr/>
          <a:lstStyle/>
          <a:p>
            <a:r>
              <a:rPr lang="en-US" dirty="0"/>
              <a:t>Non-Experimental designs</a:t>
            </a:r>
          </a:p>
          <a:p>
            <a:endParaRPr lang="en-US" dirty="0"/>
          </a:p>
          <a:p>
            <a:r>
              <a:rPr lang="en-US" dirty="0"/>
              <a:t>Example publication: Plant et al. (2009)</a:t>
            </a:r>
          </a:p>
          <a:p>
            <a:pPr lvl="1"/>
            <a:r>
              <a:rPr lang="en-US" dirty="0"/>
              <a:t>The Obama Effect</a:t>
            </a:r>
          </a:p>
        </p:txBody>
      </p:sp>
    </p:spTree>
    <p:extLst>
      <p:ext uri="{BB962C8B-B14F-4D97-AF65-F5344CB8AC3E}">
        <p14:creationId xmlns:p14="http://schemas.microsoft.com/office/powerpoint/2010/main" val="3421265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D15DC09-DC1A-52C9-0929-A9B9CEE6E509}"/>
              </a:ext>
            </a:extLst>
          </p:cNvPr>
          <p:cNvSpPr>
            <a:spLocks noGrp="1"/>
          </p:cNvSpPr>
          <p:nvPr>
            <p:ph type="title"/>
          </p:nvPr>
        </p:nvSpPr>
        <p:spPr/>
        <p:txBody>
          <a:bodyPr/>
          <a:lstStyle/>
          <a:p>
            <a:r>
              <a:rPr lang="en-US" dirty="0"/>
              <a:t>Non-experimental designs</a:t>
            </a:r>
          </a:p>
        </p:txBody>
      </p:sp>
      <p:sp>
        <p:nvSpPr>
          <p:cNvPr id="6" name="Content Placeholder 5">
            <a:extLst>
              <a:ext uri="{FF2B5EF4-FFF2-40B4-BE49-F238E27FC236}">
                <a16:creationId xmlns:a16="http://schemas.microsoft.com/office/drawing/2014/main" id="{82A2E1AD-B80C-65E8-769E-FB81D8A5D868}"/>
              </a:ext>
            </a:extLst>
          </p:cNvPr>
          <p:cNvSpPr>
            <a:spLocks noGrp="1"/>
          </p:cNvSpPr>
          <p:nvPr>
            <p:ph idx="1"/>
          </p:nvPr>
        </p:nvSpPr>
        <p:spPr/>
        <p:txBody>
          <a:bodyPr>
            <a:normAutofit lnSpcReduction="10000"/>
          </a:bodyPr>
          <a:lstStyle/>
          <a:p>
            <a:r>
              <a:rPr lang="en-US" dirty="0"/>
              <a:t>Collected in the real world outside the laboratory</a:t>
            </a:r>
          </a:p>
          <a:p>
            <a:pPr lvl="1"/>
            <a:r>
              <a:rPr lang="en-US" dirty="0"/>
              <a:t>Observation</a:t>
            </a:r>
          </a:p>
          <a:p>
            <a:pPr lvl="1"/>
            <a:r>
              <a:rPr lang="en-US" dirty="0"/>
              <a:t>Surveys</a:t>
            </a:r>
          </a:p>
          <a:p>
            <a:pPr lvl="1"/>
            <a:r>
              <a:rPr lang="en-US" dirty="0"/>
              <a:t>Qualitative research</a:t>
            </a:r>
          </a:p>
          <a:p>
            <a:pPr lvl="1"/>
            <a:r>
              <a:rPr lang="en-US" dirty="0"/>
              <a:t>Intervention research</a:t>
            </a:r>
          </a:p>
          <a:p>
            <a:endParaRPr lang="en-US" dirty="0"/>
          </a:p>
          <a:p>
            <a:r>
              <a:rPr lang="en-US" dirty="0"/>
              <a:t>Lack of control = less internal validity</a:t>
            </a:r>
          </a:p>
          <a:p>
            <a:pPr lvl="1"/>
            <a:r>
              <a:rPr lang="en-US" dirty="0"/>
              <a:t>As little as none in some cases</a:t>
            </a:r>
          </a:p>
          <a:p>
            <a:r>
              <a:rPr lang="en-US" dirty="0"/>
              <a:t>Collecting data in context = greater external validity</a:t>
            </a:r>
          </a:p>
          <a:p>
            <a:pPr lvl="1"/>
            <a:r>
              <a:rPr lang="en-US" dirty="0"/>
              <a:t>Little concern about applying outside the lab</a:t>
            </a:r>
          </a:p>
        </p:txBody>
      </p:sp>
    </p:spTree>
    <p:extLst>
      <p:ext uri="{BB962C8B-B14F-4D97-AF65-F5344CB8AC3E}">
        <p14:creationId xmlns:p14="http://schemas.microsoft.com/office/powerpoint/2010/main" val="1335312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4D6CC-ED60-43C8-98A3-906D533B855A}"/>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FDE4533C-71AB-44D6-94A6-6F0FC8E39651}"/>
              </a:ext>
            </a:extLst>
          </p:cNvPr>
          <p:cNvPicPr>
            <a:picLocks noGrp="1" noChangeAspect="1"/>
          </p:cNvPicPr>
          <p:nvPr>
            <p:ph idx="1"/>
          </p:nvPr>
        </p:nvPicPr>
        <p:blipFill>
          <a:blip r:embed="rId2"/>
          <a:stretch>
            <a:fillRect/>
          </a:stretch>
        </p:blipFill>
        <p:spPr>
          <a:xfrm>
            <a:off x="641269" y="365125"/>
            <a:ext cx="10980754" cy="5145026"/>
          </a:xfrm>
          <a:prstGeom prst="rect">
            <a:avLst/>
          </a:prstGeom>
        </p:spPr>
      </p:pic>
    </p:spTree>
    <p:extLst>
      <p:ext uri="{BB962C8B-B14F-4D97-AF65-F5344CB8AC3E}">
        <p14:creationId xmlns:p14="http://schemas.microsoft.com/office/powerpoint/2010/main" val="1930913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47077-DA28-4E3B-8C9C-7B6378F95C6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93115A3-28E5-4B25-8953-A298ECF1F10B}"/>
              </a:ext>
            </a:extLst>
          </p:cNvPr>
          <p:cNvSpPr>
            <a:spLocks noGrp="1"/>
          </p:cNvSpPr>
          <p:nvPr>
            <p:ph idx="1"/>
          </p:nvPr>
        </p:nvSpPr>
        <p:spPr/>
        <p:txBody>
          <a:bodyPr/>
          <a:lstStyle/>
          <a:p>
            <a:pPr algn="l"/>
            <a:r>
              <a:rPr lang="en-US" sz="2000" b="1" dirty="0">
                <a:solidFill>
                  <a:srgbClr val="2D3B45"/>
                </a:solidFill>
                <a:latin typeface="Lato Extended"/>
              </a:rPr>
              <a:t>Evaluative IAT</a:t>
            </a:r>
            <a:r>
              <a:rPr lang="en-US" sz="2000" dirty="0">
                <a:solidFill>
                  <a:srgbClr val="2D3B45"/>
                </a:solidFill>
                <a:latin typeface="Lato Extended"/>
              </a:rPr>
              <a:t>. The IAT is a dual categorization task in which participants categorize words as pleasant or unpleasant and faces as either Black or White by pressing one of two keys on the computer keyboard. Stimuli consisted of pleasant and unpleasant words as used by Greenwald et al. (1998) and pictures of White and Black male faces displaying neutral expressions (</a:t>
            </a:r>
            <a:r>
              <a:rPr lang="en-US" sz="2000" dirty="0" err="1">
                <a:solidFill>
                  <a:srgbClr val="2D3B45"/>
                </a:solidFill>
                <a:latin typeface="Lato Extended"/>
              </a:rPr>
              <a:t>Malpass</a:t>
            </a:r>
            <a:r>
              <a:rPr lang="en-US" sz="2000" dirty="0">
                <a:solidFill>
                  <a:srgbClr val="2D3B45"/>
                </a:solidFill>
                <a:latin typeface="Lato Extended"/>
              </a:rPr>
              <a:t>, </a:t>
            </a:r>
            <a:r>
              <a:rPr lang="en-US" sz="2000" dirty="0" err="1">
                <a:solidFill>
                  <a:srgbClr val="2D3B45"/>
                </a:solidFill>
                <a:latin typeface="Lato Extended"/>
              </a:rPr>
              <a:t>Lavigueur</a:t>
            </a:r>
            <a:r>
              <a:rPr lang="en-US" sz="2000" dirty="0">
                <a:solidFill>
                  <a:srgbClr val="2D3B45"/>
                </a:solidFill>
                <a:latin typeface="Lato Extended"/>
              </a:rPr>
              <a:t>, &amp; Weldon, 1973) as used by Devine, Plant, </a:t>
            </a:r>
            <a:r>
              <a:rPr lang="en-US" sz="2000" dirty="0" err="1">
                <a:solidFill>
                  <a:srgbClr val="2D3B45"/>
                </a:solidFill>
                <a:latin typeface="Lato Extended"/>
              </a:rPr>
              <a:t>Amodio</a:t>
            </a:r>
            <a:r>
              <a:rPr lang="en-US" sz="2000" dirty="0">
                <a:solidFill>
                  <a:srgbClr val="2D3B45"/>
                </a:solidFill>
                <a:latin typeface="Lato Extended"/>
              </a:rPr>
              <a:t>, Harmon-Jones, and Vance (2002; Study 3). Pleasant words included honor, lucky, diamond, loyal, freedom, rainbow, love, honest, peace, and heaven. Unpleasant words included evil, cancer, sickness, disaster, poverty, vomit, bomb, rotten, abuse, and murder</a:t>
            </a:r>
          </a:p>
          <a:p>
            <a:pPr algn="l"/>
            <a:endParaRPr lang="en-US" sz="2000" dirty="0">
              <a:solidFill>
                <a:srgbClr val="2D3B45"/>
              </a:solidFill>
              <a:latin typeface="Lato Extended"/>
            </a:endParaRPr>
          </a:p>
          <a:p>
            <a:endParaRPr lang="en-US" sz="2000" dirty="0"/>
          </a:p>
        </p:txBody>
      </p:sp>
    </p:spTree>
    <p:extLst>
      <p:ext uri="{BB962C8B-B14F-4D97-AF65-F5344CB8AC3E}">
        <p14:creationId xmlns:p14="http://schemas.microsoft.com/office/powerpoint/2010/main" val="28575003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409A7-E7B6-4F52-B583-7BF59C106EC3}"/>
              </a:ext>
            </a:extLst>
          </p:cNvPr>
          <p:cNvSpPr>
            <a:spLocks noGrp="1"/>
          </p:cNvSpPr>
          <p:nvPr>
            <p:ph type="title"/>
          </p:nvPr>
        </p:nvSpPr>
        <p:spPr/>
        <p:txBody>
          <a:bodyPr/>
          <a:lstStyle/>
          <a:p>
            <a:r>
              <a:rPr lang="en-US" dirty="0"/>
              <a:t>IAT</a:t>
            </a:r>
          </a:p>
        </p:txBody>
      </p:sp>
      <p:sp>
        <p:nvSpPr>
          <p:cNvPr id="3" name="Content Placeholder 2">
            <a:extLst>
              <a:ext uri="{FF2B5EF4-FFF2-40B4-BE49-F238E27FC236}">
                <a16:creationId xmlns:a16="http://schemas.microsoft.com/office/drawing/2014/main" id="{85D22B6B-F740-4E2A-9447-4A8B097AE891}"/>
              </a:ext>
            </a:extLst>
          </p:cNvPr>
          <p:cNvSpPr>
            <a:spLocks noGrp="1"/>
          </p:cNvSpPr>
          <p:nvPr>
            <p:ph idx="1"/>
          </p:nvPr>
        </p:nvSpPr>
        <p:spPr/>
        <p:txBody>
          <a:bodyPr/>
          <a:lstStyle/>
          <a:p>
            <a:r>
              <a:rPr lang="en-US" dirty="0"/>
              <a:t>Block 1: Is this word good or bad?</a:t>
            </a:r>
          </a:p>
          <a:p>
            <a:r>
              <a:rPr lang="en-US" dirty="0"/>
              <a:t>Block 2: Is this face black or white?</a:t>
            </a:r>
          </a:p>
          <a:p>
            <a:r>
              <a:rPr lang="en-US" dirty="0"/>
              <a:t>Blocks 3-4: Mixed together, compatible with bias</a:t>
            </a:r>
          </a:p>
          <a:p>
            <a:pPr lvl="1"/>
            <a:r>
              <a:rPr lang="en-US" dirty="0"/>
              <a:t>Same hand for good/white, bad/black</a:t>
            </a:r>
          </a:p>
          <a:p>
            <a:r>
              <a:rPr lang="en-US" dirty="0"/>
              <a:t>Block 5: Mixed, incompatible with bias</a:t>
            </a:r>
          </a:p>
          <a:p>
            <a:endParaRPr lang="en-US" dirty="0"/>
          </a:p>
          <a:p>
            <a:r>
              <a:rPr lang="en-US" dirty="0"/>
              <a:t>DV = RT on block 5 – average on 3 &amp; 4</a:t>
            </a:r>
          </a:p>
        </p:txBody>
      </p:sp>
    </p:spTree>
    <p:extLst>
      <p:ext uri="{BB962C8B-B14F-4D97-AF65-F5344CB8AC3E}">
        <p14:creationId xmlns:p14="http://schemas.microsoft.com/office/powerpoint/2010/main" val="5399024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D738C-9CA8-4F16-BFC1-DBA08185EB21}"/>
              </a:ext>
            </a:extLst>
          </p:cNvPr>
          <p:cNvSpPr>
            <a:spLocks noGrp="1"/>
          </p:cNvSpPr>
          <p:nvPr>
            <p:ph type="title"/>
          </p:nvPr>
        </p:nvSpPr>
        <p:spPr/>
        <p:txBody>
          <a:bodyPr/>
          <a:lstStyle/>
          <a:p>
            <a:r>
              <a:rPr lang="en-US" dirty="0"/>
              <a:t>IAT Design</a:t>
            </a:r>
          </a:p>
        </p:txBody>
      </p:sp>
      <p:sp>
        <p:nvSpPr>
          <p:cNvPr id="3" name="Content Placeholder 2">
            <a:extLst>
              <a:ext uri="{FF2B5EF4-FFF2-40B4-BE49-F238E27FC236}">
                <a16:creationId xmlns:a16="http://schemas.microsoft.com/office/drawing/2014/main" id="{22B4DDC7-5CBF-4C02-923D-357C17776682}"/>
              </a:ext>
            </a:extLst>
          </p:cNvPr>
          <p:cNvSpPr>
            <a:spLocks noGrp="1"/>
          </p:cNvSpPr>
          <p:nvPr>
            <p:ph idx="1"/>
          </p:nvPr>
        </p:nvSpPr>
        <p:spPr/>
        <p:txBody>
          <a:bodyPr/>
          <a:lstStyle/>
          <a:p>
            <a:r>
              <a:rPr lang="en-US" dirty="0"/>
              <a:t>Aimed at overcoming response bias inherent in asking about racial stereotype/attitudes</a:t>
            </a:r>
          </a:p>
          <a:p>
            <a:pPr lvl="1"/>
            <a:r>
              <a:rPr lang="en-US" dirty="0"/>
              <a:t>Surveys can produce inaccurate data</a:t>
            </a:r>
          </a:p>
          <a:p>
            <a:r>
              <a:rPr lang="en-US" dirty="0"/>
              <a:t>Demonstrates the concept of ‘implicit’ elements of cognition</a:t>
            </a:r>
          </a:p>
          <a:p>
            <a:pPr lvl="1"/>
            <a:r>
              <a:rPr lang="en-US" dirty="0"/>
              <a:t>Unintentional bias</a:t>
            </a:r>
          </a:p>
          <a:p>
            <a:r>
              <a:rPr lang="en-US" dirty="0"/>
              <a:t>DV is fairly noisy</a:t>
            </a:r>
          </a:p>
          <a:p>
            <a:pPr lvl="1"/>
            <a:r>
              <a:rPr lang="en-US" dirty="0"/>
              <a:t>Can exhibit poor test-retest reliability</a:t>
            </a:r>
          </a:p>
        </p:txBody>
      </p:sp>
    </p:spTree>
    <p:extLst>
      <p:ext uri="{BB962C8B-B14F-4D97-AF65-F5344CB8AC3E}">
        <p14:creationId xmlns:p14="http://schemas.microsoft.com/office/powerpoint/2010/main" val="2483089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2646B-995D-4AEF-9180-FB3425FD05A7}"/>
              </a:ext>
            </a:extLst>
          </p:cNvPr>
          <p:cNvSpPr>
            <a:spLocks noGrp="1"/>
          </p:cNvSpPr>
          <p:nvPr>
            <p:ph type="title"/>
          </p:nvPr>
        </p:nvSpPr>
        <p:spPr/>
        <p:txBody>
          <a:bodyPr/>
          <a:lstStyle/>
          <a:p>
            <a:r>
              <a:rPr lang="en-US" dirty="0"/>
              <a:t>Non-experimental research</a:t>
            </a:r>
          </a:p>
        </p:txBody>
      </p:sp>
      <p:sp>
        <p:nvSpPr>
          <p:cNvPr id="3" name="Content Placeholder 2">
            <a:extLst>
              <a:ext uri="{FF2B5EF4-FFF2-40B4-BE49-F238E27FC236}">
                <a16:creationId xmlns:a16="http://schemas.microsoft.com/office/drawing/2014/main" id="{CEE8DB60-A934-4FC5-9AFC-47A38C8814B4}"/>
              </a:ext>
            </a:extLst>
          </p:cNvPr>
          <p:cNvSpPr>
            <a:spLocks noGrp="1"/>
          </p:cNvSpPr>
          <p:nvPr>
            <p:ph idx="1"/>
          </p:nvPr>
        </p:nvSpPr>
        <p:spPr/>
        <p:txBody>
          <a:bodyPr/>
          <a:lstStyle/>
          <a:p>
            <a:pPr algn="l"/>
            <a:r>
              <a:rPr lang="en-US" sz="2400" dirty="0">
                <a:solidFill>
                  <a:srgbClr val="2D3B45"/>
                </a:solidFill>
                <a:latin typeface="Lato Extended"/>
              </a:rPr>
              <a:t>“The goal of this project was to explore whether Obama’s historic presidential campaign and the resulting high levels of exposure to a positive, counter-stereotypic Black exemplar led to reduced racial prejudice and stereotyping.”</a:t>
            </a:r>
          </a:p>
          <a:p>
            <a:pPr algn="l"/>
            <a:r>
              <a:rPr lang="en-US" sz="2400" dirty="0">
                <a:solidFill>
                  <a:srgbClr val="2D3B45"/>
                </a:solidFill>
                <a:latin typeface="Lato Extended"/>
              </a:rPr>
              <a:t>Q1. Can we be confident about the causal direction here?  Why or why not?</a:t>
            </a:r>
          </a:p>
          <a:p>
            <a:pPr algn="l"/>
            <a:r>
              <a:rPr lang="en-US" sz="2400" dirty="0">
                <a:solidFill>
                  <a:srgbClr val="2D3B45"/>
                </a:solidFill>
                <a:latin typeface="Lato Extended"/>
              </a:rPr>
              <a:t>Q2. Give an alternate interpretation of the data.  The interpretation must be with the data as observed (not an alternate outcome) but is a different inference.</a:t>
            </a:r>
            <a:endParaRPr lang="en-US" sz="2400" dirty="0"/>
          </a:p>
        </p:txBody>
      </p:sp>
    </p:spTree>
    <p:extLst>
      <p:ext uri="{BB962C8B-B14F-4D97-AF65-F5344CB8AC3E}">
        <p14:creationId xmlns:p14="http://schemas.microsoft.com/office/powerpoint/2010/main" val="10921221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0A01D-F606-4BA8-B0E6-093997DD57E1}"/>
              </a:ext>
            </a:extLst>
          </p:cNvPr>
          <p:cNvSpPr>
            <a:spLocks noGrp="1"/>
          </p:cNvSpPr>
          <p:nvPr>
            <p:ph type="title"/>
          </p:nvPr>
        </p:nvSpPr>
        <p:spPr/>
        <p:txBody>
          <a:bodyPr/>
          <a:lstStyle/>
          <a:p>
            <a:r>
              <a:rPr lang="en-US" dirty="0"/>
              <a:t>Additional questions</a:t>
            </a:r>
          </a:p>
        </p:txBody>
      </p:sp>
      <p:sp>
        <p:nvSpPr>
          <p:cNvPr id="3" name="Content Placeholder 2">
            <a:extLst>
              <a:ext uri="{FF2B5EF4-FFF2-40B4-BE49-F238E27FC236}">
                <a16:creationId xmlns:a16="http://schemas.microsoft.com/office/drawing/2014/main" id="{E6CB0025-57CF-47A6-9B03-78664B127F3D}"/>
              </a:ext>
            </a:extLst>
          </p:cNvPr>
          <p:cNvSpPr>
            <a:spLocks noGrp="1"/>
          </p:cNvSpPr>
          <p:nvPr>
            <p:ph idx="1"/>
          </p:nvPr>
        </p:nvSpPr>
        <p:spPr/>
        <p:txBody>
          <a:bodyPr/>
          <a:lstStyle/>
          <a:p>
            <a:r>
              <a:rPr lang="en-US" b="0" i="0" dirty="0">
                <a:solidFill>
                  <a:srgbClr val="2D3B45"/>
                </a:solidFill>
                <a:effectLst/>
                <a:latin typeface="Lato Extended"/>
              </a:rPr>
              <a:t>Why could this research only be done non-experimentally?</a:t>
            </a:r>
          </a:p>
          <a:p>
            <a:endParaRPr lang="en-US" dirty="0">
              <a:solidFill>
                <a:srgbClr val="2D3B45"/>
              </a:solidFill>
              <a:latin typeface="Lato Extended"/>
            </a:endParaRPr>
          </a:p>
          <a:p>
            <a:r>
              <a:rPr lang="en-US" b="0" i="0" dirty="0">
                <a:solidFill>
                  <a:srgbClr val="2D3B45"/>
                </a:solidFill>
                <a:effectLst/>
                <a:latin typeface="Lato Extended"/>
              </a:rPr>
              <a:t>If the authors interpretation of the effect is correct, what subsequent recent historic events might we see as having similar types of effects and what might these be?</a:t>
            </a:r>
          </a:p>
          <a:p>
            <a:endParaRPr lang="en-US" dirty="0">
              <a:solidFill>
                <a:srgbClr val="2D3B45"/>
              </a:solidFill>
              <a:latin typeface="Lato Extended"/>
            </a:endParaRPr>
          </a:p>
          <a:p>
            <a:r>
              <a:rPr lang="en-US" dirty="0">
                <a:solidFill>
                  <a:srgbClr val="2D3B45"/>
                </a:solidFill>
                <a:latin typeface="Lato Extended"/>
              </a:rPr>
              <a:t>What principle of survey question design is implicit in the procedure of the IAT?</a:t>
            </a:r>
            <a:endParaRPr lang="en-US" dirty="0"/>
          </a:p>
        </p:txBody>
      </p:sp>
    </p:spTree>
    <p:extLst>
      <p:ext uri="{BB962C8B-B14F-4D97-AF65-F5344CB8AC3E}">
        <p14:creationId xmlns:p14="http://schemas.microsoft.com/office/powerpoint/2010/main" val="14558529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C33AB-404D-84F3-A693-3219396123A2}"/>
              </a:ext>
            </a:extLst>
          </p:cNvPr>
          <p:cNvSpPr>
            <a:spLocks noGrp="1"/>
          </p:cNvSpPr>
          <p:nvPr>
            <p:ph type="title"/>
          </p:nvPr>
        </p:nvSpPr>
        <p:spPr/>
        <p:txBody>
          <a:bodyPr/>
          <a:lstStyle/>
          <a:p>
            <a:r>
              <a:rPr lang="en-US" dirty="0"/>
              <a:t>Causation and Correlation</a:t>
            </a:r>
          </a:p>
        </p:txBody>
      </p:sp>
      <p:sp>
        <p:nvSpPr>
          <p:cNvPr id="3" name="Content Placeholder 2">
            <a:extLst>
              <a:ext uri="{FF2B5EF4-FFF2-40B4-BE49-F238E27FC236}">
                <a16:creationId xmlns:a16="http://schemas.microsoft.com/office/drawing/2014/main" id="{318898BB-E1DA-7917-14C2-C3686A7AFF30}"/>
              </a:ext>
            </a:extLst>
          </p:cNvPr>
          <p:cNvSpPr>
            <a:spLocks noGrp="1"/>
          </p:cNvSpPr>
          <p:nvPr>
            <p:ph idx="1"/>
          </p:nvPr>
        </p:nvSpPr>
        <p:spPr/>
        <p:txBody>
          <a:bodyPr/>
          <a:lstStyle/>
          <a:p>
            <a:r>
              <a:rPr lang="en-US" dirty="0"/>
              <a:t>Non-experimental design identifies correlations among variables measured in the real world</a:t>
            </a:r>
          </a:p>
        </p:txBody>
      </p:sp>
      <p:pic>
        <p:nvPicPr>
          <p:cNvPr id="4" name="Picture 2">
            <a:extLst>
              <a:ext uri="{FF2B5EF4-FFF2-40B4-BE49-F238E27FC236}">
                <a16:creationId xmlns:a16="http://schemas.microsoft.com/office/drawing/2014/main" id="{B6AE99A5-38EB-C3E5-1D9B-288BAB0FDE5D}"/>
              </a:ext>
            </a:extLst>
          </p:cNvPr>
          <p:cNvPicPr>
            <a:picLocks noChangeAspect="1" noChangeArrowheads="1"/>
          </p:cNvPicPr>
          <p:nvPr/>
        </p:nvPicPr>
        <p:blipFill>
          <a:blip r:embed="rId2" cstate="print"/>
          <a:srcRect/>
          <a:stretch>
            <a:fillRect/>
          </a:stretch>
        </p:blipFill>
        <p:spPr bwMode="auto">
          <a:xfrm>
            <a:off x="3259931" y="3779520"/>
            <a:ext cx="5672137" cy="2286000"/>
          </a:xfrm>
          <a:prstGeom prst="rect">
            <a:avLst/>
          </a:prstGeom>
          <a:noFill/>
          <a:ln w="9525">
            <a:noFill/>
            <a:miter lim="800000"/>
            <a:headEnd/>
            <a:tailEnd/>
          </a:ln>
        </p:spPr>
      </p:pic>
    </p:spTree>
    <p:extLst>
      <p:ext uri="{BB962C8B-B14F-4D97-AF65-F5344CB8AC3E}">
        <p14:creationId xmlns:p14="http://schemas.microsoft.com/office/powerpoint/2010/main" val="1859226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t>Causality</a:t>
            </a:r>
          </a:p>
        </p:txBody>
      </p:sp>
      <p:sp>
        <p:nvSpPr>
          <p:cNvPr id="7171" name="Rectangle 3"/>
          <p:cNvSpPr>
            <a:spLocks noGrp="1" noChangeArrowheads="1"/>
          </p:cNvSpPr>
          <p:nvPr>
            <p:ph type="body" idx="1"/>
          </p:nvPr>
        </p:nvSpPr>
        <p:spPr/>
        <p:txBody>
          <a:bodyPr/>
          <a:lstStyle/>
          <a:p>
            <a:pPr eaLnBrk="1" hangingPunct="1"/>
            <a:r>
              <a:rPr lang="en-US" dirty="0"/>
              <a:t>If variables X &amp; Y are very strongly correlated, does X </a:t>
            </a:r>
            <a:r>
              <a:rPr lang="en-US" u="sng" dirty="0"/>
              <a:t>cause</a:t>
            </a:r>
            <a:r>
              <a:rPr lang="en-US" dirty="0"/>
              <a:t> Y?</a:t>
            </a:r>
          </a:p>
          <a:p>
            <a:pPr eaLnBrk="1" hangingPunct="1"/>
            <a:endParaRPr lang="en-US" dirty="0"/>
          </a:p>
          <a:p>
            <a:pPr eaLnBrk="1" hangingPunct="1"/>
            <a:r>
              <a:rPr lang="en-US" dirty="0"/>
              <a:t>Correlation between X &amp; Y means either</a:t>
            </a:r>
          </a:p>
          <a:p>
            <a:pPr lvl="1" eaLnBrk="1" hangingPunct="1"/>
            <a:r>
              <a:rPr lang="en-US" dirty="0"/>
              <a:t>X causes Y</a:t>
            </a:r>
          </a:p>
          <a:p>
            <a:pPr lvl="1" eaLnBrk="1" hangingPunct="1"/>
            <a:r>
              <a:rPr lang="en-US" dirty="0"/>
              <a:t>Y causes X</a:t>
            </a:r>
          </a:p>
          <a:p>
            <a:pPr lvl="1" eaLnBrk="1" hangingPunct="1"/>
            <a:r>
              <a:rPr lang="en-US" dirty="0"/>
              <a:t>Z causes both X and Y</a:t>
            </a:r>
          </a:p>
        </p:txBody>
      </p:sp>
    </p:spTree>
    <p:extLst>
      <p:ext uri="{BB962C8B-B14F-4D97-AF65-F5344CB8AC3E}">
        <p14:creationId xmlns:p14="http://schemas.microsoft.com/office/powerpoint/2010/main" val="1967605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 calcmode="lin" valueType="num">
                                      <p:cBhvr additive="base">
                                        <p:cTn id="7" dur="500" fill="hold"/>
                                        <p:tgtEl>
                                          <p:spTgt spid="717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17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171">
                                            <p:txEl>
                                              <p:pRg st="2" end="2"/>
                                            </p:txEl>
                                          </p:spTgt>
                                        </p:tgtEl>
                                        <p:attrNameLst>
                                          <p:attrName>style.visibility</p:attrName>
                                        </p:attrNameLst>
                                      </p:cBhvr>
                                      <p:to>
                                        <p:strVal val="visible"/>
                                      </p:to>
                                    </p:set>
                                    <p:anim calcmode="lin" valueType="num">
                                      <p:cBhvr additive="base">
                                        <p:cTn id="13" dur="500" fill="hold"/>
                                        <p:tgtEl>
                                          <p:spTgt spid="7171">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171">
                                            <p:txEl>
                                              <p:pRg st="2" end="2"/>
                                            </p:tx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7171">
                                            <p:txEl>
                                              <p:pRg st="3" end="3"/>
                                            </p:txEl>
                                          </p:spTgt>
                                        </p:tgtEl>
                                        <p:attrNameLst>
                                          <p:attrName>style.visibility</p:attrName>
                                        </p:attrNameLst>
                                      </p:cBhvr>
                                      <p:to>
                                        <p:strVal val="visible"/>
                                      </p:to>
                                    </p:set>
                                    <p:anim calcmode="lin" valueType="num">
                                      <p:cBhvr additive="base">
                                        <p:cTn id="17" dur="500" fill="hold"/>
                                        <p:tgtEl>
                                          <p:spTgt spid="7171">
                                            <p:txEl>
                                              <p:pRg st="3" end="3"/>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7171">
                                            <p:txEl>
                                              <p:pRg st="3" end="3"/>
                                            </p:tx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7171">
                                            <p:txEl>
                                              <p:pRg st="4" end="4"/>
                                            </p:txEl>
                                          </p:spTgt>
                                        </p:tgtEl>
                                        <p:attrNameLst>
                                          <p:attrName>style.visibility</p:attrName>
                                        </p:attrNameLst>
                                      </p:cBhvr>
                                      <p:to>
                                        <p:strVal val="visible"/>
                                      </p:to>
                                    </p:set>
                                    <p:anim calcmode="lin" valueType="num">
                                      <p:cBhvr additive="base">
                                        <p:cTn id="21" dur="500" fill="hold"/>
                                        <p:tgtEl>
                                          <p:spTgt spid="7171">
                                            <p:txEl>
                                              <p:pRg st="4" end="4"/>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7171">
                                            <p:txEl>
                                              <p:pRg st="4" end="4"/>
                                            </p:txEl>
                                          </p:spTgt>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7171">
                                            <p:txEl>
                                              <p:pRg st="5" end="5"/>
                                            </p:txEl>
                                          </p:spTgt>
                                        </p:tgtEl>
                                        <p:attrNameLst>
                                          <p:attrName>style.visibility</p:attrName>
                                        </p:attrNameLst>
                                      </p:cBhvr>
                                      <p:to>
                                        <p:strVal val="visible"/>
                                      </p:to>
                                    </p:set>
                                    <p:anim calcmode="lin" valueType="num">
                                      <p:cBhvr additive="base">
                                        <p:cTn id="25" dur="500" fill="hold"/>
                                        <p:tgtEl>
                                          <p:spTgt spid="7171">
                                            <p:txEl>
                                              <p:pRg st="5" end="5"/>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7171">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E5F72-E798-79D5-5B58-468DF942C279}"/>
              </a:ext>
            </a:extLst>
          </p:cNvPr>
          <p:cNvSpPr>
            <a:spLocks noGrp="1"/>
          </p:cNvSpPr>
          <p:nvPr>
            <p:ph type="title"/>
          </p:nvPr>
        </p:nvSpPr>
        <p:spPr/>
        <p:txBody>
          <a:bodyPr/>
          <a:lstStyle/>
          <a:p>
            <a:r>
              <a:rPr lang="en-US" dirty="0"/>
              <a:t>Variables observed to co-vary</a:t>
            </a:r>
          </a:p>
        </p:txBody>
      </p:sp>
      <p:sp>
        <p:nvSpPr>
          <p:cNvPr id="3" name="Content Placeholder 2">
            <a:extLst>
              <a:ext uri="{FF2B5EF4-FFF2-40B4-BE49-F238E27FC236}">
                <a16:creationId xmlns:a16="http://schemas.microsoft.com/office/drawing/2014/main" id="{103B920F-DA81-C7DD-229C-40C8B3A8CC48}"/>
              </a:ext>
            </a:extLst>
          </p:cNvPr>
          <p:cNvSpPr>
            <a:spLocks noGrp="1"/>
          </p:cNvSpPr>
          <p:nvPr>
            <p:ph idx="1"/>
          </p:nvPr>
        </p:nvSpPr>
        <p:spPr/>
        <p:txBody>
          <a:bodyPr/>
          <a:lstStyle/>
          <a:p>
            <a:pPr lvl="1" eaLnBrk="1" hangingPunct="1"/>
            <a:r>
              <a:rPr lang="en-US" sz="2800" dirty="0"/>
              <a:t>Hot weather is associated with higher rates of street violence</a:t>
            </a:r>
          </a:p>
          <a:p>
            <a:pPr lvl="1" eaLnBrk="1" hangingPunct="1"/>
            <a:r>
              <a:rPr lang="en-US" sz="2800" dirty="0"/>
              <a:t>Older people exercise less than middle aged people</a:t>
            </a:r>
          </a:p>
          <a:p>
            <a:pPr lvl="1" eaLnBrk="1" hangingPunct="1"/>
            <a:r>
              <a:rPr lang="en-US" sz="2800" dirty="0"/>
              <a:t>A college education increases people’s SAT scores</a:t>
            </a:r>
          </a:p>
          <a:p>
            <a:endParaRPr lang="en-US" dirty="0"/>
          </a:p>
        </p:txBody>
      </p:sp>
    </p:spTree>
    <p:extLst>
      <p:ext uri="{BB962C8B-B14F-4D97-AF65-F5344CB8AC3E}">
        <p14:creationId xmlns:p14="http://schemas.microsoft.com/office/powerpoint/2010/main" val="7997699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F50C2-964E-386B-BC83-D6603C937D3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BEC54E3-F5C7-D2C4-2ADE-0C79CF010196}"/>
              </a:ext>
            </a:extLst>
          </p:cNvPr>
          <p:cNvSpPr>
            <a:spLocks noGrp="1"/>
          </p:cNvSpPr>
          <p:nvPr>
            <p:ph idx="1"/>
          </p:nvPr>
        </p:nvSpPr>
        <p:spPr/>
        <p:txBody>
          <a:bodyPr/>
          <a:lstStyle/>
          <a:p>
            <a:r>
              <a:rPr lang="en-US" dirty="0"/>
              <a:t>Intervention research in child development has repeatedly produced a paradoxical conclusion: In correlational studies, parental assistance with children’s homework has been associated with lower academic achievement.  As a result, some psychologists have concluded in published reports that parents should not help their children with homework…</a:t>
            </a:r>
          </a:p>
        </p:txBody>
      </p:sp>
    </p:spTree>
    <p:extLst>
      <p:ext uri="{BB962C8B-B14F-4D97-AF65-F5344CB8AC3E}">
        <p14:creationId xmlns:p14="http://schemas.microsoft.com/office/powerpoint/2010/main" val="37017027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DA68A-B36C-5F6A-B759-5D002C208A7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928CA4C-0BE3-A5DE-782D-11405A07A2C0}"/>
              </a:ext>
            </a:extLst>
          </p:cNvPr>
          <p:cNvSpPr>
            <a:spLocks noGrp="1"/>
          </p:cNvSpPr>
          <p:nvPr>
            <p:ph idx="1"/>
          </p:nvPr>
        </p:nvSpPr>
        <p:spPr/>
        <p:txBody>
          <a:bodyPr/>
          <a:lstStyle/>
          <a:p>
            <a:endParaRPr lang="en-US"/>
          </a:p>
        </p:txBody>
      </p:sp>
      <p:pic>
        <p:nvPicPr>
          <p:cNvPr id="4" name="Picture 2">
            <a:extLst>
              <a:ext uri="{FF2B5EF4-FFF2-40B4-BE49-F238E27FC236}">
                <a16:creationId xmlns:a16="http://schemas.microsoft.com/office/drawing/2014/main" id="{8B8901BD-6C70-C803-41E1-C18FD0BD1D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072" y="365124"/>
            <a:ext cx="10704616" cy="60533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414154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Multiple accounts consistent with the data</a:t>
            </a:r>
          </a:p>
        </p:txBody>
      </p:sp>
      <p:sp>
        <p:nvSpPr>
          <p:cNvPr id="3" name="Content Placeholder 2"/>
          <p:cNvSpPr>
            <a:spLocks noGrp="1"/>
          </p:cNvSpPr>
          <p:nvPr>
            <p:ph idx="1"/>
          </p:nvPr>
        </p:nvSpPr>
        <p:spPr/>
        <p:txBody>
          <a:bodyPr/>
          <a:lstStyle/>
          <a:p>
            <a:r>
              <a:rPr lang="en-US" dirty="0"/>
              <a:t>Large cars are safer than small cars</a:t>
            </a:r>
          </a:p>
          <a:p>
            <a:pPr lvl="1"/>
            <a:r>
              <a:rPr lang="en-US" dirty="0"/>
              <a:t>Small cars are more dangerous than large cars</a:t>
            </a:r>
          </a:p>
        </p:txBody>
      </p:sp>
      <p:pic>
        <p:nvPicPr>
          <p:cNvPr id="64514" name="Picture 2"/>
          <p:cNvPicPr>
            <a:picLocks noChangeAspect="1" noChangeArrowheads="1"/>
          </p:cNvPicPr>
          <p:nvPr/>
        </p:nvPicPr>
        <p:blipFill>
          <a:blip r:embed="rId2" cstate="print"/>
          <a:srcRect/>
          <a:stretch>
            <a:fillRect/>
          </a:stretch>
        </p:blipFill>
        <p:spPr bwMode="auto">
          <a:xfrm>
            <a:off x="838200" y="3161805"/>
            <a:ext cx="3826042" cy="2057400"/>
          </a:xfrm>
          <a:prstGeom prst="rect">
            <a:avLst/>
          </a:prstGeom>
          <a:noFill/>
          <a:ln w="9525">
            <a:noFill/>
            <a:miter lim="800000"/>
            <a:headEnd/>
            <a:tailEnd/>
          </a:ln>
        </p:spPr>
      </p:pic>
      <p:sp>
        <p:nvSpPr>
          <p:cNvPr id="5" name="TextBox 4"/>
          <p:cNvSpPr txBox="1"/>
          <p:nvPr/>
        </p:nvSpPr>
        <p:spPr>
          <a:xfrm>
            <a:off x="4953001" y="3314206"/>
            <a:ext cx="3809999" cy="1200329"/>
          </a:xfrm>
          <a:prstGeom prst="rect">
            <a:avLst/>
          </a:prstGeom>
          <a:noFill/>
        </p:spPr>
        <p:txBody>
          <a:bodyPr wrap="square" rtlCol="0">
            <a:spAutoFit/>
          </a:bodyPr>
          <a:lstStyle/>
          <a:p>
            <a:r>
              <a:rPr lang="en-US" u="sng" dirty="0"/>
              <a:t>Safest cars</a:t>
            </a:r>
            <a:r>
              <a:rPr lang="en-US" dirty="0"/>
              <a:t>: Acura RX SUV, Acura RL sedan, Audi 4</a:t>
            </a:r>
          </a:p>
          <a:p>
            <a:r>
              <a:rPr lang="en-US" u="sng" dirty="0"/>
              <a:t>Most dangerous cars</a:t>
            </a:r>
            <a:r>
              <a:rPr lang="en-US" dirty="0"/>
              <a:t>: Chevy Cobalt, Ford Focus, Mazda 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4F9D6-A739-B223-3298-AA43EF274B3B}"/>
              </a:ext>
            </a:extLst>
          </p:cNvPr>
          <p:cNvSpPr>
            <a:spLocks noGrp="1"/>
          </p:cNvSpPr>
          <p:nvPr>
            <p:ph type="title"/>
          </p:nvPr>
        </p:nvSpPr>
        <p:spPr/>
        <p:txBody>
          <a:bodyPr/>
          <a:lstStyle/>
          <a:p>
            <a:r>
              <a:rPr lang="en-US" dirty="0"/>
              <a:t>Validity</a:t>
            </a:r>
          </a:p>
        </p:txBody>
      </p:sp>
      <p:sp>
        <p:nvSpPr>
          <p:cNvPr id="3" name="Content Placeholder 2">
            <a:extLst>
              <a:ext uri="{FF2B5EF4-FFF2-40B4-BE49-F238E27FC236}">
                <a16:creationId xmlns:a16="http://schemas.microsoft.com/office/drawing/2014/main" id="{F5D9DE69-8D80-9634-3270-C23FC845E5EC}"/>
              </a:ext>
            </a:extLst>
          </p:cNvPr>
          <p:cNvSpPr>
            <a:spLocks noGrp="1"/>
          </p:cNvSpPr>
          <p:nvPr>
            <p:ph idx="1"/>
          </p:nvPr>
        </p:nvSpPr>
        <p:spPr/>
        <p:txBody>
          <a:bodyPr>
            <a:normAutofit/>
          </a:bodyPr>
          <a:lstStyle/>
          <a:p>
            <a:pPr marL="0" marR="0" algn="l">
              <a:spcBef>
                <a:spcPts val="900"/>
              </a:spcBef>
              <a:spcAft>
                <a:spcPts val="900"/>
              </a:spcAft>
            </a:pPr>
            <a:r>
              <a:rPr lang="en-US" b="0" i="0" dirty="0">
                <a:solidFill>
                  <a:srgbClr val="2D3B45"/>
                </a:solidFill>
                <a:effectLst/>
                <a:latin typeface="Lato" panose="020F0502020204030203" pitchFamily="34" charset="0"/>
              </a:rPr>
              <a:t>Q1. Why are experimental studies higher in internal validity?</a:t>
            </a:r>
          </a:p>
          <a:p>
            <a:pPr marL="0" marR="0" algn="l">
              <a:spcBef>
                <a:spcPts val="900"/>
              </a:spcBef>
              <a:spcAft>
                <a:spcPts val="900"/>
              </a:spcAft>
            </a:pPr>
            <a:endParaRPr lang="en-US" b="0" i="0" dirty="0">
              <a:solidFill>
                <a:srgbClr val="2D3B45"/>
              </a:solidFill>
              <a:effectLst/>
              <a:latin typeface="Lato Extended"/>
            </a:endParaRPr>
          </a:p>
          <a:p>
            <a:pPr marL="0" marR="0" algn="l">
              <a:spcBef>
                <a:spcPts val="900"/>
              </a:spcBef>
              <a:spcAft>
                <a:spcPts val="900"/>
              </a:spcAft>
            </a:pPr>
            <a:r>
              <a:rPr lang="en-US" b="0" i="0" dirty="0">
                <a:solidFill>
                  <a:srgbClr val="2D3B45"/>
                </a:solidFill>
                <a:effectLst/>
                <a:latin typeface="Lato" panose="020F0502020204030203" pitchFamily="34" charset="0"/>
              </a:rPr>
              <a:t>Q2. Why are nonexperimental studies higher in external validity?</a:t>
            </a:r>
            <a:endParaRPr lang="en-US" b="0" i="0" dirty="0">
              <a:solidFill>
                <a:srgbClr val="2D3B45"/>
              </a:solidFill>
              <a:effectLst/>
              <a:latin typeface="Lato Extended"/>
            </a:endParaRPr>
          </a:p>
          <a:p>
            <a:endParaRPr lang="en-US" dirty="0"/>
          </a:p>
        </p:txBody>
      </p:sp>
    </p:spTree>
    <p:extLst>
      <p:ext uri="{BB962C8B-B14F-4D97-AF65-F5344CB8AC3E}">
        <p14:creationId xmlns:p14="http://schemas.microsoft.com/office/powerpoint/2010/main" val="21626307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2E80B-5F20-4AC5-C993-3710B4A6450C}"/>
              </a:ext>
            </a:extLst>
          </p:cNvPr>
          <p:cNvSpPr>
            <a:spLocks noGrp="1"/>
          </p:cNvSpPr>
          <p:nvPr>
            <p:ph type="title"/>
          </p:nvPr>
        </p:nvSpPr>
        <p:spPr/>
        <p:txBody>
          <a:bodyPr/>
          <a:lstStyle/>
          <a:p>
            <a:r>
              <a:rPr lang="en-US" dirty="0"/>
              <a:t>Correlations</a:t>
            </a:r>
          </a:p>
        </p:txBody>
      </p:sp>
      <p:sp>
        <p:nvSpPr>
          <p:cNvPr id="3" name="Content Placeholder 2">
            <a:extLst>
              <a:ext uri="{FF2B5EF4-FFF2-40B4-BE49-F238E27FC236}">
                <a16:creationId xmlns:a16="http://schemas.microsoft.com/office/drawing/2014/main" id="{43A6F968-C07F-2C0F-5461-AB285E1A2FD5}"/>
              </a:ext>
            </a:extLst>
          </p:cNvPr>
          <p:cNvSpPr>
            <a:spLocks noGrp="1"/>
          </p:cNvSpPr>
          <p:nvPr>
            <p:ph idx="1"/>
          </p:nvPr>
        </p:nvSpPr>
        <p:spPr/>
        <p:txBody>
          <a:bodyPr/>
          <a:lstStyle/>
          <a:p>
            <a:pPr marR="0" algn="l" rtl="0"/>
            <a:r>
              <a:rPr lang="en-US" dirty="0">
                <a:solidFill>
                  <a:srgbClr val="2D3B45"/>
                </a:solidFill>
                <a:latin typeface="Lato" panose="020F0502020204030203" pitchFamily="34" charset="0"/>
              </a:rPr>
              <a:t>For each of the following statistical relationships, decide whether the directionality problem is present and think of at least one plausible third variable.</a:t>
            </a:r>
          </a:p>
          <a:p>
            <a:pPr lvl="1"/>
            <a:r>
              <a:rPr lang="en-US" dirty="0">
                <a:solidFill>
                  <a:srgbClr val="2D3B45"/>
                </a:solidFill>
                <a:latin typeface="Lato" panose="020F0502020204030203" pitchFamily="34" charset="0"/>
              </a:rPr>
              <a:t>People who eat more lobster tend to live longer.</a:t>
            </a:r>
          </a:p>
          <a:p>
            <a:pPr lvl="1"/>
            <a:r>
              <a:rPr lang="en-US" dirty="0">
                <a:solidFill>
                  <a:srgbClr val="2D3B45"/>
                </a:solidFill>
                <a:latin typeface="Lato" panose="020F0502020204030203" pitchFamily="34" charset="0"/>
              </a:rPr>
              <a:t>People who exercise more tend to weigh less.</a:t>
            </a:r>
          </a:p>
          <a:p>
            <a:pPr lvl="1"/>
            <a:r>
              <a:rPr lang="en-US" dirty="0">
                <a:solidFill>
                  <a:srgbClr val="2D3B45"/>
                </a:solidFill>
                <a:latin typeface="Lato" panose="020F0502020204030203" pitchFamily="34" charset="0"/>
              </a:rPr>
              <a:t>College students who drink more alcohol tend to have poorer grades.</a:t>
            </a:r>
          </a:p>
        </p:txBody>
      </p:sp>
    </p:spTree>
    <p:extLst>
      <p:ext uri="{BB962C8B-B14F-4D97-AF65-F5344CB8AC3E}">
        <p14:creationId xmlns:p14="http://schemas.microsoft.com/office/powerpoint/2010/main" val="22868904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9457A-DE5C-A06A-EB13-AC9E7841DD4F}"/>
              </a:ext>
            </a:extLst>
          </p:cNvPr>
          <p:cNvSpPr>
            <a:spLocks noGrp="1"/>
          </p:cNvSpPr>
          <p:nvPr>
            <p:ph type="title"/>
          </p:nvPr>
        </p:nvSpPr>
        <p:spPr/>
        <p:txBody>
          <a:bodyPr/>
          <a:lstStyle/>
          <a:p>
            <a:r>
              <a:rPr lang="en-US" dirty="0"/>
              <a:t>Famous Non-experimental Psychology Studies</a:t>
            </a:r>
          </a:p>
        </p:txBody>
      </p:sp>
      <p:sp>
        <p:nvSpPr>
          <p:cNvPr id="3" name="Content Placeholder 2">
            <a:extLst>
              <a:ext uri="{FF2B5EF4-FFF2-40B4-BE49-F238E27FC236}">
                <a16:creationId xmlns:a16="http://schemas.microsoft.com/office/drawing/2014/main" id="{AC5EA6E4-57EE-2490-5C27-666CE415F661}"/>
              </a:ext>
            </a:extLst>
          </p:cNvPr>
          <p:cNvSpPr>
            <a:spLocks noGrp="1"/>
          </p:cNvSpPr>
          <p:nvPr>
            <p:ph idx="1"/>
          </p:nvPr>
        </p:nvSpPr>
        <p:spPr/>
        <p:txBody>
          <a:bodyPr/>
          <a:lstStyle/>
          <a:p>
            <a:pPr marR="0" algn="l" rtl="0"/>
            <a:r>
              <a:rPr lang="en-US" dirty="0">
                <a:solidFill>
                  <a:srgbClr val="2D3B45"/>
                </a:solidFill>
                <a:latin typeface="Lato" panose="020F0502020204030203" pitchFamily="34" charset="0"/>
              </a:rPr>
              <a:t>Stanley Milgram found that about two thirds of his research participants were willing to administer dangerous shocks to another person just because they were told to by an authority figure (Milgram, 1963).</a:t>
            </a:r>
          </a:p>
          <a:p>
            <a:pPr marR="0" algn="l" rtl="0"/>
            <a:r>
              <a:rPr lang="en-US" dirty="0">
                <a:solidFill>
                  <a:srgbClr val="2D3B45"/>
                </a:solidFill>
                <a:latin typeface="Lato" panose="020F0502020204030203" pitchFamily="34" charset="0"/>
              </a:rPr>
              <a:t>Elizabeth Loftus and Jacqueline </a:t>
            </a:r>
            <a:r>
              <a:rPr lang="en-US" dirty="0" err="1">
                <a:solidFill>
                  <a:srgbClr val="2D3B45"/>
                </a:solidFill>
                <a:latin typeface="Lato" panose="020F0502020204030203" pitchFamily="34" charset="0"/>
              </a:rPr>
              <a:t>Pickrell</a:t>
            </a:r>
            <a:r>
              <a:rPr lang="en-US" dirty="0">
                <a:solidFill>
                  <a:srgbClr val="2D3B45"/>
                </a:solidFill>
                <a:latin typeface="Lato" panose="020F0502020204030203" pitchFamily="34" charset="0"/>
              </a:rPr>
              <a:t> showed that it is relatively easy to “implant” false memories in people by repeatedly asking them about childhood events that did not actually happen to them (Loftus &amp; </a:t>
            </a:r>
            <a:r>
              <a:rPr lang="en-US" dirty="0" err="1">
                <a:solidFill>
                  <a:srgbClr val="2D3B45"/>
                </a:solidFill>
                <a:latin typeface="Lato" panose="020F0502020204030203" pitchFamily="34" charset="0"/>
              </a:rPr>
              <a:t>Pickrell</a:t>
            </a:r>
            <a:r>
              <a:rPr lang="en-US" dirty="0">
                <a:solidFill>
                  <a:srgbClr val="2D3B45"/>
                </a:solidFill>
                <a:latin typeface="Lato" panose="020F0502020204030203" pitchFamily="34" charset="0"/>
              </a:rPr>
              <a:t>, 1995).</a:t>
            </a:r>
          </a:p>
        </p:txBody>
      </p:sp>
    </p:spTree>
    <p:extLst>
      <p:ext uri="{BB962C8B-B14F-4D97-AF65-F5344CB8AC3E}">
        <p14:creationId xmlns:p14="http://schemas.microsoft.com/office/powerpoint/2010/main" val="31471603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45008-77EC-F171-CC13-F68367355164}"/>
              </a:ext>
            </a:extLst>
          </p:cNvPr>
          <p:cNvSpPr>
            <a:spLocks noGrp="1"/>
          </p:cNvSpPr>
          <p:nvPr>
            <p:ph type="title"/>
          </p:nvPr>
        </p:nvSpPr>
        <p:spPr/>
        <p:txBody>
          <a:bodyPr/>
          <a:lstStyle/>
          <a:p>
            <a:r>
              <a:rPr lang="en-US" dirty="0"/>
              <a:t>For Wed, 11/5</a:t>
            </a:r>
          </a:p>
        </p:txBody>
      </p:sp>
      <p:sp>
        <p:nvSpPr>
          <p:cNvPr id="3" name="Content Placeholder 2">
            <a:extLst>
              <a:ext uri="{FF2B5EF4-FFF2-40B4-BE49-F238E27FC236}">
                <a16:creationId xmlns:a16="http://schemas.microsoft.com/office/drawing/2014/main" id="{8F3E9DAB-029A-797B-AD91-70F2B192DB77}"/>
              </a:ext>
            </a:extLst>
          </p:cNvPr>
          <p:cNvSpPr>
            <a:spLocks noGrp="1"/>
          </p:cNvSpPr>
          <p:nvPr>
            <p:ph idx="1"/>
          </p:nvPr>
        </p:nvSpPr>
        <p:spPr/>
        <p:txBody>
          <a:bodyPr/>
          <a:lstStyle/>
          <a:p>
            <a:r>
              <a:rPr lang="en-US" dirty="0"/>
              <a:t>Read Chapter 13</a:t>
            </a:r>
          </a:p>
          <a:p>
            <a:pPr lvl="1"/>
            <a:r>
              <a:rPr lang="en-US" dirty="0"/>
              <a:t>Case Studies, Developmental methods, and (some) History of Psychology</a:t>
            </a:r>
          </a:p>
          <a:p>
            <a:pPr lvl="1"/>
            <a:r>
              <a:rPr lang="en-US" dirty="0"/>
              <a:t>Questions on Canvas</a:t>
            </a:r>
          </a:p>
          <a:p>
            <a:pPr lvl="1"/>
            <a:endParaRPr lang="en-US" dirty="0"/>
          </a:p>
          <a:p>
            <a:r>
              <a:rPr lang="en-US" dirty="0"/>
              <a:t>Working on Final Projects</a:t>
            </a:r>
          </a:p>
          <a:p>
            <a:pPr lvl="1"/>
            <a:r>
              <a:rPr lang="en-US" dirty="0"/>
              <a:t>Updating initial ideas</a:t>
            </a:r>
          </a:p>
          <a:p>
            <a:pPr lvl="1"/>
            <a:r>
              <a:rPr lang="en-US" dirty="0"/>
              <a:t>Building a full proposal (new Announcement/thread on Group Homepage)</a:t>
            </a:r>
          </a:p>
        </p:txBody>
      </p:sp>
    </p:spTree>
    <p:extLst>
      <p:ext uri="{BB962C8B-B14F-4D97-AF65-F5344CB8AC3E}">
        <p14:creationId xmlns:p14="http://schemas.microsoft.com/office/powerpoint/2010/main" val="4443511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22451</TotalTime>
  <Words>828</Words>
  <Application>Microsoft Office PowerPoint</Application>
  <PresentationFormat>Widescreen</PresentationFormat>
  <Paragraphs>82</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Calibri Light</vt:lpstr>
      <vt:lpstr>Lato</vt:lpstr>
      <vt:lpstr>Lato Extended</vt:lpstr>
      <vt:lpstr>Office Theme</vt:lpstr>
      <vt:lpstr>301, Nov 3, Class 21</vt:lpstr>
      <vt:lpstr>Non-experimental designs</vt:lpstr>
      <vt:lpstr>PowerPoint Presentation</vt:lpstr>
      <vt:lpstr>PowerPoint Presentation</vt:lpstr>
      <vt:lpstr>IAT</vt:lpstr>
      <vt:lpstr>IAT Design</vt:lpstr>
      <vt:lpstr>Non-experimental research</vt:lpstr>
      <vt:lpstr>Additional questions</vt:lpstr>
      <vt:lpstr>Causation and Correlation</vt:lpstr>
      <vt:lpstr>Causality</vt:lpstr>
      <vt:lpstr>Variables observed to co-vary</vt:lpstr>
      <vt:lpstr>PowerPoint Presentation</vt:lpstr>
      <vt:lpstr>PowerPoint Presentation</vt:lpstr>
      <vt:lpstr>Multiple accounts consistent with the data</vt:lpstr>
      <vt:lpstr>Validity</vt:lpstr>
      <vt:lpstr>Correlations</vt:lpstr>
      <vt:lpstr>Famous Non-experimental Psychology Studies</vt:lpstr>
      <vt:lpstr>For Wed, 11/5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205, Nov 11, Class 22</dc:title>
  <dc:creator>Paul Reber</dc:creator>
  <cp:lastModifiedBy>Paul Reber</cp:lastModifiedBy>
  <cp:revision>28</cp:revision>
  <cp:lastPrinted>2025-11-03T15:33:29Z</cp:lastPrinted>
  <dcterms:created xsi:type="dcterms:W3CDTF">2022-11-11T14:18:06Z</dcterms:created>
  <dcterms:modified xsi:type="dcterms:W3CDTF">2025-11-04T14:52:10Z</dcterms:modified>
</cp:coreProperties>
</file>