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836" r:id="rId2"/>
    <p:sldId id="845" r:id="rId3"/>
    <p:sldId id="846" r:id="rId4"/>
    <p:sldId id="852" r:id="rId5"/>
    <p:sldId id="259" r:id="rId6"/>
    <p:sldId id="260" r:id="rId7"/>
    <p:sldId id="853" r:id="rId8"/>
    <p:sldId id="854" r:id="rId9"/>
    <p:sldId id="855" r:id="rId10"/>
    <p:sldId id="858" r:id="rId11"/>
    <p:sldId id="857" r:id="rId12"/>
    <p:sldId id="859" r:id="rId13"/>
    <p:sldId id="264" r:id="rId14"/>
    <p:sldId id="265" r:id="rId15"/>
    <p:sldId id="266" r:id="rId16"/>
    <p:sldId id="835" r:id="rId17"/>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09C14E7C-EF71-4C55-B9EC-1D241E958A93}" type="datetimeFigureOut">
              <a:rPr lang="en-US" smtClean="0"/>
              <a:t>11/6/2025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F0950674-8807-423F-97D8-C19F9A0B48E1}" type="slidenum">
              <a:rPr lang="en-US" smtClean="0"/>
              <a:t>‹#›</a:t>
            </a:fld>
            <a:endParaRPr lang="en-US"/>
          </a:p>
        </p:txBody>
      </p:sp>
    </p:spTree>
    <p:extLst>
      <p:ext uri="{BB962C8B-B14F-4D97-AF65-F5344CB8AC3E}">
        <p14:creationId xmlns:p14="http://schemas.microsoft.com/office/powerpoint/2010/main" val="3077193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7B6A6-920C-53C1-C423-ABD32B3554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F0C170-C8A8-B7ED-B9E7-2FFE439525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2C07A2-1951-EE49-9FF5-359F35AF9CB2}"/>
              </a:ext>
            </a:extLst>
          </p:cNvPr>
          <p:cNvSpPr>
            <a:spLocks noGrp="1"/>
          </p:cNvSpPr>
          <p:nvPr>
            <p:ph type="dt" sz="half" idx="10"/>
          </p:nvPr>
        </p:nvSpPr>
        <p:spPr/>
        <p:txBody>
          <a:bodyPr/>
          <a:lstStyle/>
          <a:p>
            <a:fld id="{C6296303-98FD-456D-A8A2-CA41DFD59786}" type="datetimeFigureOut">
              <a:rPr lang="en-US" smtClean="0"/>
              <a:t>11/6/2025</a:t>
            </a:fld>
            <a:endParaRPr lang="en-US"/>
          </a:p>
        </p:txBody>
      </p:sp>
      <p:sp>
        <p:nvSpPr>
          <p:cNvPr id="5" name="Footer Placeholder 4">
            <a:extLst>
              <a:ext uri="{FF2B5EF4-FFF2-40B4-BE49-F238E27FC236}">
                <a16:creationId xmlns:a16="http://schemas.microsoft.com/office/drawing/2014/main" id="{600864C9-B292-43E4-3B08-2ED446721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93E777-C303-35BA-925D-BF5A17FD3A4D}"/>
              </a:ext>
            </a:extLst>
          </p:cNvPr>
          <p:cNvSpPr>
            <a:spLocks noGrp="1"/>
          </p:cNvSpPr>
          <p:nvPr>
            <p:ph type="sldNum" sz="quarter" idx="12"/>
          </p:nvPr>
        </p:nvSpPr>
        <p:spPr/>
        <p:txBody>
          <a:bodyPr/>
          <a:lstStyle/>
          <a:p>
            <a:fld id="{E408FCCD-4543-48D5-A2F8-2018F0884B1B}" type="slidenum">
              <a:rPr lang="en-US" smtClean="0"/>
              <a:t>‹#›</a:t>
            </a:fld>
            <a:endParaRPr lang="en-US"/>
          </a:p>
        </p:txBody>
      </p:sp>
    </p:spTree>
    <p:extLst>
      <p:ext uri="{BB962C8B-B14F-4D97-AF65-F5344CB8AC3E}">
        <p14:creationId xmlns:p14="http://schemas.microsoft.com/office/powerpoint/2010/main" val="308095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AF8B3-6A46-DB77-35C1-311E6EA060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21D463-4D37-FF9B-6106-A023C83423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B0582B-4764-49C1-D8C5-49A7F9040BB2}"/>
              </a:ext>
            </a:extLst>
          </p:cNvPr>
          <p:cNvSpPr>
            <a:spLocks noGrp="1"/>
          </p:cNvSpPr>
          <p:nvPr>
            <p:ph type="dt" sz="half" idx="10"/>
          </p:nvPr>
        </p:nvSpPr>
        <p:spPr/>
        <p:txBody>
          <a:bodyPr/>
          <a:lstStyle/>
          <a:p>
            <a:fld id="{C6296303-98FD-456D-A8A2-CA41DFD59786}" type="datetimeFigureOut">
              <a:rPr lang="en-US" smtClean="0"/>
              <a:t>11/6/2025</a:t>
            </a:fld>
            <a:endParaRPr lang="en-US"/>
          </a:p>
        </p:txBody>
      </p:sp>
      <p:sp>
        <p:nvSpPr>
          <p:cNvPr id="5" name="Footer Placeholder 4">
            <a:extLst>
              <a:ext uri="{FF2B5EF4-FFF2-40B4-BE49-F238E27FC236}">
                <a16:creationId xmlns:a16="http://schemas.microsoft.com/office/drawing/2014/main" id="{F4B3BADA-B111-03C5-9147-00C6A1979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27C140-7F39-9028-02DB-F3B006C05970}"/>
              </a:ext>
            </a:extLst>
          </p:cNvPr>
          <p:cNvSpPr>
            <a:spLocks noGrp="1"/>
          </p:cNvSpPr>
          <p:nvPr>
            <p:ph type="sldNum" sz="quarter" idx="12"/>
          </p:nvPr>
        </p:nvSpPr>
        <p:spPr/>
        <p:txBody>
          <a:bodyPr/>
          <a:lstStyle/>
          <a:p>
            <a:fld id="{E408FCCD-4543-48D5-A2F8-2018F0884B1B}" type="slidenum">
              <a:rPr lang="en-US" smtClean="0"/>
              <a:t>‹#›</a:t>
            </a:fld>
            <a:endParaRPr lang="en-US"/>
          </a:p>
        </p:txBody>
      </p:sp>
    </p:spTree>
    <p:extLst>
      <p:ext uri="{BB962C8B-B14F-4D97-AF65-F5344CB8AC3E}">
        <p14:creationId xmlns:p14="http://schemas.microsoft.com/office/powerpoint/2010/main" val="1751655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59F0A-7A65-AB2E-18F8-84FE9FE915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C5C540-26B1-BE31-E485-4C4A1B6E2C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D7DEC-571B-91AC-5BE1-50118A73BA1B}"/>
              </a:ext>
            </a:extLst>
          </p:cNvPr>
          <p:cNvSpPr>
            <a:spLocks noGrp="1"/>
          </p:cNvSpPr>
          <p:nvPr>
            <p:ph type="dt" sz="half" idx="10"/>
          </p:nvPr>
        </p:nvSpPr>
        <p:spPr/>
        <p:txBody>
          <a:bodyPr/>
          <a:lstStyle/>
          <a:p>
            <a:fld id="{C6296303-98FD-456D-A8A2-CA41DFD59786}" type="datetimeFigureOut">
              <a:rPr lang="en-US" smtClean="0"/>
              <a:t>11/6/2025</a:t>
            </a:fld>
            <a:endParaRPr lang="en-US"/>
          </a:p>
        </p:txBody>
      </p:sp>
      <p:sp>
        <p:nvSpPr>
          <p:cNvPr id="5" name="Footer Placeholder 4">
            <a:extLst>
              <a:ext uri="{FF2B5EF4-FFF2-40B4-BE49-F238E27FC236}">
                <a16:creationId xmlns:a16="http://schemas.microsoft.com/office/drawing/2014/main" id="{76DBCD82-44E1-043B-E808-D4593EEFC6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4D20FC-1E5F-D0B7-549F-C96200E5BD74}"/>
              </a:ext>
            </a:extLst>
          </p:cNvPr>
          <p:cNvSpPr>
            <a:spLocks noGrp="1"/>
          </p:cNvSpPr>
          <p:nvPr>
            <p:ph type="sldNum" sz="quarter" idx="12"/>
          </p:nvPr>
        </p:nvSpPr>
        <p:spPr/>
        <p:txBody>
          <a:bodyPr/>
          <a:lstStyle/>
          <a:p>
            <a:fld id="{E408FCCD-4543-48D5-A2F8-2018F0884B1B}" type="slidenum">
              <a:rPr lang="en-US" smtClean="0"/>
              <a:t>‹#›</a:t>
            </a:fld>
            <a:endParaRPr lang="en-US"/>
          </a:p>
        </p:txBody>
      </p:sp>
    </p:spTree>
    <p:extLst>
      <p:ext uri="{BB962C8B-B14F-4D97-AF65-F5344CB8AC3E}">
        <p14:creationId xmlns:p14="http://schemas.microsoft.com/office/powerpoint/2010/main" val="2240733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349EA-F0B0-BE51-9C4C-F5B98DC797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5EAE6B-6B9C-99EF-3F32-4CE93E4BBC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B9CCB7-122D-F4FC-E833-D8278BADEA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0EFD1A-0FDC-BD79-F971-1DA87746E5A8}"/>
              </a:ext>
            </a:extLst>
          </p:cNvPr>
          <p:cNvSpPr>
            <a:spLocks noGrp="1"/>
          </p:cNvSpPr>
          <p:nvPr>
            <p:ph type="dt" sz="half" idx="10"/>
          </p:nvPr>
        </p:nvSpPr>
        <p:spPr/>
        <p:txBody>
          <a:bodyPr/>
          <a:lstStyle/>
          <a:p>
            <a:fld id="{C6296303-98FD-456D-A8A2-CA41DFD59786}" type="datetimeFigureOut">
              <a:rPr lang="en-US" smtClean="0"/>
              <a:t>11/6/2025</a:t>
            </a:fld>
            <a:endParaRPr lang="en-US"/>
          </a:p>
        </p:txBody>
      </p:sp>
      <p:sp>
        <p:nvSpPr>
          <p:cNvPr id="6" name="Footer Placeholder 5">
            <a:extLst>
              <a:ext uri="{FF2B5EF4-FFF2-40B4-BE49-F238E27FC236}">
                <a16:creationId xmlns:a16="http://schemas.microsoft.com/office/drawing/2014/main" id="{46BD520D-B9AC-F5F0-27AF-E793FC028D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4C4BD4-6FF0-F3DD-6F89-1B4BCFE3EDC6}"/>
              </a:ext>
            </a:extLst>
          </p:cNvPr>
          <p:cNvSpPr>
            <a:spLocks noGrp="1"/>
          </p:cNvSpPr>
          <p:nvPr>
            <p:ph type="sldNum" sz="quarter" idx="12"/>
          </p:nvPr>
        </p:nvSpPr>
        <p:spPr/>
        <p:txBody>
          <a:bodyPr/>
          <a:lstStyle/>
          <a:p>
            <a:fld id="{E408FCCD-4543-48D5-A2F8-2018F0884B1B}" type="slidenum">
              <a:rPr lang="en-US" smtClean="0"/>
              <a:t>‹#›</a:t>
            </a:fld>
            <a:endParaRPr lang="en-US"/>
          </a:p>
        </p:txBody>
      </p:sp>
    </p:spTree>
    <p:extLst>
      <p:ext uri="{BB962C8B-B14F-4D97-AF65-F5344CB8AC3E}">
        <p14:creationId xmlns:p14="http://schemas.microsoft.com/office/powerpoint/2010/main" val="1870757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9FD52-B39B-DE13-D63D-814B91ADE8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1A102E-6479-51A7-490E-00E22FB678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CDF626-67DE-551C-5A4F-D4C5B14655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36A2E1-D84A-C37F-0A70-5BA60B5FDF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1732C4-AC46-223B-B3A6-5D027DBCAB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EDCFF-0C3B-A075-625D-9B2AC814504B}"/>
              </a:ext>
            </a:extLst>
          </p:cNvPr>
          <p:cNvSpPr>
            <a:spLocks noGrp="1"/>
          </p:cNvSpPr>
          <p:nvPr>
            <p:ph type="dt" sz="half" idx="10"/>
          </p:nvPr>
        </p:nvSpPr>
        <p:spPr/>
        <p:txBody>
          <a:bodyPr/>
          <a:lstStyle/>
          <a:p>
            <a:fld id="{C6296303-98FD-456D-A8A2-CA41DFD59786}" type="datetimeFigureOut">
              <a:rPr lang="en-US" smtClean="0"/>
              <a:t>11/6/2025</a:t>
            </a:fld>
            <a:endParaRPr lang="en-US"/>
          </a:p>
        </p:txBody>
      </p:sp>
      <p:sp>
        <p:nvSpPr>
          <p:cNvPr id="8" name="Footer Placeholder 7">
            <a:extLst>
              <a:ext uri="{FF2B5EF4-FFF2-40B4-BE49-F238E27FC236}">
                <a16:creationId xmlns:a16="http://schemas.microsoft.com/office/drawing/2014/main" id="{A80A4357-96BD-8245-D277-BDC11A7BD7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F3CBF3D-8AFD-EC9A-D3B5-407029179580}"/>
              </a:ext>
            </a:extLst>
          </p:cNvPr>
          <p:cNvSpPr>
            <a:spLocks noGrp="1"/>
          </p:cNvSpPr>
          <p:nvPr>
            <p:ph type="sldNum" sz="quarter" idx="12"/>
          </p:nvPr>
        </p:nvSpPr>
        <p:spPr/>
        <p:txBody>
          <a:bodyPr/>
          <a:lstStyle/>
          <a:p>
            <a:fld id="{E408FCCD-4543-48D5-A2F8-2018F0884B1B}" type="slidenum">
              <a:rPr lang="en-US" smtClean="0"/>
              <a:t>‹#›</a:t>
            </a:fld>
            <a:endParaRPr lang="en-US"/>
          </a:p>
        </p:txBody>
      </p:sp>
    </p:spTree>
    <p:extLst>
      <p:ext uri="{BB962C8B-B14F-4D97-AF65-F5344CB8AC3E}">
        <p14:creationId xmlns:p14="http://schemas.microsoft.com/office/powerpoint/2010/main" val="73502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240C8-2C00-D642-39FF-B669DC424A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F914E8-386C-49C2-3598-5734CC0B1270}"/>
              </a:ext>
            </a:extLst>
          </p:cNvPr>
          <p:cNvSpPr>
            <a:spLocks noGrp="1"/>
          </p:cNvSpPr>
          <p:nvPr>
            <p:ph type="dt" sz="half" idx="10"/>
          </p:nvPr>
        </p:nvSpPr>
        <p:spPr/>
        <p:txBody>
          <a:bodyPr/>
          <a:lstStyle/>
          <a:p>
            <a:fld id="{C6296303-98FD-456D-A8A2-CA41DFD59786}" type="datetimeFigureOut">
              <a:rPr lang="en-US" smtClean="0"/>
              <a:t>11/6/2025</a:t>
            </a:fld>
            <a:endParaRPr lang="en-US"/>
          </a:p>
        </p:txBody>
      </p:sp>
      <p:sp>
        <p:nvSpPr>
          <p:cNvPr id="4" name="Footer Placeholder 3">
            <a:extLst>
              <a:ext uri="{FF2B5EF4-FFF2-40B4-BE49-F238E27FC236}">
                <a16:creationId xmlns:a16="http://schemas.microsoft.com/office/drawing/2014/main" id="{FD815396-C079-9071-36C4-8EADC48437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A18D4E-597F-E93B-9410-18296383CB08}"/>
              </a:ext>
            </a:extLst>
          </p:cNvPr>
          <p:cNvSpPr>
            <a:spLocks noGrp="1"/>
          </p:cNvSpPr>
          <p:nvPr>
            <p:ph type="sldNum" sz="quarter" idx="12"/>
          </p:nvPr>
        </p:nvSpPr>
        <p:spPr/>
        <p:txBody>
          <a:bodyPr/>
          <a:lstStyle/>
          <a:p>
            <a:fld id="{E408FCCD-4543-48D5-A2F8-2018F0884B1B}" type="slidenum">
              <a:rPr lang="en-US" smtClean="0"/>
              <a:t>‹#›</a:t>
            </a:fld>
            <a:endParaRPr lang="en-US"/>
          </a:p>
        </p:txBody>
      </p:sp>
    </p:spTree>
    <p:extLst>
      <p:ext uri="{BB962C8B-B14F-4D97-AF65-F5344CB8AC3E}">
        <p14:creationId xmlns:p14="http://schemas.microsoft.com/office/powerpoint/2010/main" val="3283063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239017-4285-2FAD-32BA-60D4DB639ADD}"/>
              </a:ext>
            </a:extLst>
          </p:cNvPr>
          <p:cNvSpPr>
            <a:spLocks noGrp="1"/>
          </p:cNvSpPr>
          <p:nvPr>
            <p:ph type="dt" sz="half" idx="10"/>
          </p:nvPr>
        </p:nvSpPr>
        <p:spPr/>
        <p:txBody>
          <a:bodyPr/>
          <a:lstStyle/>
          <a:p>
            <a:fld id="{C6296303-98FD-456D-A8A2-CA41DFD59786}" type="datetimeFigureOut">
              <a:rPr lang="en-US" smtClean="0"/>
              <a:t>11/6/2025</a:t>
            </a:fld>
            <a:endParaRPr lang="en-US"/>
          </a:p>
        </p:txBody>
      </p:sp>
      <p:sp>
        <p:nvSpPr>
          <p:cNvPr id="3" name="Footer Placeholder 2">
            <a:extLst>
              <a:ext uri="{FF2B5EF4-FFF2-40B4-BE49-F238E27FC236}">
                <a16:creationId xmlns:a16="http://schemas.microsoft.com/office/drawing/2014/main" id="{D409C940-4098-41C2-0702-162AD6C8CB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6824CE-0D7B-6C92-78A7-9BDEE22F39D7}"/>
              </a:ext>
            </a:extLst>
          </p:cNvPr>
          <p:cNvSpPr>
            <a:spLocks noGrp="1"/>
          </p:cNvSpPr>
          <p:nvPr>
            <p:ph type="sldNum" sz="quarter" idx="12"/>
          </p:nvPr>
        </p:nvSpPr>
        <p:spPr/>
        <p:txBody>
          <a:bodyPr/>
          <a:lstStyle/>
          <a:p>
            <a:fld id="{E408FCCD-4543-48D5-A2F8-2018F0884B1B}" type="slidenum">
              <a:rPr lang="en-US" smtClean="0"/>
              <a:t>‹#›</a:t>
            </a:fld>
            <a:endParaRPr lang="en-US"/>
          </a:p>
        </p:txBody>
      </p:sp>
    </p:spTree>
    <p:extLst>
      <p:ext uri="{BB962C8B-B14F-4D97-AF65-F5344CB8AC3E}">
        <p14:creationId xmlns:p14="http://schemas.microsoft.com/office/powerpoint/2010/main" val="1555778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95816-E115-4235-755B-1B05D1787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453DD9-4439-56F6-A9AC-3EB9427F7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D3668E-87A2-4DB2-ECEC-6F541BC261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2B2DB7-D858-DF77-84AD-B4BFD109F627}"/>
              </a:ext>
            </a:extLst>
          </p:cNvPr>
          <p:cNvSpPr>
            <a:spLocks noGrp="1"/>
          </p:cNvSpPr>
          <p:nvPr>
            <p:ph type="dt" sz="half" idx="10"/>
          </p:nvPr>
        </p:nvSpPr>
        <p:spPr/>
        <p:txBody>
          <a:bodyPr/>
          <a:lstStyle/>
          <a:p>
            <a:fld id="{C6296303-98FD-456D-A8A2-CA41DFD59786}" type="datetimeFigureOut">
              <a:rPr lang="en-US" smtClean="0"/>
              <a:t>11/6/2025</a:t>
            </a:fld>
            <a:endParaRPr lang="en-US"/>
          </a:p>
        </p:txBody>
      </p:sp>
      <p:sp>
        <p:nvSpPr>
          <p:cNvPr id="6" name="Footer Placeholder 5">
            <a:extLst>
              <a:ext uri="{FF2B5EF4-FFF2-40B4-BE49-F238E27FC236}">
                <a16:creationId xmlns:a16="http://schemas.microsoft.com/office/drawing/2014/main" id="{76EB2E66-4F78-1DF7-F9FD-FFB9623F1C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724D52-D80E-4501-9B92-C56127E51EA3}"/>
              </a:ext>
            </a:extLst>
          </p:cNvPr>
          <p:cNvSpPr>
            <a:spLocks noGrp="1"/>
          </p:cNvSpPr>
          <p:nvPr>
            <p:ph type="sldNum" sz="quarter" idx="12"/>
          </p:nvPr>
        </p:nvSpPr>
        <p:spPr/>
        <p:txBody>
          <a:bodyPr/>
          <a:lstStyle/>
          <a:p>
            <a:fld id="{E408FCCD-4543-48D5-A2F8-2018F0884B1B}" type="slidenum">
              <a:rPr lang="en-US" smtClean="0"/>
              <a:t>‹#›</a:t>
            </a:fld>
            <a:endParaRPr lang="en-US"/>
          </a:p>
        </p:txBody>
      </p:sp>
    </p:spTree>
    <p:extLst>
      <p:ext uri="{BB962C8B-B14F-4D97-AF65-F5344CB8AC3E}">
        <p14:creationId xmlns:p14="http://schemas.microsoft.com/office/powerpoint/2010/main" val="766867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F4960-7376-B3F6-27B0-2E150258F3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9B3344-7392-116D-A84B-8B3BB2A46C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01307BD-1594-FCBE-02EA-6064B2F681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64D1EF-805A-58AC-BA53-52133CBADF7C}"/>
              </a:ext>
            </a:extLst>
          </p:cNvPr>
          <p:cNvSpPr>
            <a:spLocks noGrp="1"/>
          </p:cNvSpPr>
          <p:nvPr>
            <p:ph type="dt" sz="half" idx="10"/>
          </p:nvPr>
        </p:nvSpPr>
        <p:spPr/>
        <p:txBody>
          <a:bodyPr/>
          <a:lstStyle/>
          <a:p>
            <a:fld id="{C6296303-98FD-456D-A8A2-CA41DFD59786}" type="datetimeFigureOut">
              <a:rPr lang="en-US" smtClean="0"/>
              <a:t>11/6/2025</a:t>
            </a:fld>
            <a:endParaRPr lang="en-US"/>
          </a:p>
        </p:txBody>
      </p:sp>
      <p:sp>
        <p:nvSpPr>
          <p:cNvPr id="6" name="Footer Placeholder 5">
            <a:extLst>
              <a:ext uri="{FF2B5EF4-FFF2-40B4-BE49-F238E27FC236}">
                <a16:creationId xmlns:a16="http://schemas.microsoft.com/office/drawing/2014/main" id="{2BDFC8C6-CBBC-9853-31B8-5B1DAC8789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C054AD-3369-EDC4-B37D-DD546A1278E7}"/>
              </a:ext>
            </a:extLst>
          </p:cNvPr>
          <p:cNvSpPr>
            <a:spLocks noGrp="1"/>
          </p:cNvSpPr>
          <p:nvPr>
            <p:ph type="sldNum" sz="quarter" idx="12"/>
          </p:nvPr>
        </p:nvSpPr>
        <p:spPr/>
        <p:txBody>
          <a:bodyPr/>
          <a:lstStyle/>
          <a:p>
            <a:fld id="{E408FCCD-4543-48D5-A2F8-2018F0884B1B}" type="slidenum">
              <a:rPr lang="en-US" smtClean="0"/>
              <a:t>‹#›</a:t>
            </a:fld>
            <a:endParaRPr lang="en-US"/>
          </a:p>
        </p:txBody>
      </p:sp>
    </p:spTree>
    <p:extLst>
      <p:ext uri="{BB962C8B-B14F-4D97-AF65-F5344CB8AC3E}">
        <p14:creationId xmlns:p14="http://schemas.microsoft.com/office/powerpoint/2010/main" val="1840501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A6B9B-B4D6-DB2A-445F-33F7CD30A7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038ABA-C5FD-236E-9D24-662224C89B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C2B814-4B80-C80C-4720-E255F78C8A7F}"/>
              </a:ext>
            </a:extLst>
          </p:cNvPr>
          <p:cNvSpPr>
            <a:spLocks noGrp="1"/>
          </p:cNvSpPr>
          <p:nvPr>
            <p:ph type="dt" sz="half" idx="10"/>
          </p:nvPr>
        </p:nvSpPr>
        <p:spPr/>
        <p:txBody>
          <a:bodyPr/>
          <a:lstStyle/>
          <a:p>
            <a:fld id="{C6296303-98FD-456D-A8A2-CA41DFD59786}" type="datetimeFigureOut">
              <a:rPr lang="en-US" smtClean="0"/>
              <a:t>11/6/2025</a:t>
            </a:fld>
            <a:endParaRPr lang="en-US"/>
          </a:p>
        </p:txBody>
      </p:sp>
      <p:sp>
        <p:nvSpPr>
          <p:cNvPr id="5" name="Footer Placeholder 4">
            <a:extLst>
              <a:ext uri="{FF2B5EF4-FFF2-40B4-BE49-F238E27FC236}">
                <a16:creationId xmlns:a16="http://schemas.microsoft.com/office/drawing/2014/main" id="{5D2498F8-0AC1-7CE2-84CE-DE1196B723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B67319-D82E-241E-CB73-D88F60F2418C}"/>
              </a:ext>
            </a:extLst>
          </p:cNvPr>
          <p:cNvSpPr>
            <a:spLocks noGrp="1"/>
          </p:cNvSpPr>
          <p:nvPr>
            <p:ph type="sldNum" sz="quarter" idx="12"/>
          </p:nvPr>
        </p:nvSpPr>
        <p:spPr/>
        <p:txBody>
          <a:bodyPr/>
          <a:lstStyle/>
          <a:p>
            <a:fld id="{E408FCCD-4543-48D5-A2F8-2018F0884B1B}" type="slidenum">
              <a:rPr lang="en-US" smtClean="0"/>
              <a:t>‹#›</a:t>
            </a:fld>
            <a:endParaRPr lang="en-US"/>
          </a:p>
        </p:txBody>
      </p:sp>
    </p:spTree>
    <p:extLst>
      <p:ext uri="{BB962C8B-B14F-4D97-AF65-F5344CB8AC3E}">
        <p14:creationId xmlns:p14="http://schemas.microsoft.com/office/powerpoint/2010/main" val="943442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FEF510-7AD9-81CF-F0AF-220A545CA6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D3A76B-0883-FFF7-9979-F68C51CF7A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CCA1A3-C34A-E941-024F-9AE66F3B5C57}"/>
              </a:ext>
            </a:extLst>
          </p:cNvPr>
          <p:cNvSpPr>
            <a:spLocks noGrp="1"/>
          </p:cNvSpPr>
          <p:nvPr>
            <p:ph type="dt" sz="half" idx="10"/>
          </p:nvPr>
        </p:nvSpPr>
        <p:spPr/>
        <p:txBody>
          <a:bodyPr/>
          <a:lstStyle/>
          <a:p>
            <a:fld id="{C6296303-98FD-456D-A8A2-CA41DFD59786}" type="datetimeFigureOut">
              <a:rPr lang="en-US" smtClean="0"/>
              <a:t>11/6/2025</a:t>
            </a:fld>
            <a:endParaRPr lang="en-US"/>
          </a:p>
        </p:txBody>
      </p:sp>
      <p:sp>
        <p:nvSpPr>
          <p:cNvPr id="5" name="Footer Placeholder 4">
            <a:extLst>
              <a:ext uri="{FF2B5EF4-FFF2-40B4-BE49-F238E27FC236}">
                <a16:creationId xmlns:a16="http://schemas.microsoft.com/office/drawing/2014/main" id="{F652CEFB-AAA2-11BF-E63F-4E84067CD4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719F2A-EF3A-3645-B21D-5078CE9E9A7F}"/>
              </a:ext>
            </a:extLst>
          </p:cNvPr>
          <p:cNvSpPr>
            <a:spLocks noGrp="1"/>
          </p:cNvSpPr>
          <p:nvPr>
            <p:ph type="sldNum" sz="quarter" idx="12"/>
          </p:nvPr>
        </p:nvSpPr>
        <p:spPr/>
        <p:txBody>
          <a:bodyPr/>
          <a:lstStyle/>
          <a:p>
            <a:fld id="{E408FCCD-4543-48D5-A2F8-2018F0884B1B}" type="slidenum">
              <a:rPr lang="en-US" smtClean="0"/>
              <a:t>‹#›</a:t>
            </a:fld>
            <a:endParaRPr lang="en-US"/>
          </a:p>
        </p:txBody>
      </p:sp>
    </p:spTree>
    <p:extLst>
      <p:ext uri="{BB962C8B-B14F-4D97-AF65-F5344CB8AC3E}">
        <p14:creationId xmlns:p14="http://schemas.microsoft.com/office/powerpoint/2010/main" val="1310352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BF7F54-6692-09C0-65E5-CC1A73AC80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D593C7-CCF5-1572-1C20-EC22923552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2F2226-A5B7-90A9-4BC0-3F6A849A5A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296303-98FD-456D-A8A2-CA41DFD59786}" type="datetimeFigureOut">
              <a:rPr lang="en-US" smtClean="0"/>
              <a:t>11/6/2025</a:t>
            </a:fld>
            <a:endParaRPr lang="en-US"/>
          </a:p>
        </p:txBody>
      </p:sp>
      <p:sp>
        <p:nvSpPr>
          <p:cNvPr id="5" name="Footer Placeholder 4">
            <a:extLst>
              <a:ext uri="{FF2B5EF4-FFF2-40B4-BE49-F238E27FC236}">
                <a16:creationId xmlns:a16="http://schemas.microsoft.com/office/drawing/2014/main" id="{49C6E240-CE97-D8E7-10B2-44C98689EA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0B5D720-9960-04B7-E4B9-9C210C373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08FCCD-4543-48D5-A2F8-2018F0884B1B}" type="slidenum">
              <a:rPr lang="en-US" smtClean="0"/>
              <a:t>‹#›</a:t>
            </a:fld>
            <a:endParaRPr lang="en-US"/>
          </a:p>
        </p:txBody>
      </p:sp>
    </p:spTree>
    <p:extLst>
      <p:ext uri="{BB962C8B-B14F-4D97-AF65-F5344CB8AC3E}">
        <p14:creationId xmlns:p14="http://schemas.microsoft.com/office/powerpoint/2010/main" val="2419567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1CD2-3E68-7D79-5285-FD1F87C4B011}"/>
              </a:ext>
            </a:extLst>
          </p:cNvPr>
          <p:cNvSpPr>
            <a:spLocks noGrp="1"/>
          </p:cNvSpPr>
          <p:nvPr>
            <p:ph type="title"/>
          </p:nvPr>
        </p:nvSpPr>
        <p:spPr/>
        <p:txBody>
          <a:bodyPr/>
          <a:lstStyle/>
          <a:p>
            <a:r>
              <a:rPr lang="en-US" dirty="0"/>
              <a:t>301, Nov 5, Class 22</a:t>
            </a:r>
          </a:p>
        </p:txBody>
      </p:sp>
      <p:sp>
        <p:nvSpPr>
          <p:cNvPr id="3" name="Content Placeholder 2">
            <a:extLst>
              <a:ext uri="{FF2B5EF4-FFF2-40B4-BE49-F238E27FC236}">
                <a16:creationId xmlns:a16="http://schemas.microsoft.com/office/drawing/2014/main" id="{010F07B4-DBD0-1AC8-EF5B-59739324A402}"/>
              </a:ext>
            </a:extLst>
          </p:cNvPr>
          <p:cNvSpPr>
            <a:spLocks noGrp="1"/>
          </p:cNvSpPr>
          <p:nvPr>
            <p:ph idx="1"/>
          </p:nvPr>
        </p:nvSpPr>
        <p:spPr/>
        <p:txBody>
          <a:bodyPr/>
          <a:lstStyle/>
          <a:p>
            <a:r>
              <a:rPr lang="en-US" dirty="0"/>
              <a:t>(Some) History of Psychology</a:t>
            </a:r>
          </a:p>
          <a:p>
            <a:r>
              <a:rPr lang="en-US" dirty="0"/>
              <a:t>Case Study research</a:t>
            </a:r>
          </a:p>
          <a:p>
            <a:r>
              <a:rPr lang="en-US" dirty="0"/>
              <a:t>Some methods in Developmental Psychology</a:t>
            </a:r>
          </a:p>
          <a:p>
            <a:pPr lvl="1"/>
            <a:endParaRPr lang="en-US" dirty="0"/>
          </a:p>
          <a:p>
            <a:endParaRPr lang="en-US" dirty="0"/>
          </a:p>
        </p:txBody>
      </p:sp>
    </p:spTree>
    <p:extLst>
      <p:ext uri="{BB962C8B-B14F-4D97-AF65-F5344CB8AC3E}">
        <p14:creationId xmlns:p14="http://schemas.microsoft.com/office/powerpoint/2010/main" val="1541445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8048A-E9B0-1BDF-DDD4-8DF3B5FEA5B4}"/>
              </a:ext>
            </a:extLst>
          </p:cNvPr>
          <p:cNvSpPr>
            <a:spLocks noGrp="1"/>
          </p:cNvSpPr>
          <p:nvPr>
            <p:ph type="title"/>
          </p:nvPr>
        </p:nvSpPr>
        <p:spPr/>
        <p:txBody>
          <a:bodyPr/>
          <a:lstStyle/>
          <a:p>
            <a:r>
              <a:rPr lang="en-US" dirty="0"/>
              <a:t>Brief History of Psychology</a:t>
            </a:r>
          </a:p>
        </p:txBody>
      </p:sp>
      <p:sp>
        <p:nvSpPr>
          <p:cNvPr id="3" name="Content Placeholder 2">
            <a:extLst>
              <a:ext uri="{FF2B5EF4-FFF2-40B4-BE49-F238E27FC236}">
                <a16:creationId xmlns:a16="http://schemas.microsoft.com/office/drawing/2014/main" id="{AD3889ED-8B77-8116-9DDB-65ACC6E1535F}"/>
              </a:ext>
            </a:extLst>
          </p:cNvPr>
          <p:cNvSpPr>
            <a:spLocks noGrp="1"/>
          </p:cNvSpPr>
          <p:nvPr>
            <p:ph idx="1"/>
          </p:nvPr>
        </p:nvSpPr>
        <p:spPr/>
        <p:txBody>
          <a:bodyPr>
            <a:normAutofit fontScale="92500" lnSpcReduction="20000"/>
          </a:bodyPr>
          <a:lstStyle/>
          <a:p>
            <a:r>
              <a:rPr lang="en-US" dirty="0"/>
              <a:t>Introspection</a:t>
            </a:r>
          </a:p>
          <a:p>
            <a:pPr lvl="1"/>
            <a:r>
              <a:rPr lang="en-US" dirty="0"/>
              <a:t>1890, William James</a:t>
            </a:r>
          </a:p>
          <a:p>
            <a:pPr lvl="1"/>
            <a:r>
              <a:rPr lang="en-US" dirty="0"/>
              <a:t>Subjective reflection</a:t>
            </a:r>
          </a:p>
          <a:p>
            <a:r>
              <a:rPr lang="en-US" dirty="0"/>
              <a:t>Behaviorism</a:t>
            </a:r>
          </a:p>
          <a:p>
            <a:pPr lvl="1"/>
            <a:r>
              <a:rPr lang="en-US" dirty="0"/>
              <a:t>1930, BF Skinner</a:t>
            </a:r>
          </a:p>
          <a:p>
            <a:pPr lvl="1"/>
            <a:r>
              <a:rPr lang="en-US" dirty="0"/>
              <a:t>Quantitative measures, animals</a:t>
            </a:r>
          </a:p>
          <a:p>
            <a:r>
              <a:rPr lang="en-US" dirty="0"/>
              <a:t>Cognitive Revolution</a:t>
            </a:r>
          </a:p>
          <a:p>
            <a:pPr lvl="1"/>
            <a:r>
              <a:rPr lang="en-US" dirty="0"/>
              <a:t>1960, George Miller 7</a:t>
            </a:r>
            <a:r>
              <a:rPr lang="en-US" u="sng" dirty="0"/>
              <a:t>+</a:t>
            </a:r>
            <a:r>
              <a:rPr lang="en-US" dirty="0"/>
              <a:t>2</a:t>
            </a:r>
          </a:p>
          <a:p>
            <a:pPr lvl="1"/>
            <a:r>
              <a:rPr lang="en-US" dirty="0"/>
              <a:t>Quantitative measures, humans</a:t>
            </a:r>
          </a:p>
          <a:p>
            <a:r>
              <a:rPr lang="en-US" dirty="0"/>
              <a:t>Moden Methods</a:t>
            </a:r>
          </a:p>
          <a:p>
            <a:pPr lvl="1"/>
            <a:r>
              <a:rPr lang="en-US" dirty="0"/>
              <a:t>Cognitive Neuroscience, 1990-</a:t>
            </a:r>
          </a:p>
          <a:p>
            <a:pPr lvl="1"/>
            <a:r>
              <a:rPr lang="en-US" dirty="0"/>
              <a:t>Quantitative measures, neuroscience and physiology, humans</a:t>
            </a:r>
          </a:p>
          <a:p>
            <a:pPr lvl="2"/>
            <a:endParaRPr lang="en-US" dirty="0"/>
          </a:p>
        </p:txBody>
      </p:sp>
    </p:spTree>
    <p:extLst>
      <p:ext uri="{BB962C8B-B14F-4D97-AF65-F5344CB8AC3E}">
        <p14:creationId xmlns:p14="http://schemas.microsoft.com/office/powerpoint/2010/main" val="2012157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1A17F-8063-D7C8-5397-56770A3FC509}"/>
              </a:ext>
            </a:extLst>
          </p:cNvPr>
          <p:cNvSpPr>
            <a:spLocks noGrp="1"/>
          </p:cNvSpPr>
          <p:nvPr>
            <p:ph type="title"/>
          </p:nvPr>
        </p:nvSpPr>
        <p:spPr/>
        <p:txBody>
          <a:bodyPr/>
          <a:lstStyle/>
          <a:p>
            <a:r>
              <a:rPr lang="en-US" dirty="0"/>
              <a:t>Observation as a Method</a:t>
            </a:r>
          </a:p>
        </p:txBody>
      </p:sp>
      <p:sp>
        <p:nvSpPr>
          <p:cNvPr id="3" name="Content Placeholder 2">
            <a:extLst>
              <a:ext uri="{FF2B5EF4-FFF2-40B4-BE49-F238E27FC236}">
                <a16:creationId xmlns:a16="http://schemas.microsoft.com/office/drawing/2014/main" id="{66025407-4369-56D1-8E6A-C4D78B007D74}"/>
              </a:ext>
            </a:extLst>
          </p:cNvPr>
          <p:cNvSpPr>
            <a:spLocks noGrp="1"/>
          </p:cNvSpPr>
          <p:nvPr>
            <p:ph idx="1"/>
          </p:nvPr>
        </p:nvSpPr>
        <p:spPr/>
        <p:txBody>
          <a:bodyPr/>
          <a:lstStyle/>
          <a:p>
            <a:r>
              <a:rPr lang="en-US" dirty="0"/>
              <a:t>Watching the behavior of people around you</a:t>
            </a:r>
          </a:p>
          <a:p>
            <a:pPr lvl="1"/>
            <a:r>
              <a:rPr lang="en-US" dirty="0"/>
              <a:t>Old-fashioned method for developing ideas</a:t>
            </a:r>
          </a:p>
          <a:p>
            <a:pPr lvl="1"/>
            <a:r>
              <a:rPr lang="en-US" dirty="0"/>
              <a:t>“</a:t>
            </a:r>
            <a:r>
              <a:rPr lang="en-US" dirty="0" err="1"/>
              <a:t>Didja</a:t>
            </a:r>
            <a:r>
              <a:rPr lang="en-US" dirty="0"/>
              <a:t> ever notice how…?”</a:t>
            </a:r>
          </a:p>
          <a:p>
            <a:endParaRPr lang="en-US" dirty="0"/>
          </a:p>
          <a:p>
            <a:r>
              <a:rPr lang="en-US" dirty="0"/>
              <a:t>Social media studies</a:t>
            </a:r>
          </a:p>
          <a:p>
            <a:r>
              <a:rPr lang="en-US" dirty="0"/>
              <a:t>Diary studies</a:t>
            </a:r>
          </a:p>
        </p:txBody>
      </p:sp>
    </p:spTree>
    <p:extLst>
      <p:ext uri="{BB962C8B-B14F-4D97-AF65-F5344CB8AC3E}">
        <p14:creationId xmlns:p14="http://schemas.microsoft.com/office/powerpoint/2010/main" val="2583303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B4602E-447D-39CD-B1C6-3A6D80589C2E}"/>
              </a:ext>
            </a:extLst>
          </p:cNvPr>
          <p:cNvSpPr>
            <a:spLocks noGrp="1"/>
          </p:cNvSpPr>
          <p:nvPr>
            <p:ph type="title"/>
          </p:nvPr>
        </p:nvSpPr>
        <p:spPr/>
        <p:txBody>
          <a:bodyPr/>
          <a:lstStyle/>
          <a:p>
            <a:r>
              <a:rPr lang="en-US" dirty="0"/>
              <a:t>Case Study Research Methods</a:t>
            </a:r>
          </a:p>
        </p:txBody>
      </p:sp>
      <p:sp>
        <p:nvSpPr>
          <p:cNvPr id="6" name="Content Placeholder 5">
            <a:extLst>
              <a:ext uri="{FF2B5EF4-FFF2-40B4-BE49-F238E27FC236}">
                <a16:creationId xmlns:a16="http://schemas.microsoft.com/office/drawing/2014/main" id="{9DB42DDF-EF97-F466-0EDF-99000B3DE37A}"/>
              </a:ext>
            </a:extLst>
          </p:cNvPr>
          <p:cNvSpPr>
            <a:spLocks noGrp="1"/>
          </p:cNvSpPr>
          <p:nvPr>
            <p:ph idx="1"/>
          </p:nvPr>
        </p:nvSpPr>
        <p:spPr/>
        <p:txBody>
          <a:bodyPr/>
          <a:lstStyle/>
          <a:p>
            <a:r>
              <a:rPr lang="en-US" dirty="0"/>
              <a:t>Qualitative descriptions of special cases</a:t>
            </a:r>
          </a:p>
          <a:p>
            <a:pPr lvl="1"/>
            <a:r>
              <a:rPr lang="en-US" dirty="0"/>
              <a:t>Observational, non-experimental</a:t>
            </a:r>
          </a:p>
          <a:p>
            <a:pPr lvl="1"/>
            <a:endParaRPr lang="en-US" dirty="0"/>
          </a:p>
          <a:p>
            <a:r>
              <a:rPr lang="en-US" dirty="0"/>
              <a:t>Generate theory and inspire subsequent experimental research</a:t>
            </a:r>
          </a:p>
          <a:p>
            <a:endParaRPr lang="en-US" dirty="0"/>
          </a:p>
          <a:p>
            <a:r>
              <a:rPr lang="en-US" dirty="0"/>
              <a:t>Illustrate and illuminate differences in human experience</a:t>
            </a:r>
          </a:p>
          <a:p>
            <a:pPr lvl="1"/>
            <a:r>
              <a:rPr lang="en-US" dirty="0"/>
              <a:t>Oliver Sacks, “The Man Who Mistook His Wife for a Hat”</a:t>
            </a:r>
          </a:p>
        </p:txBody>
      </p:sp>
    </p:spTree>
    <p:extLst>
      <p:ext uri="{BB962C8B-B14F-4D97-AF65-F5344CB8AC3E}">
        <p14:creationId xmlns:p14="http://schemas.microsoft.com/office/powerpoint/2010/main" val="985130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10EFF-0C7A-7690-3587-304803D30B60}"/>
              </a:ext>
            </a:extLst>
          </p:cNvPr>
          <p:cNvSpPr>
            <a:spLocks noGrp="1"/>
          </p:cNvSpPr>
          <p:nvPr>
            <p:ph type="title"/>
          </p:nvPr>
        </p:nvSpPr>
        <p:spPr/>
        <p:txBody>
          <a:bodyPr/>
          <a:lstStyle/>
          <a:p>
            <a:r>
              <a:rPr lang="en-US" dirty="0"/>
              <a:t>Landmark Case Studies</a:t>
            </a:r>
          </a:p>
        </p:txBody>
      </p:sp>
      <p:sp>
        <p:nvSpPr>
          <p:cNvPr id="3" name="Content Placeholder 2">
            <a:extLst>
              <a:ext uri="{FF2B5EF4-FFF2-40B4-BE49-F238E27FC236}">
                <a16:creationId xmlns:a16="http://schemas.microsoft.com/office/drawing/2014/main" id="{4C7584B1-4323-C112-0DDE-E9E0DF4CFE6F}"/>
              </a:ext>
            </a:extLst>
          </p:cNvPr>
          <p:cNvSpPr>
            <a:spLocks noGrp="1"/>
          </p:cNvSpPr>
          <p:nvPr>
            <p:ph sz="half" idx="1"/>
          </p:nvPr>
        </p:nvSpPr>
        <p:spPr/>
        <p:txBody>
          <a:bodyPr>
            <a:normAutofit/>
          </a:bodyPr>
          <a:lstStyle/>
          <a:p>
            <a:endParaRPr lang="en-US" dirty="0"/>
          </a:p>
          <a:p>
            <a:endParaRPr lang="en-US" dirty="0"/>
          </a:p>
          <a:p>
            <a:endParaRPr lang="en-US" dirty="0"/>
          </a:p>
          <a:p>
            <a:r>
              <a:rPr lang="en-US" dirty="0"/>
              <a:t>Phineas Gage</a:t>
            </a:r>
          </a:p>
          <a:p>
            <a:r>
              <a:rPr lang="en-US" dirty="0"/>
              <a:t>“Tan”</a:t>
            </a:r>
          </a:p>
          <a:p>
            <a:r>
              <a:rPr lang="en-US" dirty="0"/>
              <a:t>Auguste Deter</a:t>
            </a:r>
          </a:p>
        </p:txBody>
      </p:sp>
      <p:sp>
        <p:nvSpPr>
          <p:cNvPr id="6" name="Content Placeholder 5">
            <a:extLst>
              <a:ext uri="{FF2B5EF4-FFF2-40B4-BE49-F238E27FC236}">
                <a16:creationId xmlns:a16="http://schemas.microsoft.com/office/drawing/2014/main" id="{ACAC36C2-432B-D591-B1EA-138D9200D9D0}"/>
              </a:ext>
            </a:extLst>
          </p:cNvPr>
          <p:cNvSpPr>
            <a:spLocks noGrp="1"/>
          </p:cNvSpPr>
          <p:nvPr>
            <p:ph sz="half" idx="2"/>
          </p:nvPr>
        </p:nvSpPr>
        <p:spPr/>
        <p:txBody>
          <a:bodyPr/>
          <a:lstStyle/>
          <a:p>
            <a:endParaRPr lang="en-US" dirty="0"/>
          </a:p>
          <a:p>
            <a:endParaRPr lang="en-US" dirty="0"/>
          </a:p>
          <a:p>
            <a:endParaRPr lang="en-US" dirty="0"/>
          </a:p>
          <a:p>
            <a:r>
              <a:rPr lang="en-US" dirty="0"/>
              <a:t>“S”</a:t>
            </a:r>
          </a:p>
          <a:p>
            <a:r>
              <a:rPr lang="en-US" dirty="0"/>
              <a:t>“JP”</a:t>
            </a:r>
          </a:p>
          <a:p>
            <a:r>
              <a:rPr lang="en-US" dirty="0"/>
              <a:t>“HM”</a:t>
            </a:r>
          </a:p>
          <a:p>
            <a:endParaRPr lang="en-US" dirty="0"/>
          </a:p>
        </p:txBody>
      </p:sp>
      <p:pic>
        <p:nvPicPr>
          <p:cNvPr id="5" name="Picture 4">
            <a:extLst>
              <a:ext uri="{FF2B5EF4-FFF2-40B4-BE49-F238E27FC236}">
                <a16:creationId xmlns:a16="http://schemas.microsoft.com/office/drawing/2014/main" id="{91B90BEB-B7D0-B232-5A88-DC4268E9B9B7}"/>
              </a:ext>
            </a:extLst>
          </p:cNvPr>
          <p:cNvPicPr>
            <a:picLocks noChangeAspect="1"/>
          </p:cNvPicPr>
          <p:nvPr/>
        </p:nvPicPr>
        <p:blipFill>
          <a:blip r:embed="rId2"/>
          <a:stretch>
            <a:fillRect/>
          </a:stretch>
        </p:blipFill>
        <p:spPr>
          <a:xfrm>
            <a:off x="2651760" y="1367331"/>
            <a:ext cx="9540240" cy="1652372"/>
          </a:xfrm>
          <a:prstGeom prst="rect">
            <a:avLst/>
          </a:prstGeom>
        </p:spPr>
      </p:pic>
    </p:spTree>
    <p:extLst>
      <p:ext uri="{BB962C8B-B14F-4D97-AF65-F5344CB8AC3E}">
        <p14:creationId xmlns:p14="http://schemas.microsoft.com/office/powerpoint/2010/main" val="3942996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F620A5-D48C-8FF9-88BC-62F0D100EBC6}"/>
              </a:ext>
            </a:extLst>
          </p:cNvPr>
          <p:cNvSpPr>
            <a:spLocks noGrp="1"/>
          </p:cNvSpPr>
          <p:nvPr>
            <p:ph type="title"/>
          </p:nvPr>
        </p:nvSpPr>
        <p:spPr/>
        <p:txBody>
          <a:bodyPr/>
          <a:lstStyle/>
          <a:p>
            <a:r>
              <a:rPr lang="en-US" dirty="0"/>
              <a:t>Phineas Gage</a:t>
            </a:r>
          </a:p>
        </p:txBody>
      </p:sp>
      <p:sp>
        <p:nvSpPr>
          <p:cNvPr id="6" name="Content Placeholder 5">
            <a:extLst>
              <a:ext uri="{FF2B5EF4-FFF2-40B4-BE49-F238E27FC236}">
                <a16:creationId xmlns:a16="http://schemas.microsoft.com/office/drawing/2014/main" id="{0FE8D475-0A16-6D43-7400-88CFDA3037E8}"/>
              </a:ext>
            </a:extLst>
          </p:cNvPr>
          <p:cNvSpPr>
            <a:spLocks noGrp="1"/>
          </p:cNvSpPr>
          <p:nvPr>
            <p:ph sz="half" idx="1"/>
          </p:nvPr>
        </p:nvSpPr>
        <p:spPr/>
        <p:txBody>
          <a:bodyPr>
            <a:normAutofit fontScale="85000" lnSpcReduction="20000"/>
          </a:bodyPr>
          <a:lstStyle/>
          <a:p>
            <a:r>
              <a:rPr lang="en-US" dirty="0"/>
              <a:t>1848</a:t>
            </a:r>
          </a:p>
          <a:p>
            <a:r>
              <a:rPr lang="en-US" dirty="0"/>
              <a:t>Tamping iron accident</a:t>
            </a:r>
          </a:p>
          <a:p>
            <a:pPr lvl="1"/>
            <a:r>
              <a:rPr lang="en-US" dirty="0"/>
              <a:t>74 days recovery</a:t>
            </a:r>
          </a:p>
          <a:p>
            <a:r>
              <a:rPr lang="en-US" dirty="0"/>
              <a:t>20 years later</a:t>
            </a:r>
          </a:p>
          <a:p>
            <a:pPr lvl="1"/>
            <a:r>
              <a:rPr lang="en-US" dirty="0"/>
              <a:t>It was only in a follow-up paper 20 years later that Harlow described Gage’s behavioral changes after recovery. Gage had not been rehired as foreman because he had become disinhibited, with the “animal passions of a strong man,” “impatient of restraint or advice” and, “indulging at times in the grossest profanity (which was not previously his custom).”1 Having formerly been regarded as smart, efficient and capable, Gage’s friends famously stated that after the accident he was “no longer Gage.”</a:t>
            </a:r>
          </a:p>
        </p:txBody>
      </p:sp>
      <p:pic>
        <p:nvPicPr>
          <p:cNvPr id="1026" name="Picture 2" descr="FIGURE 1.">
            <a:extLst>
              <a:ext uri="{FF2B5EF4-FFF2-40B4-BE49-F238E27FC236}">
                <a16:creationId xmlns:a16="http://schemas.microsoft.com/office/drawing/2014/main" id="{9714D0AA-3B2F-D187-C2D7-E45B161697E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573052" y="1825625"/>
            <a:ext cx="237989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99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F8004-99FB-2750-0A73-B6163CFD19AA}"/>
              </a:ext>
            </a:extLst>
          </p:cNvPr>
          <p:cNvSpPr>
            <a:spLocks noGrp="1"/>
          </p:cNvSpPr>
          <p:nvPr>
            <p:ph type="title"/>
          </p:nvPr>
        </p:nvSpPr>
        <p:spPr/>
        <p:txBody>
          <a:bodyPr/>
          <a:lstStyle/>
          <a:p>
            <a:r>
              <a:rPr lang="en-US" dirty="0"/>
              <a:t>Cognitive Neuroscience</a:t>
            </a:r>
          </a:p>
        </p:txBody>
      </p:sp>
      <p:sp>
        <p:nvSpPr>
          <p:cNvPr id="3" name="Content Placeholder 2">
            <a:extLst>
              <a:ext uri="{FF2B5EF4-FFF2-40B4-BE49-F238E27FC236}">
                <a16:creationId xmlns:a16="http://schemas.microsoft.com/office/drawing/2014/main" id="{9A4D7251-1B1C-6EA7-E98B-652D08DFF27F}"/>
              </a:ext>
            </a:extLst>
          </p:cNvPr>
          <p:cNvSpPr>
            <a:spLocks noGrp="1"/>
          </p:cNvSpPr>
          <p:nvPr>
            <p:ph idx="1"/>
          </p:nvPr>
        </p:nvSpPr>
        <p:spPr/>
        <p:txBody>
          <a:bodyPr/>
          <a:lstStyle/>
          <a:p>
            <a:r>
              <a:rPr lang="en-US" dirty="0"/>
              <a:t>“Tan”</a:t>
            </a:r>
          </a:p>
          <a:p>
            <a:r>
              <a:rPr lang="en-US" dirty="0"/>
              <a:t>1861 description of an aphasic patient by Broca</a:t>
            </a:r>
          </a:p>
          <a:p>
            <a:r>
              <a:rPr lang="en-US" dirty="0"/>
              <a:t>Language impairment and post-mortem identification of left anterior frontal lobe damage</a:t>
            </a:r>
          </a:p>
          <a:p>
            <a:pPr lvl="1"/>
            <a:r>
              <a:rPr lang="en-US" dirty="0"/>
              <a:t>Right side paralysis and language dysfunction already well-known</a:t>
            </a:r>
          </a:p>
          <a:p>
            <a:r>
              <a:rPr lang="en-US" dirty="0"/>
              <a:t>Localization of language as a cognitive function</a:t>
            </a:r>
          </a:p>
          <a:p>
            <a:pPr lvl="1"/>
            <a:r>
              <a:rPr lang="en-US" dirty="0"/>
              <a:t>Wernicke</a:t>
            </a:r>
          </a:p>
          <a:p>
            <a:r>
              <a:rPr lang="en-US" dirty="0"/>
              <a:t>Modularity of cognitive operations</a:t>
            </a:r>
          </a:p>
        </p:txBody>
      </p:sp>
    </p:spTree>
    <p:extLst>
      <p:ext uri="{BB962C8B-B14F-4D97-AF65-F5344CB8AC3E}">
        <p14:creationId xmlns:p14="http://schemas.microsoft.com/office/powerpoint/2010/main" val="209676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BB60-F3AA-7390-793F-C89D19FDD133}"/>
              </a:ext>
            </a:extLst>
          </p:cNvPr>
          <p:cNvSpPr>
            <a:spLocks noGrp="1"/>
          </p:cNvSpPr>
          <p:nvPr>
            <p:ph type="title"/>
          </p:nvPr>
        </p:nvSpPr>
        <p:spPr/>
        <p:txBody>
          <a:bodyPr/>
          <a:lstStyle/>
          <a:p>
            <a:r>
              <a:rPr lang="en-US" dirty="0"/>
              <a:t>Case Studies</a:t>
            </a:r>
          </a:p>
        </p:txBody>
      </p:sp>
      <p:sp>
        <p:nvSpPr>
          <p:cNvPr id="3" name="Content Placeholder 2">
            <a:extLst>
              <a:ext uri="{FF2B5EF4-FFF2-40B4-BE49-F238E27FC236}">
                <a16:creationId xmlns:a16="http://schemas.microsoft.com/office/drawing/2014/main" id="{7BA49F6A-1E4A-8738-F1FC-DE3D586AF434}"/>
              </a:ext>
            </a:extLst>
          </p:cNvPr>
          <p:cNvSpPr>
            <a:spLocks noGrp="1"/>
          </p:cNvSpPr>
          <p:nvPr>
            <p:ph idx="1"/>
          </p:nvPr>
        </p:nvSpPr>
        <p:spPr/>
        <p:txBody>
          <a:bodyPr/>
          <a:lstStyle/>
          <a:p>
            <a:r>
              <a:rPr lang="en-US" dirty="0"/>
              <a:t>Auguste Deter</a:t>
            </a:r>
          </a:p>
          <a:p>
            <a:pPr lvl="1"/>
            <a:r>
              <a:rPr lang="en-US" dirty="0"/>
              <a:t>First characterization of Alzheimer’s disease</a:t>
            </a:r>
          </a:p>
          <a:p>
            <a:r>
              <a:rPr lang="en-US" dirty="0"/>
              <a:t>Solomon </a:t>
            </a:r>
            <a:r>
              <a:rPr lang="en-US" dirty="0" err="1"/>
              <a:t>Shereshevsky</a:t>
            </a:r>
            <a:r>
              <a:rPr lang="en-US" dirty="0"/>
              <a:t>, “S”</a:t>
            </a:r>
          </a:p>
          <a:p>
            <a:pPr lvl="1"/>
            <a:r>
              <a:rPr lang="en-US" dirty="0"/>
              <a:t>Luria’s subject in “Mind of a Mnemonist”</a:t>
            </a:r>
          </a:p>
          <a:p>
            <a:pPr lvl="1"/>
            <a:r>
              <a:rPr lang="en-US" dirty="0"/>
              <a:t>Extraordinary memory, personality problems</a:t>
            </a:r>
          </a:p>
          <a:p>
            <a:r>
              <a:rPr lang="en-US" dirty="0"/>
              <a:t>JP</a:t>
            </a:r>
          </a:p>
          <a:p>
            <a:pPr lvl="1"/>
            <a:r>
              <a:rPr lang="en-US" dirty="0"/>
              <a:t>Childhood prefrontal cortex damage and severe comportment problems</a:t>
            </a:r>
          </a:p>
          <a:p>
            <a:r>
              <a:rPr lang="en-US" dirty="0"/>
              <a:t>Henry </a:t>
            </a:r>
            <a:r>
              <a:rPr lang="en-US" dirty="0" err="1"/>
              <a:t>Molaison</a:t>
            </a:r>
            <a:r>
              <a:rPr lang="en-US" dirty="0"/>
              <a:t>, H.M.</a:t>
            </a:r>
          </a:p>
          <a:p>
            <a:pPr lvl="1"/>
            <a:r>
              <a:rPr lang="en-US" dirty="0"/>
              <a:t>Characterization is the foundation of modern memory systems</a:t>
            </a:r>
          </a:p>
        </p:txBody>
      </p:sp>
    </p:spTree>
    <p:extLst>
      <p:ext uri="{BB962C8B-B14F-4D97-AF65-F5344CB8AC3E}">
        <p14:creationId xmlns:p14="http://schemas.microsoft.com/office/powerpoint/2010/main" val="148735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534D1-1130-BB93-3603-D09CC462D841}"/>
              </a:ext>
            </a:extLst>
          </p:cNvPr>
          <p:cNvSpPr>
            <a:spLocks noGrp="1"/>
          </p:cNvSpPr>
          <p:nvPr>
            <p:ph type="title"/>
          </p:nvPr>
        </p:nvSpPr>
        <p:spPr/>
        <p:txBody>
          <a:bodyPr/>
          <a:lstStyle/>
          <a:p>
            <a:r>
              <a:rPr lang="en-US" dirty="0"/>
              <a:t>Patient EP</a:t>
            </a:r>
          </a:p>
        </p:txBody>
      </p:sp>
      <p:sp>
        <p:nvSpPr>
          <p:cNvPr id="3" name="Content Placeholder 2">
            <a:extLst>
              <a:ext uri="{FF2B5EF4-FFF2-40B4-BE49-F238E27FC236}">
                <a16:creationId xmlns:a16="http://schemas.microsoft.com/office/drawing/2014/main" id="{79818EF3-C117-B45C-88DE-D2F3519AE0DC}"/>
              </a:ext>
            </a:extLst>
          </p:cNvPr>
          <p:cNvSpPr>
            <a:spLocks noGrp="1"/>
          </p:cNvSpPr>
          <p:nvPr>
            <p:ph idx="1"/>
          </p:nvPr>
        </p:nvSpPr>
        <p:spPr/>
        <p:txBody>
          <a:bodyPr/>
          <a:lstStyle/>
          <a:p>
            <a:r>
              <a:rPr lang="en-US" dirty="0"/>
              <a:t>Anterograde amnesia similar to HM</a:t>
            </a:r>
          </a:p>
          <a:p>
            <a:pPr lvl="1"/>
            <a:r>
              <a:rPr lang="en-US" dirty="0"/>
              <a:t>Extensive bilateral medial temporal lobe damage due to encephalitis</a:t>
            </a:r>
          </a:p>
          <a:p>
            <a:pPr lvl="1"/>
            <a:r>
              <a:rPr lang="en-US" dirty="0"/>
              <a:t>Extremely impaired memory</a:t>
            </a:r>
          </a:p>
          <a:p>
            <a:pPr lvl="1"/>
            <a:endParaRPr lang="en-US" dirty="0"/>
          </a:p>
          <a:p>
            <a:r>
              <a:rPr lang="en-US" dirty="0"/>
              <a:t>https://youtu.be/7Grh3PeEMIg?t=187</a:t>
            </a:r>
          </a:p>
        </p:txBody>
      </p:sp>
    </p:spTree>
    <p:extLst>
      <p:ext uri="{BB962C8B-B14F-4D97-AF65-F5344CB8AC3E}">
        <p14:creationId xmlns:p14="http://schemas.microsoft.com/office/powerpoint/2010/main" val="2014139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4A960-63D7-C23B-14BC-B49DAA1A053D}"/>
              </a:ext>
            </a:extLst>
          </p:cNvPr>
          <p:cNvSpPr>
            <a:spLocks noGrp="1"/>
          </p:cNvSpPr>
          <p:nvPr>
            <p:ph type="title"/>
          </p:nvPr>
        </p:nvSpPr>
        <p:spPr/>
        <p:txBody>
          <a:bodyPr/>
          <a:lstStyle/>
          <a:p>
            <a:r>
              <a:rPr lang="en-US" dirty="0"/>
              <a:t>Case Study Questions</a:t>
            </a:r>
          </a:p>
        </p:txBody>
      </p:sp>
      <p:sp>
        <p:nvSpPr>
          <p:cNvPr id="3" name="Content Placeholder 2">
            <a:extLst>
              <a:ext uri="{FF2B5EF4-FFF2-40B4-BE49-F238E27FC236}">
                <a16:creationId xmlns:a16="http://schemas.microsoft.com/office/drawing/2014/main" id="{9B9810D8-7291-0254-71EA-862705339438}"/>
              </a:ext>
            </a:extLst>
          </p:cNvPr>
          <p:cNvSpPr>
            <a:spLocks noGrp="1"/>
          </p:cNvSpPr>
          <p:nvPr>
            <p:ph idx="1"/>
          </p:nvPr>
        </p:nvSpPr>
        <p:spPr/>
        <p:txBody>
          <a:bodyPr>
            <a:normAutofit fontScale="92500" lnSpcReduction="10000"/>
          </a:bodyPr>
          <a:lstStyle/>
          <a:p>
            <a:r>
              <a:rPr lang="en-US" dirty="0"/>
              <a:t>What is a case study in psychological research? How does it differ from other research methods like experiments or surveys?</a:t>
            </a:r>
          </a:p>
          <a:p>
            <a:r>
              <a:rPr lang="en-US" dirty="0"/>
              <a:t>What types of psychological questions or phenomena are best suited for case study research? Provide an example.</a:t>
            </a:r>
          </a:p>
          <a:p>
            <a:r>
              <a:rPr lang="en-US" dirty="0"/>
              <a:t>List two advantages and two disadvantages of using case study research in psychology.</a:t>
            </a:r>
          </a:p>
          <a:p>
            <a:r>
              <a:rPr lang="en-US" dirty="0"/>
              <a:t>Suppose a researcher studies a single child with an extremely rare language disorder over five years. What features make this a case study, and what kind of conclusions can and can’t be drawn from it?</a:t>
            </a:r>
          </a:p>
          <a:p>
            <a:r>
              <a:rPr lang="en-US" dirty="0"/>
              <a:t>Why might a clinical psychologist choose a case study approach when developing a new form of therapy? What are the trade-offs?</a:t>
            </a:r>
          </a:p>
          <a:p>
            <a:endParaRPr lang="en-US" dirty="0"/>
          </a:p>
        </p:txBody>
      </p:sp>
    </p:spTree>
    <p:extLst>
      <p:ext uri="{BB962C8B-B14F-4D97-AF65-F5344CB8AC3E}">
        <p14:creationId xmlns:p14="http://schemas.microsoft.com/office/powerpoint/2010/main" val="3907018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CE6A6-0F9D-A25A-2D91-117DCFA377A3}"/>
              </a:ext>
            </a:extLst>
          </p:cNvPr>
          <p:cNvSpPr>
            <a:spLocks noGrp="1"/>
          </p:cNvSpPr>
          <p:nvPr>
            <p:ph type="title"/>
          </p:nvPr>
        </p:nvSpPr>
        <p:spPr/>
        <p:txBody>
          <a:bodyPr/>
          <a:lstStyle/>
          <a:p>
            <a:r>
              <a:rPr lang="en-US" dirty="0"/>
              <a:t>Development</a:t>
            </a:r>
          </a:p>
        </p:txBody>
      </p:sp>
      <p:sp>
        <p:nvSpPr>
          <p:cNvPr id="3" name="Content Placeholder 2">
            <a:extLst>
              <a:ext uri="{FF2B5EF4-FFF2-40B4-BE49-F238E27FC236}">
                <a16:creationId xmlns:a16="http://schemas.microsoft.com/office/drawing/2014/main" id="{8B03972F-9A46-B502-11EA-542E2818622C}"/>
              </a:ext>
            </a:extLst>
          </p:cNvPr>
          <p:cNvSpPr>
            <a:spLocks noGrp="1"/>
          </p:cNvSpPr>
          <p:nvPr>
            <p:ph idx="1"/>
          </p:nvPr>
        </p:nvSpPr>
        <p:spPr/>
        <p:txBody>
          <a:bodyPr>
            <a:normAutofit lnSpcReduction="10000"/>
          </a:bodyPr>
          <a:lstStyle/>
          <a:p>
            <a:r>
              <a:rPr lang="en-US" dirty="0"/>
              <a:t>Often similar in spirit to case study research</a:t>
            </a:r>
          </a:p>
          <a:p>
            <a:pPr lvl="1"/>
            <a:r>
              <a:rPr lang="en-US" dirty="0"/>
              <a:t>Document and describe psychological phenomena at specific ages</a:t>
            </a:r>
          </a:p>
          <a:p>
            <a:r>
              <a:rPr lang="en-US" dirty="0"/>
              <a:t>Extended by theory of change over time</a:t>
            </a:r>
          </a:p>
          <a:p>
            <a:pPr lvl="1"/>
            <a:r>
              <a:rPr lang="en-US" dirty="0"/>
              <a:t>Growth, learning</a:t>
            </a:r>
          </a:p>
          <a:p>
            <a:r>
              <a:rPr lang="en-US" dirty="0"/>
              <a:t>Longitudinal studies</a:t>
            </a:r>
          </a:p>
          <a:p>
            <a:pPr lvl="1"/>
            <a:r>
              <a:rPr lang="en-US" dirty="0"/>
              <a:t>Following a cohort over an extended period of time</a:t>
            </a:r>
          </a:p>
          <a:p>
            <a:pPr lvl="1"/>
            <a:r>
              <a:rPr lang="en-US" dirty="0"/>
              <a:t>Lots of within-participants data, takes a long time to complete</a:t>
            </a:r>
          </a:p>
          <a:p>
            <a:r>
              <a:rPr lang="en-US" dirty="0"/>
              <a:t>Cross-sectional studies</a:t>
            </a:r>
          </a:p>
          <a:p>
            <a:pPr lvl="1"/>
            <a:r>
              <a:rPr lang="en-US" dirty="0"/>
              <a:t>Compare across ages at a specific time point</a:t>
            </a:r>
          </a:p>
          <a:p>
            <a:pPr lvl="1"/>
            <a:r>
              <a:rPr lang="en-US" dirty="0"/>
              <a:t>Faster to complete, potentially more generalizable</a:t>
            </a:r>
          </a:p>
        </p:txBody>
      </p:sp>
    </p:spTree>
    <p:extLst>
      <p:ext uri="{BB962C8B-B14F-4D97-AF65-F5344CB8AC3E}">
        <p14:creationId xmlns:p14="http://schemas.microsoft.com/office/powerpoint/2010/main" val="1563202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1E406-EE1A-0CF2-4E3A-E99683A3CEB7}"/>
              </a:ext>
            </a:extLst>
          </p:cNvPr>
          <p:cNvSpPr>
            <a:spLocks noGrp="1"/>
          </p:cNvSpPr>
          <p:nvPr>
            <p:ph type="title"/>
          </p:nvPr>
        </p:nvSpPr>
        <p:spPr/>
        <p:txBody>
          <a:bodyPr/>
          <a:lstStyle/>
          <a:p>
            <a:r>
              <a:rPr lang="en-US" dirty="0"/>
              <a:t>Developmental Research with Infants</a:t>
            </a:r>
          </a:p>
        </p:txBody>
      </p:sp>
      <p:sp>
        <p:nvSpPr>
          <p:cNvPr id="3" name="Content Placeholder 2">
            <a:extLst>
              <a:ext uri="{FF2B5EF4-FFF2-40B4-BE49-F238E27FC236}">
                <a16:creationId xmlns:a16="http://schemas.microsoft.com/office/drawing/2014/main" id="{31A42F2E-EA46-45F9-8C44-C76FFEDA85D9}"/>
              </a:ext>
            </a:extLst>
          </p:cNvPr>
          <p:cNvSpPr>
            <a:spLocks noGrp="1"/>
          </p:cNvSpPr>
          <p:nvPr>
            <p:ph idx="1"/>
          </p:nvPr>
        </p:nvSpPr>
        <p:spPr/>
        <p:txBody>
          <a:bodyPr/>
          <a:lstStyle/>
          <a:p>
            <a:r>
              <a:rPr lang="en-US" dirty="0"/>
              <a:t>Preferential Looking Technique</a:t>
            </a:r>
          </a:p>
          <a:p>
            <a:pPr lvl="1"/>
            <a:r>
              <a:rPr lang="en-US" dirty="0"/>
              <a:t>Forced-choice preferential looking</a:t>
            </a:r>
          </a:p>
          <a:p>
            <a:pPr lvl="1"/>
            <a:r>
              <a:rPr lang="en-US" dirty="0"/>
              <a:t>Violations of expectation</a:t>
            </a:r>
          </a:p>
          <a:p>
            <a:pPr lvl="1"/>
            <a:endParaRPr lang="en-US" dirty="0"/>
          </a:p>
          <a:p>
            <a:r>
              <a:rPr lang="en-US" dirty="0"/>
              <a:t>Core Knowledge</a:t>
            </a:r>
          </a:p>
          <a:p>
            <a:pPr lvl="1"/>
            <a:r>
              <a:rPr lang="en-US" dirty="0"/>
              <a:t>Pre-wired knowledge of the world in infancy</a:t>
            </a:r>
          </a:p>
          <a:p>
            <a:pPr lvl="1"/>
            <a:r>
              <a:rPr lang="en-US" dirty="0"/>
              <a:t>Sensitivity to language structure</a:t>
            </a:r>
          </a:p>
          <a:p>
            <a:pPr lvl="1"/>
            <a:r>
              <a:rPr lang="en-US" dirty="0"/>
              <a:t>Awareness of visual objects, physics</a:t>
            </a:r>
          </a:p>
        </p:txBody>
      </p:sp>
    </p:spTree>
    <p:extLst>
      <p:ext uri="{BB962C8B-B14F-4D97-AF65-F5344CB8AC3E}">
        <p14:creationId xmlns:p14="http://schemas.microsoft.com/office/powerpoint/2010/main" val="3291619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66921-B063-5AF3-E790-FE539FB47F2C}"/>
              </a:ext>
            </a:extLst>
          </p:cNvPr>
          <p:cNvSpPr>
            <a:spLocks noGrp="1"/>
          </p:cNvSpPr>
          <p:nvPr>
            <p:ph type="title"/>
          </p:nvPr>
        </p:nvSpPr>
        <p:spPr/>
        <p:txBody>
          <a:bodyPr/>
          <a:lstStyle/>
          <a:p>
            <a:r>
              <a:rPr lang="en-US" dirty="0"/>
              <a:t>Numeracy example</a:t>
            </a:r>
          </a:p>
        </p:txBody>
      </p:sp>
      <p:sp>
        <p:nvSpPr>
          <p:cNvPr id="4" name="Content Placeholder 3">
            <a:extLst>
              <a:ext uri="{FF2B5EF4-FFF2-40B4-BE49-F238E27FC236}">
                <a16:creationId xmlns:a16="http://schemas.microsoft.com/office/drawing/2014/main" id="{6D065D93-F5D4-F100-48C2-9AFE3CCE8071}"/>
              </a:ext>
            </a:extLst>
          </p:cNvPr>
          <p:cNvSpPr>
            <a:spLocks noGrp="1"/>
          </p:cNvSpPr>
          <p:nvPr>
            <p:ph sz="half" idx="1"/>
          </p:nvPr>
        </p:nvSpPr>
        <p:spPr/>
        <p:txBody>
          <a:bodyPr>
            <a:normAutofit lnSpcReduction="10000"/>
          </a:bodyPr>
          <a:lstStyle/>
          <a:p>
            <a:r>
              <a:rPr lang="en-US" dirty="0"/>
              <a:t>Infant seated on parent’s lap facing the stage</a:t>
            </a:r>
          </a:p>
          <a:p>
            <a:pPr lvl="1"/>
            <a:r>
              <a:rPr lang="en-US" dirty="0"/>
              <a:t>20 3-5m old infants (of 36)</a:t>
            </a:r>
          </a:p>
          <a:p>
            <a:r>
              <a:rPr lang="en-US" dirty="0"/>
              <a:t>Experimenter waited until the infant looked at the display for 5s, then the display was occluded and additional objects introduced, then scene revealed</a:t>
            </a:r>
          </a:p>
          <a:p>
            <a:r>
              <a:rPr lang="en-US" dirty="0"/>
              <a:t>Two independent coders analyzed video recording of infant gaze</a:t>
            </a:r>
          </a:p>
          <a:p>
            <a:endParaRPr lang="en-US" dirty="0"/>
          </a:p>
        </p:txBody>
      </p:sp>
      <p:pic>
        <p:nvPicPr>
          <p:cNvPr id="7" name="Content Placeholder 6">
            <a:extLst>
              <a:ext uri="{FF2B5EF4-FFF2-40B4-BE49-F238E27FC236}">
                <a16:creationId xmlns:a16="http://schemas.microsoft.com/office/drawing/2014/main" id="{809C96B9-956D-E280-1FD2-39C50E667DB2}"/>
              </a:ext>
            </a:extLst>
          </p:cNvPr>
          <p:cNvPicPr>
            <a:picLocks noGrp="1" noChangeAspect="1"/>
          </p:cNvPicPr>
          <p:nvPr>
            <p:ph sz="half" idx="2"/>
          </p:nvPr>
        </p:nvPicPr>
        <p:blipFill>
          <a:blip r:embed="rId2"/>
          <a:stretch>
            <a:fillRect/>
          </a:stretch>
        </p:blipFill>
        <p:spPr>
          <a:xfrm>
            <a:off x="6787971" y="365125"/>
            <a:ext cx="4352469" cy="6238868"/>
          </a:xfrm>
        </p:spPr>
      </p:pic>
    </p:spTree>
    <p:extLst>
      <p:ext uri="{BB962C8B-B14F-4D97-AF65-F5344CB8AC3E}">
        <p14:creationId xmlns:p14="http://schemas.microsoft.com/office/powerpoint/2010/main" val="2121825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CF971-13A4-5D89-2E8A-D86863CF272E}"/>
              </a:ext>
            </a:extLst>
          </p:cNvPr>
          <p:cNvSpPr>
            <a:spLocks noGrp="1"/>
          </p:cNvSpPr>
          <p:nvPr>
            <p:ph type="title"/>
          </p:nvPr>
        </p:nvSpPr>
        <p:spPr/>
        <p:txBody>
          <a:bodyPr/>
          <a:lstStyle/>
          <a:p>
            <a:r>
              <a:rPr lang="en-US" dirty="0"/>
              <a:t>Viewing times</a:t>
            </a:r>
          </a:p>
        </p:txBody>
      </p:sp>
      <p:sp>
        <p:nvSpPr>
          <p:cNvPr id="3" name="Content Placeholder 2">
            <a:extLst>
              <a:ext uri="{FF2B5EF4-FFF2-40B4-BE49-F238E27FC236}">
                <a16:creationId xmlns:a16="http://schemas.microsoft.com/office/drawing/2014/main" id="{FFE81625-D179-EE91-D10D-A2E7043AF400}"/>
              </a:ext>
            </a:extLst>
          </p:cNvPr>
          <p:cNvSpPr>
            <a:spLocks noGrp="1"/>
          </p:cNvSpPr>
          <p:nvPr>
            <p:ph sz="half" idx="1"/>
          </p:nvPr>
        </p:nvSpPr>
        <p:spPr/>
        <p:txBody>
          <a:bodyPr/>
          <a:lstStyle/>
          <a:p>
            <a:r>
              <a:rPr lang="en-US" dirty="0"/>
              <a:t>Babies looked longer at numerically impossible outcomes</a:t>
            </a:r>
          </a:p>
          <a:p>
            <a:pPr lvl="1"/>
            <a:r>
              <a:rPr lang="en-US" dirty="0"/>
              <a:t>1 -&gt; 2 or 2 -&gt; 1</a:t>
            </a:r>
          </a:p>
          <a:p>
            <a:r>
              <a:rPr lang="en-US" dirty="0"/>
              <a:t>Did not look longer at “identity” violations</a:t>
            </a:r>
          </a:p>
          <a:p>
            <a:pPr lvl="1"/>
            <a:r>
              <a:rPr lang="en-US" dirty="0"/>
              <a:t>Swapping toys</a:t>
            </a:r>
          </a:p>
          <a:p>
            <a:r>
              <a:rPr lang="en-US" dirty="0"/>
              <a:t>Appear to understand basic numerosity</a:t>
            </a:r>
          </a:p>
        </p:txBody>
      </p:sp>
      <p:pic>
        <p:nvPicPr>
          <p:cNvPr id="6" name="Content Placeholder 5">
            <a:extLst>
              <a:ext uri="{FF2B5EF4-FFF2-40B4-BE49-F238E27FC236}">
                <a16:creationId xmlns:a16="http://schemas.microsoft.com/office/drawing/2014/main" id="{331D0273-8600-A244-91D3-C0773D996A22}"/>
              </a:ext>
            </a:extLst>
          </p:cNvPr>
          <p:cNvPicPr>
            <a:picLocks noGrp="1" noChangeAspect="1"/>
          </p:cNvPicPr>
          <p:nvPr>
            <p:ph sz="half" idx="2"/>
          </p:nvPr>
        </p:nvPicPr>
        <p:blipFill>
          <a:blip r:embed="rId2"/>
          <a:stretch>
            <a:fillRect/>
          </a:stretch>
        </p:blipFill>
        <p:spPr>
          <a:xfrm>
            <a:off x="6172200" y="2038567"/>
            <a:ext cx="5181600" cy="3925454"/>
          </a:xfrm>
        </p:spPr>
      </p:pic>
    </p:spTree>
    <p:extLst>
      <p:ext uri="{BB962C8B-B14F-4D97-AF65-F5344CB8AC3E}">
        <p14:creationId xmlns:p14="http://schemas.microsoft.com/office/powerpoint/2010/main" val="1870730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9BD01-87F0-CDE3-EA67-4073968D83F9}"/>
              </a:ext>
            </a:extLst>
          </p:cNvPr>
          <p:cNvSpPr>
            <a:spLocks noGrp="1"/>
          </p:cNvSpPr>
          <p:nvPr>
            <p:ph type="title"/>
          </p:nvPr>
        </p:nvSpPr>
        <p:spPr/>
        <p:txBody>
          <a:bodyPr/>
          <a:lstStyle/>
          <a:p>
            <a:r>
              <a:rPr lang="en-US" dirty="0"/>
              <a:t>Lifespan development</a:t>
            </a:r>
          </a:p>
        </p:txBody>
      </p:sp>
      <p:sp>
        <p:nvSpPr>
          <p:cNvPr id="3" name="Content Placeholder 2">
            <a:extLst>
              <a:ext uri="{FF2B5EF4-FFF2-40B4-BE49-F238E27FC236}">
                <a16:creationId xmlns:a16="http://schemas.microsoft.com/office/drawing/2014/main" id="{077DABDC-0B1A-FCA7-DBB2-130774EDFC31}"/>
              </a:ext>
            </a:extLst>
          </p:cNvPr>
          <p:cNvSpPr>
            <a:spLocks noGrp="1"/>
          </p:cNvSpPr>
          <p:nvPr>
            <p:ph sz="half" idx="1"/>
          </p:nvPr>
        </p:nvSpPr>
        <p:spPr/>
        <p:txBody>
          <a:bodyPr/>
          <a:lstStyle/>
          <a:p>
            <a:r>
              <a:rPr lang="en-US" dirty="0"/>
              <a:t>Development of cognitive change</a:t>
            </a:r>
          </a:p>
          <a:p>
            <a:r>
              <a:rPr lang="en-US" dirty="0"/>
              <a:t>Growth in children</a:t>
            </a:r>
          </a:p>
          <a:p>
            <a:pPr lvl="1"/>
            <a:r>
              <a:rPr lang="en-US" dirty="0"/>
              <a:t>Increasing to ~30</a:t>
            </a:r>
          </a:p>
          <a:p>
            <a:r>
              <a:rPr lang="en-US" dirty="0"/>
              <a:t>Decline in aging</a:t>
            </a:r>
          </a:p>
          <a:p>
            <a:pPr lvl="1"/>
            <a:r>
              <a:rPr lang="en-US" dirty="0"/>
              <a:t>From 30-35</a:t>
            </a:r>
          </a:p>
          <a:p>
            <a:pPr lvl="1"/>
            <a:r>
              <a:rPr lang="en-US" dirty="0"/>
              <a:t>General processing speed, working memory, “fluid” decreases</a:t>
            </a:r>
          </a:p>
          <a:p>
            <a:pPr lvl="1"/>
            <a:r>
              <a:rPr lang="en-US" dirty="0"/>
              <a:t>Knowledge increases</a:t>
            </a:r>
          </a:p>
        </p:txBody>
      </p:sp>
      <p:pic>
        <p:nvPicPr>
          <p:cNvPr id="2050" name="Picture 2">
            <a:extLst>
              <a:ext uri="{FF2B5EF4-FFF2-40B4-BE49-F238E27FC236}">
                <a16:creationId xmlns:a16="http://schemas.microsoft.com/office/drawing/2014/main" id="{32640C57-1B68-C446-4160-7B9AAA35162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44756" y="2101932"/>
            <a:ext cx="5336609" cy="3871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814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9C6DD-BEF1-35C6-D404-489B821338DD}"/>
              </a:ext>
            </a:extLst>
          </p:cNvPr>
          <p:cNvSpPr>
            <a:spLocks noGrp="1"/>
          </p:cNvSpPr>
          <p:nvPr>
            <p:ph type="title"/>
          </p:nvPr>
        </p:nvSpPr>
        <p:spPr/>
        <p:txBody>
          <a:bodyPr/>
          <a:lstStyle/>
          <a:p>
            <a:r>
              <a:rPr lang="en-US" dirty="0"/>
              <a:t>For Friday, 11/7</a:t>
            </a:r>
          </a:p>
        </p:txBody>
      </p:sp>
      <p:sp>
        <p:nvSpPr>
          <p:cNvPr id="5" name="Content Placeholder 4">
            <a:extLst>
              <a:ext uri="{FF2B5EF4-FFF2-40B4-BE49-F238E27FC236}">
                <a16:creationId xmlns:a16="http://schemas.microsoft.com/office/drawing/2014/main" id="{C31DDD0F-613F-9F84-ED28-3C0EE251AB24}"/>
              </a:ext>
            </a:extLst>
          </p:cNvPr>
          <p:cNvSpPr>
            <a:spLocks noGrp="1"/>
          </p:cNvSpPr>
          <p:nvPr>
            <p:ph idx="1"/>
          </p:nvPr>
        </p:nvSpPr>
        <p:spPr/>
        <p:txBody>
          <a:bodyPr/>
          <a:lstStyle/>
          <a:p>
            <a:r>
              <a:rPr lang="en-US" dirty="0"/>
              <a:t>Chapter 14, Surveys and Instruments</a:t>
            </a:r>
          </a:p>
          <a:p>
            <a:pPr lvl="1"/>
            <a:r>
              <a:rPr lang="en-US" dirty="0"/>
              <a:t>Questions on Canvas (not in textbook for some reason)</a:t>
            </a:r>
          </a:p>
          <a:p>
            <a:pPr lvl="1"/>
            <a:endParaRPr lang="en-US" dirty="0"/>
          </a:p>
          <a:p>
            <a:r>
              <a:rPr lang="en-US" dirty="0"/>
              <a:t>Keep your final project proposal progressing</a:t>
            </a:r>
          </a:p>
        </p:txBody>
      </p:sp>
    </p:spTree>
    <p:extLst>
      <p:ext uri="{BB962C8B-B14F-4D97-AF65-F5344CB8AC3E}">
        <p14:creationId xmlns:p14="http://schemas.microsoft.com/office/powerpoint/2010/main" val="3848589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21790</TotalTime>
  <Words>744</Words>
  <Application>Microsoft Office PowerPoint</Application>
  <PresentationFormat>Widescreen</PresentationFormat>
  <Paragraphs>125</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301, Nov 5, Class 22</vt:lpstr>
      <vt:lpstr>Brief History of Psychology</vt:lpstr>
      <vt:lpstr>Observation as a Method</vt:lpstr>
      <vt:lpstr>Case Study Research Methods</vt:lpstr>
      <vt:lpstr>Landmark Case Studies</vt:lpstr>
      <vt:lpstr>Phineas Gage</vt:lpstr>
      <vt:lpstr>Cognitive Neuroscience</vt:lpstr>
      <vt:lpstr>Case Studies</vt:lpstr>
      <vt:lpstr>Patient EP</vt:lpstr>
      <vt:lpstr>Case Study Questions</vt:lpstr>
      <vt:lpstr>Development</vt:lpstr>
      <vt:lpstr>Developmental Research with Infants</vt:lpstr>
      <vt:lpstr>Numeracy example</vt:lpstr>
      <vt:lpstr>Viewing times</vt:lpstr>
      <vt:lpstr>Lifespan development</vt:lpstr>
      <vt:lpstr>For Friday, 11/7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Nov 9, Class 21</dc:title>
  <dc:creator>Paul Reber</dc:creator>
  <cp:lastModifiedBy>Paul Reber</cp:lastModifiedBy>
  <cp:revision>31</cp:revision>
  <cp:lastPrinted>2025-11-05T15:33:32Z</cp:lastPrinted>
  <dcterms:created xsi:type="dcterms:W3CDTF">2022-11-07T18:42:32Z</dcterms:created>
  <dcterms:modified xsi:type="dcterms:W3CDTF">2025-11-07T03:06:41Z</dcterms:modified>
</cp:coreProperties>
</file>