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824" r:id="rId3"/>
    <p:sldId id="813" r:id="rId4"/>
    <p:sldId id="276" r:id="rId5"/>
    <p:sldId id="814" r:id="rId6"/>
    <p:sldId id="811" r:id="rId7"/>
    <p:sldId id="283" r:id="rId8"/>
    <p:sldId id="817" r:id="rId9"/>
    <p:sldId id="819" r:id="rId10"/>
    <p:sldId id="820" r:id="rId11"/>
    <p:sldId id="822" r:id="rId12"/>
    <p:sldId id="821" r:id="rId13"/>
    <p:sldId id="268" r:id="rId14"/>
    <p:sldId id="827" r:id="rId1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2" autoAdjust="0"/>
    <p:restoredTop sz="94660"/>
  </p:normalViewPr>
  <p:slideViewPr>
    <p:cSldViewPr snapToGrid="0">
      <p:cViewPr varScale="1">
        <p:scale>
          <a:sx n="92" d="100"/>
          <a:sy n="92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3EC4E1BB-C49F-4E6C-942B-936259B3355E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7655443-D4C7-4996-ABE7-C6D3A1033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8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1C22-423C-F95D-9E4D-C2073A7E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D840933-9D6A-1C57-8C11-CF567FA6F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3558D8-15F3-4A47-8F3A-8638566C761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72BCF50-6605-55E0-00E4-5F12B708B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F0C3ED-633E-C97D-4BB0-6B1B161A2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2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980E-E892-50B6-25CC-1F1809396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1AC36-E623-EBBE-850F-74EA23A1A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F195-3D96-9821-C5FA-750FF158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09DCE-0061-2534-2F88-738F2635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2E875-D2EF-AD7F-753B-13D7D43F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2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50D1-AECB-7A0F-FBA3-A7DC5AE2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F9CC1-5D17-BBA4-EF7D-C62D3A0E5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EAA63-736E-950A-4F79-CB4BD389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ED27-B099-1C95-2A4D-76F43E1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AE5F-771F-CC68-5A47-5F1E47BE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8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29A9-13E2-3471-A596-769450F1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BAA1E-78DD-FB3F-359F-2E785102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E236-5EF6-0D03-8E66-0C22459F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DE002-E5E5-1CF7-E99A-B905AE1D5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DEFF5-4574-CF1C-899C-890E7D75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9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8431-765E-9F30-0067-B5CFCF6F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C49E-2D0A-A852-F5BB-F5763CE0A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89344-63FD-7DF9-E0B4-A6A4DF2FC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9B2B3-4CAE-D8A1-A0C4-025C3FC2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E9758-AD43-7111-157C-B1B1D4D0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C507D-A408-0100-B09A-8D8ED2A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0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1FD1-16C1-324E-2FD8-6B928075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0B11B-4B7E-91F1-3A66-05FE07829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5EF21-DA19-70F1-5712-3D5050364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6634D-D638-6DDB-8526-8968C6999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BD6D7-A1EB-CE29-6E7F-B617CEEF5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958C2-750F-84D2-9179-C8649E01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C8EEB-68A9-1CD9-D1A8-3E9CD361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E8A56-A959-E661-E031-18599114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2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F5D1-4F65-FCC4-25BC-9572229B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C4282-F7AA-6305-0076-4087E5F3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561BF-8734-DECB-B755-C56BFFC3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F811D-32FD-719B-4C16-5E66F316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4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C97D93-89D2-3C3A-95B5-FE9D1E47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DD06E-7BBC-A590-08B7-D84F3826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A16A8-4D3E-3D1A-E837-A98B7777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2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D8ACC-9365-03A4-1FF3-80921F24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C3DD-491E-4E66-0D2B-24A602EA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D5B1B-92F7-AA38-D109-3A04D3574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17247-9C85-C257-0F39-3CD4741F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7E73D-4FEB-1230-040F-B7EC6AB0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254A7-D9E6-A8FC-005B-0797922B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EEA6-ECC0-8F8F-FF0E-B731B99C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FAC9E-1951-AF46-8275-40BB8A2DC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6C385-4454-A180-771D-B5ECE8E4B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B8B9E-09E6-0814-5224-791523F2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5C457-2A61-3739-3919-51A88A34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5B478-506C-22C8-02F1-950D6DF1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6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6CE9-1FBF-8E50-5AA9-43C40202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2787F-8349-3CC6-F7D5-813F855B3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0672-883F-44FA-B651-D640F33D1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72FF0-6BA1-9608-8715-5939E4BA8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70EF6-95CF-3D69-D131-AB034018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9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F28FB-308C-CC38-0820-0774BA79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8E157-A482-78F7-435A-35826B4B0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75C8D-D9BE-6FA0-7B59-81EBF86F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6127-7A23-B8AD-16B6-0CC6973A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BD4E9-853E-32BF-37B8-7643EA05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10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7DA6A-369A-1CA3-E5DA-CA9410D1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00555-6FE5-190A-1135-775B1457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DFCFC-6425-CA30-3998-8DABA8E5C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4A597-9F9A-4B6D-9E6C-E57536DE1CD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F31A1-F180-733B-A82B-39D12CFF5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5923F-947B-48F1-0DA4-7787B18B2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3A073-8776-4041-98BC-C35E29A28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4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E999-09CE-84E7-BB62-F4F33445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301, Nov 14, Class 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D72B7-C6C0-1491-9D03-F3318CC89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Intervention Research</a:t>
            </a:r>
          </a:p>
        </p:txBody>
      </p:sp>
    </p:spTree>
    <p:extLst>
      <p:ext uri="{BB962C8B-B14F-4D97-AF65-F5344CB8AC3E}">
        <p14:creationId xmlns:p14="http://schemas.microsoft.com/office/powerpoint/2010/main" val="174856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5462-C164-1DF4-F7ED-F64DB45D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603C9-87D5-ECEE-4427-277BFEF8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Question.  Suppose a company comes to you with a new mobile phone application aimed at encouraging healthier living by improving eating habits for users.  How would you design a study to measure the effectiveness of the app?  Outline the IV and DV you might use for a study and a plausible procedure for carrying out a study that will be funded by the company who made the new application.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Identify 3 ethical issues that additionally need to be considered related to ethical treatment of participants and also responsible conduct of research.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3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0376-8412-9804-DF3B-00D7C9B6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intervention with Military personnel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4437-F3E7-B1DB-C562-C1C12F26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memory theory be used to accelerate training?</a:t>
            </a:r>
          </a:p>
          <a:p>
            <a:pPr lvl="1"/>
            <a:r>
              <a:rPr lang="en-US" dirty="0"/>
              <a:t>Intervention to speed learning</a:t>
            </a:r>
          </a:p>
          <a:p>
            <a:pPr lvl="1"/>
            <a:endParaRPr lang="en-US" dirty="0"/>
          </a:p>
          <a:p>
            <a:r>
              <a:rPr lang="en-US" dirty="0"/>
              <a:t>Targeted skill training</a:t>
            </a:r>
          </a:p>
          <a:p>
            <a:pPr lvl="1"/>
            <a:r>
              <a:rPr lang="en-US" dirty="0"/>
              <a:t>Shorter time course, 4-6 weeks</a:t>
            </a:r>
          </a:p>
          <a:p>
            <a:pPr lvl="1"/>
            <a:r>
              <a:rPr lang="en-US" dirty="0"/>
              <a:t>Large numbers of students, all getting identical content</a:t>
            </a:r>
          </a:p>
          <a:p>
            <a:pPr lvl="1"/>
            <a:endParaRPr lang="en-US" dirty="0"/>
          </a:p>
          <a:p>
            <a:r>
              <a:rPr lang="en-US" dirty="0"/>
              <a:t>Training may improve performance on key skills</a:t>
            </a:r>
          </a:p>
          <a:p>
            <a:pPr lvl="1"/>
            <a:r>
              <a:rPr lang="en-US" dirty="0"/>
              <a:t>How to design this ethically?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87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E892-BB63-372A-E9D0-D7832912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A7BBFE-E824-2DB1-754D-3CD7312D1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Philosophical Ethical Challenges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66E7B74-64B4-EF36-B740-47D817D4F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the experimental treatment is a benefit</a:t>
            </a:r>
          </a:p>
          <a:p>
            <a:pPr lvl="1"/>
            <a:r>
              <a:rPr lang="en-US" dirty="0"/>
              <a:t>Justice would normally mean equal benefits across groups</a:t>
            </a:r>
          </a:p>
          <a:p>
            <a:pPr lvl="1"/>
            <a:r>
              <a:rPr lang="en-US" dirty="0"/>
              <a:t>Intervention research on Monday</a:t>
            </a:r>
          </a:p>
          <a:p>
            <a:r>
              <a:rPr lang="en-US" dirty="0"/>
              <a:t>Coercion versus voluntary participation</a:t>
            </a:r>
          </a:p>
          <a:p>
            <a:pPr lvl="1"/>
            <a:r>
              <a:rPr lang="en-US" dirty="0"/>
              <a:t>Authority figures: supervisors, teachers</a:t>
            </a:r>
          </a:p>
          <a:p>
            <a:pPr lvl="1"/>
            <a:r>
              <a:rPr lang="en-US" dirty="0"/>
              <a:t>Financial rewards: incentivizing risk</a:t>
            </a:r>
          </a:p>
          <a:p>
            <a:r>
              <a:rPr lang="en-US" dirty="0"/>
              <a:t>Vulnerable populations</a:t>
            </a:r>
          </a:p>
          <a:p>
            <a:pPr lvl="1"/>
            <a:r>
              <a:rPr lang="en-US" dirty="0"/>
              <a:t>Children: depend on guardian</a:t>
            </a:r>
          </a:p>
          <a:p>
            <a:pPr lvl="2"/>
            <a:r>
              <a:rPr lang="en-US" dirty="0"/>
              <a:t>Mandatory reporting training for staff</a:t>
            </a:r>
          </a:p>
          <a:p>
            <a:pPr lvl="1"/>
            <a:r>
              <a:rPr lang="en-US" dirty="0"/>
              <a:t>Prisoners: cannot voluntarily consent</a:t>
            </a:r>
          </a:p>
          <a:p>
            <a:pPr lvl="2"/>
            <a:r>
              <a:rPr lang="en-US" dirty="0"/>
              <a:t>Research must be for prisoners’ benefit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94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BF34F6-A202-5E53-9E6A-231F740D4C85}"/>
              </a:ext>
            </a:extLst>
          </p:cNvPr>
          <p:cNvSpPr/>
          <p:nvPr/>
        </p:nvSpPr>
        <p:spPr bwMode="auto">
          <a:xfrm>
            <a:off x="6841637" y="2800068"/>
            <a:ext cx="1695172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charset="0"/>
              </a:rPr>
              <a:t>No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D65CF-E299-65E8-0BD9-7520D6EB8991}"/>
              </a:ext>
            </a:extLst>
          </p:cNvPr>
          <p:cNvSpPr/>
          <p:nvPr/>
        </p:nvSpPr>
        <p:spPr bwMode="auto">
          <a:xfrm>
            <a:off x="2780742" y="3082262"/>
            <a:ext cx="838200" cy="1981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212F7-B92F-D881-E9C6-2DBC7D1B611B}"/>
              </a:ext>
            </a:extLst>
          </p:cNvPr>
          <p:cNvSpPr/>
          <p:nvPr/>
        </p:nvSpPr>
        <p:spPr bwMode="auto">
          <a:xfrm>
            <a:off x="4208669" y="2800068"/>
            <a:ext cx="1695172" cy="762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Intervention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8C213-957D-4E2A-0DCB-6B630F932191}"/>
              </a:ext>
            </a:extLst>
          </p:cNvPr>
          <p:cNvSpPr/>
          <p:nvPr/>
        </p:nvSpPr>
        <p:spPr bwMode="auto">
          <a:xfrm>
            <a:off x="4208669" y="4464109"/>
            <a:ext cx="1695172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charset="0"/>
              </a:rPr>
              <a:t>No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4A6F5-F055-936E-4919-AF12FAF965F8}"/>
              </a:ext>
            </a:extLst>
          </p:cNvPr>
          <p:cNvSpPr/>
          <p:nvPr/>
        </p:nvSpPr>
        <p:spPr bwMode="auto">
          <a:xfrm>
            <a:off x="6042446" y="2281472"/>
            <a:ext cx="381000" cy="339778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Assessment - 1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FD3732D-B217-3BF3-34F2-86CE64932D0D}"/>
              </a:ext>
            </a:extLst>
          </p:cNvPr>
          <p:cNvSpPr/>
          <p:nvPr/>
        </p:nvSpPr>
        <p:spPr bwMode="auto">
          <a:xfrm rot="21088868">
            <a:off x="3765748" y="3217031"/>
            <a:ext cx="381000" cy="26504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B58AD8F-537F-96FC-7BE4-587F804FBDD8}"/>
              </a:ext>
            </a:extLst>
          </p:cNvPr>
          <p:cNvSpPr/>
          <p:nvPr/>
        </p:nvSpPr>
        <p:spPr bwMode="auto">
          <a:xfrm rot="199713">
            <a:off x="3765748" y="4635633"/>
            <a:ext cx="381000" cy="26504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24B6BF-B603-F502-99EC-226B577A3C5A}"/>
              </a:ext>
            </a:extLst>
          </p:cNvPr>
          <p:cNvCxnSpPr>
            <a:cxnSpLocks/>
          </p:cNvCxnSpPr>
          <p:nvPr/>
        </p:nvCxnSpPr>
        <p:spPr bwMode="auto">
          <a:xfrm>
            <a:off x="2548370" y="4072862"/>
            <a:ext cx="12991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11D96-9796-D54F-BF55-24E5050A7998}"/>
              </a:ext>
            </a:extLst>
          </p:cNvPr>
          <p:cNvSpPr/>
          <p:nvPr/>
        </p:nvSpPr>
        <p:spPr>
          <a:xfrm>
            <a:off x="3314388" y="23313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69BD2-44DB-19DE-4CC5-B101AC151AB2}"/>
              </a:ext>
            </a:extLst>
          </p:cNvPr>
          <p:cNvSpPr/>
          <p:nvPr/>
        </p:nvSpPr>
        <p:spPr>
          <a:xfrm>
            <a:off x="3326409" y="4939999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4348D-6BAD-C83C-2EF4-EFA40AEB0CAF}"/>
              </a:ext>
            </a:extLst>
          </p:cNvPr>
          <p:cNvSpPr txBox="1"/>
          <p:nvPr/>
        </p:nvSpPr>
        <p:spPr>
          <a:xfrm>
            <a:off x="875970" y="3254698"/>
            <a:ext cx="182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assignment within a single  class, half students to “A” cohort and half to “B” cohort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05804-9C5A-0C3C-08DE-9D2A31AA47B6}"/>
              </a:ext>
            </a:extLst>
          </p:cNvPr>
          <p:cNvSpPr/>
          <p:nvPr/>
        </p:nvSpPr>
        <p:spPr bwMode="auto">
          <a:xfrm>
            <a:off x="8709446" y="2266307"/>
            <a:ext cx="381000" cy="33790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Assessment- 2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C169F-6ED9-01B5-E1D3-CF66F46F09C0}"/>
              </a:ext>
            </a:extLst>
          </p:cNvPr>
          <p:cNvSpPr txBox="1"/>
          <p:nvPr/>
        </p:nvSpPr>
        <p:spPr>
          <a:xfrm>
            <a:off x="3935678" y="1552673"/>
            <a:ext cx="317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1: A1 versus B1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3BC02-03A2-37D8-E998-A81309CEC372}"/>
              </a:ext>
            </a:extLst>
          </p:cNvPr>
          <p:cNvSpPr txBox="1"/>
          <p:nvPr/>
        </p:nvSpPr>
        <p:spPr>
          <a:xfrm>
            <a:off x="4219321" y="6034433"/>
            <a:ext cx="5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2: B1 versus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1602E-F785-AE9B-2FEE-862149D08A46}"/>
              </a:ext>
            </a:extLst>
          </p:cNvPr>
          <p:cNvSpPr txBox="1"/>
          <p:nvPr/>
        </p:nvSpPr>
        <p:spPr>
          <a:xfrm>
            <a:off x="7212278" y="1552674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3: A1 versus A2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283DD5CF-D40D-E42A-6E3C-A26C5D128E5E}"/>
              </a:ext>
            </a:extLst>
          </p:cNvPr>
          <p:cNvSpPr/>
          <p:nvPr/>
        </p:nvSpPr>
        <p:spPr bwMode="auto">
          <a:xfrm>
            <a:off x="6457995" y="3660986"/>
            <a:ext cx="254474" cy="64303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DD347D55-6018-2044-B04B-0E535165393C}"/>
              </a:ext>
            </a:extLst>
          </p:cNvPr>
          <p:cNvSpPr/>
          <p:nvPr/>
        </p:nvSpPr>
        <p:spPr bwMode="auto">
          <a:xfrm rot="16200000">
            <a:off x="7752486" y="4341978"/>
            <a:ext cx="254474" cy="2421445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BA40E1-1A24-A549-2D08-8114683CD8CB}"/>
              </a:ext>
            </a:extLst>
          </p:cNvPr>
          <p:cNvSpPr/>
          <p:nvPr/>
        </p:nvSpPr>
        <p:spPr bwMode="auto">
          <a:xfrm>
            <a:off x="6589089" y="3738471"/>
            <a:ext cx="630920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3562DE-6668-0D09-3100-825C7EBCB51F}"/>
              </a:ext>
            </a:extLst>
          </p:cNvPr>
          <p:cNvSpPr/>
          <p:nvPr/>
        </p:nvSpPr>
        <p:spPr bwMode="auto">
          <a:xfrm>
            <a:off x="7632923" y="5552699"/>
            <a:ext cx="646331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EB149-68E7-8B3B-708F-51B78DE7196F}"/>
              </a:ext>
            </a:extLst>
          </p:cNvPr>
          <p:cNvSpPr/>
          <p:nvPr/>
        </p:nvSpPr>
        <p:spPr bwMode="auto">
          <a:xfrm>
            <a:off x="6451605" y="2281472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A1 Scores, Cohort 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2F6CD8-FADC-34D1-EAD4-95A3732F78C9}"/>
              </a:ext>
            </a:extLst>
          </p:cNvPr>
          <p:cNvSpPr/>
          <p:nvPr/>
        </p:nvSpPr>
        <p:spPr bwMode="auto">
          <a:xfrm>
            <a:off x="6442891" y="4336436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B1 Scores, Cohort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27AFDC-CE4F-4561-EA99-F6F1DBAEFB63}"/>
              </a:ext>
            </a:extLst>
          </p:cNvPr>
          <p:cNvSpPr/>
          <p:nvPr/>
        </p:nvSpPr>
        <p:spPr bwMode="auto">
          <a:xfrm>
            <a:off x="9103771" y="2262315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A2 Scores, Cohort 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9DEB15-882A-6508-CA7F-5F702ACD4E56}"/>
              </a:ext>
            </a:extLst>
          </p:cNvPr>
          <p:cNvSpPr/>
          <p:nvPr/>
        </p:nvSpPr>
        <p:spPr bwMode="auto">
          <a:xfrm>
            <a:off x="9095057" y="4317279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B2 Scores, Cohort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DA7A58-BA3E-CD70-8CD3-8D6B5528F779}"/>
              </a:ext>
            </a:extLst>
          </p:cNvPr>
          <p:cNvSpPr/>
          <p:nvPr/>
        </p:nvSpPr>
        <p:spPr bwMode="auto">
          <a:xfrm>
            <a:off x="6841637" y="4464109"/>
            <a:ext cx="1695172" cy="762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Intervention training</a:t>
            </a:r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8F84ABDC-C5BF-0815-1AE7-540FD4428194}"/>
              </a:ext>
            </a:extLst>
          </p:cNvPr>
          <p:cNvSpPr/>
          <p:nvPr/>
        </p:nvSpPr>
        <p:spPr bwMode="auto">
          <a:xfrm rot="16200000">
            <a:off x="7759148" y="1157256"/>
            <a:ext cx="254474" cy="2434770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BCE78C-522A-1F74-D598-4A85F0281382}"/>
              </a:ext>
            </a:extLst>
          </p:cNvPr>
          <p:cNvSpPr/>
          <p:nvPr/>
        </p:nvSpPr>
        <p:spPr bwMode="auto">
          <a:xfrm>
            <a:off x="7685309" y="2374640"/>
            <a:ext cx="631089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T3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5855E69-7DE4-C015-9E5B-CF4FBCD89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Crossover Intervention Design</a:t>
            </a:r>
          </a:p>
        </p:txBody>
      </p:sp>
    </p:spTree>
    <p:extLst>
      <p:ext uri="{BB962C8B-B14F-4D97-AF65-F5344CB8AC3E}">
        <p14:creationId xmlns:p14="http://schemas.microsoft.com/office/powerpoint/2010/main" val="29488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4559-450A-92E1-E451-6836F0F8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689466-A890-6F0F-9DD9-2C7C6A74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T1: A1 &gt; B1</a:t>
            </a:r>
          </a:p>
          <a:p>
            <a:pPr lvl="1"/>
            <a:r>
              <a:rPr lang="en-US" sz="2000" dirty="0"/>
              <a:t>Strongest evidence if successful</a:t>
            </a:r>
          </a:p>
          <a:p>
            <a:pPr lvl="2"/>
            <a:r>
              <a:rPr lang="en-US" sz="1800" dirty="0"/>
              <a:t>Cohort A is better at task performance because of training intervention</a:t>
            </a:r>
          </a:p>
          <a:p>
            <a:pPr lvl="1"/>
            <a:r>
              <a:rPr lang="en-US" sz="2000" dirty="0"/>
              <a:t>Weakest for statistical power</a:t>
            </a:r>
          </a:p>
          <a:p>
            <a:pPr lvl="2"/>
            <a:r>
              <a:rPr lang="en-US" sz="1800" dirty="0"/>
              <a:t>“Between-participants” design vulnerable to individual differences, variability due to measurement error</a:t>
            </a:r>
          </a:p>
          <a:p>
            <a:r>
              <a:rPr lang="en-US" sz="2400" dirty="0"/>
              <a:t>T2: B2 &gt; B1</a:t>
            </a:r>
          </a:p>
          <a:p>
            <a:pPr lvl="1"/>
            <a:r>
              <a:rPr lang="en-US" sz="2000" dirty="0"/>
              <a:t>Strongest statistical power</a:t>
            </a:r>
          </a:p>
          <a:p>
            <a:pPr lvl="2"/>
            <a:r>
              <a:rPr lang="en-US" sz="1800" dirty="0"/>
              <a:t>Each student is their own control, pre/post design</a:t>
            </a:r>
          </a:p>
          <a:p>
            <a:pPr lvl="1"/>
            <a:r>
              <a:rPr lang="en-US" sz="2000" dirty="0"/>
              <a:t>Inference that intervention caused improvement is weakened by other possible sources of learning between assessments</a:t>
            </a:r>
          </a:p>
          <a:p>
            <a:r>
              <a:rPr lang="en-US" sz="2400" dirty="0"/>
              <a:t>T3: A1 = A2</a:t>
            </a:r>
          </a:p>
          <a:p>
            <a:pPr lvl="1"/>
            <a:r>
              <a:rPr lang="en-US" sz="2000" dirty="0"/>
              <a:t>Demonstrates retention</a:t>
            </a:r>
          </a:p>
          <a:p>
            <a:pPr lvl="1"/>
            <a:r>
              <a:rPr lang="en-US" sz="2000" dirty="0"/>
              <a:t>Weak statistical test relies on no difference but still useful to document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6D2DAD-0DDD-E121-CE1D-D914E4B2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Contrasts</a:t>
            </a:r>
          </a:p>
        </p:txBody>
      </p:sp>
    </p:spTree>
    <p:extLst>
      <p:ext uri="{BB962C8B-B14F-4D97-AF65-F5344CB8AC3E}">
        <p14:creationId xmlns:p14="http://schemas.microsoft.com/office/powerpoint/2010/main" val="4097927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11B2-4292-81AE-C9E0-69B4A9B7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37BB-878D-EA5A-4756-A9B8DF2D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B5BE-424B-C7F5-71A1-9121097F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an example of a research study not included in the chapter for which it would be unethical to include a placebo/control group.</a:t>
            </a:r>
          </a:p>
          <a:p>
            <a:endParaRPr lang="en-US" dirty="0"/>
          </a:p>
          <a:p>
            <a:r>
              <a:rPr lang="en-US" dirty="0"/>
              <a:t>Why are rules requiring reporting of conflict of interest important for ensuring accurate and fair scientific processes and reports?</a:t>
            </a:r>
          </a:p>
        </p:txBody>
      </p:sp>
    </p:spTree>
    <p:extLst>
      <p:ext uri="{BB962C8B-B14F-4D97-AF65-F5344CB8AC3E}">
        <p14:creationId xmlns:p14="http://schemas.microsoft.com/office/powerpoint/2010/main" val="3054957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D9CD-9BB4-8AC0-B266-DD3BB0729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646B-6695-EE17-06E1-B5CBFC72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RCR Problems with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733F-B9E9-17A3-9B29-F04356C0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Lumosity Brain Training company</a:t>
            </a:r>
          </a:p>
          <a:p>
            <a:pPr lvl="1"/>
            <a:r>
              <a:rPr lang="en-US" dirty="0"/>
              <a:t>Licensed tasks</a:t>
            </a:r>
          </a:p>
          <a:p>
            <a:pPr lvl="1"/>
            <a:r>
              <a:rPr lang="en-US" dirty="0"/>
              <a:t>Funded efficacy research</a:t>
            </a:r>
          </a:p>
          <a:p>
            <a:pPr lvl="1"/>
            <a:r>
              <a:rPr lang="en-US" dirty="0"/>
              <a:t>Paid a large fine for misleading advertising</a:t>
            </a:r>
          </a:p>
          <a:p>
            <a:pPr lvl="1"/>
            <a:endParaRPr lang="en-US" dirty="0"/>
          </a:p>
          <a:p>
            <a:r>
              <a:rPr lang="en-US" dirty="0"/>
              <a:t>Brain training markets</a:t>
            </a:r>
          </a:p>
          <a:p>
            <a:pPr lvl="1"/>
            <a:r>
              <a:rPr lang="en-US" dirty="0"/>
              <a:t>Children with learning disabilities</a:t>
            </a:r>
          </a:p>
          <a:p>
            <a:pPr lvl="1"/>
            <a:r>
              <a:rPr lang="en-US" dirty="0"/>
              <a:t>Older adults and cognitive decline</a:t>
            </a:r>
          </a:p>
          <a:p>
            <a:pPr lvl="1"/>
            <a:endParaRPr lang="en-US" dirty="0"/>
          </a:p>
          <a:p>
            <a:r>
              <a:rPr lang="en-US" dirty="0"/>
              <a:t>Conflict of Interest concerns led to greatly heightened skepticism</a:t>
            </a:r>
          </a:p>
        </p:txBody>
      </p:sp>
    </p:spTree>
    <p:extLst>
      <p:ext uri="{BB962C8B-B14F-4D97-AF65-F5344CB8AC3E}">
        <p14:creationId xmlns:p14="http://schemas.microsoft.com/office/powerpoint/2010/main" val="22783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E5AE-7D8D-8516-71C7-6D88C7E6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3358-CD05-826A-15A9-35E5AC85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Owen et al. (2010)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DD34-DD1E-E8C1-DFC5-AE27E4F7D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Large-scale study failed to find effects</a:t>
            </a:r>
          </a:p>
          <a:p>
            <a:pPr lvl="1"/>
            <a:r>
              <a:rPr lang="en-US" dirty="0"/>
              <a:t>6 weeks of training</a:t>
            </a:r>
          </a:p>
          <a:p>
            <a:pPr lvl="1"/>
            <a:r>
              <a:rPr lang="en-US" dirty="0"/>
              <a:t>N = 11,430 online participants</a:t>
            </a:r>
          </a:p>
          <a:p>
            <a:pPr lvl="1"/>
            <a:endParaRPr lang="en-US" dirty="0"/>
          </a:p>
          <a:p>
            <a:r>
              <a:rPr lang="en-US" dirty="0"/>
              <a:t>Practice improved performance on trained tasks</a:t>
            </a:r>
          </a:p>
          <a:p>
            <a:pPr lvl="1"/>
            <a:r>
              <a:rPr lang="en-US" dirty="0"/>
              <a:t>Did not transfer to any general or untrained measures</a:t>
            </a:r>
          </a:p>
          <a:p>
            <a:pPr lvl="1"/>
            <a:endParaRPr lang="en-US" dirty="0"/>
          </a:p>
          <a:p>
            <a:r>
              <a:rPr lang="en-US" dirty="0"/>
              <a:t>Similar outcome to several other training studies with null 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7243B-E184-7AD6-11CF-1D74CA97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034" y="177800"/>
            <a:ext cx="59340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52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37CB-FD48-E2A2-614C-71BD334C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7720-B38D-2AB4-682E-90BF56AD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Corbett et al. (2015)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5799-E35B-1666-0842-59C76098A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Adults &gt; 60</a:t>
            </a:r>
          </a:p>
          <a:p>
            <a:pPr lvl="1"/>
            <a:r>
              <a:rPr lang="en-US" dirty="0"/>
              <a:t>N = 2912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Reasoning based cognitive training improved performance on reasoning, working memory and verbal learning</a:t>
            </a:r>
          </a:p>
          <a:p>
            <a:pPr lvl="1"/>
            <a:r>
              <a:rPr lang="en-US" dirty="0"/>
              <a:t>Effect size 0.15 – 0.20 for ADL, VL</a:t>
            </a:r>
          </a:p>
          <a:p>
            <a:pPr lvl="1"/>
            <a:r>
              <a:rPr lang="en-US" dirty="0"/>
              <a:t>Effect size 0.30 for Reasoning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F3330-1639-4E5C-2217-71A00D2B1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943" y="1590675"/>
            <a:ext cx="75152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5590-073E-ECFC-55E1-BF7541D6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B2D9-673B-251D-69C9-35775649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Developmental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6FDE-B26C-BC89-7F5A-15B4E31BF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More mixed results and RCR issues</a:t>
            </a:r>
          </a:p>
          <a:p>
            <a:endParaRPr lang="en-US" dirty="0"/>
          </a:p>
          <a:p>
            <a:r>
              <a:rPr lang="en-US" dirty="0"/>
              <a:t>“Fast </a:t>
            </a:r>
            <a:r>
              <a:rPr lang="en-US" dirty="0" err="1"/>
              <a:t>ForWord</a:t>
            </a:r>
            <a:r>
              <a:rPr lang="en-US" dirty="0"/>
              <a:t>” result unable to be replicated, but still sold popularly</a:t>
            </a:r>
          </a:p>
          <a:p>
            <a:pPr lvl="1"/>
            <a:r>
              <a:rPr lang="en-US" dirty="0"/>
              <a:t>Auditory training of phonemes to improve reading</a:t>
            </a:r>
          </a:p>
          <a:p>
            <a:endParaRPr lang="en-US" dirty="0"/>
          </a:p>
          <a:p>
            <a:r>
              <a:rPr lang="en-US" dirty="0"/>
              <a:t>Interventions with LD children appear effective</a:t>
            </a:r>
          </a:p>
          <a:p>
            <a:pPr lvl="1"/>
            <a:r>
              <a:rPr lang="en-US" dirty="0"/>
              <a:t>Difficult to control maturation effects</a:t>
            </a:r>
          </a:p>
          <a:p>
            <a:pPr lvl="1"/>
            <a:r>
              <a:rPr lang="en-US" dirty="0"/>
              <a:t>Cognitive functions being trained improve with age, education</a:t>
            </a:r>
          </a:p>
          <a:p>
            <a:pPr lvl="1"/>
            <a:r>
              <a:rPr lang="en-US" dirty="0"/>
              <a:t>Smaller n’s in most studies</a:t>
            </a:r>
          </a:p>
        </p:txBody>
      </p:sp>
    </p:spTree>
    <p:extLst>
      <p:ext uri="{BB962C8B-B14F-4D97-AF65-F5344CB8AC3E}">
        <p14:creationId xmlns:p14="http://schemas.microsoft.com/office/powerpoint/2010/main" val="85481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4C0E-4B60-EF36-C030-9767528E2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DF8-6069-CD8F-6B03-565DEB7C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Training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7FF0-8BF3-C893-183B-7A9ABC6CF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“brain training” work?</a:t>
            </a:r>
          </a:p>
          <a:p>
            <a:pPr lvl="1"/>
            <a:r>
              <a:rPr lang="en-US" dirty="0"/>
              <a:t>Who’s asking?</a:t>
            </a:r>
          </a:p>
          <a:p>
            <a:pPr lvl="1"/>
            <a:r>
              <a:rPr lang="en-US" dirty="0"/>
              <a:t>Yes, for some populations and some outcomes</a:t>
            </a:r>
          </a:p>
          <a:p>
            <a:pPr lvl="1"/>
            <a:endParaRPr lang="en-US" dirty="0"/>
          </a:p>
          <a:p>
            <a:r>
              <a:rPr lang="en-US" dirty="0"/>
              <a:t>Illustrates many challenges of intervention research</a:t>
            </a:r>
          </a:p>
          <a:p>
            <a:pPr lvl="1"/>
            <a:r>
              <a:rPr lang="en-US" dirty="0"/>
              <a:t>What is the intended population and how are they sampled?</a:t>
            </a:r>
          </a:p>
          <a:p>
            <a:pPr lvl="1"/>
            <a:r>
              <a:rPr lang="en-US" dirty="0"/>
              <a:t>What is the dependent variable outcome measure?</a:t>
            </a:r>
          </a:p>
          <a:p>
            <a:pPr lvl="1"/>
            <a:r>
              <a:rPr lang="en-US" dirty="0"/>
              <a:t>How is the control task implemented?</a:t>
            </a:r>
          </a:p>
          <a:p>
            <a:pPr lvl="1"/>
            <a:r>
              <a:rPr lang="en-US" dirty="0"/>
              <a:t>How rigorous is the methodology?</a:t>
            </a:r>
          </a:p>
        </p:txBody>
      </p:sp>
    </p:spTree>
    <p:extLst>
      <p:ext uri="{BB962C8B-B14F-4D97-AF65-F5344CB8AC3E}">
        <p14:creationId xmlns:p14="http://schemas.microsoft.com/office/powerpoint/2010/main" val="2919219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F79B3-201F-EE06-FC86-1216D615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A5E4-B292-600A-1B09-4929F9F5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Organize like a paper</a:t>
            </a:r>
          </a:p>
          <a:p>
            <a:pPr lvl="1"/>
            <a:r>
              <a:rPr lang="en-US" dirty="0"/>
              <a:t>Introduction: background and motivation for hypothesis</a:t>
            </a:r>
          </a:p>
          <a:p>
            <a:pPr lvl="1"/>
            <a:r>
              <a:rPr lang="en-US" dirty="0"/>
              <a:t>Methods: specific operational definitions, DV measure, procedure</a:t>
            </a:r>
          </a:p>
          <a:p>
            <a:pPr lvl="1"/>
            <a:r>
              <a:rPr lang="en-US" dirty="0"/>
              <a:t>Results: hypothesized if data not yet available</a:t>
            </a:r>
          </a:p>
          <a:p>
            <a:pPr lvl="2"/>
            <a:r>
              <a:rPr lang="en-US" dirty="0"/>
              <a:t>Graph hypothetical 2x2 results showing interaction</a:t>
            </a:r>
          </a:p>
          <a:p>
            <a:pPr lvl="1"/>
            <a:r>
              <a:rPr lang="en-US" dirty="0"/>
              <a:t>Discussion: what will it mean if it works</a:t>
            </a:r>
          </a:p>
          <a:p>
            <a:endParaRPr lang="en-US" dirty="0"/>
          </a:p>
          <a:p>
            <a:r>
              <a:rPr lang="en-US" dirty="0"/>
              <a:t>Each group member can do one section</a:t>
            </a:r>
          </a:p>
          <a:p>
            <a:r>
              <a:rPr lang="en-US" dirty="0"/>
              <a:t>Aim for 10-15 minutes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43937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383C-D211-C6E6-B64E-6B2D6570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Monday 11/18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9C21D-042F-4E1B-268D-AD5FCC140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2</a:t>
            </a:r>
          </a:p>
          <a:p>
            <a:endParaRPr lang="en-US" dirty="0"/>
          </a:p>
          <a:p>
            <a:r>
              <a:rPr lang="en-US" dirty="0"/>
              <a:t>Wednesday &amp; Friday: Project Presentations</a:t>
            </a:r>
          </a:p>
          <a:p>
            <a:pPr lvl="1"/>
            <a:r>
              <a:rPr lang="en-US" dirty="0"/>
              <a:t>Schedule posted Monday</a:t>
            </a:r>
          </a:p>
        </p:txBody>
      </p:sp>
    </p:spTree>
    <p:extLst>
      <p:ext uri="{BB962C8B-B14F-4D97-AF65-F5344CB8AC3E}">
        <p14:creationId xmlns:p14="http://schemas.microsoft.com/office/powerpoint/2010/main" val="323051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9099</TotalTime>
  <Words>759</Words>
  <Application>Microsoft Office PowerPoint</Application>
  <PresentationFormat>Widescreen</PresentationFormat>
  <Paragraphs>128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Lato Extended</vt:lpstr>
      <vt:lpstr>Office Theme</vt:lpstr>
      <vt:lpstr>301, Nov 14, Class 26</vt:lpstr>
      <vt:lpstr>Intervention Research</vt:lpstr>
      <vt:lpstr>Training intervention with Military personnel</vt:lpstr>
      <vt:lpstr>Philosophical Ethical Challenges</vt:lpstr>
      <vt:lpstr>Crossover Intervention Design</vt:lpstr>
      <vt:lpstr>Contrasts</vt:lpstr>
      <vt:lpstr>Intervention research</vt:lpstr>
      <vt:lpstr>RCR Problems with Interventions</vt:lpstr>
      <vt:lpstr>Owen et al. (2010)</vt:lpstr>
      <vt:lpstr>Corbett et al. (2015)</vt:lpstr>
      <vt:lpstr>Childhood Developmental Studies</vt:lpstr>
      <vt:lpstr>Brain Training Summary</vt:lpstr>
      <vt:lpstr>Final project presentations</vt:lpstr>
      <vt:lpstr>For Monday 11/18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Reber</dc:creator>
  <cp:lastModifiedBy>Paul Reber</cp:lastModifiedBy>
  <cp:revision>7</cp:revision>
  <cp:lastPrinted>2025-11-14T00:54:59Z</cp:lastPrinted>
  <dcterms:created xsi:type="dcterms:W3CDTF">2025-11-08T17:01:40Z</dcterms:created>
  <dcterms:modified xsi:type="dcterms:W3CDTF">2025-11-15T00:41:19Z</dcterms:modified>
</cp:coreProperties>
</file>