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96" r:id="rId2"/>
    <p:sldId id="338" r:id="rId3"/>
    <p:sldId id="360" r:id="rId4"/>
    <p:sldId id="340" r:id="rId5"/>
    <p:sldId id="357" r:id="rId6"/>
    <p:sldId id="403" r:id="rId7"/>
    <p:sldId id="358" r:id="rId8"/>
    <p:sldId id="272" r:id="rId9"/>
    <p:sldId id="399" r:id="rId10"/>
    <p:sldId id="364" r:id="rId11"/>
    <p:sldId id="346" r:id="rId12"/>
    <p:sldId id="400" r:id="rId13"/>
    <p:sldId id="359" r:id="rId14"/>
    <p:sldId id="355" r:id="rId15"/>
    <p:sldId id="401" r:id="rId16"/>
    <p:sldId id="402" r:id="rId17"/>
    <p:sldId id="397" r:id="rId18"/>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ADAE7C20-884B-4AD7-AC5E-61FD9B638185}" type="datetimeFigureOut">
              <a:rPr lang="en-US" smtClean="0"/>
              <a:t>10/6/2025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51DBFFE7-63B1-4148-AD17-CDD381518529}" type="slidenum">
              <a:rPr lang="en-US" smtClean="0"/>
              <a:t>‹#›</a:t>
            </a:fld>
            <a:endParaRPr lang="en-US"/>
          </a:p>
        </p:txBody>
      </p:sp>
    </p:spTree>
    <p:extLst>
      <p:ext uri="{BB962C8B-B14F-4D97-AF65-F5344CB8AC3E}">
        <p14:creationId xmlns:p14="http://schemas.microsoft.com/office/powerpoint/2010/main" val="1840678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435A974-589E-4F74-BB87-4E84C3769ACA}" type="slidenum">
              <a:rPr lang="en-US"/>
              <a:pPr fontAlgn="base">
                <a:spcBef>
                  <a:spcPct val="0"/>
                </a:spcBef>
                <a:spcAft>
                  <a:spcPct val="0"/>
                </a:spcAft>
              </a:pPr>
              <a:t>8</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D316-4FC1-1F8B-01C5-339D40AF57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184E33-EF2C-450F-2863-D692D25595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E7964A-6AC7-80C2-B0BC-CA25838FC036}"/>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5" name="Footer Placeholder 4">
            <a:extLst>
              <a:ext uri="{FF2B5EF4-FFF2-40B4-BE49-F238E27FC236}">
                <a16:creationId xmlns:a16="http://schemas.microsoft.com/office/drawing/2014/main" id="{0C75CD5E-8F55-4586-3781-F7048613F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23BD6-4E54-18C1-E264-8AE1B2AF9548}"/>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1469126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9424D-A69E-ED57-20DB-00430264B5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BFA7B9-47CB-C5B9-7640-952432FF3F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F7C31-1771-3FE6-9B45-536CC73C4278}"/>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5" name="Footer Placeholder 4">
            <a:extLst>
              <a:ext uri="{FF2B5EF4-FFF2-40B4-BE49-F238E27FC236}">
                <a16:creationId xmlns:a16="http://schemas.microsoft.com/office/drawing/2014/main" id="{79E6BFB2-F039-3AAA-E577-C24DAA9E7B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7A54F4-1326-88C4-56CD-68E0BFE18BD4}"/>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230602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3992-E9D6-650B-8619-3B180AF2CC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49461A-6674-81EC-2E5C-96E6E9B0F6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A6A3DE-FA5D-2374-6B7F-DB1BB55C7769}"/>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5" name="Footer Placeholder 4">
            <a:extLst>
              <a:ext uri="{FF2B5EF4-FFF2-40B4-BE49-F238E27FC236}">
                <a16:creationId xmlns:a16="http://schemas.microsoft.com/office/drawing/2014/main" id="{00D7C185-DC20-F363-42BD-D5FB9B723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33BF0-944D-E351-5694-CD2B35E8EBDE}"/>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2856878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1A3A-04F7-22B8-A3D4-7B03D9A637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C3303D-3436-B90B-D246-4540F9D7F3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E82083-597E-3C9D-B8FC-4A111568AF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F4DB1A-E731-1BBF-FDDF-5496C89D6BE3}"/>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6" name="Footer Placeholder 5">
            <a:extLst>
              <a:ext uri="{FF2B5EF4-FFF2-40B4-BE49-F238E27FC236}">
                <a16:creationId xmlns:a16="http://schemas.microsoft.com/office/drawing/2014/main" id="{96EC3D0E-1938-054E-61CF-08033AF482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0161AC-B0B7-6C6E-2764-5AC585428CD7}"/>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3984125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F51EA-CE04-F63E-F920-9BC5F8B9EB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BE1042-EC5A-77A8-A862-A1069FD177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5C453-FF19-E560-636C-E985A68734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10FFDC-4B82-0EBF-D15F-58084C4DA3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A4EE55-0CC7-E667-6F17-4CE3AD899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E2D6F3-B6FD-B027-FD9A-0A3E9ADD6C76}"/>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8" name="Footer Placeholder 7">
            <a:extLst>
              <a:ext uri="{FF2B5EF4-FFF2-40B4-BE49-F238E27FC236}">
                <a16:creationId xmlns:a16="http://schemas.microsoft.com/office/drawing/2014/main" id="{BC5A3C32-845E-827E-E0D5-C09ED821A7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D7B4C4-4C9F-00C3-3EE9-F9394D66FAB1}"/>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492948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08EEB-9980-C632-DE29-CE046C5DA9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76DCC-E307-7954-A1A9-3DBBA574A841}"/>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4" name="Footer Placeholder 3">
            <a:extLst>
              <a:ext uri="{FF2B5EF4-FFF2-40B4-BE49-F238E27FC236}">
                <a16:creationId xmlns:a16="http://schemas.microsoft.com/office/drawing/2014/main" id="{3147EB3F-DD14-6947-A08B-EEFB6E4001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60B374-7B16-F169-24E2-6B602C2C45C8}"/>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1450617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ACBA01-8229-5CCC-3D26-0B199DD890D9}"/>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3" name="Footer Placeholder 2">
            <a:extLst>
              <a:ext uri="{FF2B5EF4-FFF2-40B4-BE49-F238E27FC236}">
                <a16:creationId xmlns:a16="http://schemas.microsoft.com/office/drawing/2014/main" id="{17CC87C8-567E-3786-A3F3-BB17AC4490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09F4E3-DD7A-C740-F72C-7822651130D4}"/>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177043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5822-A5EA-CCFE-7943-976454A818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192929-15D0-82C0-DB7C-7EFF0A3E0E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4DFB06-B102-3F5D-FEF5-4F439D7ED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E2899-1C39-F0EA-3C5C-8875DA937BFE}"/>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6" name="Footer Placeholder 5">
            <a:extLst>
              <a:ext uri="{FF2B5EF4-FFF2-40B4-BE49-F238E27FC236}">
                <a16:creationId xmlns:a16="http://schemas.microsoft.com/office/drawing/2014/main" id="{FF01B0ED-B2EE-2CA7-3F50-D1B62E1A7D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7AB2DE-0A22-596F-51F3-B9F6BE928D5E}"/>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2190570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64662-2352-4D2F-7F78-D9DDBDFB3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92F9E-90E4-DC87-6D7B-28F0724347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28434C-7D18-0769-124C-CE1DC3F99B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C5F6E-6E7F-999B-EA5C-9B1FA25142DF}"/>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6" name="Footer Placeholder 5">
            <a:extLst>
              <a:ext uri="{FF2B5EF4-FFF2-40B4-BE49-F238E27FC236}">
                <a16:creationId xmlns:a16="http://schemas.microsoft.com/office/drawing/2014/main" id="{A4B7B4DE-589D-158A-FCF1-BCFE0D707E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AB686-5159-133D-3F1D-440895EEC4C0}"/>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162206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B883D-39DF-F85C-350D-8488C641C8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CB0B97-221B-B588-7F39-E6E40A93D3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5798A1-E3DA-10A9-9634-F8670547F5A2}"/>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5" name="Footer Placeholder 4">
            <a:extLst>
              <a:ext uri="{FF2B5EF4-FFF2-40B4-BE49-F238E27FC236}">
                <a16:creationId xmlns:a16="http://schemas.microsoft.com/office/drawing/2014/main" id="{178A8E7B-7AFC-DBA6-CCD5-87A5E7706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3D27B-30E1-A6E8-C43F-C9F778A9CF47}"/>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1425720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BD7BE-A2A8-AB3B-3AE7-37CAED55B5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209F5E-B736-4964-EDBD-FD77E48E0B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20B20B-61C2-DFAC-4012-47B692DED26C}"/>
              </a:ext>
            </a:extLst>
          </p:cNvPr>
          <p:cNvSpPr>
            <a:spLocks noGrp="1"/>
          </p:cNvSpPr>
          <p:nvPr>
            <p:ph type="dt" sz="half" idx="10"/>
          </p:nvPr>
        </p:nvSpPr>
        <p:spPr/>
        <p:txBody>
          <a:bodyPr/>
          <a:lstStyle/>
          <a:p>
            <a:fld id="{913D958D-6EF0-4115-9E19-50641A40D361}" type="datetimeFigureOut">
              <a:rPr lang="en-US" smtClean="0"/>
              <a:t>10/6/2025</a:t>
            </a:fld>
            <a:endParaRPr lang="en-US"/>
          </a:p>
        </p:txBody>
      </p:sp>
      <p:sp>
        <p:nvSpPr>
          <p:cNvPr id="5" name="Footer Placeholder 4">
            <a:extLst>
              <a:ext uri="{FF2B5EF4-FFF2-40B4-BE49-F238E27FC236}">
                <a16:creationId xmlns:a16="http://schemas.microsoft.com/office/drawing/2014/main" id="{A1C255C7-C7C7-D397-7E26-3D5A9A077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839E4-A285-5086-167F-BAE56C2F8CC7}"/>
              </a:ext>
            </a:extLst>
          </p:cNvPr>
          <p:cNvSpPr>
            <a:spLocks noGrp="1"/>
          </p:cNvSpPr>
          <p:nvPr>
            <p:ph type="sldNum" sz="quarter" idx="12"/>
          </p:nvPr>
        </p:nvSpPr>
        <p:spPr/>
        <p:txBody>
          <a:bodyPr/>
          <a:lstStyle/>
          <a:p>
            <a:fld id="{C185E342-4EE4-4C9D-BD20-922283FDB8E1}" type="slidenum">
              <a:rPr lang="en-US" smtClean="0"/>
              <a:t>‹#›</a:t>
            </a:fld>
            <a:endParaRPr lang="en-US"/>
          </a:p>
        </p:txBody>
      </p:sp>
    </p:spTree>
    <p:extLst>
      <p:ext uri="{BB962C8B-B14F-4D97-AF65-F5344CB8AC3E}">
        <p14:creationId xmlns:p14="http://schemas.microsoft.com/office/powerpoint/2010/main" val="3993393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6909E-8DAB-A7F4-E140-7D9A0B736D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58E334-DF7A-9CFD-8DD6-591D2A7291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39B29-0BD5-4F85-8E0F-7967107E11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3D958D-6EF0-4115-9E19-50641A40D361}" type="datetimeFigureOut">
              <a:rPr lang="en-US" smtClean="0"/>
              <a:t>10/6/2025</a:t>
            </a:fld>
            <a:endParaRPr lang="en-US"/>
          </a:p>
        </p:txBody>
      </p:sp>
      <p:sp>
        <p:nvSpPr>
          <p:cNvPr id="5" name="Footer Placeholder 4">
            <a:extLst>
              <a:ext uri="{FF2B5EF4-FFF2-40B4-BE49-F238E27FC236}">
                <a16:creationId xmlns:a16="http://schemas.microsoft.com/office/drawing/2014/main" id="{70959446-260E-04D8-117D-497924CD54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CF4B81-4C0A-8ECF-60A8-2D197C1222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85E342-4EE4-4C9D-BD20-922283FDB8E1}" type="slidenum">
              <a:rPr lang="en-US" smtClean="0"/>
              <a:t>‹#›</a:t>
            </a:fld>
            <a:endParaRPr lang="en-US"/>
          </a:p>
        </p:txBody>
      </p:sp>
    </p:spTree>
    <p:extLst>
      <p:ext uri="{BB962C8B-B14F-4D97-AF65-F5344CB8AC3E}">
        <p14:creationId xmlns:p14="http://schemas.microsoft.com/office/powerpoint/2010/main" val="1203604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CDBB19-E107-9CC7-46C7-6959231702BB}"/>
              </a:ext>
            </a:extLst>
          </p:cNvPr>
          <p:cNvSpPr>
            <a:spLocks noGrp="1"/>
          </p:cNvSpPr>
          <p:nvPr>
            <p:ph type="title"/>
          </p:nvPr>
        </p:nvSpPr>
        <p:spPr/>
        <p:txBody>
          <a:bodyPr/>
          <a:lstStyle/>
          <a:p>
            <a:r>
              <a:rPr lang="en-US" dirty="0"/>
              <a:t>301 Oct 8, Class 10</a:t>
            </a:r>
          </a:p>
        </p:txBody>
      </p:sp>
      <p:sp>
        <p:nvSpPr>
          <p:cNvPr id="5" name="Content Placeholder 4">
            <a:extLst>
              <a:ext uri="{FF2B5EF4-FFF2-40B4-BE49-F238E27FC236}">
                <a16:creationId xmlns:a16="http://schemas.microsoft.com/office/drawing/2014/main" id="{F668BBC8-1567-7DB2-D836-9D4A9219AD67}"/>
              </a:ext>
            </a:extLst>
          </p:cNvPr>
          <p:cNvSpPr>
            <a:spLocks noGrp="1"/>
          </p:cNvSpPr>
          <p:nvPr>
            <p:ph idx="1"/>
          </p:nvPr>
        </p:nvSpPr>
        <p:spPr/>
        <p:txBody>
          <a:bodyPr/>
          <a:lstStyle/>
          <a:p>
            <a:r>
              <a:rPr lang="en-US" dirty="0"/>
              <a:t>Chapter 9, Research Ethics 1</a:t>
            </a:r>
          </a:p>
          <a:p>
            <a:pPr lvl="1"/>
            <a:r>
              <a:rPr lang="en-US" dirty="0"/>
              <a:t>Fair and equitable treatment of human research participants</a:t>
            </a:r>
          </a:p>
        </p:txBody>
      </p:sp>
    </p:spTree>
    <p:extLst>
      <p:ext uri="{BB962C8B-B14F-4D97-AF65-F5344CB8AC3E}">
        <p14:creationId xmlns:p14="http://schemas.microsoft.com/office/powerpoint/2010/main" val="963851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in Science</a:t>
            </a:r>
          </a:p>
        </p:txBody>
      </p:sp>
      <p:sp>
        <p:nvSpPr>
          <p:cNvPr id="3" name="Content Placeholder 2"/>
          <p:cNvSpPr>
            <a:spLocks noGrp="1"/>
          </p:cNvSpPr>
          <p:nvPr>
            <p:ph idx="1"/>
          </p:nvPr>
        </p:nvSpPr>
        <p:spPr/>
        <p:txBody>
          <a:bodyPr>
            <a:normAutofit/>
          </a:bodyPr>
          <a:lstStyle/>
          <a:p>
            <a:r>
              <a:rPr lang="en-US" dirty="0"/>
              <a:t>Fair and respectful treatment of participants in research</a:t>
            </a:r>
          </a:p>
          <a:p>
            <a:r>
              <a:rPr lang="en-US" dirty="0"/>
              <a:t>Basic Ethical Principles (Belmont Report)</a:t>
            </a:r>
          </a:p>
          <a:p>
            <a:pPr lvl="1">
              <a:defRPr/>
            </a:pPr>
            <a:r>
              <a:rPr lang="en-US" dirty="0"/>
              <a:t>Respect for Persons</a:t>
            </a:r>
          </a:p>
          <a:p>
            <a:pPr lvl="2">
              <a:buFont typeface="Arial" pitchFamily="34" charset="0"/>
              <a:buChar char="–"/>
              <a:defRPr/>
            </a:pPr>
            <a:r>
              <a:rPr lang="en-US" dirty="0"/>
              <a:t>Consent is voluntary</a:t>
            </a:r>
          </a:p>
          <a:p>
            <a:pPr lvl="2">
              <a:buFont typeface="Arial" pitchFamily="34" charset="0"/>
              <a:buChar char="–"/>
              <a:defRPr/>
            </a:pPr>
            <a:r>
              <a:rPr lang="en-US" dirty="0"/>
              <a:t>Vulnerable populations are protected</a:t>
            </a:r>
          </a:p>
          <a:p>
            <a:pPr lvl="1">
              <a:defRPr/>
            </a:pPr>
            <a:r>
              <a:rPr lang="en-US" dirty="0"/>
              <a:t>Beneficence</a:t>
            </a:r>
          </a:p>
          <a:p>
            <a:pPr lvl="2">
              <a:buFont typeface="Arial" pitchFamily="34" charset="0"/>
              <a:buChar char="–"/>
              <a:defRPr/>
            </a:pPr>
            <a:r>
              <a:rPr lang="en-US" dirty="0"/>
              <a:t>Good outweighs the risk</a:t>
            </a:r>
          </a:p>
          <a:p>
            <a:pPr lvl="1">
              <a:defRPr/>
            </a:pPr>
            <a:r>
              <a:rPr lang="en-US" dirty="0"/>
              <a:t>Justice</a:t>
            </a:r>
          </a:p>
          <a:p>
            <a:pPr lvl="2">
              <a:buFont typeface="Arial" pitchFamily="34" charset="0"/>
              <a:buChar char="–"/>
              <a:defRPr/>
            </a:pPr>
            <a:r>
              <a:rPr lang="en-US" dirty="0"/>
              <a:t>Fairness in distribution</a:t>
            </a:r>
          </a:p>
          <a:p>
            <a:endParaRPr lang="en-US" dirty="0"/>
          </a:p>
          <a:p>
            <a:endParaRPr lang="en-US" dirty="0"/>
          </a:p>
        </p:txBody>
      </p:sp>
    </p:spTree>
    <p:extLst>
      <p:ext uri="{BB962C8B-B14F-4D97-AF65-F5344CB8AC3E}">
        <p14:creationId xmlns:p14="http://schemas.microsoft.com/office/powerpoint/2010/main" val="4211413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05645-1BFF-23C5-87C4-BECF84E87721}"/>
              </a:ext>
            </a:extLst>
          </p:cNvPr>
          <p:cNvSpPr>
            <a:spLocks noGrp="1"/>
          </p:cNvSpPr>
          <p:nvPr>
            <p:ph type="title"/>
          </p:nvPr>
        </p:nvSpPr>
        <p:spPr/>
        <p:txBody>
          <a:bodyPr/>
          <a:lstStyle/>
          <a:p>
            <a:r>
              <a:rPr lang="en-US" dirty="0"/>
              <a:t>Famous ethical transgressions</a:t>
            </a:r>
          </a:p>
        </p:txBody>
      </p:sp>
      <p:sp>
        <p:nvSpPr>
          <p:cNvPr id="3" name="Content Placeholder 2">
            <a:extLst>
              <a:ext uri="{FF2B5EF4-FFF2-40B4-BE49-F238E27FC236}">
                <a16:creationId xmlns:a16="http://schemas.microsoft.com/office/drawing/2014/main" id="{607CA111-3F0C-133B-10F1-CC8A786C2438}"/>
              </a:ext>
            </a:extLst>
          </p:cNvPr>
          <p:cNvSpPr>
            <a:spLocks noGrp="1"/>
          </p:cNvSpPr>
          <p:nvPr>
            <p:ph idx="1"/>
          </p:nvPr>
        </p:nvSpPr>
        <p:spPr/>
        <p:txBody>
          <a:bodyPr/>
          <a:lstStyle/>
          <a:p>
            <a:r>
              <a:rPr lang="en-US" dirty="0"/>
              <a:t>Tuskegee Syphilis Study</a:t>
            </a:r>
          </a:p>
          <a:p>
            <a:r>
              <a:rPr lang="en-US" dirty="0"/>
              <a:t>Guatemala Syphilis</a:t>
            </a:r>
          </a:p>
          <a:p>
            <a:r>
              <a:rPr lang="en-US" dirty="0" err="1"/>
              <a:t>Willowbrook</a:t>
            </a:r>
            <a:r>
              <a:rPr lang="en-US" dirty="0"/>
              <a:t> State School Hepatitis studies</a:t>
            </a:r>
          </a:p>
          <a:p>
            <a:r>
              <a:rPr lang="en-US" dirty="0"/>
              <a:t>Milgram studies</a:t>
            </a:r>
          </a:p>
          <a:p>
            <a:r>
              <a:rPr lang="en-US" dirty="0"/>
              <a:t>Zimbardo prison studies</a:t>
            </a:r>
          </a:p>
          <a:p>
            <a:endParaRPr lang="en-US" dirty="0"/>
          </a:p>
        </p:txBody>
      </p:sp>
    </p:spTree>
    <p:extLst>
      <p:ext uri="{BB962C8B-B14F-4D97-AF65-F5344CB8AC3E}">
        <p14:creationId xmlns:p14="http://schemas.microsoft.com/office/powerpoint/2010/main" val="2812420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39F4-887C-4983-B432-DD0BCF2ECA7E}"/>
              </a:ext>
            </a:extLst>
          </p:cNvPr>
          <p:cNvSpPr>
            <a:spLocks noGrp="1"/>
          </p:cNvSpPr>
          <p:nvPr>
            <p:ph type="title"/>
          </p:nvPr>
        </p:nvSpPr>
        <p:spPr/>
        <p:txBody>
          <a:bodyPr/>
          <a:lstStyle/>
          <a:p>
            <a:r>
              <a:rPr lang="en-US" dirty="0"/>
              <a:t>Historical Events in Research Ethics</a:t>
            </a:r>
          </a:p>
        </p:txBody>
      </p:sp>
      <p:sp>
        <p:nvSpPr>
          <p:cNvPr id="3" name="Content Placeholder 2">
            <a:extLst>
              <a:ext uri="{FF2B5EF4-FFF2-40B4-BE49-F238E27FC236}">
                <a16:creationId xmlns:a16="http://schemas.microsoft.com/office/drawing/2014/main" id="{DE91283D-2ECF-4323-ACD3-9A36C4C2A464}"/>
              </a:ext>
            </a:extLst>
          </p:cNvPr>
          <p:cNvSpPr>
            <a:spLocks noGrp="1"/>
          </p:cNvSpPr>
          <p:nvPr>
            <p:ph idx="1"/>
          </p:nvPr>
        </p:nvSpPr>
        <p:spPr/>
        <p:txBody>
          <a:bodyPr>
            <a:normAutofit lnSpcReduction="10000"/>
          </a:bodyPr>
          <a:lstStyle/>
          <a:p>
            <a:r>
              <a:rPr lang="en-US" dirty="0"/>
              <a:t>Nuremberg Code, 1947</a:t>
            </a:r>
          </a:p>
          <a:p>
            <a:pPr lvl="1"/>
            <a:r>
              <a:rPr lang="en-US" dirty="0"/>
              <a:t>Response to Nazi researchers</a:t>
            </a:r>
          </a:p>
          <a:p>
            <a:r>
              <a:rPr lang="en-US" dirty="0"/>
              <a:t>Declaration of Helsinki, 1964</a:t>
            </a:r>
          </a:p>
          <a:p>
            <a:pPr lvl="1"/>
            <a:r>
              <a:rPr lang="en-US" dirty="0"/>
              <a:t>Broader statement of principles</a:t>
            </a:r>
          </a:p>
          <a:p>
            <a:r>
              <a:rPr lang="en-US" dirty="0"/>
              <a:t>Belmont Report, 1979</a:t>
            </a:r>
          </a:p>
          <a:p>
            <a:pPr lvl="1"/>
            <a:r>
              <a:rPr lang="en-US" dirty="0"/>
              <a:t>Respect for persons</a:t>
            </a:r>
          </a:p>
          <a:p>
            <a:pPr lvl="1"/>
            <a:r>
              <a:rPr lang="en-US" dirty="0"/>
              <a:t>Beneficence</a:t>
            </a:r>
          </a:p>
          <a:p>
            <a:pPr lvl="1"/>
            <a:r>
              <a:rPr lang="en-US" dirty="0"/>
              <a:t>Justice</a:t>
            </a:r>
          </a:p>
          <a:p>
            <a:r>
              <a:rPr lang="en-US" dirty="0"/>
              <a:t>APA Code of Ethics</a:t>
            </a:r>
          </a:p>
          <a:p>
            <a:pPr lvl="1"/>
            <a:r>
              <a:rPr lang="en-US" dirty="0"/>
              <a:t>Includes integrity</a:t>
            </a:r>
          </a:p>
        </p:txBody>
      </p:sp>
    </p:spTree>
    <p:extLst>
      <p:ext uri="{BB962C8B-B14F-4D97-AF65-F5344CB8AC3E}">
        <p14:creationId xmlns:p14="http://schemas.microsoft.com/office/powerpoint/2010/main" val="328820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A25E-0129-751D-CE09-49BE1BA80101}"/>
              </a:ext>
            </a:extLst>
          </p:cNvPr>
          <p:cNvSpPr>
            <a:spLocks noGrp="1"/>
          </p:cNvSpPr>
          <p:nvPr>
            <p:ph type="title"/>
          </p:nvPr>
        </p:nvSpPr>
        <p:spPr/>
        <p:txBody>
          <a:bodyPr/>
          <a:lstStyle/>
          <a:p>
            <a:r>
              <a:rPr lang="en-US" dirty="0"/>
              <a:t>IRB</a:t>
            </a:r>
          </a:p>
        </p:txBody>
      </p:sp>
      <p:sp>
        <p:nvSpPr>
          <p:cNvPr id="3" name="Content Placeholder 2">
            <a:extLst>
              <a:ext uri="{FF2B5EF4-FFF2-40B4-BE49-F238E27FC236}">
                <a16:creationId xmlns:a16="http://schemas.microsoft.com/office/drawing/2014/main" id="{49B3DB39-F32C-16FD-0122-2D9A0766B011}"/>
              </a:ext>
            </a:extLst>
          </p:cNvPr>
          <p:cNvSpPr>
            <a:spLocks noGrp="1"/>
          </p:cNvSpPr>
          <p:nvPr>
            <p:ph idx="1"/>
          </p:nvPr>
        </p:nvSpPr>
        <p:spPr/>
        <p:txBody>
          <a:bodyPr>
            <a:normAutofit/>
          </a:bodyPr>
          <a:lstStyle/>
          <a:p>
            <a:r>
              <a:rPr lang="en-US" dirty="0"/>
              <a:t>What is the main goal and purpose of the Institutional Review Board?</a:t>
            </a:r>
          </a:p>
        </p:txBody>
      </p:sp>
    </p:spTree>
    <p:extLst>
      <p:ext uri="{BB962C8B-B14F-4D97-AF65-F5344CB8AC3E}">
        <p14:creationId xmlns:p14="http://schemas.microsoft.com/office/powerpoint/2010/main" val="2712044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6E26A-D21C-BE53-37B1-DD915740E048}"/>
              </a:ext>
            </a:extLst>
          </p:cNvPr>
          <p:cNvSpPr>
            <a:spLocks noGrp="1"/>
          </p:cNvSpPr>
          <p:nvPr>
            <p:ph type="title"/>
          </p:nvPr>
        </p:nvSpPr>
        <p:spPr/>
        <p:txBody>
          <a:bodyPr/>
          <a:lstStyle/>
          <a:p>
            <a:r>
              <a:rPr lang="en-US" dirty="0"/>
              <a:t>Office for Research </a:t>
            </a:r>
          </a:p>
        </p:txBody>
      </p:sp>
      <p:sp>
        <p:nvSpPr>
          <p:cNvPr id="3" name="Content Placeholder 2">
            <a:extLst>
              <a:ext uri="{FF2B5EF4-FFF2-40B4-BE49-F238E27FC236}">
                <a16:creationId xmlns:a16="http://schemas.microsoft.com/office/drawing/2014/main" id="{741B4A2D-DEE4-45F3-A2F8-F9DC21776625}"/>
              </a:ext>
            </a:extLst>
          </p:cNvPr>
          <p:cNvSpPr>
            <a:spLocks noGrp="1"/>
          </p:cNvSpPr>
          <p:nvPr>
            <p:ph idx="1"/>
          </p:nvPr>
        </p:nvSpPr>
        <p:spPr/>
        <p:txBody>
          <a:bodyPr/>
          <a:lstStyle/>
          <a:p>
            <a:r>
              <a:rPr lang="en-US" dirty="0"/>
              <a:t>Institutional Review Board</a:t>
            </a:r>
          </a:p>
          <a:p>
            <a:pPr lvl="1"/>
            <a:r>
              <a:rPr lang="en-US" dirty="0"/>
              <a:t>IRB Staff</a:t>
            </a:r>
          </a:p>
          <a:p>
            <a:pPr lvl="2"/>
            <a:r>
              <a:rPr lang="en-US" dirty="0"/>
              <a:t>Provides preliminary review and feedback</a:t>
            </a:r>
          </a:p>
          <a:p>
            <a:pPr lvl="1"/>
            <a:r>
              <a:rPr lang="en-US" dirty="0"/>
              <a:t>IRB Panels</a:t>
            </a:r>
          </a:p>
          <a:p>
            <a:pPr lvl="2"/>
            <a:r>
              <a:rPr lang="en-US" dirty="0"/>
              <a:t>Panels A-E specialize in different research topics</a:t>
            </a:r>
          </a:p>
          <a:p>
            <a:pPr lvl="3"/>
            <a:r>
              <a:rPr lang="en-US" dirty="0"/>
              <a:t>Including all biomedical research in the Medical School and hospital</a:t>
            </a:r>
          </a:p>
          <a:p>
            <a:pPr lvl="2"/>
            <a:r>
              <a:rPr lang="en-US" dirty="0"/>
              <a:t>Panel E primarily responsible for psychology research</a:t>
            </a:r>
          </a:p>
          <a:p>
            <a:pPr lvl="1"/>
            <a:r>
              <a:rPr lang="en-US" dirty="0"/>
              <a:t>IRB Panel members</a:t>
            </a:r>
          </a:p>
          <a:p>
            <a:pPr lvl="2"/>
            <a:r>
              <a:rPr lang="en-US" dirty="0"/>
              <a:t>NU Faculty members</a:t>
            </a:r>
          </a:p>
          <a:p>
            <a:pPr lvl="2"/>
            <a:r>
              <a:rPr lang="en-US" dirty="0"/>
              <a:t>One non-NU community member</a:t>
            </a:r>
          </a:p>
        </p:txBody>
      </p:sp>
    </p:spTree>
    <p:extLst>
      <p:ext uri="{BB962C8B-B14F-4D97-AF65-F5344CB8AC3E}">
        <p14:creationId xmlns:p14="http://schemas.microsoft.com/office/powerpoint/2010/main" val="2098774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C055-8258-D9A6-EFF9-A989F304FFDB}"/>
              </a:ext>
            </a:extLst>
          </p:cNvPr>
          <p:cNvSpPr>
            <a:spLocks noGrp="1"/>
          </p:cNvSpPr>
          <p:nvPr>
            <p:ph type="title"/>
          </p:nvPr>
        </p:nvSpPr>
        <p:spPr/>
        <p:txBody>
          <a:bodyPr/>
          <a:lstStyle/>
          <a:p>
            <a:r>
              <a:rPr lang="en-US" dirty="0"/>
              <a:t>Informed Consent</a:t>
            </a:r>
          </a:p>
        </p:txBody>
      </p:sp>
      <p:sp>
        <p:nvSpPr>
          <p:cNvPr id="3" name="Content Placeholder 2">
            <a:extLst>
              <a:ext uri="{FF2B5EF4-FFF2-40B4-BE49-F238E27FC236}">
                <a16:creationId xmlns:a16="http://schemas.microsoft.com/office/drawing/2014/main" id="{409C5025-2D7E-289A-4C93-0D00D1D91BCA}"/>
              </a:ext>
            </a:extLst>
          </p:cNvPr>
          <p:cNvSpPr>
            <a:spLocks noGrp="1"/>
          </p:cNvSpPr>
          <p:nvPr>
            <p:ph idx="1"/>
          </p:nvPr>
        </p:nvSpPr>
        <p:spPr/>
        <p:txBody>
          <a:bodyPr/>
          <a:lstStyle/>
          <a:p>
            <a:r>
              <a:rPr lang="en-US" dirty="0"/>
              <a:t>Before participating in a research experiment, all participants should generally read and sign an informed consent form.  What are 3 main goals of this process intended to maintain ethical standards for the scientific work?</a:t>
            </a:r>
          </a:p>
          <a:p>
            <a:endParaRPr lang="en-US" dirty="0"/>
          </a:p>
        </p:txBody>
      </p:sp>
    </p:spTree>
    <p:extLst>
      <p:ext uri="{BB962C8B-B14F-4D97-AF65-F5344CB8AC3E}">
        <p14:creationId xmlns:p14="http://schemas.microsoft.com/office/powerpoint/2010/main" val="3892084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Ethical scientific practice</a:t>
            </a:r>
          </a:p>
        </p:txBody>
      </p:sp>
      <p:sp>
        <p:nvSpPr>
          <p:cNvPr id="6147" name="Rectangle 3"/>
          <p:cNvSpPr>
            <a:spLocks noGrp="1" noChangeArrowheads="1"/>
          </p:cNvSpPr>
          <p:nvPr>
            <p:ph type="body" idx="1"/>
          </p:nvPr>
        </p:nvSpPr>
        <p:spPr/>
        <p:txBody>
          <a:bodyPr/>
          <a:lstStyle/>
          <a:p>
            <a:r>
              <a:rPr lang="en-US" dirty="0"/>
              <a:t>Assure fair treatment of participants</a:t>
            </a:r>
          </a:p>
          <a:p>
            <a:r>
              <a:rPr lang="en-US" dirty="0"/>
              <a:t>Institutional Review Board (IRB)</a:t>
            </a:r>
          </a:p>
          <a:p>
            <a:pPr lvl="1"/>
            <a:r>
              <a:rPr lang="en-US" dirty="0"/>
              <a:t>Reviews all formal research</a:t>
            </a:r>
          </a:p>
          <a:p>
            <a:pPr lvl="1"/>
            <a:r>
              <a:rPr lang="en-US" dirty="0"/>
              <a:t>Risk/benefit analysis</a:t>
            </a:r>
          </a:p>
          <a:p>
            <a:r>
              <a:rPr lang="en-US" dirty="0"/>
              <a:t>Informed Consent</a:t>
            </a:r>
          </a:p>
          <a:p>
            <a:pPr lvl="1"/>
            <a:r>
              <a:rPr lang="en-US" dirty="0"/>
              <a:t>Right to withdraw</a:t>
            </a:r>
          </a:p>
          <a:p>
            <a:pPr lvl="1"/>
            <a:r>
              <a:rPr lang="en-US" dirty="0"/>
              <a:t>Full disclosure: risks, benefits, procedure</a:t>
            </a:r>
          </a:p>
          <a:p>
            <a:pPr lvl="1"/>
            <a:r>
              <a:rPr lang="en-US" dirty="0"/>
              <a:t>Privacy</a:t>
            </a:r>
          </a:p>
        </p:txBody>
      </p:sp>
    </p:spTree>
    <p:extLst>
      <p:ext uri="{BB962C8B-B14F-4D97-AF65-F5344CB8AC3E}">
        <p14:creationId xmlns:p14="http://schemas.microsoft.com/office/powerpoint/2010/main" val="1983003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1118-798A-9452-AB4E-373EEE161066}"/>
              </a:ext>
            </a:extLst>
          </p:cNvPr>
          <p:cNvSpPr>
            <a:spLocks noGrp="1"/>
          </p:cNvSpPr>
          <p:nvPr>
            <p:ph type="title"/>
          </p:nvPr>
        </p:nvSpPr>
        <p:spPr/>
        <p:txBody>
          <a:bodyPr/>
          <a:lstStyle/>
          <a:p>
            <a:r>
              <a:rPr lang="en-US" dirty="0"/>
              <a:t>CITI training</a:t>
            </a:r>
          </a:p>
        </p:txBody>
      </p:sp>
      <p:sp>
        <p:nvSpPr>
          <p:cNvPr id="3" name="Content Placeholder 2">
            <a:extLst>
              <a:ext uri="{FF2B5EF4-FFF2-40B4-BE49-F238E27FC236}">
                <a16:creationId xmlns:a16="http://schemas.microsoft.com/office/drawing/2014/main" id="{622AF790-C84F-E0EA-D98E-42FA4D49823A}"/>
              </a:ext>
            </a:extLst>
          </p:cNvPr>
          <p:cNvSpPr>
            <a:spLocks noGrp="1"/>
          </p:cNvSpPr>
          <p:nvPr>
            <p:ph idx="1"/>
          </p:nvPr>
        </p:nvSpPr>
        <p:spPr/>
        <p:txBody>
          <a:bodyPr/>
          <a:lstStyle/>
          <a:p>
            <a:r>
              <a:rPr lang="en-US" dirty="0"/>
              <a:t>Online training in research ethics</a:t>
            </a:r>
          </a:p>
          <a:p>
            <a:pPr lvl="1"/>
            <a:r>
              <a:rPr lang="en-US" dirty="0"/>
              <a:t>Provides a certificate</a:t>
            </a:r>
          </a:p>
          <a:p>
            <a:r>
              <a:rPr lang="en-US" dirty="0"/>
              <a:t>Required for all study personnel at NU and many universities</a:t>
            </a:r>
          </a:p>
          <a:p>
            <a:pPr lvl="1"/>
            <a:r>
              <a:rPr lang="en-US" dirty="0"/>
              <a:t>Behavioral research modules</a:t>
            </a:r>
          </a:p>
          <a:p>
            <a:pPr lvl="1"/>
            <a:r>
              <a:rPr lang="en-US" dirty="0"/>
              <a:t>Biomedical research modules</a:t>
            </a:r>
          </a:p>
          <a:p>
            <a:r>
              <a:rPr lang="en-US" dirty="0"/>
              <a:t>Refresh training every 3 years</a:t>
            </a:r>
          </a:p>
        </p:txBody>
      </p:sp>
      <p:pic>
        <p:nvPicPr>
          <p:cNvPr id="5" name="Picture 4">
            <a:extLst>
              <a:ext uri="{FF2B5EF4-FFF2-40B4-BE49-F238E27FC236}">
                <a16:creationId xmlns:a16="http://schemas.microsoft.com/office/drawing/2014/main" id="{2D61474F-2981-615B-800D-C090A4FC53ED}"/>
              </a:ext>
            </a:extLst>
          </p:cNvPr>
          <p:cNvPicPr>
            <a:picLocks noChangeAspect="1"/>
          </p:cNvPicPr>
          <p:nvPr/>
        </p:nvPicPr>
        <p:blipFill>
          <a:blip r:embed="rId2"/>
          <a:stretch>
            <a:fillRect/>
          </a:stretch>
        </p:blipFill>
        <p:spPr>
          <a:xfrm>
            <a:off x="8530167" y="365125"/>
            <a:ext cx="2823633" cy="1460500"/>
          </a:xfrm>
          <a:prstGeom prst="rect">
            <a:avLst/>
          </a:prstGeom>
        </p:spPr>
      </p:pic>
      <p:pic>
        <p:nvPicPr>
          <p:cNvPr id="7" name="Picture 6">
            <a:extLst>
              <a:ext uri="{FF2B5EF4-FFF2-40B4-BE49-F238E27FC236}">
                <a16:creationId xmlns:a16="http://schemas.microsoft.com/office/drawing/2014/main" id="{98D4EBE9-1594-31E7-54B9-AB519F0C073A}"/>
              </a:ext>
            </a:extLst>
          </p:cNvPr>
          <p:cNvPicPr>
            <a:picLocks noChangeAspect="1"/>
          </p:cNvPicPr>
          <p:nvPr/>
        </p:nvPicPr>
        <p:blipFill>
          <a:blip r:embed="rId3"/>
          <a:stretch>
            <a:fillRect/>
          </a:stretch>
        </p:blipFill>
        <p:spPr>
          <a:xfrm>
            <a:off x="6185747" y="3670300"/>
            <a:ext cx="5816282" cy="2784475"/>
          </a:xfrm>
          <a:prstGeom prst="rect">
            <a:avLst/>
          </a:prstGeom>
        </p:spPr>
      </p:pic>
    </p:spTree>
    <p:extLst>
      <p:ext uri="{BB962C8B-B14F-4D97-AF65-F5344CB8AC3E}">
        <p14:creationId xmlns:p14="http://schemas.microsoft.com/office/powerpoint/2010/main" val="3008841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DD6A-6190-AFD1-0F18-CE34C120BE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E9CC36-03F2-5284-2A79-956277F74033}"/>
              </a:ext>
            </a:extLst>
          </p:cNvPr>
          <p:cNvSpPr>
            <a:spLocks noGrp="1"/>
          </p:cNvSpPr>
          <p:nvPr>
            <p:ph idx="1"/>
          </p:nvPr>
        </p:nvSpPr>
        <p:spPr/>
        <p:txBody>
          <a:bodyPr/>
          <a:lstStyle/>
          <a:p>
            <a:r>
              <a:rPr lang="en-US" b="0" i="0" dirty="0">
                <a:solidFill>
                  <a:srgbClr val="2D3B45"/>
                </a:solidFill>
                <a:effectLst/>
                <a:latin typeface="Lato Extended"/>
              </a:rPr>
              <a:t>Why is deception considered an ethically challenging practice in experimental design? </a:t>
            </a:r>
          </a:p>
          <a:p>
            <a:pPr lvl="1"/>
            <a:r>
              <a:rPr lang="en-US" b="0" i="0" dirty="0">
                <a:solidFill>
                  <a:srgbClr val="2D3B45"/>
                </a:solidFill>
                <a:effectLst/>
                <a:latin typeface="Lato Extended"/>
              </a:rPr>
              <a:t>What do experimenters need to include in the research process if deception is used?</a:t>
            </a:r>
          </a:p>
          <a:p>
            <a:pPr lvl="1"/>
            <a:endParaRPr lang="en-US" b="0" i="0" dirty="0">
              <a:solidFill>
                <a:srgbClr val="2D3B45"/>
              </a:solidFill>
              <a:effectLst/>
              <a:latin typeface="Lato Extended"/>
            </a:endParaRPr>
          </a:p>
          <a:p>
            <a:r>
              <a:rPr lang="en-US" b="0" i="0" dirty="0">
                <a:solidFill>
                  <a:srgbClr val="2D3B45"/>
                </a:solidFill>
                <a:effectLst/>
                <a:latin typeface="Lato Extended"/>
              </a:rPr>
              <a:t>Give an example of a group considered a “vulnerable population” and explain how this affects the process of doing ethical research.</a:t>
            </a:r>
          </a:p>
          <a:p>
            <a:endParaRPr lang="en-US" dirty="0"/>
          </a:p>
        </p:txBody>
      </p:sp>
    </p:spTree>
    <p:extLst>
      <p:ext uri="{BB962C8B-B14F-4D97-AF65-F5344CB8AC3E}">
        <p14:creationId xmlns:p14="http://schemas.microsoft.com/office/powerpoint/2010/main" val="336014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3A39-E1CA-48E6-AFD5-6CA758F7328F}"/>
              </a:ext>
            </a:extLst>
          </p:cNvPr>
          <p:cNvSpPr>
            <a:spLocks noGrp="1"/>
          </p:cNvSpPr>
          <p:nvPr>
            <p:ph type="title"/>
          </p:nvPr>
        </p:nvSpPr>
        <p:spPr/>
        <p:txBody>
          <a:bodyPr/>
          <a:lstStyle/>
          <a:p>
            <a:r>
              <a:rPr lang="en-US" dirty="0"/>
              <a:t>Common risks in psychological science</a:t>
            </a:r>
          </a:p>
        </p:txBody>
      </p:sp>
      <p:sp>
        <p:nvSpPr>
          <p:cNvPr id="3" name="Content Placeholder 2">
            <a:extLst>
              <a:ext uri="{FF2B5EF4-FFF2-40B4-BE49-F238E27FC236}">
                <a16:creationId xmlns:a16="http://schemas.microsoft.com/office/drawing/2014/main" id="{6531FF39-2222-4CA0-9313-7B60BBE6C908}"/>
              </a:ext>
            </a:extLst>
          </p:cNvPr>
          <p:cNvSpPr>
            <a:spLocks noGrp="1"/>
          </p:cNvSpPr>
          <p:nvPr>
            <p:ph idx="1"/>
          </p:nvPr>
        </p:nvSpPr>
        <p:spPr/>
        <p:txBody>
          <a:bodyPr/>
          <a:lstStyle/>
          <a:p>
            <a:r>
              <a:rPr lang="en-US" dirty="0"/>
              <a:t>Deception</a:t>
            </a:r>
          </a:p>
          <a:p>
            <a:pPr lvl="1"/>
            <a:r>
              <a:rPr lang="en-US" dirty="0"/>
              <a:t>Lying to participants about the experiment</a:t>
            </a:r>
          </a:p>
          <a:p>
            <a:pPr lvl="2"/>
            <a:r>
              <a:rPr lang="en-US" dirty="0"/>
              <a:t>Sneaky dependent variables</a:t>
            </a:r>
          </a:p>
          <a:p>
            <a:pPr lvl="1"/>
            <a:r>
              <a:rPr lang="en-US" dirty="0"/>
              <a:t>Sometimes necessary for good design</a:t>
            </a:r>
          </a:p>
          <a:p>
            <a:r>
              <a:rPr lang="en-US" dirty="0"/>
              <a:t>Privacy</a:t>
            </a:r>
          </a:p>
          <a:p>
            <a:pPr lvl="1"/>
            <a:r>
              <a:rPr lang="en-US" dirty="0"/>
              <a:t>Protecting identification of participants</a:t>
            </a:r>
          </a:p>
          <a:p>
            <a:pPr lvl="1"/>
            <a:r>
              <a:rPr lang="en-US" dirty="0"/>
              <a:t>Which condition, whether you were </a:t>
            </a:r>
            <a:r>
              <a:rPr lang="en-US" u="sng" dirty="0"/>
              <a:t>in</a:t>
            </a:r>
            <a:r>
              <a:rPr lang="en-US" dirty="0"/>
              <a:t> the study</a:t>
            </a:r>
          </a:p>
          <a:p>
            <a:r>
              <a:rPr lang="en-US" dirty="0"/>
              <a:t>Frustration/fatigue</a:t>
            </a:r>
          </a:p>
          <a:p>
            <a:r>
              <a:rPr lang="en-US" dirty="0"/>
              <a:t>Emotional manipulation</a:t>
            </a:r>
          </a:p>
        </p:txBody>
      </p:sp>
    </p:spTree>
    <p:extLst>
      <p:ext uri="{BB962C8B-B14F-4D97-AF65-F5344CB8AC3E}">
        <p14:creationId xmlns:p14="http://schemas.microsoft.com/office/powerpoint/2010/main" val="2590765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18EE-1E20-646A-272A-872CE7EEEB4C}"/>
              </a:ext>
            </a:extLst>
          </p:cNvPr>
          <p:cNvSpPr>
            <a:spLocks noGrp="1"/>
          </p:cNvSpPr>
          <p:nvPr>
            <p:ph type="title"/>
          </p:nvPr>
        </p:nvSpPr>
        <p:spPr/>
        <p:txBody>
          <a:bodyPr/>
          <a:lstStyle/>
          <a:p>
            <a:r>
              <a:rPr lang="en-US" dirty="0"/>
              <a:t>Categories of research review</a:t>
            </a:r>
          </a:p>
        </p:txBody>
      </p:sp>
      <p:sp>
        <p:nvSpPr>
          <p:cNvPr id="3" name="Content Placeholder 2">
            <a:extLst>
              <a:ext uri="{FF2B5EF4-FFF2-40B4-BE49-F238E27FC236}">
                <a16:creationId xmlns:a16="http://schemas.microsoft.com/office/drawing/2014/main" id="{677D3F7E-B24F-535F-F32B-C0CEAFA66A24}"/>
              </a:ext>
            </a:extLst>
          </p:cNvPr>
          <p:cNvSpPr>
            <a:spLocks noGrp="1"/>
          </p:cNvSpPr>
          <p:nvPr>
            <p:ph idx="1"/>
          </p:nvPr>
        </p:nvSpPr>
        <p:spPr/>
        <p:txBody>
          <a:bodyPr/>
          <a:lstStyle/>
          <a:p>
            <a:r>
              <a:rPr lang="en-US" dirty="0"/>
              <a:t>Exempt</a:t>
            </a:r>
          </a:p>
          <a:p>
            <a:pPr lvl="1"/>
            <a:r>
              <a:rPr lang="en-US" dirty="0"/>
              <a:t>Research, conducted in established or commonly accepted educational settings that specifically involves normal educational practices that are not likely to adversely impact students’ opportunity to learn required educational content or the assessment of educators who provide instruction.</a:t>
            </a:r>
          </a:p>
          <a:p>
            <a:r>
              <a:rPr lang="en-US" dirty="0"/>
              <a:t>Expedited</a:t>
            </a:r>
          </a:p>
          <a:p>
            <a:pPr lvl="1"/>
            <a:r>
              <a:rPr lang="en-US" dirty="0"/>
              <a:t>Minimal risk to participants</a:t>
            </a:r>
          </a:p>
          <a:p>
            <a:pPr lvl="1"/>
            <a:r>
              <a:rPr lang="en-US" dirty="0"/>
              <a:t>Reviewed by a subset of the IRB board</a:t>
            </a:r>
          </a:p>
          <a:p>
            <a:r>
              <a:rPr lang="en-US" dirty="0"/>
              <a:t>Full Board review</a:t>
            </a:r>
          </a:p>
          <a:p>
            <a:pPr lvl="1"/>
            <a:r>
              <a:rPr lang="en-US" dirty="0"/>
              <a:t>Anything more than minimal risk (harm, distress, sensitive topics, etc.)</a:t>
            </a:r>
          </a:p>
          <a:p>
            <a:pPr lvl="1"/>
            <a:endParaRPr lang="en-US" dirty="0"/>
          </a:p>
        </p:txBody>
      </p:sp>
    </p:spTree>
    <p:extLst>
      <p:ext uri="{BB962C8B-B14F-4D97-AF65-F5344CB8AC3E}">
        <p14:creationId xmlns:p14="http://schemas.microsoft.com/office/powerpoint/2010/main" val="1625186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3D58D-0D31-E2B9-DC5C-CCDCE1443F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A84774-92F4-2024-5AE1-DD41F6E5AD77}"/>
              </a:ext>
            </a:extLst>
          </p:cNvPr>
          <p:cNvSpPr>
            <a:spLocks noGrp="1"/>
          </p:cNvSpPr>
          <p:nvPr>
            <p:ph idx="1"/>
          </p:nvPr>
        </p:nvSpPr>
        <p:spPr/>
        <p:txBody>
          <a:bodyPr/>
          <a:lstStyle/>
          <a:p>
            <a:r>
              <a:rPr lang="en-US" dirty="0"/>
              <a:t>In a study of attitudes about extramarital affairs, a researcher finds that an acquaintance has participated in the study and reports having cheated on their spouse.  They then find themselves torn about whether to report this information to the spouse.  What kind of research ethics problem has occurred here?  What research procedures should be used to keep this from occurring?</a:t>
            </a:r>
          </a:p>
          <a:p>
            <a:endParaRPr lang="en-US" dirty="0"/>
          </a:p>
        </p:txBody>
      </p:sp>
    </p:spTree>
    <p:extLst>
      <p:ext uri="{BB962C8B-B14F-4D97-AF65-F5344CB8AC3E}">
        <p14:creationId xmlns:p14="http://schemas.microsoft.com/office/powerpoint/2010/main" val="1086975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DBF7-3665-0301-20A7-60D41995C69E}"/>
              </a:ext>
            </a:extLst>
          </p:cNvPr>
          <p:cNvSpPr>
            <a:spLocks noGrp="1"/>
          </p:cNvSpPr>
          <p:nvPr>
            <p:ph type="title"/>
          </p:nvPr>
        </p:nvSpPr>
        <p:spPr/>
        <p:txBody>
          <a:bodyPr/>
          <a:lstStyle/>
          <a:p>
            <a:r>
              <a:rPr lang="en-US" dirty="0"/>
              <a:t>Is it research?</a:t>
            </a:r>
          </a:p>
        </p:txBody>
      </p:sp>
      <p:sp>
        <p:nvSpPr>
          <p:cNvPr id="3" name="Content Placeholder 2">
            <a:extLst>
              <a:ext uri="{FF2B5EF4-FFF2-40B4-BE49-F238E27FC236}">
                <a16:creationId xmlns:a16="http://schemas.microsoft.com/office/drawing/2014/main" id="{362AF2A0-65B6-5554-CE43-873AB149E3ED}"/>
              </a:ext>
            </a:extLst>
          </p:cNvPr>
          <p:cNvSpPr>
            <a:spLocks noGrp="1"/>
          </p:cNvSpPr>
          <p:nvPr>
            <p:ph idx="1"/>
          </p:nvPr>
        </p:nvSpPr>
        <p:spPr/>
        <p:txBody>
          <a:bodyPr/>
          <a:lstStyle/>
          <a:p>
            <a:r>
              <a:rPr lang="en-US" dirty="0"/>
              <a:t>Some non-experimental research is non-intrusive</a:t>
            </a:r>
          </a:p>
          <a:p>
            <a:pPr lvl="1"/>
            <a:r>
              <a:rPr lang="en-US" dirty="0"/>
              <a:t>Observational studies</a:t>
            </a:r>
          </a:p>
          <a:p>
            <a:pPr lvl="1"/>
            <a:r>
              <a:rPr lang="en-US" dirty="0"/>
              <a:t>Analysis of public health/economic records</a:t>
            </a:r>
          </a:p>
          <a:p>
            <a:pPr lvl="1"/>
            <a:endParaRPr lang="en-US" dirty="0"/>
          </a:p>
          <a:p>
            <a:r>
              <a:rPr lang="en-US" dirty="0"/>
              <a:t>Research definition</a:t>
            </a:r>
          </a:p>
          <a:p>
            <a:pPr lvl="1"/>
            <a:r>
              <a:rPr lang="en-US" dirty="0"/>
              <a:t>“A systematic investigation, including development, testing, and evaluation, designed to develop or contribute to generalizable knowledge”</a:t>
            </a:r>
          </a:p>
          <a:p>
            <a:pPr lvl="2"/>
            <a:r>
              <a:rPr lang="en-US" dirty="0"/>
              <a:t>Not including: case studies, biography or oral history research, classroom activities, publicly available data</a:t>
            </a:r>
          </a:p>
          <a:p>
            <a:endParaRPr lang="en-US" dirty="0"/>
          </a:p>
        </p:txBody>
      </p:sp>
    </p:spTree>
    <p:extLst>
      <p:ext uri="{BB962C8B-B14F-4D97-AF65-F5344CB8AC3E}">
        <p14:creationId xmlns:p14="http://schemas.microsoft.com/office/powerpoint/2010/main" val="980129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680C-5801-0FB7-86B6-534CBC629F7F}"/>
              </a:ext>
            </a:extLst>
          </p:cNvPr>
          <p:cNvSpPr>
            <a:spLocks noGrp="1"/>
          </p:cNvSpPr>
          <p:nvPr>
            <p:ph type="title"/>
          </p:nvPr>
        </p:nvSpPr>
        <p:spPr/>
        <p:txBody>
          <a:bodyPr/>
          <a:lstStyle/>
          <a:p>
            <a:r>
              <a:rPr lang="en-US" dirty="0"/>
              <a:t>Special cases</a:t>
            </a:r>
          </a:p>
        </p:txBody>
      </p:sp>
      <p:sp>
        <p:nvSpPr>
          <p:cNvPr id="3" name="Content Placeholder 2">
            <a:extLst>
              <a:ext uri="{FF2B5EF4-FFF2-40B4-BE49-F238E27FC236}">
                <a16:creationId xmlns:a16="http://schemas.microsoft.com/office/drawing/2014/main" id="{56FE1519-C7D2-5681-C4DB-C44F804D6BD2}"/>
              </a:ext>
            </a:extLst>
          </p:cNvPr>
          <p:cNvSpPr>
            <a:spLocks noGrp="1"/>
          </p:cNvSpPr>
          <p:nvPr>
            <p:ph idx="1"/>
          </p:nvPr>
        </p:nvSpPr>
        <p:spPr/>
        <p:txBody>
          <a:bodyPr>
            <a:normAutofit lnSpcReduction="10000"/>
          </a:bodyPr>
          <a:lstStyle/>
          <a:p>
            <a:r>
              <a:rPr lang="en-US" dirty="0"/>
              <a:t>Waiver of consent</a:t>
            </a:r>
          </a:p>
          <a:p>
            <a:pPr lvl="1"/>
            <a:r>
              <a:rPr lang="en-US" dirty="0"/>
              <a:t>Participants are not told they are in a research study</a:t>
            </a:r>
          </a:p>
          <a:p>
            <a:pPr lvl="1"/>
            <a:r>
              <a:rPr lang="en-US" dirty="0"/>
              <a:t>Requested if scientifically necessary</a:t>
            </a:r>
          </a:p>
          <a:p>
            <a:r>
              <a:rPr lang="en-US" dirty="0"/>
              <a:t>Recruiting/screening</a:t>
            </a:r>
          </a:p>
          <a:p>
            <a:pPr lvl="1"/>
            <a:r>
              <a:rPr lang="en-US" dirty="0"/>
              <a:t>Study inclusion criteria can involve sensitive questions</a:t>
            </a:r>
          </a:p>
          <a:p>
            <a:pPr lvl="2"/>
            <a:r>
              <a:rPr lang="en-US" dirty="0"/>
              <a:t>Bundling trick, “do any of these apply to you?”</a:t>
            </a:r>
          </a:p>
          <a:p>
            <a:pPr lvl="1"/>
            <a:r>
              <a:rPr lang="en-US" dirty="0"/>
              <a:t>Compensation for participation should not be “coercive”</a:t>
            </a:r>
          </a:p>
          <a:p>
            <a:pPr lvl="1"/>
            <a:endParaRPr lang="en-US" dirty="0"/>
          </a:p>
          <a:p>
            <a:r>
              <a:rPr lang="en-US" dirty="0"/>
              <a:t>Animal research, IACUC</a:t>
            </a:r>
          </a:p>
          <a:p>
            <a:pPr lvl="1"/>
            <a:r>
              <a:rPr lang="en-US" dirty="0"/>
              <a:t>Detailed requirements and procedures for ethical treatment of animals in research</a:t>
            </a:r>
          </a:p>
        </p:txBody>
      </p:sp>
    </p:spTree>
    <p:extLst>
      <p:ext uri="{BB962C8B-B14F-4D97-AF65-F5344CB8AC3E}">
        <p14:creationId xmlns:p14="http://schemas.microsoft.com/office/powerpoint/2010/main" val="3647240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7F675-641C-0B08-CDDD-A44A0842E1EA}"/>
              </a:ext>
            </a:extLst>
          </p:cNvPr>
          <p:cNvSpPr>
            <a:spLocks noGrp="1"/>
          </p:cNvSpPr>
          <p:nvPr>
            <p:ph type="title"/>
          </p:nvPr>
        </p:nvSpPr>
        <p:spPr/>
        <p:txBody>
          <a:bodyPr/>
          <a:lstStyle/>
          <a:p>
            <a:r>
              <a:rPr lang="en-US" dirty="0"/>
              <a:t>Basic Ethics</a:t>
            </a:r>
          </a:p>
        </p:txBody>
      </p:sp>
      <p:sp>
        <p:nvSpPr>
          <p:cNvPr id="3" name="Content Placeholder 2">
            <a:extLst>
              <a:ext uri="{FF2B5EF4-FFF2-40B4-BE49-F238E27FC236}">
                <a16:creationId xmlns:a16="http://schemas.microsoft.com/office/drawing/2014/main" id="{0387BE2D-07D1-3B7E-C1A8-975CFD9ABB85}"/>
              </a:ext>
            </a:extLst>
          </p:cNvPr>
          <p:cNvSpPr>
            <a:spLocks noGrp="1"/>
          </p:cNvSpPr>
          <p:nvPr>
            <p:ph idx="1"/>
          </p:nvPr>
        </p:nvSpPr>
        <p:spPr/>
        <p:txBody>
          <a:bodyPr/>
          <a:lstStyle/>
          <a:p>
            <a:r>
              <a:rPr lang="en-US" dirty="0"/>
              <a:t>Treat your participants with respect and courtesy</a:t>
            </a:r>
          </a:p>
          <a:p>
            <a:r>
              <a:rPr lang="en-US" dirty="0"/>
              <a:t>Participation is always voluntary</a:t>
            </a:r>
          </a:p>
          <a:p>
            <a:pPr lvl="1"/>
            <a:r>
              <a:rPr lang="en-US" dirty="0"/>
              <a:t>No matter how much you need more data</a:t>
            </a:r>
          </a:p>
          <a:p>
            <a:pPr lvl="1"/>
            <a:r>
              <a:rPr lang="en-US" dirty="0"/>
              <a:t>Participants can leave in the middle of the protocol if they wish</a:t>
            </a:r>
          </a:p>
          <a:p>
            <a:r>
              <a:rPr lang="en-US" dirty="0"/>
              <a:t>Informed consent is always required</a:t>
            </a:r>
          </a:p>
          <a:p>
            <a:pPr lvl="1"/>
            <a:r>
              <a:rPr lang="en-US" dirty="0"/>
              <a:t>Clearly indicate any possible risks to participants</a:t>
            </a:r>
          </a:p>
          <a:p>
            <a:pPr lvl="1"/>
            <a:r>
              <a:rPr lang="en-US" dirty="0"/>
              <a:t>Can be very short if there are really no risks</a:t>
            </a:r>
          </a:p>
          <a:p>
            <a:pPr lvl="1"/>
            <a:r>
              <a:rPr lang="en-US" dirty="0"/>
              <a:t>Consent can be as simple as clicking a button to agree or continue</a:t>
            </a:r>
          </a:p>
        </p:txBody>
      </p:sp>
    </p:spTree>
    <p:extLst>
      <p:ext uri="{BB962C8B-B14F-4D97-AF65-F5344CB8AC3E}">
        <p14:creationId xmlns:p14="http://schemas.microsoft.com/office/powerpoint/2010/main" val="63902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590C-789C-7CCA-AEB2-EAA9A777A6C4}"/>
              </a:ext>
            </a:extLst>
          </p:cNvPr>
          <p:cNvSpPr>
            <a:spLocks noGrp="1"/>
          </p:cNvSpPr>
          <p:nvPr>
            <p:ph type="title"/>
          </p:nvPr>
        </p:nvSpPr>
        <p:spPr/>
        <p:txBody>
          <a:bodyPr/>
          <a:lstStyle/>
          <a:p>
            <a:r>
              <a:rPr lang="en-US" dirty="0"/>
              <a:t>Midterm Exam</a:t>
            </a:r>
          </a:p>
        </p:txBody>
      </p:sp>
      <p:sp>
        <p:nvSpPr>
          <p:cNvPr id="3" name="Content Placeholder 2">
            <a:extLst>
              <a:ext uri="{FF2B5EF4-FFF2-40B4-BE49-F238E27FC236}">
                <a16:creationId xmlns:a16="http://schemas.microsoft.com/office/drawing/2014/main" id="{DA785491-57BA-D8F6-E2FB-02823F0B8DBA}"/>
              </a:ext>
            </a:extLst>
          </p:cNvPr>
          <p:cNvSpPr>
            <a:spLocks noGrp="1"/>
          </p:cNvSpPr>
          <p:nvPr>
            <p:ph idx="1"/>
          </p:nvPr>
        </p:nvSpPr>
        <p:spPr/>
        <p:txBody>
          <a:bodyPr/>
          <a:lstStyle/>
          <a:p>
            <a:r>
              <a:rPr lang="en-US" dirty="0"/>
              <a:t>Friday 10/10 at usual class time</a:t>
            </a:r>
          </a:p>
          <a:p>
            <a:r>
              <a:rPr lang="en-US" dirty="0"/>
              <a:t>Exam can be completed on paper or laptop</a:t>
            </a:r>
          </a:p>
          <a:p>
            <a:pPr lvl="1"/>
            <a:r>
              <a:rPr lang="en-US" dirty="0"/>
              <a:t>In the classroom or remotely on zoom</a:t>
            </a:r>
          </a:p>
          <a:p>
            <a:pPr lvl="1"/>
            <a:r>
              <a:rPr lang="en-US" dirty="0"/>
              <a:t>Upload document when finished</a:t>
            </a:r>
          </a:p>
          <a:p>
            <a:pPr lvl="1"/>
            <a:endParaRPr lang="en-US" dirty="0"/>
          </a:p>
          <a:p>
            <a:r>
              <a:rPr lang="en-US" dirty="0"/>
              <a:t>Study via prior exams posted on Canvas</a:t>
            </a:r>
          </a:p>
          <a:p>
            <a:pPr lvl="1"/>
            <a:r>
              <a:rPr lang="en-US" dirty="0"/>
              <a:t>Previous exam questions are posted without answers</a:t>
            </a:r>
          </a:p>
        </p:txBody>
      </p:sp>
    </p:spTree>
    <p:extLst>
      <p:ext uri="{BB962C8B-B14F-4D97-AF65-F5344CB8AC3E}">
        <p14:creationId xmlns:p14="http://schemas.microsoft.com/office/powerpoint/2010/main" val="3238007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15550</TotalTime>
  <Words>747</Words>
  <Application>Microsoft Office PowerPoint</Application>
  <PresentationFormat>Widescreen</PresentationFormat>
  <Paragraphs>121</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Lato Extended</vt:lpstr>
      <vt:lpstr>Office Theme</vt:lpstr>
      <vt:lpstr>301 Oct 8, Class 10</vt:lpstr>
      <vt:lpstr>Ethics in Science</vt:lpstr>
      <vt:lpstr>Famous ethical transgressions</vt:lpstr>
      <vt:lpstr>Historical Events in Research Ethics</vt:lpstr>
      <vt:lpstr>IRB</vt:lpstr>
      <vt:lpstr>Office for Research </vt:lpstr>
      <vt:lpstr>Informed Consent</vt:lpstr>
      <vt:lpstr>Ethical scientific practice</vt:lpstr>
      <vt:lpstr>CITI training</vt:lpstr>
      <vt:lpstr>PowerPoint Presentation</vt:lpstr>
      <vt:lpstr>Common risks in psychological science</vt:lpstr>
      <vt:lpstr>Categories of research review</vt:lpstr>
      <vt:lpstr>PowerPoint Presentation</vt:lpstr>
      <vt:lpstr>Is it research?</vt:lpstr>
      <vt:lpstr>Special cases</vt:lpstr>
      <vt:lpstr>Basic Ethics</vt:lpstr>
      <vt:lpstr>Midterm Exam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17, Interactions</dc:title>
  <dc:creator>Paul Reber</dc:creator>
  <cp:lastModifiedBy>Paul Reber</cp:lastModifiedBy>
  <cp:revision>23</cp:revision>
  <cp:lastPrinted>2024-10-18T02:38:34Z</cp:lastPrinted>
  <dcterms:created xsi:type="dcterms:W3CDTF">2022-10-12T22:21:01Z</dcterms:created>
  <dcterms:modified xsi:type="dcterms:W3CDTF">2025-10-07T22:36:19Z</dcterms:modified>
</cp:coreProperties>
</file>