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342" r:id="rId2"/>
    <p:sldId id="260" r:id="rId3"/>
    <p:sldId id="340" r:id="rId4"/>
    <p:sldId id="408" r:id="rId5"/>
    <p:sldId id="273" r:id="rId6"/>
    <p:sldId id="409" r:id="rId7"/>
    <p:sldId id="341" r:id="rId8"/>
    <p:sldId id="410" r:id="rId9"/>
    <p:sldId id="271" r:id="rId10"/>
    <p:sldId id="298" r:id="rId11"/>
    <p:sldId id="299" r:id="rId12"/>
    <p:sldId id="406" r:id="rId13"/>
    <p:sldId id="261" r:id="rId14"/>
    <p:sldId id="257" r:id="rId15"/>
    <p:sldId id="282" r:id="rId16"/>
    <p:sldId id="404" r:id="rId17"/>
    <p:sldId id="283" r:id="rId18"/>
    <p:sldId id="407" r:id="rId19"/>
  </p:sldIdLst>
  <p:sldSz cx="12192000" cy="6858000"/>
  <p:notesSz cx="7102475" cy="93884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02" autoAdjust="0"/>
    <p:restoredTop sz="94660"/>
  </p:normalViewPr>
  <p:slideViewPr>
    <p:cSldViewPr snapToGrid="0">
      <p:cViewPr varScale="1">
        <p:scale>
          <a:sx n="93" d="100"/>
          <a:sy n="93" d="100"/>
        </p:scale>
        <p:origin x="480"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Admin\Dropbox\Teaching\205\Chapter%2012%20examples.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Admin\Dropbox\Teaching\205\Interaction%20graphs.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Admin\Dropbox\Teaching\205\Interaction%20graphs.xlsx" TargetMode="External"/><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'2x2 Example 2'!$G$13</c:f>
              <c:strCache>
                <c:ptCount val="1"/>
                <c:pt idx="0">
                  <c:v>Optimist</c:v>
                </c:pt>
              </c:strCache>
            </c:strRef>
          </c:tx>
          <c:spPr>
            <a:ln w="28575" cap="rnd">
              <a:solidFill>
                <a:schemeClr val="accent1"/>
              </a:solidFill>
              <a:round/>
            </a:ln>
            <a:effectLst/>
          </c:spPr>
          <c:marker>
            <c:symbol val="none"/>
          </c:marker>
          <c:errBars>
            <c:errDir val="y"/>
            <c:errBarType val="both"/>
            <c:errValType val="cust"/>
            <c:noEndCap val="0"/>
            <c:plus>
              <c:numRef>
                <c:f>'2x2 Example 2'!$H$23:$I$23</c:f>
                <c:numCache>
                  <c:formatCode>General</c:formatCode>
                  <c:ptCount val="2"/>
                  <c:pt idx="0">
                    <c:v>0.25572803013519146</c:v>
                  </c:pt>
                  <c:pt idx="1">
                    <c:v>0.3055050463303895</c:v>
                  </c:pt>
                </c:numCache>
              </c:numRef>
            </c:plus>
            <c:minus>
              <c:numRef>
                <c:f>'2x2 Example 2'!$H$23:$I$23</c:f>
                <c:numCache>
                  <c:formatCode>General</c:formatCode>
                  <c:ptCount val="2"/>
                  <c:pt idx="0">
                    <c:v>0.25572803013519146</c:v>
                  </c:pt>
                  <c:pt idx="1">
                    <c:v>0.3055050463303895</c:v>
                  </c:pt>
                </c:numCache>
              </c:numRef>
            </c:minus>
            <c:spPr>
              <a:noFill/>
              <a:ln w="9525" cap="flat" cmpd="sng" algn="ctr">
                <a:solidFill>
                  <a:schemeClr val="tx1">
                    <a:lumMod val="65000"/>
                    <a:lumOff val="35000"/>
                  </a:schemeClr>
                </a:solidFill>
                <a:round/>
              </a:ln>
              <a:effectLst/>
            </c:spPr>
          </c:errBars>
          <c:cat>
            <c:strRef>
              <c:f>'2x2 Example 2'!$H$12:$I$12</c:f>
              <c:strCache>
                <c:ptCount val="2"/>
                <c:pt idx="0">
                  <c:v>Same</c:v>
                </c:pt>
                <c:pt idx="1">
                  <c:v>Other</c:v>
                </c:pt>
              </c:strCache>
            </c:strRef>
          </c:cat>
          <c:val>
            <c:numRef>
              <c:f>'2x2 Example 2'!$H$13:$I$13</c:f>
              <c:numCache>
                <c:formatCode>General</c:formatCode>
                <c:ptCount val="2"/>
                <c:pt idx="0">
                  <c:v>2.8666666666666667</c:v>
                </c:pt>
                <c:pt idx="1">
                  <c:v>4.5999999999999996</c:v>
                </c:pt>
              </c:numCache>
            </c:numRef>
          </c:val>
          <c:smooth val="0"/>
          <c:extLst>
            <c:ext xmlns:c16="http://schemas.microsoft.com/office/drawing/2014/chart" uri="{C3380CC4-5D6E-409C-BE32-E72D297353CC}">
              <c16:uniqueId val="{00000000-15C1-4764-9EAD-0C52A872A314}"/>
            </c:ext>
          </c:extLst>
        </c:ser>
        <c:ser>
          <c:idx val="1"/>
          <c:order val="1"/>
          <c:tx>
            <c:strRef>
              <c:f>'2x2 Example 2'!$G$14</c:f>
              <c:strCache>
                <c:ptCount val="1"/>
                <c:pt idx="0">
                  <c:v>Pessimist</c:v>
                </c:pt>
              </c:strCache>
            </c:strRef>
          </c:tx>
          <c:spPr>
            <a:ln w="28575" cap="rnd">
              <a:solidFill>
                <a:schemeClr val="accent2"/>
              </a:solidFill>
              <a:round/>
            </a:ln>
            <a:effectLst/>
          </c:spPr>
          <c:marker>
            <c:symbol val="none"/>
          </c:marker>
          <c:errBars>
            <c:errDir val="y"/>
            <c:errBarType val="both"/>
            <c:errValType val="cust"/>
            <c:noEndCap val="0"/>
            <c:plus>
              <c:numRef>
                <c:f>'2x2 Example 2'!$H$24:$I$24</c:f>
                <c:numCache>
                  <c:formatCode>General</c:formatCode>
                  <c:ptCount val="2"/>
                  <c:pt idx="0">
                    <c:v>0.25572803013519146</c:v>
                  </c:pt>
                  <c:pt idx="1">
                    <c:v>0.38791260675078659</c:v>
                  </c:pt>
                </c:numCache>
              </c:numRef>
            </c:plus>
            <c:minus>
              <c:numRef>
                <c:f>'2x2 Example 2'!$H$24:$I$24</c:f>
                <c:numCache>
                  <c:formatCode>General</c:formatCode>
                  <c:ptCount val="2"/>
                  <c:pt idx="0">
                    <c:v>0.25572803013519146</c:v>
                  </c:pt>
                  <c:pt idx="1">
                    <c:v>0.38791260675078659</c:v>
                  </c:pt>
                </c:numCache>
              </c:numRef>
            </c:minus>
            <c:spPr>
              <a:noFill/>
              <a:ln w="9525" cap="flat" cmpd="sng" algn="ctr">
                <a:solidFill>
                  <a:schemeClr val="tx1">
                    <a:lumMod val="65000"/>
                    <a:lumOff val="35000"/>
                  </a:schemeClr>
                </a:solidFill>
                <a:round/>
              </a:ln>
              <a:effectLst/>
            </c:spPr>
          </c:errBars>
          <c:cat>
            <c:strRef>
              <c:f>'2x2 Example 2'!$H$12:$I$12</c:f>
              <c:strCache>
                <c:ptCount val="2"/>
                <c:pt idx="0">
                  <c:v>Same</c:v>
                </c:pt>
                <c:pt idx="1">
                  <c:v>Other</c:v>
                </c:pt>
              </c:strCache>
            </c:strRef>
          </c:cat>
          <c:val>
            <c:numRef>
              <c:f>'2x2 Example 2'!$H$14:$I$14</c:f>
              <c:numCache>
                <c:formatCode>General</c:formatCode>
                <c:ptCount val="2"/>
                <c:pt idx="0">
                  <c:v>2.4666666666666668</c:v>
                </c:pt>
                <c:pt idx="1">
                  <c:v>3.4</c:v>
                </c:pt>
              </c:numCache>
            </c:numRef>
          </c:val>
          <c:smooth val="0"/>
          <c:extLst>
            <c:ext xmlns:c16="http://schemas.microsoft.com/office/drawing/2014/chart" uri="{C3380CC4-5D6E-409C-BE32-E72D297353CC}">
              <c16:uniqueId val="{00000001-15C1-4764-9EAD-0C52A872A314}"/>
            </c:ext>
          </c:extLst>
        </c:ser>
        <c:dLbls>
          <c:showLegendKey val="0"/>
          <c:showVal val="0"/>
          <c:showCatName val="0"/>
          <c:showSerName val="0"/>
          <c:showPercent val="0"/>
          <c:showBubbleSize val="0"/>
        </c:dLbls>
        <c:smooth val="0"/>
        <c:axId val="399060559"/>
        <c:axId val="305184927"/>
      </c:lineChart>
      <c:catAx>
        <c:axId val="399060559"/>
        <c:scaling>
          <c:orientation val="minMax"/>
        </c:scaling>
        <c:delete val="0"/>
        <c:axPos val="b"/>
        <c:title>
          <c:tx>
            <c:rich>
              <a:bodyPr rot="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r>
                  <a:rPr lang="en-US"/>
                  <a:t>Side</a:t>
                </a:r>
              </a:p>
            </c:rich>
          </c:tx>
          <c:overlay val="0"/>
          <c:spPr>
            <a:noFill/>
            <a:ln>
              <a:noFill/>
            </a:ln>
            <a:effectLst/>
          </c:spPr>
          <c:txPr>
            <a:bodyPr rot="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crossAx val="305184927"/>
        <c:crosses val="autoZero"/>
        <c:auto val="1"/>
        <c:lblAlgn val="ctr"/>
        <c:lblOffset val="100"/>
        <c:noMultiLvlLbl val="0"/>
      </c:catAx>
      <c:valAx>
        <c:axId val="305184927"/>
        <c:scaling>
          <c:orientation val="minMax"/>
          <c:max val="7"/>
          <c:min val="1"/>
        </c:scaling>
        <c:delete val="0"/>
        <c:axPos val="l"/>
        <c:title>
          <c:tx>
            <c:rich>
              <a:bodyPr rot="-54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r>
                  <a:rPr lang="en-US"/>
                  <a:t>Greenness Rating</a:t>
                </a:r>
              </a:p>
            </c:rich>
          </c:tx>
          <c:overlay val="0"/>
          <c:spPr>
            <a:noFill/>
            <a:ln>
              <a:noFill/>
            </a:ln>
            <a:effectLst/>
          </c:spPr>
          <c:txPr>
            <a:bodyPr rot="-54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solidFill>
              <a:schemeClr val="tx1"/>
            </a:solidFill>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crossAx val="399060559"/>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600"/>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Sheet1!$B$3</c:f>
              <c:strCache>
                <c:ptCount val="1"/>
                <c:pt idx="0">
                  <c:v>X</c:v>
                </c:pt>
              </c:strCache>
            </c:strRef>
          </c:tx>
          <c:spPr>
            <a:ln w="28575" cap="rnd">
              <a:solidFill>
                <a:schemeClr val="accent1"/>
              </a:solidFill>
              <a:round/>
            </a:ln>
            <a:effectLst/>
          </c:spPr>
          <c:marker>
            <c:symbol val="none"/>
          </c:marker>
          <c:errBars>
            <c:errDir val="y"/>
            <c:errBarType val="both"/>
            <c:errValType val="cust"/>
            <c:noEndCap val="0"/>
            <c:plus>
              <c:numRef>
                <c:f>Sheet1!$I$3:$J$3</c:f>
                <c:numCache>
                  <c:formatCode>General</c:formatCode>
                  <c:ptCount val="2"/>
                  <c:pt idx="0">
                    <c:v>0.33541019662496846</c:v>
                  </c:pt>
                  <c:pt idx="1">
                    <c:v>0.33541019662496846</c:v>
                  </c:pt>
                </c:numCache>
              </c:numRef>
            </c:plus>
            <c:minus>
              <c:numRef>
                <c:f>Sheet1!$I$3:$J$3</c:f>
                <c:numCache>
                  <c:formatCode>General</c:formatCode>
                  <c:ptCount val="2"/>
                  <c:pt idx="0">
                    <c:v>0.33541019662496846</c:v>
                  </c:pt>
                  <c:pt idx="1">
                    <c:v>0.33541019662496846</c:v>
                  </c:pt>
                </c:numCache>
              </c:numRef>
            </c:minus>
            <c:spPr>
              <a:noFill/>
              <a:ln w="9525" cap="flat" cmpd="sng" algn="ctr">
                <a:solidFill>
                  <a:schemeClr val="tx1">
                    <a:lumMod val="65000"/>
                    <a:lumOff val="35000"/>
                  </a:schemeClr>
                </a:solidFill>
                <a:round/>
              </a:ln>
              <a:effectLst/>
            </c:spPr>
          </c:errBars>
          <c:cat>
            <c:strRef>
              <c:f>Sheet1!$C$2:$D$2</c:f>
              <c:strCache>
                <c:ptCount val="2"/>
                <c:pt idx="0">
                  <c:v>A</c:v>
                </c:pt>
                <c:pt idx="1">
                  <c:v>B</c:v>
                </c:pt>
              </c:strCache>
            </c:strRef>
          </c:cat>
          <c:val>
            <c:numRef>
              <c:f>Sheet1!$C$34:$D$34</c:f>
              <c:numCache>
                <c:formatCode>General</c:formatCode>
                <c:ptCount val="2"/>
                <c:pt idx="0">
                  <c:v>3.93</c:v>
                </c:pt>
                <c:pt idx="1">
                  <c:v>4.21</c:v>
                </c:pt>
              </c:numCache>
            </c:numRef>
          </c:val>
          <c:smooth val="0"/>
          <c:extLst>
            <c:ext xmlns:c16="http://schemas.microsoft.com/office/drawing/2014/chart" uri="{C3380CC4-5D6E-409C-BE32-E72D297353CC}">
              <c16:uniqueId val="{00000000-1FF8-4488-82B5-71E1A043D946}"/>
            </c:ext>
          </c:extLst>
        </c:ser>
        <c:ser>
          <c:idx val="1"/>
          <c:order val="1"/>
          <c:tx>
            <c:strRef>
              <c:f>Sheet1!$B$4</c:f>
              <c:strCache>
                <c:ptCount val="1"/>
                <c:pt idx="0">
                  <c:v>Y</c:v>
                </c:pt>
              </c:strCache>
            </c:strRef>
          </c:tx>
          <c:spPr>
            <a:ln w="28575" cap="rnd">
              <a:solidFill>
                <a:schemeClr val="accent2"/>
              </a:solidFill>
              <a:round/>
            </a:ln>
            <a:effectLst/>
          </c:spPr>
          <c:marker>
            <c:symbol val="none"/>
          </c:marker>
          <c:errBars>
            <c:errDir val="y"/>
            <c:errBarType val="both"/>
            <c:errValType val="cust"/>
            <c:noEndCap val="0"/>
            <c:plus>
              <c:numRef>
                <c:f>Sheet1!$I$4:$J$4</c:f>
                <c:numCache>
                  <c:formatCode>General</c:formatCode>
                  <c:ptCount val="2"/>
                  <c:pt idx="0">
                    <c:v>0.33541019662496846</c:v>
                  </c:pt>
                  <c:pt idx="1">
                    <c:v>0.33541019662496846</c:v>
                  </c:pt>
                </c:numCache>
              </c:numRef>
            </c:plus>
            <c:minus>
              <c:numRef>
                <c:f>Sheet1!$I$4:$J$4</c:f>
                <c:numCache>
                  <c:formatCode>General</c:formatCode>
                  <c:ptCount val="2"/>
                  <c:pt idx="0">
                    <c:v>0.33541019662496846</c:v>
                  </c:pt>
                  <c:pt idx="1">
                    <c:v>0.33541019662496846</c:v>
                  </c:pt>
                </c:numCache>
              </c:numRef>
            </c:minus>
            <c:spPr>
              <a:noFill/>
              <a:ln w="9525" cap="flat" cmpd="sng" algn="ctr">
                <a:solidFill>
                  <a:schemeClr val="tx1">
                    <a:lumMod val="65000"/>
                    <a:lumOff val="35000"/>
                  </a:schemeClr>
                </a:solidFill>
                <a:round/>
              </a:ln>
              <a:effectLst/>
            </c:spPr>
          </c:errBars>
          <c:cat>
            <c:strRef>
              <c:f>Sheet1!$C$2:$D$2</c:f>
              <c:strCache>
                <c:ptCount val="2"/>
                <c:pt idx="0">
                  <c:v>A</c:v>
                </c:pt>
                <c:pt idx="1">
                  <c:v>B</c:v>
                </c:pt>
              </c:strCache>
            </c:strRef>
          </c:cat>
          <c:val>
            <c:numRef>
              <c:f>Sheet1!$C$35:$D$35</c:f>
              <c:numCache>
                <c:formatCode>General</c:formatCode>
                <c:ptCount val="2"/>
                <c:pt idx="0">
                  <c:v>6.98</c:v>
                </c:pt>
                <c:pt idx="1">
                  <c:v>6.88</c:v>
                </c:pt>
              </c:numCache>
            </c:numRef>
          </c:val>
          <c:smooth val="0"/>
          <c:extLst>
            <c:ext xmlns:c16="http://schemas.microsoft.com/office/drawing/2014/chart" uri="{C3380CC4-5D6E-409C-BE32-E72D297353CC}">
              <c16:uniqueId val="{00000001-1FF8-4488-82B5-71E1A043D946}"/>
            </c:ext>
          </c:extLst>
        </c:ser>
        <c:dLbls>
          <c:showLegendKey val="0"/>
          <c:showVal val="0"/>
          <c:showCatName val="0"/>
          <c:showSerName val="0"/>
          <c:showPercent val="0"/>
          <c:showBubbleSize val="0"/>
        </c:dLbls>
        <c:smooth val="0"/>
        <c:axId val="1487071104"/>
        <c:axId val="1487072768"/>
      </c:lineChart>
      <c:catAx>
        <c:axId val="1487071104"/>
        <c:scaling>
          <c:orientation val="minMax"/>
        </c:scaling>
        <c:delete val="0"/>
        <c:axPos val="b"/>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2000" b="0" i="0" u="none" strike="noStrike" kern="1200" baseline="0">
                <a:solidFill>
                  <a:schemeClr val="tx1">
                    <a:lumMod val="65000"/>
                    <a:lumOff val="35000"/>
                  </a:schemeClr>
                </a:solidFill>
                <a:latin typeface="+mn-lt"/>
                <a:ea typeface="+mn-ea"/>
                <a:cs typeface="+mn-cs"/>
              </a:defRPr>
            </a:pPr>
            <a:endParaRPr lang="en-US"/>
          </a:p>
        </c:txPr>
        <c:crossAx val="1487072768"/>
        <c:crosses val="autoZero"/>
        <c:auto val="1"/>
        <c:lblAlgn val="ctr"/>
        <c:lblOffset val="100"/>
        <c:noMultiLvlLbl val="0"/>
      </c:catAx>
      <c:valAx>
        <c:axId val="1487072768"/>
        <c:scaling>
          <c:orientation val="minMax"/>
          <c:max val="10"/>
          <c:min val="1"/>
        </c:scaling>
        <c:delete val="0"/>
        <c:axPos val="l"/>
        <c:title>
          <c:tx>
            <c:rich>
              <a:bodyPr rot="-5400000" spcFirstLastPara="1" vertOverflow="ellipsis" vert="horz" wrap="square" anchor="ctr" anchorCtr="1"/>
              <a:lstStyle/>
              <a:p>
                <a:pPr>
                  <a:defRPr sz="2000" b="0" i="0" u="none" strike="noStrike" kern="1200" baseline="0">
                    <a:solidFill>
                      <a:schemeClr val="tx1">
                        <a:lumMod val="65000"/>
                        <a:lumOff val="35000"/>
                      </a:schemeClr>
                    </a:solidFill>
                    <a:latin typeface="+mn-lt"/>
                    <a:ea typeface="+mn-ea"/>
                    <a:cs typeface="+mn-cs"/>
                  </a:defRPr>
                </a:pPr>
                <a:r>
                  <a:rPr lang="en-US"/>
                  <a:t>Score</a:t>
                </a:r>
              </a:p>
            </c:rich>
          </c:tx>
          <c:overlay val="0"/>
          <c:spPr>
            <a:noFill/>
            <a:ln>
              <a:noFill/>
            </a:ln>
            <a:effectLst/>
          </c:spPr>
          <c:txPr>
            <a:bodyPr rot="-5400000" spcFirstLastPara="1" vertOverflow="ellipsis" vert="horz" wrap="square" anchor="ctr" anchorCtr="1"/>
            <a:lstStyle/>
            <a:p>
              <a:pPr>
                <a:defRPr sz="2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solidFill>
              <a:schemeClr val="tx1"/>
            </a:solidFill>
          </a:ln>
          <a:effectLst/>
        </c:spPr>
        <c:txPr>
          <a:bodyPr rot="-60000000" spcFirstLastPara="1" vertOverflow="ellipsis" vert="horz" wrap="square" anchor="ctr" anchorCtr="1"/>
          <a:lstStyle/>
          <a:p>
            <a:pPr>
              <a:defRPr sz="2000" b="0" i="0" u="none" strike="noStrike" kern="1200" baseline="0">
                <a:solidFill>
                  <a:schemeClr val="tx1">
                    <a:lumMod val="65000"/>
                    <a:lumOff val="35000"/>
                  </a:schemeClr>
                </a:solidFill>
                <a:latin typeface="+mn-lt"/>
                <a:ea typeface="+mn-ea"/>
                <a:cs typeface="+mn-cs"/>
              </a:defRPr>
            </a:pPr>
            <a:endParaRPr lang="en-US"/>
          </a:p>
        </c:txPr>
        <c:crossAx val="1487071104"/>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20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2000"/>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Sheet1!$B$3</c:f>
              <c:strCache>
                <c:ptCount val="1"/>
                <c:pt idx="0">
                  <c:v>X</c:v>
                </c:pt>
              </c:strCache>
            </c:strRef>
          </c:tx>
          <c:spPr>
            <a:solidFill>
              <a:schemeClr val="accent1"/>
            </a:solidFill>
            <a:ln>
              <a:noFill/>
            </a:ln>
            <a:effectLst/>
          </c:spPr>
          <c:invertIfNegative val="0"/>
          <c:errBars>
            <c:errBarType val="both"/>
            <c:errValType val="fixedVal"/>
            <c:noEndCap val="0"/>
            <c:val val="0.33500000000000008"/>
            <c:spPr>
              <a:noFill/>
              <a:ln w="9525" cap="flat" cmpd="sng" algn="ctr">
                <a:solidFill>
                  <a:schemeClr val="tx1">
                    <a:lumMod val="65000"/>
                    <a:lumOff val="35000"/>
                  </a:schemeClr>
                </a:solidFill>
                <a:round/>
              </a:ln>
              <a:effectLst/>
            </c:spPr>
          </c:errBars>
          <c:cat>
            <c:strRef>
              <c:f>Sheet1!$C$2:$D$2</c:f>
              <c:strCache>
                <c:ptCount val="2"/>
                <c:pt idx="0">
                  <c:v>A</c:v>
                </c:pt>
                <c:pt idx="1">
                  <c:v>B</c:v>
                </c:pt>
              </c:strCache>
            </c:strRef>
          </c:cat>
          <c:val>
            <c:numRef>
              <c:f>Sheet1!$C$34:$D$34</c:f>
              <c:numCache>
                <c:formatCode>General</c:formatCode>
                <c:ptCount val="2"/>
                <c:pt idx="0">
                  <c:v>3.93</c:v>
                </c:pt>
                <c:pt idx="1">
                  <c:v>4.21</c:v>
                </c:pt>
              </c:numCache>
            </c:numRef>
          </c:val>
          <c:extLst>
            <c:ext xmlns:c16="http://schemas.microsoft.com/office/drawing/2014/chart" uri="{C3380CC4-5D6E-409C-BE32-E72D297353CC}">
              <c16:uniqueId val="{00000000-49ED-4E46-947C-FAD5DB76437C}"/>
            </c:ext>
          </c:extLst>
        </c:ser>
        <c:ser>
          <c:idx val="1"/>
          <c:order val="1"/>
          <c:tx>
            <c:strRef>
              <c:f>Sheet1!$B$4</c:f>
              <c:strCache>
                <c:ptCount val="1"/>
                <c:pt idx="0">
                  <c:v>Y</c:v>
                </c:pt>
              </c:strCache>
            </c:strRef>
          </c:tx>
          <c:spPr>
            <a:solidFill>
              <a:schemeClr val="accent2"/>
            </a:solidFill>
            <a:ln>
              <a:noFill/>
            </a:ln>
            <a:effectLst/>
          </c:spPr>
          <c:invertIfNegative val="0"/>
          <c:errBars>
            <c:errBarType val="both"/>
            <c:errValType val="fixedVal"/>
            <c:noEndCap val="0"/>
            <c:val val="0.33500000000000008"/>
            <c:spPr>
              <a:noFill/>
              <a:ln w="9525" cap="flat" cmpd="sng" algn="ctr">
                <a:solidFill>
                  <a:schemeClr val="tx1">
                    <a:lumMod val="65000"/>
                    <a:lumOff val="35000"/>
                  </a:schemeClr>
                </a:solidFill>
                <a:round/>
              </a:ln>
              <a:effectLst/>
            </c:spPr>
          </c:errBars>
          <c:cat>
            <c:strRef>
              <c:f>Sheet1!$C$2:$D$2</c:f>
              <c:strCache>
                <c:ptCount val="2"/>
                <c:pt idx="0">
                  <c:v>A</c:v>
                </c:pt>
                <c:pt idx="1">
                  <c:v>B</c:v>
                </c:pt>
              </c:strCache>
            </c:strRef>
          </c:cat>
          <c:val>
            <c:numRef>
              <c:f>Sheet1!$C$35:$D$35</c:f>
              <c:numCache>
                <c:formatCode>General</c:formatCode>
                <c:ptCount val="2"/>
                <c:pt idx="0">
                  <c:v>6.98</c:v>
                </c:pt>
                <c:pt idx="1">
                  <c:v>6.88</c:v>
                </c:pt>
              </c:numCache>
            </c:numRef>
          </c:val>
          <c:extLst>
            <c:ext xmlns:c16="http://schemas.microsoft.com/office/drawing/2014/chart" uri="{C3380CC4-5D6E-409C-BE32-E72D297353CC}">
              <c16:uniqueId val="{00000001-49ED-4E46-947C-FAD5DB76437C}"/>
            </c:ext>
          </c:extLst>
        </c:ser>
        <c:dLbls>
          <c:showLegendKey val="0"/>
          <c:showVal val="0"/>
          <c:showCatName val="0"/>
          <c:showSerName val="0"/>
          <c:showPercent val="0"/>
          <c:showBubbleSize val="0"/>
        </c:dLbls>
        <c:gapWidth val="219"/>
        <c:overlap val="-27"/>
        <c:axId val="1487066112"/>
        <c:axId val="1487077344"/>
      </c:barChart>
      <c:catAx>
        <c:axId val="1487066112"/>
        <c:scaling>
          <c:orientation val="minMax"/>
        </c:scaling>
        <c:delete val="0"/>
        <c:axPos val="b"/>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2000" b="0" i="0" u="none" strike="noStrike" kern="1200" baseline="0">
                <a:solidFill>
                  <a:schemeClr val="tx1">
                    <a:lumMod val="65000"/>
                    <a:lumOff val="35000"/>
                  </a:schemeClr>
                </a:solidFill>
                <a:latin typeface="+mn-lt"/>
                <a:ea typeface="+mn-ea"/>
                <a:cs typeface="+mn-cs"/>
              </a:defRPr>
            </a:pPr>
            <a:endParaRPr lang="en-US"/>
          </a:p>
        </c:txPr>
        <c:crossAx val="1487077344"/>
        <c:crosses val="autoZero"/>
        <c:auto val="1"/>
        <c:lblAlgn val="ctr"/>
        <c:lblOffset val="100"/>
        <c:noMultiLvlLbl val="0"/>
      </c:catAx>
      <c:valAx>
        <c:axId val="1487077344"/>
        <c:scaling>
          <c:orientation val="minMax"/>
          <c:max val="10"/>
          <c:min val="1"/>
        </c:scaling>
        <c:delete val="0"/>
        <c:axPos val="l"/>
        <c:title>
          <c:tx>
            <c:rich>
              <a:bodyPr rot="-5400000" spcFirstLastPara="1" vertOverflow="ellipsis" vert="horz" wrap="square" anchor="ctr" anchorCtr="1"/>
              <a:lstStyle/>
              <a:p>
                <a:pPr>
                  <a:defRPr sz="2000" b="0" i="0" u="none" strike="noStrike" kern="1200" baseline="0">
                    <a:solidFill>
                      <a:schemeClr val="tx1">
                        <a:lumMod val="65000"/>
                        <a:lumOff val="35000"/>
                      </a:schemeClr>
                    </a:solidFill>
                    <a:latin typeface="+mn-lt"/>
                    <a:ea typeface="+mn-ea"/>
                    <a:cs typeface="+mn-cs"/>
                  </a:defRPr>
                </a:pPr>
                <a:r>
                  <a:rPr lang="en-US"/>
                  <a:t>Score</a:t>
                </a:r>
              </a:p>
            </c:rich>
          </c:tx>
          <c:overlay val="0"/>
          <c:spPr>
            <a:noFill/>
            <a:ln>
              <a:noFill/>
            </a:ln>
            <a:effectLst/>
          </c:spPr>
          <c:txPr>
            <a:bodyPr rot="-5400000" spcFirstLastPara="1" vertOverflow="ellipsis" vert="horz" wrap="square" anchor="ctr" anchorCtr="1"/>
            <a:lstStyle/>
            <a:p>
              <a:pPr>
                <a:defRPr sz="2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solidFill>
              <a:schemeClr val="tx1"/>
            </a:solidFill>
          </a:ln>
          <a:effectLst/>
        </c:spPr>
        <c:txPr>
          <a:bodyPr rot="-60000000" spcFirstLastPara="1" vertOverflow="ellipsis" vert="horz" wrap="square" anchor="ctr" anchorCtr="1"/>
          <a:lstStyle/>
          <a:p>
            <a:pPr>
              <a:defRPr sz="2000" b="0" i="0" u="none" strike="noStrike" kern="1200" baseline="0">
                <a:solidFill>
                  <a:schemeClr val="tx1">
                    <a:lumMod val="65000"/>
                    <a:lumOff val="35000"/>
                  </a:schemeClr>
                </a:solidFill>
                <a:latin typeface="+mn-lt"/>
                <a:ea typeface="+mn-ea"/>
                <a:cs typeface="+mn-cs"/>
              </a:defRPr>
            </a:pPr>
            <a:endParaRPr lang="en-US"/>
          </a:p>
        </c:txPr>
        <c:crossAx val="1487066112"/>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20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2000"/>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8163" cy="469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022725" y="0"/>
            <a:ext cx="3078163" cy="469900"/>
          </a:xfrm>
          <a:prstGeom prst="rect">
            <a:avLst/>
          </a:prstGeom>
        </p:spPr>
        <p:txBody>
          <a:bodyPr vert="horz" lIns="91440" tIns="45720" rIns="91440" bIns="45720" rtlCol="0"/>
          <a:lstStyle>
            <a:lvl1pPr algn="r">
              <a:defRPr sz="1200"/>
            </a:lvl1pPr>
          </a:lstStyle>
          <a:p>
            <a:fld id="{3214EAF1-1733-45E1-8F93-92DF09AFC4EC}" type="datetimeFigureOut">
              <a:rPr lang="en-US" smtClean="0"/>
              <a:t>10/21/2025</a:t>
            </a:fld>
            <a:endParaRPr lang="en-US"/>
          </a:p>
        </p:txBody>
      </p:sp>
      <p:sp>
        <p:nvSpPr>
          <p:cNvPr id="4" name="Slide Image Placeholder 3"/>
          <p:cNvSpPr>
            <a:spLocks noGrp="1" noRot="1" noChangeAspect="1"/>
          </p:cNvSpPr>
          <p:nvPr>
            <p:ph type="sldImg" idx="2"/>
          </p:nvPr>
        </p:nvSpPr>
        <p:spPr>
          <a:xfrm>
            <a:off x="735013" y="1173163"/>
            <a:ext cx="5632450" cy="31686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9613" y="4518025"/>
            <a:ext cx="5683250" cy="369728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918575"/>
            <a:ext cx="3078163" cy="4699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022725" y="8918575"/>
            <a:ext cx="3078163" cy="469900"/>
          </a:xfrm>
          <a:prstGeom prst="rect">
            <a:avLst/>
          </a:prstGeom>
        </p:spPr>
        <p:txBody>
          <a:bodyPr vert="horz" lIns="91440" tIns="45720" rIns="91440" bIns="45720" rtlCol="0" anchor="b"/>
          <a:lstStyle>
            <a:lvl1pPr algn="r">
              <a:defRPr sz="1200"/>
            </a:lvl1pPr>
          </a:lstStyle>
          <a:p>
            <a:fld id="{8938021B-A06C-4C49-A5E2-03767682FBCC}" type="slidenum">
              <a:rPr lang="en-US" smtClean="0"/>
              <a:t>‹#›</a:t>
            </a:fld>
            <a:endParaRPr lang="en-US"/>
          </a:p>
        </p:txBody>
      </p:sp>
    </p:spTree>
    <p:extLst>
      <p:ext uri="{BB962C8B-B14F-4D97-AF65-F5344CB8AC3E}">
        <p14:creationId xmlns:p14="http://schemas.microsoft.com/office/powerpoint/2010/main" val="34903025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p>
            <a:fld id="{3E400DAB-D642-4450-9FB8-7E8059C75B16}" type="slidenum">
              <a:rPr lang="en-US" smtClean="0"/>
              <a:pPr/>
              <a:t>7</a:t>
            </a:fld>
            <a:endParaRPr lang="en-US"/>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5261189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p:spPr>
        <p:txBody>
          <a:bodyPr/>
          <a:lstStyle/>
          <a:p>
            <a:fld id="{ED835882-5389-4FD0-8253-4B5D9C1C44F0}" type="slidenum">
              <a:rPr lang="en-US" smtClean="0"/>
              <a:pPr/>
              <a:t>9</a:t>
            </a:fld>
            <a:endParaRPr lang="en-US"/>
          </a:p>
        </p:txBody>
      </p:sp>
      <p:sp>
        <p:nvSpPr>
          <p:cNvPr id="41987" name="Rectangle 2"/>
          <p:cNvSpPr>
            <a:spLocks noGrp="1" noRot="1" noChangeAspect="1" noChangeArrowheads="1" noTextEdit="1"/>
          </p:cNvSpPr>
          <p:nvPr>
            <p:ph type="sldImg"/>
          </p:nvPr>
        </p:nvSpPr>
        <p:spPr>
          <a:ln/>
        </p:spPr>
      </p:sp>
      <p:sp>
        <p:nvSpPr>
          <p:cNvPr id="41988"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5837862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79EEF9-3FA6-B46F-3F34-3ECAE084F6F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80098B2-AB86-AACD-490F-E19AE7C1621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40043B1-24E6-B04B-A929-3AA31AE0FD17}"/>
              </a:ext>
            </a:extLst>
          </p:cNvPr>
          <p:cNvSpPr>
            <a:spLocks noGrp="1"/>
          </p:cNvSpPr>
          <p:nvPr>
            <p:ph type="dt" sz="half" idx="10"/>
          </p:nvPr>
        </p:nvSpPr>
        <p:spPr/>
        <p:txBody>
          <a:bodyPr/>
          <a:lstStyle/>
          <a:p>
            <a:fld id="{12FB66CF-97A3-4EA3-BB65-0933E8FD8D61}" type="datetimeFigureOut">
              <a:rPr lang="en-US" smtClean="0"/>
              <a:t>10/21/2025</a:t>
            </a:fld>
            <a:endParaRPr lang="en-US"/>
          </a:p>
        </p:txBody>
      </p:sp>
      <p:sp>
        <p:nvSpPr>
          <p:cNvPr id="5" name="Footer Placeholder 4">
            <a:extLst>
              <a:ext uri="{FF2B5EF4-FFF2-40B4-BE49-F238E27FC236}">
                <a16:creationId xmlns:a16="http://schemas.microsoft.com/office/drawing/2014/main" id="{1A469D67-E795-D4CB-AC43-DB66C8D86D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3F6EEAD-A822-CFDB-6F09-2B9DF5719738}"/>
              </a:ext>
            </a:extLst>
          </p:cNvPr>
          <p:cNvSpPr>
            <a:spLocks noGrp="1"/>
          </p:cNvSpPr>
          <p:nvPr>
            <p:ph type="sldNum" sz="quarter" idx="12"/>
          </p:nvPr>
        </p:nvSpPr>
        <p:spPr/>
        <p:txBody>
          <a:bodyPr/>
          <a:lstStyle/>
          <a:p>
            <a:fld id="{F84CBD89-8108-40E7-80A0-C058BC8C724A}" type="slidenum">
              <a:rPr lang="en-US" smtClean="0"/>
              <a:t>‹#›</a:t>
            </a:fld>
            <a:endParaRPr lang="en-US"/>
          </a:p>
        </p:txBody>
      </p:sp>
    </p:spTree>
    <p:extLst>
      <p:ext uri="{BB962C8B-B14F-4D97-AF65-F5344CB8AC3E}">
        <p14:creationId xmlns:p14="http://schemas.microsoft.com/office/powerpoint/2010/main" val="34906206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D8BCFE-0DE2-A0BA-7228-62555594339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D53EC31-F91A-A042-A771-86662611C15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B7C2D0-D344-42DA-742C-C9D389AE874F}"/>
              </a:ext>
            </a:extLst>
          </p:cNvPr>
          <p:cNvSpPr>
            <a:spLocks noGrp="1"/>
          </p:cNvSpPr>
          <p:nvPr>
            <p:ph type="dt" sz="half" idx="10"/>
          </p:nvPr>
        </p:nvSpPr>
        <p:spPr/>
        <p:txBody>
          <a:bodyPr/>
          <a:lstStyle/>
          <a:p>
            <a:fld id="{12FB66CF-97A3-4EA3-BB65-0933E8FD8D61}" type="datetimeFigureOut">
              <a:rPr lang="en-US" smtClean="0"/>
              <a:t>10/21/2025</a:t>
            </a:fld>
            <a:endParaRPr lang="en-US"/>
          </a:p>
        </p:txBody>
      </p:sp>
      <p:sp>
        <p:nvSpPr>
          <p:cNvPr id="5" name="Footer Placeholder 4">
            <a:extLst>
              <a:ext uri="{FF2B5EF4-FFF2-40B4-BE49-F238E27FC236}">
                <a16:creationId xmlns:a16="http://schemas.microsoft.com/office/drawing/2014/main" id="{4482B603-F47B-998D-E75E-ACC0F7B002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6478B7-A0BB-7F7B-DDFD-5143E22C2E1B}"/>
              </a:ext>
            </a:extLst>
          </p:cNvPr>
          <p:cNvSpPr>
            <a:spLocks noGrp="1"/>
          </p:cNvSpPr>
          <p:nvPr>
            <p:ph type="sldNum" sz="quarter" idx="12"/>
          </p:nvPr>
        </p:nvSpPr>
        <p:spPr/>
        <p:txBody>
          <a:bodyPr/>
          <a:lstStyle/>
          <a:p>
            <a:fld id="{F84CBD89-8108-40E7-80A0-C058BC8C724A}" type="slidenum">
              <a:rPr lang="en-US" smtClean="0"/>
              <a:t>‹#›</a:t>
            </a:fld>
            <a:endParaRPr lang="en-US"/>
          </a:p>
        </p:txBody>
      </p:sp>
    </p:spTree>
    <p:extLst>
      <p:ext uri="{BB962C8B-B14F-4D97-AF65-F5344CB8AC3E}">
        <p14:creationId xmlns:p14="http://schemas.microsoft.com/office/powerpoint/2010/main" val="28807159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1A8D1-0BEB-C395-EB4A-4ABBA889E39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CEA01F3-65AB-7447-5376-C8FC85A6FCB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653D0F9-39A0-CAA4-0F76-624C1C1E4639}"/>
              </a:ext>
            </a:extLst>
          </p:cNvPr>
          <p:cNvSpPr>
            <a:spLocks noGrp="1"/>
          </p:cNvSpPr>
          <p:nvPr>
            <p:ph type="dt" sz="half" idx="10"/>
          </p:nvPr>
        </p:nvSpPr>
        <p:spPr/>
        <p:txBody>
          <a:bodyPr/>
          <a:lstStyle/>
          <a:p>
            <a:fld id="{12FB66CF-97A3-4EA3-BB65-0933E8FD8D61}" type="datetimeFigureOut">
              <a:rPr lang="en-US" smtClean="0"/>
              <a:t>10/21/2025</a:t>
            </a:fld>
            <a:endParaRPr lang="en-US"/>
          </a:p>
        </p:txBody>
      </p:sp>
      <p:sp>
        <p:nvSpPr>
          <p:cNvPr id="5" name="Footer Placeholder 4">
            <a:extLst>
              <a:ext uri="{FF2B5EF4-FFF2-40B4-BE49-F238E27FC236}">
                <a16:creationId xmlns:a16="http://schemas.microsoft.com/office/drawing/2014/main" id="{E50A569C-B031-CBB3-3DEB-CAB0A1594C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62F2060-DF4E-5F65-61E7-92D905B68510}"/>
              </a:ext>
            </a:extLst>
          </p:cNvPr>
          <p:cNvSpPr>
            <a:spLocks noGrp="1"/>
          </p:cNvSpPr>
          <p:nvPr>
            <p:ph type="sldNum" sz="quarter" idx="12"/>
          </p:nvPr>
        </p:nvSpPr>
        <p:spPr/>
        <p:txBody>
          <a:bodyPr/>
          <a:lstStyle/>
          <a:p>
            <a:fld id="{F84CBD89-8108-40E7-80A0-C058BC8C724A}" type="slidenum">
              <a:rPr lang="en-US" smtClean="0"/>
              <a:t>‹#›</a:t>
            </a:fld>
            <a:endParaRPr lang="en-US"/>
          </a:p>
        </p:txBody>
      </p:sp>
    </p:spTree>
    <p:extLst>
      <p:ext uri="{BB962C8B-B14F-4D97-AF65-F5344CB8AC3E}">
        <p14:creationId xmlns:p14="http://schemas.microsoft.com/office/powerpoint/2010/main" val="30573670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4C7E9B-1E6D-1750-5203-5D1BF4F172B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1C2A35A-5A80-1707-E5DE-8C12AE1671D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CAD7143-E8DD-6D50-57FD-8EC550791E2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D913C84-1AF6-CD5D-8119-C9AFBE20B16B}"/>
              </a:ext>
            </a:extLst>
          </p:cNvPr>
          <p:cNvSpPr>
            <a:spLocks noGrp="1"/>
          </p:cNvSpPr>
          <p:nvPr>
            <p:ph type="dt" sz="half" idx="10"/>
          </p:nvPr>
        </p:nvSpPr>
        <p:spPr/>
        <p:txBody>
          <a:bodyPr/>
          <a:lstStyle/>
          <a:p>
            <a:fld id="{12FB66CF-97A3-4EA3-BB65-0933E8FD8D61}" type="datetimeFigureOut">
              <a:rPr lang="en-US" smtClean="0"/>
              <a:t>10/21/2025</a:t>
            </a:fld>
            <a:endParaRPr lang="en-US"/>
          </a:p>
        </p:txBody>
      </p:sp>
      <p:sp>
        <p:nvSpPr>
          <p:cNvPr id="6" name="Footer Placeholder 5">
            <a:extLst>
              <a:ext uri="{FF2B5EF4-FFF2-40B4-BE49-F238E27FC236}">
                <a16:creationId xmlns:a16="http://schemas.microsoft.com/office/drawing/2014/main" id="{422ECF48-38C8-1EB1-A04F-8693D1E8076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2E6EA7F-1D7B-78B7-A662-4D3E123491F8}"/>
              </a:ext>
            </a:extLst>
          </p:cNvPr>
          <p:cNvSpPr>
            <a:spLocks noGrp="1"/>
          </p:cNvSpPr>
          <p:nvPr>
            <p:ph type="sldNum" sz="quarter" idx="12"/>
          </p:nvPr>
        </p:nvSpPr>
        <p:spPr/>
        <p:txBody>
          <a:bodyPr/>
          <a:lstStyle/>
          <a:p>
            <a:fld id="{F84CBD89-8108-40E7-80A0-C058BC8C724A}" type="slidenum">
              <a:rPr lang="en-US" smtClean="0"/>
              <a:t>‹#›</a:t>
            </a:fld>
            <a:endParaRPr lang="en-US"/>
          </a:p>
        </p:txBody>
      </p:sp>
    </p:spTree>
    <p:extLst>
      <p:ext uri="{BB962C8B-B14F-4D97-AF65-F5344CB8AC3E}">
        <p14:creationId xmlns:p14="http://schemas.microsoft.com/office/powerpoint/2010/main" val="32333309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5F0EC3-9BED-312F-685C-566CECAFDBB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7308466-D7C3-6BB5-CA7D-FA5153A7ADD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9337857-F4BF-D64A-8FCE-8A72F24D5D7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D590559-21AC-1814-2FE2-45B9A04D208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4772923-EA7E-EF9D-FE74-BD3E2F8E000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7294791-B2C2-873E-ACC6-80333CA84219}"/>
              </a:ext>
            </a:extLst>
          </p:cNvPr>
          <p:cNvSpPr>
            <a:spLocks noGrp="1"/>
          </p:cNvSpPr>
          <p:nvPr>
            <p:ph type="dt" sz="half" idx="10"/>
          </p:nvPr>
        </p:nvSpPr>
        <p:spPr/>
        <p:txBody>
          <a:bodyPr/>
          <a:lstStyle/>
          <a:p>
            <a:fld id="{12FB66CF-97A3-4EA3-BB65-0933E8FD8D61}" type="datetimeFigureOut">
              <a:rPr lang="en-US" smtClean="0"/>
              <a:t>10/21/2025</a:t>
            </a:fld>
            <a:endParaRPr lang="en-US"/>
          </a:p>
        </p:txBody>
      </p:sp>
      <p:sp>
        <p:nvSpPr>
          <p:cNvPr id="8" name="Footer Placeholder 7">
            <a:extLst>
              <a:ext uri="{FF2B5EF4-FFF2-40B4-BE49-F238E27FC236}">
                <a16:creationId xmlns:a16="http://schemas.microsoft.com/office/drawing/2014/main" id="{74EC97D0-0C42-523F-7EB5-B3132675CF4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4794230-18E5-9894-F7C9-F2C456311B26}"/>
              </a:ext>
            </a:extLst>
          </p:cNvPr>
          <p:cNvSpPr>
            <a:spLocks noGrp="1"/>
          </p:cNvSpPr>
          <p:nvPr>
            <p:ph type="sldNum" sz="quarter" idx="12"/>
          </p:nvPr>
        </p:nvSpPr>
        <p:spPr/>
        <p:txBody>
          <a:bodyPr/>
          <a:lstStyle/>
          <a:p>
            <a:fld id="{F84CBD89-8108-40E7-80A0-C058BC8C724A}" type="slidenum">
              <a:rPr lang="en-US" smtClean="0"/>
              <a:t>‹#›</a:t>
            </a:fld>
            <a:endParaRPr lang="en-US"/>
          </a:p>
        </p:txBody>
      </p:sp>
    </p:spTree>
    <p:extLst>
      <p:ext uri="{BB962C8B-B14F-4D97-AF65-F5344CB8AC3E}">
        <p14:creationId xmlns:p14="http://schemas.microsoft.com/office/powerpoint/2010/main" val="21095692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4A9ECA-42DA-F425-57C3-726DA1CBAC3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1CD9BB9-3152-F7AA-E8A0-4718B6D014E6}"/>
              </a:ext>
            </a:extLst>
          </p:cNvPr>
          <p:cNvSpPr>
            <a:spLocks noGrp="1"/>
          </p:cNvSpPr>
          <p:nvPr>
            <p:ph type="dt" sz="half" idx="10"/>
          </p:nvPr>
        </p:nvSpPr>
        <p:spPr/>
        <p:txBody>
          <a:bodyPr/>
          <a:lstStyle/>
          <a:p>
            <a:fld id="{12FB66CF-97A3-4EA3-BB65-0933E8FD8D61}" type="datetimeFigureOut">
              <a:rPr lang="en-US" smtClean="0"/>
              <a:t>10/21/2025</a:t>
            </a:fld>
            <a:endParaRPr lang="en-US"/>
          </a:p>
        </p:txBody>
      </p:sp>
      <p:sp>
        <p:nvSpPr>
          <p:cNvPr id="4" name="Footer Placeholder 3">
            <a:extLst>
              <a:ext uri="{FF2B5EF4-FFF2-40B4-BE49-F238E27FC236}">
                <a16:creationId xmlns:a16="http://schemas.microsoft.com/office/drawing/2014/main" id="{A7570E16-37E4-F10E-6E17-74D76F7F361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8F13C22-0BB7-7EC2-1F01-6743C378CE08}"/>
              </a:ext>
            </a:extLst>
          </p:cNvPr>
          <p:cNvSpPr>
            <a:spLocks noGrp="1"/>
          </p:cNvSpPr>
          <p:nvPr>
            <p:ph type="sldNum" sz="quarter" idx="12"/>
          </p:nvPr>
        </p:nvSpPr>
        <p:spPr/>
        <p:txBody>
          <a:bodyPr/>
          <a:lstStyle/>
          <a:p>
            <a:fld id="{F84CBD89-8108-40E7-80A0-C058BC8C724A}" type="slidenum">
              <a:rPr lang="en-US" smtClean="0"/>
              <a:t>‹#›</a:t>
            </a:fld>
            <a:endParaRPr lang="en-US"/>
          </a:p>
        </p:txBody>
      </p:sp>
    </p:spTree>
    <p:extLst>
      <p:ext uri="{BB962C8B-B14F-4D97-AF65-F5344CB8AC3E}">
        <p14:creationId xmlns:p14="http://schemas.microsoft.com/office/powerpoint/2010/main" val="16446818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2C371A7-2939-E797-DFD2-EF596E3FF46A}"/>
              </a:ext>
            </a:extLst>
          </p:cNvPr>
          <p:cNvSpPr>
            <a:spLocks noGrp="1"/>
          </p:cNvSpPr>
          <p:nvPr>
            <p:ph type="dt" sz="half" idx="10"/>
          </p:nvPr>
        </p:nvSpPr>
        <p:spPr/>
        <p:txBody>
          <a:bodyPr/>
          <a:lstStyle/>
          <a:p>
            <a:fld id="{12FB66CF-97A3-4EA3-BB65-0933E8FD8D61}" type="datetimeFigureOut">
              <a:rPr lang="en-US" smtClean="0"/>
              <a:t>10/21/2025</a:t>
            </a:fld>
            <a:endParaRPr lang="en-US"/>
          </a:p>
        </p:txBody>
      </p:sp>
      <p:sp>
        <p:nvSpPr>
          <p:cNvPr id="3" name="Footer Placeholder 2">
            <a:extLst>
              <a:ext uri="{FF2B5EF4-FFF2-40B4-BE49-F238E27FC236}">
                <a16:creationId xmlns:a16="http://schemas.microsoft.com/office/drawing/2014/main" id="{2BEFA2C8-5E45-816A-705B-4EB06F6861F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54FE78-9382-6320-3FCC-7DF3DEBA925A}"/>
              </a:ext>
            </a:extLst>
          </p:cNvPr>
          <p:cNvSpPr>
            <a:spLocks noGrp="1"/>
          </p:cNvSpPr>
          <p:nvPr>
            <p:ph type="sldNum" sz="quarter" idx="12"/>
          </p:nvPr>
        </p:nvSpPr>
        <p:spPr/>
        <p:txBody>
          <a:bodyPr/>
          <a:lstStyle/>
          <a:p>
            <a:fld id="{F84CBD89-8108-40E7-80A0-C058BC8C724A}" type="slidenum">
              <a:rPr lang="en-US" smtClean="0"/>
              <a:t>‹#›</a:t>
            </a:fld>
            <a:endParaRPr lang="en-US"/>
          </a:p>
        </p:txBody>
      </p:sp>
    </p:spTree>
    <p:extLst>
      <p:ext uri="{BB962C8B-B14F-4D97-AF65-F5344CB8AC3E}">
        <p14:creationId xmlns:p14="http://schemas.microsoft.com/office/powerpoint/2010/main" val="10163689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37ED12-7439-EFE2-C602-4218AC4F10F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A68135A-D633-DFC1-257D-3070DB720D0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C51FE48-7BDD-4B79-ADDE-1C16C35B1DD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6B4872-DF4E-C821-99A7-8029D99916F3}"/>
              </a:ext>
            </a:extLst>
          </p:cNvPr>
          <p:cNvSpPr>
            <a:spLocks noGrp="1"/>
          </p:cNvSpPr>
          <p:nvPr>
            <p:ph type="dt" sz="half" idx="10"/>
          </p:nvPr>
        </p:nvSpPr>
        <p:spPr/>
        <p:txBody>
          <a:bodyPr/>
          <a:lstStyle/>
          <a:p>
            <a:fld id="{12FB66CF-97A3-4EA3-BB65-0933E8FD8D61}" type="datetimeFigureOut">
              <a:rPr lang="en-US" smtClean="0"/>
              <a:t>10/21/2025</a:t>
            </a:fld>
            <a:endParaRPr lang="en-US"/>
          </a:p>
        </p:txBody>
      </p:sp>
      <p:sp>
        <p:nvSpPr>
          <p:cNvPr id="6" name="Footer Placeholder 5">
            <a:extLst>
              <a:ext uri="{FF2B5EF4-FFF2-40B4-BE49-F238E27FC236}">
                <a16:creationId xmlns:a16="http://schemas.microsoft.com/office/drawing/2014/main" id="{1A89DA9E-4D24-7D4F-5364-7293592164F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A06EA70-942F-DF28-B574-FB5E50F32E73}"/>
              </a:ext>
            </a:extLst>
          </p:cNvPr>
          <p:cNvSpPr>
            <a:spLocks noGrp="1"/>
          </p:cNvSpPr>
          <p:nvPr>
            <p:ph type="sldNum" sz="quarter" idx="12"/>
          </p:nvPr>
        </p:nvSpPr>
        <p:spPr/>
        <p:txBody>
          <a:bodyPr/>
          <a:lstStyle/>
          <a:p>
            <a:fld id="{F84CBD89-8108-40E7-80A0-C058BC8C724A}" type="slidenum">
              <a:rPr lang="en-US" smtClean="0"/>
              <a:t>‹#›</a:t>
            </a:fld>
            <a:endParaRPr lang="en-US"/>
          </a:p>
        </p:txBody>
      </p:sp>
    </p:spTree>
    <p:extLst>
      <p:ext uri="{BB962C8B-B14F-4D97-AF65-F5344CB8AC3E}">
        <p14:creationId xmlns:p14="http://schemas.microsoft.com/office/powerpoint/2010/main" val="36498890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6693AF-A39F-509C-54C1-B61A858E6A7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1F939D6-6434-230D-8FA1-3ECD2525AE0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1653731-F5B8-239F-EA24-A65AA0BDDA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A235486-844B-7100-4A69-A7654A82DF02}"/>
              </a:ext>
            </a:extLst>
          </p:cNvPr>
          <p:cNvSpPr>
            <a:spLocks noGrp="1"/>
          </p:cNvSpPr>
          <p:nvPr>
            <p:ph type="dt" sz="half" idx="10"/>
          </p:nvPr>
        </p:nvSpPr>
        <p:spPr/>
        <p:txBody>
          <a:bodyPr/>
          <a:lstStyle/>
          <a:p>
            <a:fld id="{12FB66CF-97A3-4EA3-BB65-0933E8FD8D61}" type="datetimeFigureOut">
              <a:rPr lang="en-US" smtClean="0"/>
              <a:t>10/21/2025</a:t>
            </a:fld>
            <a:endParaRPr lang="en-US"/>
          </a:p>
        </p:txBody>
      </p:sp>
      <p:sp>
        <p:nvSpPr>
          <p:cNvPr id="6" name="Footer Placeholder 5">
            <a:extLst>
              <a:ext uri="{FF2B5EF4-FFF2-40B4-BE49-F238E27FC236}">
                <a16:creationId xmlns:a16="http://schemas.microsoft.com/office/drawing/2014/main" id="{5E793B0E-CA95-61B3-73B2-11F18B35296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F361E5A-A604-E51F-35A8-DE537E94FC46}"/>
              </a:ext>
            </a:extLst>
          </p:cNvPr>
          <p:cNvSpPr>
            <a:spLocks noGrp="1"/>
          </p:cNvSpPr>
          <p:nvPr>
            <p:ph type="sldNum" sz="quarter" idx="12"/>
          </p:nvPr>
        </p:nvSpPr>
        <p:spPr/>
        <p:txBody>
          <a:bodyPr/>
          <a:lstStyle/>
          <a:p>
            <a:fld id="{F84CBD89-8108-40E7-80A0-C058BC8C724A}" type="slidenum">
              <a:rPr lang="en-US" smtClean="0"/>
              <a:t>‹#›</a:t>
            </a:fld>
            <a:endParaRPr lang="en-US"/>
          </a:p>
        </p:txBody>
      </p:sp>
    </p:spTree>
    <p:extLst>
      <p:ext uri="{BB962C8B-B14F-4D97-AF65-F5344CB8AC3E}">
        <p14:creationId xmlns:p14="http://schemas.microsoft.com/office/powerpoint/2010/main" val="31946715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707552-9B20-7228-66DD-AFD02FB5AE4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43A6774-AC06-D484-0FF5-292CF509505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7539FEF-0492-E601-0F70-672B2C3C9325}"/>
              </a:ext>
            </a:extLst>
          </p:cNvPr>
          <p:cNvSpPr>
            <a:spLocks noGrp="1"/>
          </p:cNvSpPr>
          <p:nvPr>
            <p:ph type="dt" sz="half" idx="10"/>
          </p:nvPr>
        </p:nvSpPr>
        <p:spPr/>
        <p:txBody>
          <a:bodyPr/>
          <a:lstStyle/>
          <a:p>
            <a:fld id="{12FB66CF-97A3-4EA3-BB65-0933E8FD8D61}" type="datetimeFigureOut">
              <a:rPr lang="en-US" smtClean="0"/>
              <a:t>10/21/2025</a:t>
            </a:fld>
            <a:endParaRPr lang="en-US"/>
          </a:p>
        </p:txBody>
      </p:sp>
      <p:sp>
        <p:nvSpPr>
          <p:cNvPr id="5" name="Footer Placeholder 4">
            <a:extLst>
              <a:ext uri="{FF2B5EF4-FFF2-40B4-BE49-F238E27FC236}">
                <a16:creationId xmlns:a16="http://schemas.microsoft.com/office/drawing/2014/main" id="{647579E2-460D-3F57-6463-90439824D6F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3EDBB3F-497E-CF1A-BB01-294C926446FF}"/>
              </a:ext>
            </a:extLst>
          </p:cNvPr>
          <p:cNvSpPr>
            <a:spLocks noGrp="1"/>
          </p:cNvSpPr>
          <p:nvPr>
            <p:ph type="sldNum" sz="quarter" idx="12"/>
          </p:nvPr>
        </p:nvSpPr>
        <p:spPr/>
        <p:txBody>
          <a:bodyPr/>
          <a:lstStyle/>
          <a:p>
            <a:fld id="{F84CBD89-8108-40E7-80A0-C058BC8C724A}" type="slidenum">
              <a:rPr lang="en-US" smtClean="0"/>
              <a:t>‹#›</a:t>
            </a:fld>
            <a:endParaRPr lang="en-US"/>
          </a:p>
        </p:txBody>
      </p:sp>
    </p:spTree>
    <p:extLst>
      <p:ext uri="{BB962C8B-B14F-4D97-AF65-F5344CB8AC3E}">
        <p14:creationId xmlns:p14="http://schemas.microsoft.com/office/powerpoint/2010/main" val="26532525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B0D532D-2E27-D60C-B79A-A16DCD9475C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EB40F56-629C-C0D4-AF35-2212E247FD3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2CCA4E-3F74-EE35-7A92-27522FD8F1F6}"/>
              </a:ext>
            </a:extLst>
          </p:cNvPr>
          <p:cNvSpPr>
            <a:spLocks noGrp="1"/>
          </p:cNvSpPr>
          <p:nvPr>
            <p:ph type="dt" sz="half" idx="10"/>
          </p:nvPr>
        </p:nvSpPr>
        <p:spPr/>
        <p:txBody>
          <a:bodyPr/>
          <a:lstStyle/>
          <a:p>
            <a:fld id="{12FB66CF-97A3-4EA3-BB65-0933E8FD8D61}" type="datetimeFigureOut">
              <a:rPr lang="en-US" smtClean="0"/>
              <a:t>10/21/2025</a:t>
            </a:fld>
            <a:endParaRPr lang="en-US"/>
          </a:p>
        </p:txBody>
      </p:sp>
      <p:sp>
        <p:nvSpPr>
          <p:cNvPr id="5" name="Footer Placeholder 4">
            <a:extLst>
              <a:ext uri="{FF2B5EF4-FFF2-40B4-BE49-F238E27FC236}">
                <a16:creationId xmlns:a16="http://schemas.microsoft.com/office/drawing/2014/main" id="{61F56710-8570-7884-7B04-7BB7D69D175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2B94E7-0DC3-6404-FA06-080CA6FA3480}"/>
              </a:ext>
            </a:extLst>
          </p:cNvPr>
          <p:cNvSpPr>
            <a:spLocks noGrp="1"/>
          </p:cNvSpPr>
          <p:nvPr>
            <p:ph type="sldNum" sz="quarter" idx="12"/>
          </p:nvPr>
        </p:nvSpPr>
        <p:spPr/>
        <p:txBody>
          <a:bodyPr/>
          <a:lstStyle/>
          <a:p>
            <a:fld id="{F84CBD89-8108-40E7-80A0-C058BC8C724A}" type="slidenum">
              <a:rPr lang="en-US" smtClean="0"/>
              <a:t>‹#›</a:t>
            </a:fld>
            <a:endParaRPr lang="en-US"/>
          </a:p>
        </p:txBody>
      </p:sp>
    </p:spTree>
    <p:extLst>
      <p:ext uri="{BB962C8B-B14F-4D97-AF65-F5344CB8AC3E}">
        <p14:creationId xmlns:p14="http://schemas.microsoft.com/office/powerpoint/2010/main" val="9424501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FEDD600-BD00-B144-8745-CA84DBB3FAF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2A3E75A-231F-57C9-226B-660F4A8BC7C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A9A4B4B-24F4-B72F-54AA-28ACC608C5C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2FB66CF-97A3-4EA3-BB65-0933E8FD8D61}" type="datetimeFigureOut">
              <a:rPr lang="en-US" smtClean="0"/>
              <a:t>10/21/2025</a:t>
            </a:fld>
            <a:endParaRPr lang="en-US"/>
          </a:p>
        </p:txBody>
      </p:sp>
      <p:sp>
        <p:nvSpPr>
          <p:cNvPr id="5" name="Footer Placeholder 4">
            <a:extLst>
              <a:ext uri="{FF2B5EF4-FFF2-40B4-BE49-F238E27FC236}">
                <a16:creationId xmlns:a16="http://schemas.microsoft.com/office/drawing/2014/main" id="{23825C86-4742-8912-5D92-9F232FE4316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4707C6F-EC4E-F790-EE61-1F060D41A0C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84CBD89-8108-40E7-80A0-C058BC8C724A}" type="slidenum">
              <a:rPr lang="en-US" smtClean="0"/>
              <a:t>‹#›</a:t>
            </a:fld>
            <a:endParaRPr lang="en-US"/>
          </a:p>
        </p:txBody>
      </p:sp>
    </p:spTree>
    <p:extLst>
      <p:ext uri="{BB962C8B-B14F-4D97-AF65-F5344CB8AC3E}">
        <p14:creationId xmlns:p14="http://schemas.microsoft.com/office/powerpoint/2010/main" val="28523068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chart" Target="../charts/chart2.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B4E6625-A584-0150-66F3-8C50DE885610}"/>
              </a:ext>
            </a:extLst>
          </p:cNvPr>
          <p:cNvSpPr>
            <a:spLocks noGrp="1"/>
          </p:cNvSpPr>
          <p:nvPr>
            <p:ph type="title"/>
          </p:nvPr>
        </p:nvSpPr>
        <p:spPr/>
        <p:txBody>
          <a:bodyPr/>
          <a:lstStyle/>
          <a:p>
            <a:r>
              <a:rPr lang="en-US" dirty="0"/>
              <a:t>301 Oct 20, Class 15</a:t>
            </a:r>
          </a:p>
        </p:txBody>
      </p:sp>
      <p:sp>
        <p:nvSpPr>
          <p:cNvPr id="5" name="Content Placeholder 4">
            <a:extLst>
              <a:ext uri="{FF2B5EF4-FFF2-40B4-BE49-F238E27FC236}">
                <a16:creationId xmlns:a16="http://schemas.microsoft.com/office/drawing/2014/main" id="{F64A9D06-C76E-4064-67A2-E65CA0A678C9}"/>
              </a:ext>
            </a:extLst>
          </p:cNvPr>
          <p:cNvSpPr>
            <a:spLocks noGrp="1"/>
          </p:cNvSpPr>
          <p:nvPr>
            <p:ph idx="1"/>
          </p:nvPr>
        </p:nvSpPr>
        <p:spPr/>
        <p:txBody>
          <a:bodyPr/>
          <a:lstStyle/>
          <a:p>
            <a:r>
              <a:rPr lang="en-US" dirty="0"/>
              <a:t>Chapter 11: Carrying out ANOVA</a:t>
            </a:r>
          </a:p>
          <a:p>
            <a:pPr lvl="1"/>
            <a:r>
              <a:rPr lang="en-US" dirty="0"/>
              <a:t>ANOVA with demonstration examples</a:t>
            </a:r>
          </a:p>
          <a:p>
            <a:pPr lvl="1"/>
            <a:r>
              <a:rPr lang="en-US" dirty="0"/>
              <a:t>Interpreting different interaction types</a:t>
            </a:r>
          </a:p>
          <a:p>
            <a:pPr lvl="1"/>
            <a:endParaRPr lang="en-US" dirty="0"/>
          </a:p>
          <a:p>
            <a:r>
              <a:rPr lang="en-US" dirty="0"/>
              <a:t>Running and reporting analysis in R</a:t>
            </a:r>
          </a:p>
          <a:p>
            <a:endParaRPr lang="en-US" dirty="0"/>
          </a:p>
        </p:txBody>
      </p:sp>
    </p:spTree>
    <p:extLst>
      <p:ext uri="{BB962C8B-B14F-4D97-AF65-F5344CB8AC3E}">
        <p14:creationId xmlns:p14="http://schemas.microsoft.com/office/powerpoint/2010/main" val="25843100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29EC50-2481-191B-0F65-6036A61A2DB8}"/>
              </a:ext>
            </a:extLst>
          </p:cNvPr>
          <p:cNvSpPr>
            <a:spLocks noGrp="1"/>
          </p:cNvSpPr>
          <p:nvPr>
            <p:ph type="title"/>
          </p:nvPr>
        </p:nvSpPr>
        <p:spPr/>
        <p:txBody>
          <a:bodyPr/>
          <a:lstStyle/>
          <a:p>
            <a:r>
              <a:rPr lang="en-US" dirty="0"/>
              <a:t>Running </a:t>
            </a:r>
            <a:r>
              <a:rPr lang="en-US" dirty="0" err="1"/>
              <a:t>ezANOVA</a:t>
            </a:r>
            <a:endParaRPr lang="en-US" dirty="0"/>
          </a:p>
        </p:txBody>
      </p:sp>
      <p:sp>
        <p:nvSpPr>
          <p:cNvPr id="3" name="Content Placeholder 2">
            <a:extLst>
              <a:ext uri="{FF2B5EF4-FFF2-40B4-BE49-F238E27FC236}">
                <a16:creationId xmlns:a16="http://schemas.microsoft.com/office/drawing/2014/main" id="{3B0A658C-165C-7E05-6C8F-D921E6028012}"/>
              </a:ext>
            </a:extLst>
          </p:cNvPr>
          <p:cNvSpPr>
            <a:spLocks noGrp="1"/>
          </p:cNvSpPr>
          <p:nvPr>
            <p:ph idx="1"/>
          </p:nvPr>
        </p:nvSpPr>
        <p:spPr/>
        <p:txBody>
          <a:bodyPr/>
          <a:lstStyle/>
          <a:p>
            <a:r>
              <a:rPr lang="en-US" dirty="0"/>
              <a:t>Overview of the data in Excel</a:t>
            </a:r>
          </a:p>
          <a:p>
            <a:r>
              <a:rPr lang="en-US" dirty="0"/>
              <a:t>Launch </a:t>
            </a:r>
            <a:r>
              <a:rPr lang="en-US" dirty="0" err="1"/>
              <a:t>Rstudio</a:t>
            </a:r>
            <a:endParaRPr lang="en-US" dirty="0"/>
          </a:p>
          <a:p>
            <a:r>
              <a:rPr lang="en-US" dirty="0"/>
              <a:t>Load R script, 301Demo_Analysis.R</a:t>
            </a:r>
          </a:p>
          <a:p>
            <a:r>
              <a:rPr lang="en-US" dirty="0"/>
              <a:t>Step through the analysis</a:t>
            </a:r>
          </a:p>
          <a:p>
            <a:r>
              <a:rPr lang="en-US" dirty="0"/>
              <a:t>Format into APA style for Results reporting</a:t>
            </a:r>
          </a:p>
        </p:txBody>
      </p:sp>
    </p:spTree>
    <p:extLst>
      <p:ext uri="{BB962C8B-B14F-4D97-AF65-F5344CB8AC3E}">
        <p14:creationId xmlns:p14="http://schemas.microsoft.com/office/powerpoint/2010/main" val="3434486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0D563-02EA-140B-B4C3-C08AD6D9C359}"/>
              </a:ext>
            </a:extLst>
          </p:cNvPr>
          <p:cNvSpPr>
            <a:spLocks noGrp="1"/>
          </p:cNvSpPr>
          <p:nvPr>
            <p:ph type="title"/>
          </p:nvPr>
        </p:nvSpPr>
        <p:spPr/>
        <p:txBody>
          <a:bodyPr/>
          <a:lstStyle/>
          <a:p>
            <a:r>
              <a:rPr lang="en-US" dirty="0"/>
              <a:t>Example 1</a:t>
            </a:r>
          </a:p>
        </p:txBody>
      </p:sp>
      <p:sp>
        <p:nvSpPr>
          <p:cNvPr id="3" name="Content Placeholder 2">
            <a:extLst>
              <a:ext uri="{FF2B5EF4-FFF2-40B4-BE49-F238E27FC236}">
                <a16:creationId xmlns:a16="http://schemas.microsoft.com/office/drawing/2014/main" id="{EB6B604A-B150-EC4D-9063-797E898B778B}"/>
              </a:ext>
            </a:extLst>
          </p:cNvPr>
          <p:cNvSpPr>
            <a:spLocks noGrp="1"/>
          </p:cNvSpPr>
          <p:nvPr>
            <p:ph idx="1"/>
          </p:nvPr>
        </p:nvSpPr>
        <p:spPr/>
        <p:txBody>
          <a:bodyPr/>
          <a:lstStyle/>
          <a:p>
            <a:r>
              <a:rPr lang="en-US" dirty="0"/>
              <a:t>To test a Mozart Effect hypothesis, participants were assigned to listen to one of three kinds of audio while performing a spatial cognition test with 21 challenging problems. </a:t>
            </a:r>
          </a:p>
          <a:p>
            <a:r>
              <a:rPr lang="en-US" dirty="0"/>
              <a:t>The audio sounds were either soothing Ocean noise, Folk dance music or Classical music.</a:t>
            </a:r>
          </a:p>
          <a:p>
            <a:r>
              <a:rPr lang="en-US" dirty="0"/>
              <a:t>The number of problems solved was the dependent variable.</a:t>
            </a:r>
          </a:p>
          <a:p>
            <a:endParaRPr lang="en-US" dirty="0"/>
          </a:p>
        </p:txBody>
      </p:sp>
    </p:spTree>
    <p:extLst>
      <p:ext uri="{BB962C8B-B14F-4D97-AF65-F5344CB8AC3E}">
        <p14:creationId xmlns:p14="http://schemas.microsoft.com/office/powerpoint/2010/main" val="38198546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074FA6-2E10-8DE3-23EE-090FF09C5F44}"/>
              </a:ext>
            </a:extLst>
          </p:cNvPr>
          <p:cNvSpPr>
            <a:spLocks noGrp="1"/>
          </p:cNvSpPr>
          <p:nvPr>
            <p:ph type="title"/>
          </p:nvPr>
        </p:nvSpPr>
        <p:spPr/>
        <p:txBody>
          <a:bodyPr/>
          <a:lstStyle/>
          <a:p>
            <a:r>
              <a:rPr lang="en-US" dirty="0"/>
              <a:t>Reporting ANOVA results</a:t>
            </a:r>
          </a:p>
        </p:txBody>
      </p:sp>
      <p:sp>
        <p:nvSpPr>
          <p:cNvPr id="3" name="Content Placeholder 2">
            <a:extLst>
              <a:ext uri="{FF2B5EF4-FFF2-40B4-BE49-F238E27FC236}">
                <a16:creationId xmlns:a16="http://schemas.microsoft.com/office/drawing/2014/main" id="{A819AEEA-EFDE-3727-44F0-B4E4269EEEBB}"/>
              </a:ext>
            </a:extLst>
          </p:cNvPr>
          <p:cNvSpPr>
            <a:spLocks noGrp="1"/>
          </p:cNvSpPr>
          <p:nvPr>
            <p:ph idx="1"/>
          </p:nvPr>
        </p:nvSpPr>
        <p:spPr/>
        <p:txBody>
          <a:bodyPr>
            <a:normAutofit/>
          </a:bodyPr>
          <a:lstStyle/>
          <a:p>
            <a:r>
              <a:rPr lang="en-US" dirty="0"/>
              <a:t>Main effect</a:t>
            </a:r>
          </a:p>
          <a:p>
            <a:endParaRPr lang="en-US" dirty="0"/>
          </a:p>
          <a:p>
            <a:r>
              <a:rPr lang="en-US" dirty="0"/>
              <a:t>F(df1, df2) = X.XX, p&lt;.0x</a:t>
            </a:r>
          </a:p>
          <a:p>
            <a:endParaRPr lang="en-US" dirty="0"/>
          </a:p>
          <a:p>
            <a:endParaRPr lang="en-US" dirty="0"/>
          </a:p>
        </p:txBody>
      </p:sp>
    </p:spTree>
    <p:extLst>
      <p:ext uri="{BB962C8B-B14F-4D97-AF65-F5344CB8AC3E}">
        <p14:creationId xmlns:p14="http://schemas.microsoft.com/office/powerpoint/2010/main" val="35229764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48A62-76DE-50D3-AEB7-924306631EC8}"/>
              </a:ext>
            </a:extLst>
          </p:cNvPr>
          <p:cNvSpPr>
            <a:spLocks noGrp="1"/>
          </p:cNvSpPr>
          <p:nvPr>
            <p:ph type="title"/>
          </p:nvPr>
        </p:nvSpPr>
        <p:spPr/>
        <p:txBody>
          <a:bodyPr/>
          <a:lstStyle/>
          <a:p>
            <a:r>
              <a:rPr lang="en-US" dirty="0"/>
              <a:t>Example 2</a:t>
            </a:r>
          </a:p>
        </p:txBody>
      </p:sp>
      <p:sp>
        <p:nvSpPr>
          <p:cNvPr id="3" name="Content Placeholder 2">
            <a:extLst>
              <a:ext uri="{FF2B5EF4-FFF2-40B4-BE49-F238E27FC236}">
                <a16:creationId xmlns:a16="http://schemas.microsoft.com/office/drawing/2014/main" id="{20D6F636-6909-29B3-BB27-7FAC2391C2A1}"/>
              </a:ext>
            </a:extLst>
          </p:cNvPr>
          <p:cNvSpPr>
            <a:spLocks noGrp="1"/>
          </p:cNvSpPr>
          <p:nvPr>
            <p:ph idx="1"/>
          </p:nvPr>
        </p:nvSpPr>
        <p:spPr/>
        <p:txBody>
          <a:bodyPr>
            <a:normAutofit/>
          </a:bodyPr>
          <a:lstStyle/>
          <a:p>
            <a:r>
              <a:rPr lang="en-US" dirty="0"/>
              <a:t>To test the effect of various kinds of stressors on eating behavior, participants were given a series of anagram puzzles to solve.</a:t>
            </a:r>
          </a:p>
          <a:p>
            <a:r>
              <a:rPr lang="en-US" dirty="0"/>
              <a:t>The puzzles were selected to be either Hard or Easy with hard problems expected to be more stressful. The puzzles were printed in either Red or Black ink on the paper with red ink expected to increase stress.</a:t>
            </a:r>
          </a:p>
          <a:p>
            <a:r>
              <a:rPr lang="en-US" dirty="0"/>
              <a:t>After solving the puzzles, participants were provided with a bowl of chocolates and invited to take as many as they wanted.  The number of chocolates taken was the dependent variable.</a:t>
            </a:r>
          </a:p>
          <a:p>
            <a:endParaRPr lang="en-US" dirty="0"/>
          </a:p>
        </p:txBody>
      </p:sp>
    </p:spTree>
    <p:extLst>
      <p:ext uri="{BB962C8B-B14F-4D97-AF65-F5344CB8AC3E}">
        <p14:creationId xmlns:p14="http://schemas.microsoft.com/office/powerpoint/2010/main" val="4880993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1258E5-99A5-C831-BAC4-DB4D3E07F1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85F9B2-9E97-8BAB-71B7-5BB304BE0EB3}"/>
              </a:ext>
            </a:extLst>
          </p:cNvPr>
          <p:cNvSpPr>
            <a:spLocks noGrp="1"/>
          </p:cNvSpPr>
          <p:nvPr>
            <p:ph type="title"/>
          </p:nvPr>
        </p:nvSpPr>
        <p:spPr/>
        <p:txBody>
          <a:bodyPr/>
          <a:lstStyle/>
          <a:p>
            <a:r>
              <a:rPr lang="en-US" dirty="0"/>
              <a:t>Reporting ANOVA results</a:t>
            </a:r>
          </a:p>
        </p:txBody>
      </p:sp>
      <p:sp>
        <p:nvSpPr>
          <p:cNvPr id="3" name="Content Placeholder 2">
            <a:extLst>
              <a:ext uri="{FF2B5EF4-FFF2-40B4-BE49-F238E27FC236}">
                <a16:creationId xmlns:a16="http://schemas.microsoft.com/office/drawing/2014/main" id="{3C58A609-6F27-F3A5-4443-407F1884505A}"/>
              </a:ext>
            </a:extLst>
          </p:cNvPr>
          <p:cNvSpPr>
            <a:spLocks noGrp="1"/>
          </p:cNvSpPr>
          <p:nvPr>
            <p:ph idx="1"/>
          </p:nvPr>
        </p:nvSpPr>
        <p:spPr/>
        <p:txBody>
          <a:bodyPr>
            <a:normAutofit lnSpcReduction="10000"/>
          </a:bodyPr>
          <a:lstStyle/>
          <a:p>
            <a:r>
              <a:rPr lang="en-US" dirty="0"/>
              <a:t>Main effect</a:t>
            </a:r>
          </a:p>
          <a:p>
            <a:r>
              <a:rPr lang="en-US" dirty="0"/>
              <a:t>F(df1, df2) = X.XX, p&lt;.0x</a:t>
            </a:r>
          </a:p>
          <a:p>
            <a:endParaRPr lang="en-US" dirty="0"/>
          </a:p>
          <a:p>
            <a:r>
              <a:rPr lang="en-US" dirty="0"/>
              <a:t>Main Effect</a:t>
            </a:r>
          </a:p>
          <a:p>
            <a:r>
              <a:rPr lang="en-US" dirty="0"/>
              <a:t>F(df1, df2) = X.XX, p&lt;.0x</a:t>
            </a:r>
          </a:p>
          <a:p>
            <a:endParaRPr lang="en-US" dirty="0"/>
          </a:p>
          <a:p>
            <a:r>
              <a:rPr lang="en-US" dirty="0"/>
              <a:t>Interaction</a:t>
            </a:r>
          </a:p>
          <a:p>
            <a:r>
              <a:rPr lang="en-US" dirty="0"/>
              <a:t>F(df1, df2) = X.XX, p&lt;.0x</a:t>
            </a:r>
          </a:p>
          <a:p>
            <a:pPr lvl="1"/>
            <a:r>
              <a:rPr lang="en-US" dirty="0"/>
              <a:t>And explain</a:t>
            </a:r>
          </a:p>
          <a:p>
            <a:endParaRPr lang="en-US" dirty="0"/>
          </a:p>
        </p:txBody>
      </p:sp>
    </p:spTree>
    <p:extLst>
      <p:ext uri="{BB962C8B-B14F-4D97-AF65-F5344CB8AC3E}">
        <p14:creationId xmlns:p14="http://schemas.microsoft.com/office/powerpoint/2010/main" val="41530131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pPr eaLnBrk="1" hangingPunct="1"/>
            <a:r>
              <a:rPr lang="en-US" dirty="0"/>
              <a:t>The grass is always greener on the other side</a:t>
            </a:r>
          </a:p>
        </p:txBody>
      </p:sp>
      <p:sp>
        <p:nvSpPr>
          <p:cNvPr id="18435" name="Rectangle 3"/>
          <p:cNvSpPr>
            <a:spLocks noGrp="1" noChangeArrowheads="1"/>
          </p:cNvSpPr>
          <p:nvPr>
            <p:ph type="body" idx="1"/>
          </p:nvPr>
        </p:nvSpPr>
        <p:spPr/>
        <p:txBody>
          <a:bodyPr/>
          <a:lstStyle/>
          <a:p>
            <a:pPr eaLnBrk="1" hangingPunct="1"/>
            <a:r>
              <a:rPr lang="en-US" dirty="0"/>
              <a:t>Design a 2x2 between-participants factorial experiment to test the everyday meaning of this aphorism.  </a:t>
            </a:r>
          </a:p>
          <a:p>
            <a:pPr eaLnBrk="1" hangingPunct="1"/>
            <a:r>
              <a:rPr lang="en-US" dirty="0"/>
              <a:t>Use subjects high and low in optimism as one factor in the design.</a:t>
            </a:r>
          </a:p>
          <a:p>
            <a:pPr eaLnBrk="1" hangingPunct="1"/>
            <a:r>
              <a:rPr lang="en-US" dirty="0"/>
              <a:t>Give predicted results consistent with the idea that the grass on the other side will look greener and it will look particularly greener to optimists.</a:t>
            </a:r>
          </a:p>
        </p:txBody>
      </p:sp>
    </p:spTree>
    <p:extLst>
      <p:ext uri="{BB962C8B-B14F-4D97-AF65-F5344CB8AC3E}">
        <p14:creationId xmlns:p14="http://schemas.microsoft.com/office/powerpoint/2010/main" val="22505471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7A543D-B729-B173-FA77-22B04D3C4E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71199E-C7B5-68D0-5BCB-AFAC7B1467E7}"/>
              </a:ext>
            </a:extLst>
          </p:cNvPr>
          <p:cNvSpPr>
            <a:spLocks noGrp="1"/>
          </p:cNvSpPr>
          <p:nvPr>
            <p:ph type="title"/>
          </p:nvPr>
        </p:nvSpPr>
        <p:spPr/>
        <p:txBody>
          <a:bodyPr/>
          <a:lstStyle/>
          <a:p>
            <a:r>
              <a:rPr lang="en-US" dirty="0"/>
              <a:t>Reporting ANOVA results</a:t>
            </a:r>
          </a:p>
        </p:txBody>
      </p:sp>
      <p:sp>
        <p:nvSpPr>
          <p:cNvPr id="3" name="Content Placeholder 2">
            <a:extLst>
              <a:ext uri="{FF2B5EF4-FFF2-40B4-BE49-F238E27FC236}">
                <a16:creationId xmlns:a16="http://schemas.microsoft.com/office/drawing/2014/main" id="{8F9E8B2F-F2AE-2AF6-503C-48E1F9666B17}"/>
              </a:ext>
            </a:extLst>
          </p:cNvPr>
          <p:cNvSpPr>
            <a:spLocks noGrp="1"/>
          </p:cNvSpPr>
          <p:nvPr>
            <p:ph idx="1"/>
          </p:nvPr>
        </p:nvSpPr>
        <p:spPr/>
        <p:txBody>
          <a:bodyPr>
            <a:normAutofit lnSpcReduction="10000"/>
          </a:bodyPr>
          <a:lstStyle/>
          <a:p>
            <a:r>
              <a:rPr lang="en-US" dirty="0"/>
              <a:t>Main effect</a:t>
            </a:r>
          </a:p>
          <a:p>
            <a:r>
              <a:rPr lang="en-US" dirty="0"/>
              <a:t>F(df1, df2) = X.XX, p&lt;.0x</a:t>
            </a:r>
          </a:p>
          <a:p>
            <a:endParaRPr lang="en-US" dirty="0"/>
          </a:p>
          <a:p>
            <a:r>
              <a:rPr lang="en-US" dirty="0"/>
              <a:t>Main Effect</a:t>
            </a:r>
          </a:p>
          <a:p>
            <a:r>
              <a:rPr lang="en-US" dirty="0"/>
              <a:t>F(df1, df2) = X.XX, p&lt;.0x</a:t>
            </a:r>
          </a:p>
          <a:p>
            <a:endParaRPr lang="en-US" dirty="0"/>
          </a:p>
          <a:p>
            <a:r>
              <a:rPr lang="en-US" dirty="0"/>
              <a:t>Interaction</a:t>
            </a:r>
          </a:p>
          <a:p>
            <a:r>
              <a:rPr lang="en-US" dirty="0"/>
              <a:t>F(df1, df2) = X.XX, p&lt;.0x</a:t>
            </a:r>
          </a:p>
          <a:p>
            <a:pPr lvl="1"/>
            <a:r>
              <a:rPr lang="en-US" dirty="0"/>
              <a:t>And explain</a:t>
            </a:r>
          </a:p>
          <a:p>
            <a:endParaRPr lang="en-US" dirty="0"/>
          </a:p>
        </p:txBody>
      </p:sp>
    </p:spTree>
    <p:extLst>
      <p:ext uri="{BB962C8B-B14F-4D97-AF65-F5344CB8AC3E}">
        <p14:creationId xmlns:p14="http://schemas.microsoft.com/office/powerpoint/2010/main" val="8178154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9154" name="Group 2"/>
          <p:cNvGraphicFramePr>
            <a:graphicFrameLocks noGrp="1"/>
          </p:cNvGraphicFramePr>
          <p:nvPr/>
        </p:nvGraphicFramePr>
        <p:xfrm>
          <a:off x="1828800" y="228600"/>
          <a:ext cx="4038600" cy="2781300"/>
        </p:xfrm>
        <a:graphic>
          <a:graphicData uri="http://schemas.openxmlformats.org/drawingml/2006/table">
            <a:tbl>
              <a:tblPr/>
              <a:tblGrid>
                <a:gridCol w="16764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tblGrid>
              <a:tr h="1016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Arial" charset="0"/>
                        </a:rPr>
                        <a:t>Near</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Arial" charset="0"/>
                        </a:rPr>
                        <a:t>Far</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8826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Arial" charset="0"/>
                        </a:rPr>
                        <a:t>Optimists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4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8826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Arial" charset="0"/>
                        </a:rPr>
                        <a:t>Pessimists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4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pSp>
        <p:nvGrpSpPr>
          <p:cNvPr id="2" name="Group 20"/>
          <p:cNvGrpSpPr>
            <a:grpSpLocks/>
          </p:cNvGrpSpPr>
          <p:nvPr/>
        </p:nvGrpSpPr>
        <p:grpSpPr bwMode="auto">
          <a:xfrm>
            <a:off x="3733801" y="1447800"/>
            <a:ext cx="1831975" cy="1208088"/>
            <a:chOff x="1344" y="1031"/>
            <a:chExt cx="1154" cy="761"/>
          </a:xfrm>
        </p:grpSpPr>
        <p:sp>
          <p:nvSpPr>
            <p:cNvPr id="4118" name="Text Box 21"/>
            <p:cNvSpPr txBox="1">
              <a:spLocks noChangeArrowheads="1"/>
            </p:cNvSpPr>
            <p:nvPr/>
          </p:nvSpPr>
          <p:spPr bwMode="auto">
            <a:xfrm>
              <a:off x="1344" y="1031"/>
              <a:ext cx="374" cy="233"/>
            </a:xfrm>
            <a:prstGeom prst="rect">
              <a:avLst/>
            </a:prstGeom>
            <a:noFill/>
            <a:ln w="9525">
              <a:noFill/>
              <a:miter lim="800000"/>
              <a:headEnd/>
              <a:tailEnd/>
            </a:ln>
          </p:spPr>
          <p:txBody>
            <a:bodyPr wrap="none">
              <a:spAutoFit/>
            </a:bodyPr>
            <a:lstStyle/>
            <a:p>
              <a:r>
                <a:rPr lang="en-US" dirty="0"/>
                <a:t>2.87</a:t>
              </a:r>
            </a:p>
          </p:txBody>
        </p:sp>
        <p:sp>
          <p:nvSpPr>
            <p:cNvPr id="4119" name="Text Box 22"/>
            <p:cNvSpPr txBox="1">
              <a:spLocks noChangeArrowheads="1"/>
            </p:cNvSpPr>
            <p:nvPr/>
          </p:nvSpPr>
          <p:spPr bwMode="auto">
            <a:xfrm>
              <a:off x="2198" y="1031"/>
              <a:ext cx="300" cy="233"/>
            </a:xfrm>
            <a:prstGeom prst="rect">
              <a:avLst/>
            </a:prstGeom>
            <a:noFill/>
            <a:ln w="9525">
              <a:noFill/>
              <a:miter lim="800000"/>
              <a:headEnd/>
              <a:tailEnd/>
            </a:ln>
          </p:spPr>
          <p:txBody>
            <a:bodyPr wrap="none">
              <a:spAutoFit/>
            </a:bodyPr>
            <a:lstStyle/>
            <a:p>
              <a:r>
                <a:rPr lang="en-US" dirty="0"/>
                <a:t>4.6</a:t>
              </a:r>
            </a:p>
          </p:txBody>
        </p:sp>
        <p:sp>
          <p:nvSpPr>
            <p:cNvPr id="4120" name="Text Box 23"/>
            <p:cNvSpPr txBox="1">
              <a:spLocks noChangeArrowheads="1"/>
            </p:cNvSpPr>
            <p:nvPr/>
          </p:nvSpPr>
          <p:spPr bwMode="auto">
            <a:xfrm>
              <a:off x="1344" y="1559"/>
              <a:ext cx="374" cy="233"/>
            </a:xfrm>
            <a:prstGeom prst="rect">
              <a:avLst/>
            </a:prstGeom>
            <a:noFill/>
            <a:ln w="9525">
              <a:noFill/>
              <a:miter lim="800000"/>
              <a:headEnd/>
              <a:tailEnd/>
            </a:ln>
          </p:spPr>
          <p:txBody>
            <a:bodyPr wrap="none">
              <a:spAutoFit/>
            </a:bodyPr>
            <a:lstStyle/>
            <a:p>
              <a:r>
                <a:rPr lang="en-US" dirty="0"/>
                <a:t>2.47</a:t>
              </a:r>
            </a:p>
          </p:txBody>
        </p:sp>
        <p:sp>
          <p:nvSpPr>
            <p:cNvPr id="4121" name="Text Box 24"/>
            <p:cNvSpPr txBox="1">
              <a:spLocks noChangeArrowheads="1"/>
            </p:cNvSpPr>
            <p:nvPr/>
          </p:nvSpPr>
          <p:spPr bwMode="auto">
            <a:xfrm>
              <a:off x="2198" y="1559"/>
              <a:ext cx="300" cy="233"/>
            </a:xfrm>
            <a:prstGeom prst="rect">
              <a:avLst/>
            </a:prstGeom>
            <a:noFill/>
            <a:ln w="9525">
              <a:noFill/>
              <a:miter lim="800000"/>
              <a:headEnd/>
              <a:tailEnd/>
            </a:ln>
          </p:spPr>
          <p:txBody>
            <a:bodyPr wrap="none">
              <a:spAutoFit/>
            </a:bodyPr>
            <a:lstStyle/>
            <a:p>
              <a:r>
                <a:rPr lang="en-US" dirty="0"/>
                <a:t>3.4</a:t>
              </a:r>
            </a:p>
          </p:txBody>
        </p:sp>
      </p:grpSp>
      <p:graphicFrame>
        <p:nvGraphicFramePr>
          <p:cNvPr id="3" name="Chart 2">
            <a:extLst>
              <a:ext uri="{FF2B5EF4-FFF2-40B4-BE49-F238E27FC236}">
                <a16:creationId xmlns:a16="http://schemas.microsoft.com/office/drawing/2014/main" id="{96F7DDB0-4165-C31A-E9CC-B93071E8FBD8}"/>
              </a:ext>
            </a:extLst>
          </p:cNvPr>
          <p:cNvGraphicFramePr>
            <a:graphicFrameLocks/>
          </p:cNvGraphicFramePr>
          <p:nvPr/>
        </p:nvGraphicFramePr>
        <p:xfrm>
          <a:off x="6095999" y="2023353"/>
          <a:ext cx="4740613" cy="4333673"/>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4981685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1DF303-5E78-93FE-32AD-8B32D4302C95}"/>
              </a:ext>
            </a:extLst>
          </p:cNvPr>
          <p:cNvSpPr>
            <a:spLocks noGrp="1"/>
          </p:cNvSpPr>
          <p:nvPr>
            <p:ph type="title"/>
          </p:nvPr>
        </p:nvSpPr>
        <p:spPr/>
        <p:txBody>
          <a:bodyPr/>
          <a:lstStyle/>
          <a:p>
            <a:r>
              <a:rPr lang="en-US" dirty="0"/>
              <a:t>Experiment 2 Design</a:t>
            </a:r>
          </a:p>
        </p:txBody>
      </p:sp>
      <p:graphicFrame>
        <p:nvGraphicFramePr>
          <p:cNvPr id="4" name="Content Placeholder 5">
            <a:extLst>
              <a:ext uri="{FF2B5EF4-FFF2-40B4-BE49-F238E27FC236}">
                <a16:creationId xmlns:a16="http://schemas.microsoft.com/office/drawing/2014/main" id="{742BCF92-813F-369E-EA12-F1B1E1873787}"/>
              </a:ext>
            </a:extLst>
          </p:cNvPr>
          <p:cNvGraphicFramePr>
            <a:graphicFrameLocks noGrp="1"/>
          </p:cNvGraphicFramePr>
          <p:nvPr>
            <p:ph idx="1"/>
          </p:nvPr>
        </p:nvGraphicFramePr>
        <p:xfrm>
          <a:off x="838200" y="1825625"/>
          <a:ext cx="8685811" cy="4868101"/>
        </p:xfrm>
        <a:graphic>
          <a:graphicData uri="http://schemas.openxmlformats.org/drawingml/2006/table">
            <a:tbl>
              <a:tblPr firstRow="1" firstCol="1" bandRow="1">
                <a:tableStyleId>{5940675A-B579-460E-94D1-54222C63F5DA}</a:tableStyleId>
              </a:tblPr>
              <a:tblGrid>
                <a:gridCol w="1811132">
                  <a:extLst>
                    <a:ext uri="{9D8B030D-6E8A-4147-A177-3AD203B41FA5}">
                      <a16:colId xmlns:a16="http://schemas.microsoft.com/office/drawing/2014/main" val="2604552184"/>
                    </a:ext>
                  </a:extLst>
                </a:gridCol>
                <a:gridCol w="1811132">
                  <a:extLst>
                    <a:ext uri="{9D8B030D-6E8A-4147-A177-3AD203B41FA5}">
                      <a16:colId xmlns:a16="http://schemas.microsoft.com/office/drawing/2014/main" val="3664444023"/>
                    </a:ext>
                  </a:extLst>
                </a:gridCol>
                <a:gridCol w="1827003">
                  <a:extLst>
                    <a:ext uri="{9D8B030D-6E8A-4147-A177-3AD203B41FA5}">
                      <a16:colId xmlns:a16="http://schemas.microsoft.com/office/drawing/2014/main" val="463607112"/>
                    </a:ext>
                  </a:extLst>
                </a:gridCol>
                <a:gridCol w="1827003">
                  <a:extLst>
                    <a:ext uri="{9D8B030D-6E8A-4147-A177-3AD203B41FA5}">
                      <a16:colId xmlns:a16="http://schemas.microsoft.com/office/drawing/2014/main" val="2125234978"/>
                    </a:ext>
                  </a:extLst>
                </a:gridCol>
                <a:gridCol w="1409541">
                  <a:extLst>
                    <a:ext uri="{9D8B030D-6E8A-4147-A177-3AD203B41FA5}">
                      <a16:colId xmlns:a16="http://schemas.microsoft.com/office/drawing/2014/main" val="4290430288"/>
                    </a:ext>
                  </a:extLst>
                </a:gridCol>
              </a:tblGrid>
              <a:tr h="0">
                <a:tc rowSpan="2" gridSpan="2">
                  <a:txBody>
                    <a:bodyPr/>
                    <a:lstStyle/>
                    <a:p>
                      <a:pPr marL="0" marR="0" algn="ctr">
                        <a:lnSpc>
                          <a:spcPct val="115000"/>
                        </a:lnSpc>
                        <a:spcBef>
                          <a:spcPts val="1195"/>
                        </a:spcBef>
                        <a:spcAft>
                          <a:spcPts val="0"/>
                        </a:spcAft>
                      </a:pPr>
                      <a:endParaRPr lang="en-US" sz="28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68580" marR="68580" marT="0" marB="0"/>
                </a:tc>
                <a:tc rowSpan="2" hMerge="1">
                  <a:txBody>
                    <a:bodyPr/>
                    <a:lstStyle/>
                    <a:p>
                      <a:endParaRPr lang="en-US"/>
                    </a:p>
                  </a:txBody>
                  <a:tcPr/>
                </a:tc>
                <a:tc gridSpan="2">
                  <a:txBody>
                    <a:bodyPr/>
                    <a:lstStyle/>
                    <a:p>
                      <a:pPr marL="0" marR="0" algn="ctr">
                        <a:lnSpc>
                          <a:spcPct val="115000"/>
                        </a:lnSpc>
                        <a:spcBef>
                          <a:spcPts val="1195"/>
                        </a:spcBef>
                        <a:spcAft>
                          <a:spcPts val="0"/>
                        </a:spcAft>
                      </a:pPr>
                      <a:r>
                        <a:rPr lang="en-US" sz="2800" dirty="0">
                          <a:effectLst/>
                        </a:rPr>
                        <a:t>Meaningful</a:t>
                      </a:r>
                      <a:endParaRPr lang="en-US" sz="28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68580" marR="68580" marT="0" marB="0"/>
                </a:tc>
                <a:tc hMerge="1">
                  <a:txBody>
                    <a:bodyPr/>
                    <a:lstStyle/>
                    <a:p>
                      <a:endParaRPr lang="en-US"/>
                    </a:p>
                  </a:txBody>
                  <a:tcPr/>
                </a:tc>
                <a:tc>
                  <a:txBody>
                    <a:bodyPr/>
                    <a:lstStyle/>
                    <a:p>
                      <a:pPr marL="0" marR="0" algn="ctr">
                        <a:lnSpc>
                          <a:spcPct val="115000"/>
                        </a:lnSpc>
                        <a:spcBef>
                          <a:spcPts val="1195"/>
                        </a:spcBef>
                        <a:spcAft>
                          <a:spcPts val="0"/>
                        </a:spcAft>
                      </a:pPr>
                      <a:endParaRPr lang="en-US" sz="2800" dirty="0">
                        <a:effectLst/>
                        <a:latin typeface="Times New Roman" panose="02020603050405020304" pitchFamily="18" charset="0"/>
                        <a:cs typeface="Latha" panose="020B0604020202020204" pitchFamily="34" charset="0"/>
                      </a:endParaRPr>
                    </a:p>
                  </a:txBody>
                  <a:tcPr marL="68580" marR="68580" marT="0" marB="0"/>
                </a:tc>
                <a:extLst>
                  <a:ext uri="{0D108BD9-81ED-4DB2-BD59-A6C34878D82A}">
                    <a16:rowId xmlns:a16="http://schemas.microsoft.com/office/drawing/2014/main" val="190243908"/>
                  </a:ext>
                </a:extLst>
              </a:tr>
              <a:tr h="0">
                <a:tc gridSpan="2" vMerge="1">
                  <a:txBody>
                    <a:bodyPr/>
                    <a:lstStyle/>
                    <a:p>
                      <a:endParaRPr lang="en-US"/>
                    </a:p>
                  </a:txBody>
                  <a:tcPr/>
                </a:tc>
                <a:tc hMerge="1" vMerge="1">
                  <a:txBody>
                    <a:bodyPr/>
                    <a:lstStyle/>
                    <a:p>
                      <a:endParaRPr lang="en-US"/>
                    </a:p>
                  </a:txBody>
                  <a:tcPr/>
                </a:tc>
                <a:tc>
                  <a:txBody>
                    <a:bodyPr/>
                    <a:lstStyle/>
                    <a:p>
                      <a:pPr marL="0" marR="0" algn="ctr">
                        <a:lnSpc>
                          <a:spcPct val="115000"/>
                        </a:lnSpc>
                        <a:spcBef>
                          <a:spcPts val="1195"/>
                        </a:spcBef>
                        <a:spcAft>
                          <a:spcPts val="0"/>
                        </a:spcAft>
                      </a:pPr>
                      <a:r>
                        <a:rPr lang="en-US" sz="2800" dirty="0">
                          <a:effectLst/>
                        </a:rPr>
                        <a:t>Abstract</a:t>
                      </a:r>
                      <a:endParaRPr lang="en-US" sz="28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68580" marR="68580" marT="0" marB="0"/>
                </a:tc>
                <a:tc>
                  <a:txBody>
                    <a:bodyPr/>
                    <a:lstStyle/>
                    <a:p>
                      <a:pPr marL="0" marR="0" algn="ctr">
                        <a:lnSpc>
                          <a:spcPct val="115000"/>
                        </a:lnSpc>
                        <a:spcBef>
                          <a:spcPts val="1195"/>
                        </a:spcBef>
                        <a:spcAft>
                          <a:spcPts val="0"/>
                        </a:spcAft>
                      </a:pPr>
                      <a:r>
                        <a:rPr lang="en-US" sz="2800" dirty="0">
                          <a:effectLst/>
                        </a:rPr>
                        <a:t>Object</a:t>
                      </a:r>
                      <a:endParaRPr lang="en-US" sz="28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68580" marR="68580" marT="0" marB="0"/>
                </a:tc>
                <a:tc>
                  <a:txBody>
                    <a:bodyPr/>
                    <a:lstStyle/>
                    <a:p>
                      <a:pPr marL="0" marR="0" algn="ctr">
                        <a:lnSpc>
                          <a:spcPct val="115000"/>
                        </a:lnSpc>
                        <a:spcBef>
                          <a:spcPts val="1195"/>
                        </a:spcBef>
                        <a:spcAft>
                          <a:spcPts val="0"/>
                        </a:spcAft>
                      </a:pPr>
                      <a:endParaRPr lang="en-US" sz="2800" dirty="0">
                        <a:effectLst/>
                      </a:endParaRPr>
                    </a:p>
                  </a:txBody>
                  <a:tcPr marL="68580" marR="68580" marT="0" marB="0"/>
                </a:tc>
                <a:extLst>
                  <a:ext uri="{0D108BD9-81ED-4DB2-BD59-A6C34878D82A}">
                    <a16:rowId xmlns:a16="http://schemas.microsoft.com/office/drawing/2014/main" val="3199670532"/>
                  </a:ext>
                </a:extLst>
              </a:tr>
              <a:tr h="622300">
                <a:tc rowSpan="2">
                  <a:txBody>
                    <a:bodyPr/>
                    <a:lstStyle/>
                    <a:p>
                      <a:pPr marL="0" marR="0" algn="ctr">
                        <a:lnSpc>
                          <a:spcPct val="115000"/>
                        </a:lnSpc>
                        <a:spcBef>
                          <a:spcPts val="1195"/>
                        </a:spcBef>
                        <a:spcAft>
                          <a:spcPts val="0"/>
                        </a:spcAft>
                      </a:pPr>
                      <a:r>
                        <a:rPr lang="en-US" sz="2800" dirty="0">
                          <a:effectLst/>
                        </a:rPr>
                        <a:t>Encoding</a:t>
                      </a:r>
                      <a:endParaRPr lang="en-US" sz="28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68580" marR="68580" marT="0" marB="0" anchor="ctr"/>
                </a:tc>
                <a:tc>
                  <a:txBody>
                    <a:bodyPr/>
                    <a:lstStyle/>
                    <a:p>
                      <a:pPr marL="0" marR="0" algn="ctr">
                        <a:lnSpc>
                          <a:spcPct val="115000"/>
                        </a:lnSpc>
                        <a:spcBef>
                          <a:spcPts val="1195"/>
                        </a:spcBef>
                        <a:spcAft>
                          <a:spcPts val="0"/>
                        </a:spcAft>
                      </a:pPr>
                      <a:r>
                        <a:rPr lang="en-US" sz="2800" dirty="0">
                          <a:effectLst/>
                        </a:rPr>
                        <a:t>Shallow</a:t>
                      </a:r>
                      <a:endParaRPr lang="en-US" sz="28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68580" marR="68580" marT="0" marB="0" anchor="ctr"/>
                </a:tc>
                <a:tc>
                  <a:txBody>
                    <a:bodyPr/>
                    <a:lstStyle/>
                    <a:p>
                      <a:pPr marL="0" marR="0" algn="ctr">
                        <a:lnSpc>
                          <a:spcPct val="115000"/>
                        </a:lnSpc>
                        <a:spcBef>
                          <a:spcPts val="1195"/>
                        </a:spcBef>
                        <a:spcAft>
                          <a:spcPts val="0"/>
                        </a:spcAft>
                      </a:pPr>
                      <a:endParaRPr lang="en-US" sz="2800" dirty="0">
                        <a:effectLst/>
                        <a:latin typeface="Times New Roman" panose="02020603050405020304" pitchFamily="18" charset="0"/>
                        <a:ea typeface="Times New Roman" panose="02020603050405020304" pitchFamily="18" charset="0"/>
                        <a:cs typeface="Latha" panose="020B0604020202020204" pitchFamily="34" charset="0"/>
                      </a:endParaRPr>
                    </a:p>
                    <a:p>
                      <a:pPr marL="0" marR="0" algn="ctr">
                        <a:lnSpc>
                          <a:spcPct val="115000"/>
                        </a:lnSpc>
                        <a:spcBef>
                          <a:spcPts val="1195"/>
                        </a:spcBef>
                        <a:spcAft>
                          <a:spcPts val="0"/>
                        </a:spcAft>
                      </a:pPr>
                      <a:endParaRPr lang="en-US" sz="2800" dirty="0">
                        <a:effectLst/>
                        <a:latin typeface="Times New Roman" panose="02020603050405020304" pitchFamily="18" charset="0"/>
                        <a:ea typeface="Times New Roman" panose="02020603050405020304" pitchFamily="18" charset="0"/>
                        <a:cs typeface="Latha" panose="020B0604020202020204" pitchFamily="34" charset="0"/>
                      </a:endParaRPr>
                    </a:p>
                    <a:p>
                      <a:pPr marL="0" marR="0" algn="ctr">
                        <a:lnSpc>
                          <a:spcPct val="115000"/>
                        </a:lnSpc>
                        <a:spcBef>
                          <a:spcPts val="1195"/>
                        </a:spcBef>
                        <a:spcAft>
                          <a:spcPts val="0"/>
                        </a:spcAft>
                      </a:pPr>
                      <a:r>
                        <a:rPr lang="en-US" sz="2800" dirty="0">
                          <a:effectLst/>
                          <a:latin typeface="Times New Roman" panose="02020603050405020304" pitchFamily="18" charset="0"/>
                          <a:ea typeface="Times New Roman" panose="02020603050405020304" pitchFamily="18" charset="0"/>
                          <a:cs typeface="Latha" panose="020B0604020202020204" pitchFamily="34" charset="0"/>
                        </a:rPr>
                        <a:t>Color?</a:t>
                      </a:r>
                    </a:p>
                  </a:txBody>
                  <a:tcPr marL="68580" marR="68580" marT="0" marB="0"/>
                </a:tc>
                <a:tc>
                  <a:txBody>
                    <a:bodyPr/>
                    <a:lstStyle/>
                    <a:p>
                      <a:pPr marL="0" marR="0" algn="ctr">
                        <a:lnSpc>
                          <a:spcPct val="115000"/>
                        </a:lnSpc>
                        <a:spcBef>
                          <a:spcPts val="1195"/>
                        </a:spcBef>
                        <a:spcAft>
                          <a:spcPts val="0"/>
                        </a:spcAft>
                      </a:pPr>
                      <a:endParaRPr lang="en-US" sz="2800" dirty="0">
                        <a:effectLst/>
                        <a:latin typeface="Times New Roman" panose="02020603050405020304" pitchFamily="18" charset="0"/>
                        <a:ea typeface="Times New Roman" panose="02020603050405020304" pitchFamily="18" charset="0"/>
                        <a:cs typeface="Latha" panose="020B0604020202020204" pitchFamily="34" charset="0"/>
                      </a:endParaRPr>
                    </a:p>
                    <a:p>
                      <a:pPr marL="0" marR="0" algn="ctr">
                        <a:lnSpc>
                          <a:spcPct val="115000"/>
                        </a:lnSpc>
                        <a:spcBef>
                          <a:spcPts val="1195"/>
                        </a:spcBef>
                        <a:spcAft>
                          <a:spcPts val="0"/>
                        </a:spcAft>
                      </a:pPr>
                      <a:endParaRPr lang="en-US" sz="2800" dirty="0">
                        <a:effectLst/>
                        <a:latin typeface="Times New Roman" panose="02020603050405020304" pitchFamily="18" charset="0"/>
                        <a:ea typeface="Times New Roman" panose="02020603050405020304" pitchFamily="18" charset="0"/>
                        <a:cs typeface="Latha" panose="020B0604020202020204" pitchFamily="34" charset="0"/>
                      </a:endParaRPr>
                    </a:p>
                    <a:p>
                      <a:pPr marL="0" marR="0" lvl="0" indent="0" algn="ctr" defTabSz="914400" rtl="0" eaLnBrk="1" fontAlgn="auto" latinLnBrk="0" hangingPunct="1">
                        <a:lnSpc>
                          <a:spcPct val="115000"/>
                        </a:lnSpc>
                        <a:spcBef>
                          <a:spcPts val="1195"/>
                        </a:spcBef>
                        <a:spcAft>
                          <a:spcPts val="0"/>
                        </a:spcAft>
                        <a:buClrTx/>
                        <a:buSzTx/>
                        <a:buFontTx/>
                        <a:buNone/>
                        <a:tabLst/>
                        <a:defRPr/>
                      </a:pPr>
                      <a:r>
                        <a:rPr lang="en-US" sz="2800" dirty="0">
                          <a:effectLst/>
                          <a:latin typeface="Times New Roman" panose="02020603050405020304" pitchFamily="18" charset="0"/>
                          <a:ea typeface="Times New Roman" panose="02020603050405020304" pitchFamily="18" charset="0"/>
                          <a:cs typeface="Latha" panose="020B0604020202020204" pitchFamily="34" charset="0"/>
                        </a:rPr>
                        <a:t>Color?</a:t>
                      </a:r>
                    </a:p>
                  </a:txBody>
                  <a:tcPr marL="68580" marR="68580" marT="0" marB="0"/>
                </a:tc>
                <a:tc>
                  <a:txBody>
                    <a:bodyPr/>
                    <a:lstStyle/>
                    <a:p>
                      <a:pPr marL="0" marR="0" algn="ctr">
                        <a:lnSpc>
                          <a:spcPct val="115000"/>
                        </a:lnSpc>
                        <a:spcBef>
                          <a:spcPts val="1195"/>
                        </a:spcBef>
                        <a:spcAft>
                          <a:spcPts val="0"/>
                        </a:spcAft>
                      </a:pPr>
                      <a:endParaRPr lang="en-US" sz="2800">
                        <a:effectLst/>
                        <a:latin typeface="Times New Roman" panose="02020603050405020304" pitchFamily="18" charset="0"/>
                        <a:ea typeface="Times New Roman" panose="02020603050405020304" pitchFamily="18" charset="0"/>
                        <a:cs typeface="Latha" panose="020B0604020202020204" pitchFamily="34" charset="0"/>
                      </a:endParaRPr>
                    </a:p>
                  </a:txBody>
                  <a:tcPr marL="68580" marR="68580" marT="0" marB="0"/>
                </a:tc>
                <a:extLst>
                  <a:ext uri="{0D108BD9-81ED-4DB2-BD59-A6C34878D82A}">
                    <a16:rowId xmlns:a16="http://schemas.microsoft.com/office/drawing/2014/main" val="1833728225"/>
                  </a:ext>
                </a:extLst>
              </a:tr>
              <a:tr h="508000">
                <a:tc vMerge="1">
                  <a:txBody>
                    <a:bodyPr/>
                    <a:lstStyle/>
                    <a:p>
                      <a:endParaRPr lang="en-US"/>
                    </a:p>
                  </a:txBody>
                  <a:tcPr/>
                </a:tc>
                <a:tc>
                  <a:txBody>
                    <a:bodyPr/>
                    <a:lstStyle/>
                    <a:p>
                      <a:pPr marL="0" marR="0" algn="ctr">
                        <a:lnSpc>
                          <a:spcPct val="115000"/>
                        </a:lnSpc>
                        <a:spcBef>
                          <a:spcPts val="1195"/>
                        </a:spcBef>
                        <a:spcAft>
                          <a:spcPts val="0"/>
                        </a:spcAft>
                      </a:pPr>
                      <a:r>
                        <a:rPr lang="en-US" sz="2800" dirty="0">
                          <a:effectLst/>
                        </a:rPr>
                        <a:t>Deep</a:t>
                      </a:r>
                      <a:endParaRPr lang="en-US" sz="28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68580" marR="68580" marT="0" marB="0" anchor="ctr"/>
                </a:tc>
                <a:tc>
                  <a:txBody>
                    <a:bodyPr/>
                    <a:lstStyle/>
                    <a:p>
                      <a:pPr marL="0" marR="0" algn="ctr">
                        <a:lnSpc>
                          <a:spcPct val="115000"/>
                        </a:lnSpc>
                        <a:spcBef>
                          <a:spcPts val="1195"/>
                        </a:spcBef>
                        <a:spcAft>
                          <a:spcPts val="0"/>
                        </a:spcAft>
                      </a:pPr>
                      <a:endParaRPr lang="en-US" sz="2800" dirty="0">
                        <a:effectLst/>
                        <a:latin typeface="Times New Roman" panose="02020603050405020304" pitchFamily="18" charset="0"/>
                        <a:ea typeface="Times New Roman" panose="02020603050405020304" pitchFamily="18" charset="0"/>
                        <a:cs typeface="Latha" panose="020B0604020202020204" pitchFamily="34" charset="0"/>
                      </a:endParaRPr>
                    </a:p>
                    <a:p>
                      <a:pPr marL="0" marR="0" algn="ctr">
                        <a:lnSpc>
                          <a:spcPct val="115000"/>
                        </a:lnSpc>
                        <a:spcBef>
                          <a:spcPts val="1195"/>
                        </a:spcBef>
                        <a:spcAft>
                          <a:spcPts val="0"/>
                        </a:spcAft>
                      </a:pPr>
                      <a:endParaRPr lang="en-US" sz="2800" dirty="0">
                        <a:effectLst/>
                        <a:latin typeface="Times New Roman" panose="02020603050405020304" pitchFamily="18" charset="0"/>
                        <a:ea typeface="Times New Roman" panose="02020603050405020304" pitchFamily="18" charset="0"/>
                        <a:cs typeface="Latha" panose="020B0604020202020204" pitchFamily="34" charset="0"/>
                      </a:endParaRPr>
                    </a:p>
                    <a:p>
                      <a:pPr marL="0" marR="0" algn="ctr">
                        <a:lnSpc>
                          <a:spcPct val="115000"/>
                        </a:lnSpc>
                        <a:spcBef>
                          <a:spcPts val="1195"/>
                        </a:spcBef>
                        <a:spcAft>
                          <a:spcPts val="0"/>
                        </a:spcAft>
                      </a:pPr>
                      <a:r>
                        <a:rPr lang="en-US" sz="2800" dirty="0">
                          <a:effectLst/>
                          <a:latin typeface="Times New Roman" panose="02020603050405020304" pitchFamily="18" charset="0"/>
                          <a:ea typeface="Times New Roman" panose="02020603050405020304" pitchFamily="18" charset="0"/>
                          <a:cs typeface="Latha" panose="020B0604020202020204" pitchFamily="34" charset="0"/>
                        </a:rPr>
                        <a:t>Liking?</a:t>
                      </a:r>
                    </a:p>
                  </a:txBody>
                  <a:tcPr marL="68580" marR="68580" marT="0" marB="0"/>
                </a:tc>
                <a:tc>
                  <a:txBody>
                    <a:bodyPr/>
                    <a:lstStyle/>
                    <a:p>
                      <a:pPr marL="0" marR="0" algn="ctr">
                        <a:lnSpc>
                          <a:spcPct val="115000"/>
                        </a:lnSpc>
                        <a:spcBef>
                          <a:spcPts val="1195"/>
                        </a:spcBef>
                        <a:spcAft>
                          <a:spcPts val="0"/>
                        </a:spcAft>
                      </a:pPr>
                      <a:endParaRPr lang="en-US" sz="2800" dirty="0">
                        <a:effectLst/>
                        <a:latin typeface="Times New Roman" panose="02020603050405020304" pitchFamily="18" charset="0"/>
                        <a:ea typeface="Times New Roman" panose="02020603050405020304" pitchFamily="18" charset="0"/>
                        <a:cs typeface="Latha" panose="020B0604020202020204" pitchFamily="34" charset="0"/>
                      </a:endParaRPr>
                    </a:p>
                    <a:p>
                      <a:pPr marL="0" marR="0" algn="ctr">
                        <a:lnSpc>
                          <a:spcPct val="115000"/>
                        </a:lnSpc>
                        <a:spcBef>
                          <a:spcPts val="1195"/>
                        </a:spcBef>
                        <a:spcAft>
                          <a:spcPts val="0"/>
                        </a:spcAft>
                      </a:pPr>
                      <a:endParaRPr lang="en-US" sz="2800" dirty="0">
                        <a:effectLst/>
                        <a:latin typeface="Times New Roman" panose="02020603050405020304" pitchFamily="18" charset="0"/>
                        <a:ea typeface="Times New Roman" panose="02020603050405020304" pitchFamily="18" charset="0"/>
                        <a:cs typeface="Latha" panose="020B0604020202020204" pitchFamily="34" charset="0"/>
                      </a:endParaRPr>
                    </a:p>
                    <a:p>
                      <a:pPr marL="0" marR="0" lvl="0" indent="0" algn="ctr" defTabSz="914400" rtl="0" eaLnBrk="1" fontAlgn="auto" latinLnBrk="0" hangingPunct="1">
                        <a:lnSpc>
                          <a:spcPct val="115000"/>
                        </a:lnSpc>
                        <a:spcBef>
                          <a:spcPts val="1195"/>
                        </a:spcBef>
                        <a:spcAft>
                          <a:spcPts val="0"/>
                        </a:spcAft>
                        <a:buClrTx/>
                        <a:buSzTx/>
                        <a:buFontTx/>
                        <a:buNone/>
                        <a:tabLst/>
                        <a:defRPr/>
                      </a:pPr>
                      <a:r>
                        <a:rPr lang="en-US" sz="2800" dirty="0">
                          <a:effectLst/>
                          <a:latin typeface="Times New Roman" panose="02020603050405020304" pitchFamily="18" charset="0"/>
                          <a:ea typeface="Times New Roman" panose="02020603050405020304" pitchFamily="18" charset="0"/>
                          <a:cs typeface="Latha" panose="020B0604020202020204" pitchFamily="34" charset="0"/>
                        </a:rPr>
                        <a:t>Liking?</a:t>
                      </a:r>
                    </a:p>
                  </a:txBody>
                  <a:tcPr marL="68580" marR="68580" marT="0" marB="0"/>
                </a:tc>
                <a:tc>
                  <a:txBody>
                    <a:bodyPr/>
                    <a:lstStyle/>
                    <a:p>
                      <a:pPr marL="0" marR="0" algn="ctr">
                        <a:lnSpc>
                          <a:spcPct val="115000"/>
                        </a:lnSpc>
                        <a:spcBef>
                          <a:spcPts val="1195"/>
                        </a:spcBef>
                        <a:spcAft>
                          <a:spcPts val="0"/>
                        </a:spcAft>
                      </a:pPr>
                      <a:endParaRPr lang="en-US" sz="2800">
                        <a:effectLst/>
                        <a:latin typeface="Times New Roman" panose="02020603050405020304" pitchFamily="18" charset="0"/>
                        <a:ea typeface="Times New Roman" panose="02020603050405020304" pitchFamily="18" charset="0"/>
                        <a:cs typeface="Latha" panose="020B0604020202020204" pitchFamily="34" charset="0"/>
                      </a:endParaRPr>
                    </a:p>
                  </a:txBody>
                  <a:tcPr marL="68580" marR="68580" marT="0" marB="0"/>
                </a:tc>
                <a:extLst>
                  <a:ext uri="{0D108BD9-81ED-4DB2-BD59-A6C34878D82A}">
                    <a16:rowId xmlns:a16="http://schemas.microsoft.com/office/drawing/2014/main" val="3926125194"/>
                  </a:ext>
                </a:extLst>
              </a:tr>
              <a:tr h="450850">
                <a:tc>
                  <a:txBody>
                    <a:bodyPr/>
                    <a:lstStyle/>
                    <a:p>
                      <a:pPr marL="0" marR="0" algn="ctr">
                        <a:lnSpc>
                          <a:spcPct val="115000"/>
                        </a:lnSpc>
                        <a:spcBef>
                          <a:spcPts val="1195"/>
                        </a:spcBef>
                        <a:spcAft>
                          <a:spcPts val="0"/>
                        </a:spcAft>
                      </a:pPr>
                      <a:r>
                        <a:rPr lang="en-US" sz="2800">
                          <a:effectLst/>
                        </a:rPr>
                        <a:t> </a:t>
                      </a:r>
                      <a:endParaRPr lang="en-US" sz="2800">
                        <a:effectLst/>
                        <a:latin typeface="Times New Roman" panose="02020603050405020304" pitchFamily="18" charset="0"/>
                        <a:ea typeface="Times New Roman" panose="02020603050405020304" pitchFamily="18" charset="0"/>
                        <a:cs typeface="Latha" panose="020B0604020202020204" pitchFamily="34" charset="0"/>
                      </a:endParaRPr>
                    </a:p>
                  </a:txBody>
                  <a:tcPr marL="68580" marR="68580" marT="0" marB="0"/>
                </a:tc>
                <a:tc>
                  <a:txBody>
                    <a:bodyPr/>
                    <a:lstStyle/>
                    <a:p>
                      <a:pPr marL="0" marR="0" algn="ctr">
                        <a:lnSpc>
                          <a:spcPct val="115000"/>
                        </a:lnSpc>
                        <a:spcBef>
                          <a:spcPts val="1195"/>
                        </a:spcBef>
                        <a:spcAft>
                          <a:spcPts val="0"/>
                        </a:spcAft>
                      </a:pPr>
                      <a:endParaRPr lang="en-US" sz="28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68580" marR="68580" marT="0" marB="0" anchor="ctr"/>
                </a:tc>
                <a:tc>
                  <a:txBody>
                    <a:bodyPr/>
                    <a:lstStyle/>
                    <a:p>
                      <a:pPr marL="0" marR="0" algn="ctr">
                        <a:lnSpc>
                          <a:spcPct val="115000"/>
                        </a:lnSpc>
                        <a:spcBef>
                          <a:spcPts val="1195"/>
                        </a:spcBef>
                        <a:spcAft>
                          <a:spcPts val="0"/>
                        </a:spcAft>
                      </a:pPr>
                      <a:endParaRPr lang="en-US" sz="28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68580" marR="68580" marT="0" marB="0"/>
                </a:tc>
                <a:tc>
                  <a:txBody>
                    <a:bodyPr/>
                    <a:lstStyle/>
                    <a:p>
                      <a:pPr marL="0" marR="0" algn="ctr">
                        <a:lnSpc>
                          <a:spcPct val="115000"/>
                        </a:lnSpc>
                        <a:spcBef>
                          <a:spcPts val="1195"/>
                        </a:spcBef>
                        <a:spcAft>
                          <a:spcPts val="0"/>
                        </a:spcAft>
                      </a:pPr>
                      <a:endParaRPr lang="en-US" sz="28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68580" marR="68580" marT="0" marB="0"/>
                </a:tc>
                <a:tc>
                  <a:txBody>
                    <a:bodyPr/>
                    <a:lstStyle/>
                    <a:p>
                      <a:pPr marL="0" marR="0" algn="ctr">
                        <a:lnSpc>
                          <a:spcPct val="115000"/>
                        </a:lnSpc>
                        <a:spcBef>
                          <a:spcPts val="1195"/>
                        </a:spcBef>
                        <a:spcAft>
                          <a:spcPts val="0"/>
                        </a:spcAft>
                      </a:pPr>
                      <a:endParaRPr lang="en-US" sz="28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68580" marR="68580" marT="0" marB="0"/>
                </a:tc>
                <a:extLst>
                  <a:ext uri="{0D108BD9-81ED-4DB2-BD59-A6C34878D82A}">
                    <a16:rowId xmlns:a16="http://schemas.microsoft.com/office/drawing/2014/main" val="1681898838"/>
                  </a:ext>
                </a:extLst>
              </a:tr>
            </a:tbl>
          </a:graphicData>
        </a:graphic>
      </p:graphicFrame>
      <p:pic>
        <p:nvPicPr>
          <p:cNvPr id="7" name="Content Placeholder 4">
            <a:extLst>
              <a:ext uri="{FF2B5EF4-FFF2-40B4-BE49-F238E27FC236}">
                <a16:creationId xmlns:a16="http://schemas.microsoft.com/office/drawing/2014/main" id="{08A6BCE7-F398-DB6F-FFCC-58FCDB54E2F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bwMode="auto">
          <a:xfrm>
            <a:off x="6922598" y="3062451"/>
            <a:ext cx="6858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Content Placeholder 4">
            <a:extLst>
              <a:ext uri="{FF2B5EF4-FFF2-40B4-BE49-F238E27FC236}">
                <a16:creationId xmlns:a16="http://schemas.microsoft.com/office/drawing/2014/main" id="{2DF8BF1C-6EB7-08AE-E1B4-ABAFC55EEB8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bwMode="auto">
          <a:xfrm>
            <a:off x="6922598" y="4665825"/>
            <a:ext cx="6858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a:extLst>
              <a:ext uri="{FF2B5EF4-FFF2-40B4-BE49-F238E27FC236}">
                <a16:creationId xmlns:a16="http://schemas.microsoft.com/office/drawing/2014/main" id="{B629CCB0-4F52-5B80-8705-F2572A053362}"/>
              </a:ext>
            </a:extLst>
          </p:cNvPr>
          <p:cNvPicPr>
            <a:picLocks noChangeAspect="1"/>
          </p:cNvPicPr>
          <p:nvPr/>
        </p:nvPicPr>
        <p:blipFill>
          <a:blip r:embed="rId3"/>
          <a:srcRect r="60590"/>
          <a:stretch/>
        </p:blipFill>
        <p:spPr>
          <a:xfrm>
            <a:off x="5003965" y="3086100"/>
            <a:ext cx="688820" cy="685800"/>
          </a:xfrm>
          <a:prstGeom prst="rect">
            <a:avLst/>
          </a:prstGeom>
        </p:spPr>
      </p:pic>
      <p:pic>
        <p:nvPicPr>
          <p:cNvPr id="9" name="Picture 8">
            <a:extLst>
              <a:ext uri="{FF2B5EF4-FFF2-40B4-BE49-F238E27FC236}">
                <a16:creationId xmlns:a16="http://schemas.microsoft.com/office/drawing/2014/main" id="{71ABBE42-D612-C642-9CB6-12F99CF652F3}"/>
              </a:ext>
            </a:extLst>
          </p:cNvPr>
          <p:cNvPicPr>
            <a:picLocks noChangeAspect="1"/>
          </p:cNvPicPr>
          <p:nvPr/>
        </p:nvPicPr>
        <p:blipFill>
          <a:blip r:embed="rId3"/>
          <a:srcRect r="60590"/>
          <a:stretch/>
        </p:blipFill>
        <p:spPr>
          <a:xfrm>
            <a:off x="5008508" y="4689475"/>
            <a:ext cx="688820" cy="685800"/>
          </a:xfrm>
          <a:prstGeom prst="rect">
            <a:avLst/>
          </a:prstGeom>
        </p:spPr>
      </p:pic>
    </p:spTree>
    <p:extLst>
      <p:ext uri="{BB962C8B-B14F-4D97-AF65-F5344CB8AC3E}">
        <p14:creationId xmlns:p14="http://schemas.microsoft.com/office/powerpoint/2010/main" val="40890519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32DA7-0C28-9E90-C03B-7CDD510C302B}"/>
              </a:ext>
            </a:extLst>
          </p:cNvPr>
          <p:cNvSpPr>
            <a:spLocks noGrp="1"/>
          </p:cNvSpPr>
          <p:nvPr>
            <p:ph type="title"/>
          </p:nvPr>
        </p:nvSpPr>
        <p:spPr/>
        <p:txBody>
          <a:bodyPr/>
          <a:lstStyle/>
          <a:p>
            <a:r>
              <a:rPr lang="en-US" dirty="0"/>
              <a:t>Rating scales</a:t>
            </a:r>
          </a:p>
        </p:txBody>
      </p:sp>
      <p:sp>
        <p:nvSpPr>
          <p:cNvPr id="3" name="Content Placeholder 2">
            <a:extLst>
              <a:ext uri="{FF2B5EF4-FFF2-40B4-BE49-F238E27FC236}">
                <a16:creationId xmlns:a16="http://schemas.microsoft.com/office/drawing/2014/main" id="{8063D8DA-EB45-9361-C6C6-62914BDD7D9A}"/>
              </a:ext>
            </a:extLst>
          </p:cNvPr>
          <p:cNvSpPr>
            <a:spLocks noGrp="1"/>
          </p:cNvSpPr>
          <p:nvPr>
            <p:ph idx="1"/>
          </p:nvPr>
        </p:nvSpPr>
        <p:spPr/>
        <p:txBody>
          <a:bodyPr/>
          <a:lstStyle/>
          <a:p>
            <a:r>
              <a:rPr lang="en-US" dirty="0"/>
              <a:t>Deep encoding</a:t>
            </a:r>
          </a:p>
          <a:p>
            <a:r>
              <a:rPr lang="en-US" dirty="0"/>
              <a:t>Liking rating</a:t>
            </a:r>
          </a:p>
          <a:p>
            <a:endParaRPr lang="en-US" dirty="0"/>
          </a:p>
          <a:p>
            <a:endParaRPr lang="en-US" dirty="0"/>
          </a:p>
          <a:p>
            <a:endParaRPr lang="en-US" dirty="0"/>
          </a:p>
          <a:p>
            <a:endParaRPr lang="en-US" dirty="0"/>
          </a:p>
          <a:p>
            <a:r>
              <a:rPr lang="en-US" dirty="0"/>
              <a:t>Shallow encoding</a:t>
            </a:r>
          </a:p>
          <a:p>
            <a:r>
              <a:rPr lang="en-US" dirty="0"/>
              <a:t>Most prominent color</a:t>
            </a:r>
          </a:p>
        </p:txBody>
      </p:sp>
      <p:pic>
        <p:nvPicPr>
          <p:cNvPr id="5" name="Picture 4">
            <a:extLst>
              <a:ext uri="{FF2B5EF4-FFF2-40B4-BE49-F238E27FC236}">
                <a16:creationId xmlns:a16="http://schemas.microsoft.com/office/drawing/2014/main" id="{A42C5C8B-BBB0-AC1F-62CE-6FB68F1652AC}"/>
              </a:ext>
            </a:extLst>
          </p:cNvPr>
          <p:cNvPicPr>
            <a:picLocks noChangeAspect="1"/>
          </p:cNvPicPr>
          <p:nvPr/>
        </p:nvPicPr>
        <p:blipFill>
          <a:blip r:embed="rId2"/>
          <a:stretch>
            <a:fillRect/>
          </a:stretch>
        </p:blipFill>
        <p:spPr>
          <a:xfrm>
            <a:off x="4439903" y="1509713"/>
            <a:ext cx="7210425" cy="2066925"/>
          </a:xfrm>
          <a:prstGeom prst="rect">
            <a:avLst/>
          </a:prstGeom>
        </p:spPr>
      </p:pic>
      <p:pic>
        <p:nvPicPr>
          <p:cNvPr id="7" name="Picture 6">
            <a:extLst>
              <a:ext uri="{FF2B5EF4-FFF2-40B4-BE49-F238E27FC236}">
                <a16:creationId xmlns:a16="http://schemas.microsoft.com/office/drawing/2014/main" id="{C3E8C5FC-69D1-CE48-4C21-906A9F861BEA}"/>
              </a:ext>
            </a:extLst>
          </p:cNvPr>
          <p:cNvPicPr>
            <a:picLocks noChangeAspect="1"/>
          </p:cNvPicPr>
          <p:nvPr/>
        </p:nvPicPr>
        <p:blipFill>
          <a:blip r:embed="rId3"/>
          <a:stretch>
            <a:fillRect/>
          </a:stretch>
        </p:blipFill>
        <p:spPr>
          <a:xfrm>
            <a:off x="4573252" y="4597400"/>
            <a:ext cx="6943725" cy="1895475"/>
          </a:xfrm>
          <a:prstGeom prst="rect">
            <a:avLst/>
          </a:prstGeom>
        </p:spPr>
      </p:pic>
    </p:spTree>
    <p:extLst>
      <p:ext uri="{BB962C8B-B14F-4D97-AF65-F5344CB8AC3E}">
        <p14:creationId xmlns:p14="http://schemas.microsoft.com/office/powerpoint/2010/main" val="25775693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3D3C7-0CD8-6B9D-77D3-FF96B7787D9A}"/>
              </a:ext>
            </a:extLst>
          </p:cNvPr>
          <p:cNvSpPr>
            <a:spLocks noGrp="1"/>
          </p:cNvSpPr>
          <p:nvPr>
            <p:ph type="title"/>
          </p:nvPr>
        </p:nvSpPr>
        <p:spPr/>
        <p:txBody>
          <a:bodyPr/>
          <a:lstStyle/>
          <a:p>
            <a:r>
              <a:rPr lang="en-US" dirty="0"/>
              <a:t>Experiment 2</a:t>
            </a:r>
          </a:p>
        </p:txBody>
      </p:sp>
      <p:sp>
        <p:nvSpPr>
          <p:cNvPr id="3" name="Content Placeholder 2">
            <a:extLst>
              <a:ext uri="{FF2B5EF4-FFF2-40B4-BE49-F238E27FC236}">
                <a16:creationId xmlns:a16="http://schemas.microsoft.com/office/drawing/2014/main" id="{A14CFBAE-268C-9783-FFA0-3CF3EA82921C}"/>
              </a:ext>
            </a:extLst>
          </p:cNvPr>
          <p:cNvSpPr>
            <a:spLocks noGrp="1"/>
          </p:cNvSpPr>
          <p:nvPr>
            <p:ph idx="1"/>
          </p:nvPr>
        </p:nvSpPr>
        <p:spPr/>
        <p:txBody>
          <a:bodyPr/>
          <a:lstStyle/>
          <a:p>
            <a:r>
              <a:rPr lang="en-US" dirty="0"/>
              <a:t>Data collection should be wrapping up</a:t>
            </a:r>
          </a:p>
          <a:p>
            <a:endParaRPr lang="en-US" dirty="0"/>
          </a:p>
          <a:p>
            <a:r>
              <a:rPr lang="en-US" dirty="0"/>
              <a:t>Available data posted tonight/tomorrow</a:t>
            </a:r>
          </a:p>
          <a:p>
            <a:pPr lvl="1"/>
            <a:r>
              <a:rPr lang="en-US" dirty="0"/>
              <a:t>With analysis script</a:t>
            </a:r>
          </a:p>
          <a:p>
            <a:pPr lvl="1"/>
            <a:r>
              <a:rPr lang="en-US" dirty="0"/>
              <a:t>Run ANOVA</a:t>
            </a:r>
          </a:p>
          <a:p>
            <a:pPr lvl="1"/>
            <a:r>
              <a:rPr lang="en-US" dirty="0"/>
              <a:t>Make Figure for results</a:t>
            </a:r>
          </a:p>
          <a:p>
            <a:pPr lvl="1"/>
            <a:endParaRPr lang="en-US" dirty="0"/>
          </a:p>
        </p:txBody>
      </p:sp>
    </p:spTree>
    <p:extLst>
      <p:ext uri="{BB962C8B-B14F-4D97-AF65-F5344CB8AC3E}">
        <p14:creationId xmlns:p14="http://schemas.microsoft.com/office/powerpoint/2010/main" val="19646491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9225F-D4DF-90EB-19E2-E1BA48AEF56D}"/>
              </a:ext>
            </a:extLst>
          </p:cNvPr>
          <p:cNvSpPr>
            <a:spLocks noGrp="1"/>
          </p:cNvSpPr>
          <p:nvPr>
            <p:ph type="title"/>
          </p:nvPr>
        </p:nvSpPr>
        <p:spPr/>
        <p:txBody>
          <a:bodyPr/>
          <a:lstStyle/>
          <a:p>
            <a:r>
              <a:rPr lang="en-US" dirty="0"/>
              <a:t>Making a 2x2 figure</a:t>
            </a:r>
          </a:p>
        </p:txBody>
      </p:sp>
      <p:sp>
        <p:nvSpPr>
          <p:cNvPr id="3" name="Content Placeholder 2">
            <a:extLst>
              <a:ext uri="{FF2B5EF4-FFF2-40B4-BE49-F238E27FC236}">
                <a16:creationId xmlns:a16="http://schemas.microsoft.com/office/drawing/2014/main" id="{DBCD3C9B-2386-4F69-F279-8F58EF8534F9}"/>
              </a:ext>
            </a:extLst>
          </p:cNvPr>
          <p:cNvSpPr>
            <a:spLocks noGrp="1"/>
          </p:cNvSpPr>
          <p:nvPr>
            <p:ph idx="1"/>
          </p:nvPr>
        </p:nvSpPr>
        <p:spPr/>
        <p:txBody>
          <a:bodyPr/>
          <a:lstStyle/>
          <a:p>
            <a:r>
              <a:rPr lang="en-US" dirty="0"/>
              <a:t>Making the means table</a:t>
            </a:r>
          </a:p>
          <a:p>
            <a:pPr lvl="1"/>
            <a:r>
              <a:rPr lang="en-US" dirty="0"/>
              <a:t>2x2 data, 3x3 with labels</a:t>
            </a:r>
          </a:p>
          <a:p>
            <a:pPr lvl="1"/>
            <a:r>
              <a:rPr lang="en-US" dirty="0"/>
              <a:t>Separate SE table for eventual error bars</a:t>
            </a:r>
          </a:p>
          <a:p>
            <a:r>
              <a:rPr lang="en-US" dirty="0"/>
              <a:t>Insert “chart”</a:t>
            </a:r>
          </a:p>
          <a:p>
            <a:pPr lvl="1"/>
            <a:r>
              <a:rPr lang="en-US" dirty="0"/>
              <a:t>2d bar graph</a:t>
            </a:r>
          </a:p>
          <a:p>
            <a:pPr lvl="1"/>
            <a:r>
              <a:rPr lang="en-US" dirty="0"/>
              <a:t>Line graph</a:t>
            </a:r>
          </a:p>
          <a:p>
            <a:r>
              <a:rPr lang="en-US" dirty="0"/>
              <a:t>Formatting</a:t>
            </a:r>
          </a:p>
          <a:p>
            <a:pPr lvl="1"/>
            <a:r>
              <a:rPr lang="en-US" dirty="0"/>
              <a:t>Remove title</a:t>
            </a:r>
          </a:p>
          <a:p>
            <a:pPr lvl="1"/>
            <a:r>
              <a:rPr lang="en-US" dirty="0"/>
              <a:t>Label y-axis</a:t>
            </a:r>
          </a:p>
          <a:p>
            <a:pPr lvl="1"/>
            <a:r>
              <a:rPr lang="en-US" dirty="0"/>
              <a:t>Add SE bars</a:t>
            </a:r>
          </a:p>
        </p:txBody>
      </p:sp>
    </p:spTree>
    <p:extLst>
      <p:ext uri="{BB962C8B-B14F-4D97-AF65-F5344CB8AC3E}">
        <p14:creationId xmlns:p14="http://schemas.microsoft.com/office/powerpoint/2010/main" val="37992632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85D67C-F23D-8246-E305-9576BD6378A2}"/>
              </a:ext>
            </a:extLst>
          </p:cNvPr>
          <p:cNvSpPr>
            <a:spLocks noGrp="1"/>
          </p:cNvSpPr>
          <p:nvPr>
            <p:ph type="title"/>
          </p:nvPr>
        </p:nvSpPr>
        <p:spPr/>
        <p:txBody>
          <a:bodyPr/>
          <a:lstStyle/>
          <a:p>
            <a:r>
              <a:rPr lang="en-US" dirty="0"/>
              <a:t>Patterns of Results in 2x2 Designs</a:t>
            </a:r>
          </a:p>
        </p:txBody>
      </p:sp>
      <p:sp>
        <p:nvSpPr>
          <p:cNvPr id="3" name="Content Placeholder 2">
            <a:extLst>
              <a:ext uri="{FF2B5EF4-FFF2-40B4-BE49-F238E27FC236}">
                <a16:creationId xmlns:a16="http://schemas.microsoft.com/office/drawing/2014/main" id="{03BE5027-F516-3C6C-47C1-5EE3F873B40F}"/>
              </a:ext>
            </a:extLst>
          </p:cNvPr>
          <p:cNvSpPr>
            <a:spLocks noGrp="1"/>
          </p:cNvSpPr>
          <p:nvPr>
            <p:ph idx="1"/>
          </p:nvPr>
        </p:nvSpPr>
        <p:spPr/>
        <p:txBody>
          <a:bodyPr/>
          <a:lstStyle/>
          <a:p>
            <a:r>
              <a:rPr lang="en-US" dirty="0"/>
              <a:t>Simulated data</a:t>
            </a:r>
          </a:p>
          <a:p>
            <a:r>
              <a:rPr lang="en-US" dirty="0"/>
              <a:t>Factor 1 has two levels</a:t>
            </a:r>
          </a:p>
          <a:p>
            <a:pPr lvl="1"/>
            <a:r>
              <a:rPr lang="en-US" dirty="0"/>
              <a:t>Condition A, Condition B</a:t>
            </a:r>
          </a:p>
          <a:p>
            <a:r>
              <a:rPr lang="en-US" dirty="0"/>
              <a:t>Factor 2 has two levels</a:t>
            </a:r>
          </a:p>
          <a:p>
            <a:pPr lvl="1"/>
            <a:r>
              <a:rPr lang="en-US" dirty="0"/>
              <a:t>Condition X, Condition Y</a:t>
            </a:r>
          </a:p>
          <a:p>
            <a:r>
              <a:rPr lang="en-US" dirty="0"/>
              <a:t>Dependent variable is a measure on a 10-point scale</a:t>
            </a:r>
          </a:p>
          <a:p>
            <a:r>
              <a:rPr lang="en-US" dirty="0"/>
              <a:t>20 participants per condition</a:t>
            </a:r>
          </a:p>
        </p:txBody>
      </p:sp>
    </p:spTree>
    <p:extLst>
      <p:ext uri="{BB962C8B-B14F-4D97-AF65-F5344CB8AC3E}">
        <p14:creationId xmlns:p14="http://schemas.microsoft.com/office/powerpoint/2010/main" val="21821144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E0175D-7541-8701-3CA2-F79DC0854A5F}"/>
              </a:ext>
            </a:extLst>
          </p:cNvPr>
          <p:cNvSpPr>
            <a:spLocks noGrp="1"/>
          </p:cNvSpPr>
          <p:nvPr>
            <p:ph type="title"/>
          </p:nvPr>
        </p:nvSpPr>
        <p:spPr/>
        <p:txBody>
          <a:bodyPr/>
          <a:lstStyle/>
          <a:p>
            <a:r>
              <a:rPr lang="en-US" dirty="0"/>
              <a:t>Data in a Means Table</a:t>
            </a:r>
          </a:p>
        </p:txBody>
      </p:sp>
      <p:graphicFrame>
        <p:nvGraphicFramePr>
          <p:cNvPr id="4" name="Content Placeholder 3">
            <a:extLst>
              <a:ext uri="{FF2B5EF4-FFF2-40B4-BE49-F238E27FC236}">
                <a16:creationId xmlns:a16="http://schemas.microsoft.com/office/drawing/2014/main" id="{04CAAD58-D79F-92DF-15D4-9C6A5E135395}"/>
              </a:ext>
            </a:extLst>
          </p:cNvPr>
          <p:cNvGraphicFramePr>
            <a:graphicFrameLocks noGrp="1"/>
          </p:cNvGraphicFramePr>
          <p:nvPr>
            <p:ph idx="1"/>
          </p:nvPr>
        </p:nvGraphicFramePr>
        <p:xfrm>
          <a:off x="903848" y="2255520"/>
          <a:ext cx="8146119" cy="4193834"/>
        </p:xfrm>
        <a:graphic>
          <a:graphicData uri="http://schemas.openxmlformats.org/drawingml/2006/table">
            <a:tbl>
              <a:tblPr firstRow="1" firstCol="1" bandRow="1">
                <a:tableStyleId>{5940675A-B579-460E-94D1-54222C63F5DA}</a:tableStyleId>
              </a:tblPr>
              <a:tblGrid>
                <a:gridCol w="1698598">
                  <a:extLst>
                    <a:ext uri="{9D8B030D-6E8A-4147-A177-3AD203B41FA5}">
                      <a16:colId xmlns:a16="http://schemas.microsoft.com/office/drawing/2014/main" val="1616339839"/>
                    </a:ext>
                  </a:extLst>
                </a:gridCol>
                <a:gridCol w="1698598">
                  <a:extLst>
                    <a:ext uri="{9D8B030D-6E8A-4147-A177-3AD203B41FA5}">
                      <a16:colId xmlns:a16="http://schemas.microsoft.com/office/drawing/2014/main" val="3907258368"/>
                    </a:ext>
                  </a:extLst>
                </a:gridCol>
                <a:gridCol w="1713482">
                  <a:extLst>
                    <a:ext uri="{9D8B030D-6E8A-4147-A177-3AD203B41FA5}">
                      <a16:colId xmlns:a16="http://schemas.microsoft.com/office/drawing/2014/main" val="3012083006"/>
                    </a:ext>
                  </a:extLst>
                </a:gridCol>
                <a:gridCol w="1713482">
                  <a:extLst>
                    <a:ext uri="{9D8B030D-6E8A-4147-A177-3AD203B41FA5}">
                      <a16:colId xmlns:a16="http://schemas.microsoft.com/office/drawing/2014/main" val="1141096882"/>
                    </a:ext>
                  </a:extLst>
                </a:gridCol>
                <a:gridCol w="1321959">
                  <a:extLst>
                    <a:ext uri="{9D8B030D-6E8A-4147-A177-3AD203B41FA5}">
                      <a16:colId xmlns:a16="http://schemas.microsoft.com/office/drawing/2014/main" val="369330102"/>
                    </a:ext>
                  </a:extLst>
                </a:gridCol>
              </a:tblGrid>
              <a:tr h="271689">
                <a:tc rowSpan="2" gridSpan="2">
                  <a:txBody>
                    <a:bodyPr/>
                    <a:lstStyle/>
                    <a:p>
                      <a:pPr marL="0" marR="0" algn="ctr">
                        <a:lnSpc>
                          <a:spcPct val="115000"/>
                        </a:lnSpc>
                        <a:spcBef>
                          <a:spcPts val="1195"/>
                        </a:spcBef>
                        <a:spcAft>
                          <a:spcPts val="0"/>
                        </a:spcAft>
                      </a:pPr>
                      <a:r>
                        <a:rPr lang="en-US" sz="2800" dirty="0">
                          <a:effectLst/>
                        </a:rPr>
                        <a:t>Means</a:t>
                      </a:r>
                      <a:br>
                        <a:rPr lang="en-US" sz="2800" dirty="0">
                          <a:effectLst/>
                        </a:rPr>
                      </a:br>
                      <a:r>
                        <a:rPr lang="en-US" sz="2800" dirty="0">
                          <a:effectLst/>
                        </a:rPr>
                        <a:t>Table</a:t>
                      </a:r>
                      <a:endParaRPr lang="en-US" sz="28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126081" marR="126081" marT="63041" marB="63041"/>
                </a:tc>
                <a:tc rowSpan="2" hMerge="1">
                  <a:txBody>
                    <a:bodyPr/>
                    <a:lstStyle/>
                    <a:p>
                      <a:endParaRPr lang="en-US"/>
                    </a:p>
                  </a:txBody>
                  <a:tcPr/>
                </a:tc>
                <a:tc gridSpan="2">
                  <a:txBody>
                    <a:bodyPr/>
                    <a:lstStyle/>
                    <a:p>
                      <a:pPr marL="0" marR="0" algn="ctr">
                        <a:lnSpc>
                          <a:spcPct val="115000"/>
                        </a:lnSpc>
                        <a:spcBef>
                          <a:spcPts val="1195"/>
                        </a:spcBef>
                        <a:spcAft>
                          <a:spcPts val="0"/>
                        </a:spcAft>
                      </a:pPr>
                      <a:r>
                        <a:rPr lang="en-US" sz="2800">
                          <a:effectLst/>
                        </a:rPr>
                        <a:t>Factor 1</a:t>
                      </a:r>
                      <a:endParaRPr lang="en-US" sz="2800">
                        <a:effectLst/>
                        <a:latin typeface="Times New Roman" panose="02020603050405020304" pitchFamily="18" charset="0"/>
                        <a:ea typeface="Times New Roman" panose="02020603050405020304" pitchFamily="18" charset="0"/>
                        <a:cs typeface="Latha" panose="020B0604020202020204" pitchFamily="34" charset="0"/>
                      </a:endParaRPr>
                    </a:p>
                  </a:txBody>
                  <a:tcPr marL="126081" marR="126081" marT="63041" marB="63041"/>
                </a:tc>
                <a:tc hMerge="1">
                  <a:txBody>
                    <a:bodyPr/>
                    <a:lstStyle/>
                    <a:p>
                      <a:endParaRPr lang="en-US"/>
                    </a:p>
                  </a:txBody>
                  <a:tcPr/>
                </a:tc>
                <a:tc>
                  <a:txBody>
                    <a:bodyPr/>
                    <a:lstStyle/>
                    <a:p>
                      <a:pPr marL="0" marR="0" algn="ctr">
                        <a:lnSpc>
                          <a:spcPct val="115000"/>
                        </a:lnSpc>
                        <a:spcBef>
                          <a:spcPts val="1195"/>
                        </a:spcBef>
                        <a:spcAft>
                          <a:spcPts val="0"/>
                        </a:spcAft>
                      </a:pPr>
                      <a:r>
                        <a:rPr lang="en-US" sz="2800" dirty="0">
                          <a:effectLst/>
                        </a:rPr>
                        <a:t> </a:t>
                      </a:r>
                      <a:r>
                        <a:rPr lang="en-US" sz="1800" dirty="0">
                          <a:effectLst/>
                        </a:rPr>
                        <a:t> </a:t>
                      </a:r>
                      <a:endParaRPr lang="en-US" sz="1800" dirty="0">
                        <a:effectLst/>
                        <a:latin typeface="Times New Roman" panose="02020603050405020304" pitchFamily="18" charset="0"/>
                        <a:cs typeface="Latha" panose="020B0604020202020204" pitchFamily="34" charset="0"/>
                      </a:endParaRPr>
                    </a:p>
                  </a:txBody>
                  <a:tcPr marL="94561" marR="94561" marT="0" marB="0"/>
                </a:tc>
                <a:extLst>
                  <a:ext uri="{0D108BD9-81ED-4DB2-BD59-A6C34878D82A}">
                    <a16:rowId xmlns:a16="http://schemas.microsoft.com/office/drawing/2014/main" val="4276051239"/>
                  </a:ext>
                </a:extLst>
              </a:tr>
              <a:tr h="289987">
                <a:tc gridSpan="2" vMerge="1">
                  <a:txBody>
                    <a:bodyPr/>
                    <a:lstStyle/>
                    <a:p>
                      <a:endParaRPr lang="en-US"/>
                    </a:p>
                  </a:txBody>
                  <a:tcPr/>
                </a:tc>
                <a:tc hMerge="1" vMerge="1">
                  <a:txBody>
                    <a:bodyPr/>
                    <a:lstStyle/>
                    <a:p>
                      <a:endParaRPr lang="en-US"/>
                    </a:p>
                  </a:txBody>
                  <a:tcPr/>
                </a:tc>
                <a:tc>
                  <a:txBody>
                    <a:bodyPr/>
                    <a:lstStyle/>
                    <a:p>
                      <a:pPr marL="0" marR="0" algn="ctr">
                        <a:lnSpc>
                          <a:spcPct val="115000"/>
                        </a:lnSpc>
                        <a:spcBef>
                          <a:spcPts val="1195"/>
                        </a:spcBef>
                        <a:spcAft>
                          <a:spcPts val="0"/>
                        </a:spcAft>
                      </a:pPr>
                      <a:r>
                        <a:rPr lang="en-US" sz="2800">
                          <a:effectLst/>
                        </a:rPr>
                        <a:t>A</a:t>
                      </a:r>
                      <a:endParaRPr lang="en-US" sz="2800">
                        <a:effectLst/>
                        <a:latin typeface="Times New Roman" panose="02020603050405020304" pitchFamily="18" charset="0"/>
                        <a:ea typeface="Times New Roman" panose="02020603050405020304" pitchFamily="18" charset="0"/>
                        <a:cs typeface="Latha" panose="020B0604020202020204" pitchFamily="34" charset="0"/>
                      </a:endParaRPr>
                    </a:p>
                  </a:txBody>
                  <a:tcPr marL="94561" marR="94561" marT="0" marB="0"/>
                </a:tc>
                <a:tc>
                  <a:txBody>
                    <a:bodyPr/>
                    <a:lstStyle/>
                    <a:p>
                      <a:pPr marL="0" marR="0" algn="ctr">
                        <a:lnSpc>
                          <a:spcPct val="115000"/>
                        </a:lnSpc>
                        <a:spcBef>
                          <a:spcPts val="1195"/>
                        </a:spcBef>
                        <a:spcAft>
                          <a:spcPts val="0"/>
                        </a:spcAft>
                      </a:pPr>
                      <a:r>
                        <a:rPr lang="en-US" sz="2800">
                          <a:effectLst/>
                        </a:rPr>
                        <a:t>B</a:t>
                      </a:r>
                      <a:endParaRPr lang="en-US" sz="2800">
                        <a:effectLst/>
                        <a:latin typeface="Times New Roman" panose="02020603050405020304" pitchFamily="18" charset="0"/>
                        <a:ea typeface="Times New Roman" panose="02020603050405020304" pitchFamily="18" charset="0"/>
                        <a:cs typeface="Latha" panose="020B0604020202020204" pitchFamily="34" charset="0"/>
                      </a:endParaRPr>
                    </a:p>
                  </a:txBody>
                  <a:tcPr marL="94561" marR="94561" marT="0" marB="0"/>
                </a:tc>
                <a:tc>
                  <a:txBody>
                    <a:bodyPr/>
                    <a:lstStyle/>
                    <a:p>
                      <a:pPr marL="0" marR="0" algn="ctr">
                        <a:lnSpc>
                          <a:spcPct val="115000"/>
                        </a:lnSpc>
                        <a:spcBef>
                          <a:spcPts val="1195"/>
                        </a:spcBef>
                        <a:spcAft>
                          <a:spcPts val="0"/>
                        </a:spcAft>
                      </a:pPr>
                      <a:r>
                        <a:rPr lang="en-US" sz="2800" dirty="0">
                          <a:effectLst/>
                        </a:rPr>
                        <a:t>Mean</a:t>
                      </a:r>
                      <a:r>
                        <a:rPr lang="en-US" sz="1800" dirty="0">
                          <a:effectLst/>
                        </a:rPr>
                        <a:t> </a:t>
                      </a:r>
                      <a:endParaRPr lang="en-US" sz="1800" dirty="0">
                        <a:effectLst/>
                        <a:latin typeface="Times New Roman" panose="02020603050405020304" pitchFamily="18" charset="0"/>
                        <a:cs typeface="Latha" panose="020B0604020202020204" pitchFamily="34" charset="0"/>
                      </a:endParaRPr>
                    </a:p>
                  </a:txBody>
                  <a:tcPr marL="94561" marR="94561" marT="0" marB="0"/>
                </a:tc>
                <a:extLst>
                  <a:ext uri="{0D108BD9-81ED-4DB2-BD59-A6C34878D82A}">
                    <a16:rowId xmlns:a16="http://schemas.microsoft.com/office/drawing/2014/main" val="610288733"/>
                  </a:ext>
                </a:extLst>
              </a:tr>
              <a:tr h="858054">
                <a:tc rowSpan="2">
                  <a:txBody>
                    <a:bodyPr/>
                    <a:lstStyle/>
                    <a:p>
                      <a:pPr marL="0" marR="0" algn="ctr">
                        <a:lnSpc>
                          <a:spcPct val="115000"/>
                        </a:lnSpc>
                        <a:spcBef>
                          <a:spcPts val="1195"/>
                        </a:spcBef>
                        <a:spcAft>
                          <a:spcPts val="0"/>
                        </a:spcAft>
                      </a:pPr>
                      <a:r>
                        <a:rPr lang="en-US" sz="2800">
                          <a:effectLst/>
                        </a:rPr>
                        <a:t>Factor 2</a:t>
                      </a:r>
                      <a:endParaRPr lang="en-US" sz="2800">
                        <a:effectLst/>
                        <a:latin typeface="Times New Roman" panose="02020603050405020304" pitchFamily="18" charset="0"/>
                        <a:ea typeface="Times New Roman" panose="02020603050405020304" pitchFamily="18" charset="0"/>
                        <a:cs typeface="Latha" panose="020B0604020202020204" pitchFamily="34" charset="0"/>
                      </a:endParaRPr>
                    </a:p>
                  </a:txBody>
                  <a:tcPr marL="126081" marR="126081" marT="63041" marB="63041" anchor="ctr"/>
                </a:tc>
                <a:tc>
                  <a:txBody>
                    <a:bodyPr/>
                    <a:lstStyle/>
                    <a:p>
                      <a:pPr marL="0" marR="0" algn="ctr">
                        <a:lnSpc>
                          <a:spcPct val="115000"/>
                        </a:lnSpc>
                        <a:spcBef>
                          <a:spcPts val="1195"/>
                        </a:spcBef>
                        <a:spcAft>
                          <a:spcPts val="0"/>
                        </a:spcAft>
                      </a:pPr>
                      <a:r>
                        <a:rPr lang="en-US" sz="2800" dirty="0">
                          <a:effectLst/>
                        </a:rPr>
                        <a:t>X</a:t>
                      </a:r>
                      <a:endParaRPr lang="en-US" sz="28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94561" marR="94561" marT="0" marB="0" anchor="ctr"/>
                </a:tc>
                <a:tc>
                  <a:txBody>
                    <a:bodyPr/>
                    <a:lstStyle/>
                    <a:p>
                      <a:pPr marL="0" marR="0" algn="ctr">
                        <a:lnSpc>
                          <a:spcPct val="115000"/>
                        </a:lnSpc>
                        <a:spcBef>
                          <a:spcPts val="1195"/>
                        </a:spcBef>
                        <a:spcAft>
                          <a:spcPts val="0"/>
                        </a:spcAft>
                      </a:pPr>
                      <a:r>
                        <a:rPr lang="en-US" sz="2800" dirty="0">
                          <a:effectLst/>
                        </a:rPr>
                        <a:t>3.93</a:t>
                      </a:r>
                      <a:br>
                        <a:rPr lang="en-US" sz="2800" dirty="0">
                          <a:effectLst/>
                        </a:rPr>
                      </a:br>
                      <a:r>
                        <a:rPr lang="en-US" sz="2800" dirty="0">
                          <a:effectLst/>
                        </a:rPr>
                        <a:t>(1.43)</a:t>
                      </a:r>
                      <a:endParaRPr lang="en-US" sz="28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94561" marR="94561" marT="0" marB="0"/>
                </a:tc>
                <a:tc>
                  <a:txBody>
                    <a:bodyPr/>
                    <a:lstStyle/>
                    <a:p>
                      <a:pPr marL="0" marR="0" algn="ctr">
                        <a:lnSpc>
                          <a:spcPct val="115000"/>
                        </a:lnSpc>
                        <a:spcBef>
                          <a:spcPts val="1195"/>
                        </a:spcBef>
                        <a:spcAft>
                          <a:spcPts val="0"/>
                        </a:spcAft>
                      </a:pPr>
                      <a:r>
                        <a:rPr lang="en-US" sz="2800">
                          <a:effectLst/>
                        </a:rPr>
                        <a:t>4.21</a:t>
                      </a:r>
                      <a:br>
                        <a:rPr lang="en-US" sz="2800">
                          <a:effectLst/>
                        </a:rPr>
                      </a:br>
                      <a:r>
                        <a:rPr lang="en-US" sz="2800">
                          <a:effectLst/>
                        </a:rPr>
                        <a:t>(1.22)</a:t>
                      </a:r>
                      <a:endParaRPr lang="en-US" sz="2800">
                        <a:effectLst/>
                        <a:latin typeface="Times New Roman" panose="02020603050405020304" pitchFamily="18" charset="0"/>
                        <a:ea typeface="Times New Roman" panose="02020603050405020304" pitchFamily="18" charset="0"/>
                        <a:cs typeface="Latha" panose="020B0604020202020204" pitchFamily="34" charset="0"/>
                      </a:endParaRPr>
                    </a:p>
                  </a:txBody>
                  <a:tcPr marL="94561" marR="94561" marT="0" marB="0"/>
                </a:tc>
                <a:tc>
                  <a:txBody>
                    <a:bodyPr/>
                    <a:lstStyle/>
                    <a:p>
                      <a:pPr marL="0" marR="0" algn="ctr">
                        <a:lnSpc>
                          <a:spcPct val="115000"/>
                        </a:lnSpc>
                        <a:spcBef>
                          <a:spcPts val="1195"/>
                        </a:spcBef>
                        <a:spcAft>
                          <a:spcPts val="0"/>
                        </a:spcAft>
                      </a:pPr>
                      <a:r>
                        <a:rPr lang="en-US" sz="2800">
                          <a:effectLst/>
                        </a:rPr>
                        <a:t>4.07</a:t>
                      </a:r>
                      <a:br>
                        <a:rPr lang="en-US" sz="2800">
                          <a:effectLst/>
                        </a:rPr>
                      </a:br>
                      <a:r>
                        <a:rPr lang="en-US" sz="2800">
                          <a:effectLst/>
                        </a:rPr>
                        <a:t>(1.33)</a:t>
                      </a:r>
                      <a:endParaRPr lang="en-US" sz="2800">
                        <a:effectLst/>
                        <a:latin typeface="Times New Roman" panose="02020603050405020304" pitchFamily="18" charset="0"/>
                        <a:ea typeface="Times New Roman" panose="02020603050405020304" pitchFamily="18" charset="0"/>
                        <a:cs typeface="Latha" panose="020B0604020202020204" pitchFamily="34" charset="0"/>
                      </a:endParaRPr>
                    </a:p>
                  </a:txBody>
                  <a:tcPr marL="126081" marR="126081" marT="63041" marB="63041"/>
                </a:tc>
                <a:extLst>
                  <a:ext uri="{0D108BD9-81ED-4DB2-BD59-A6C34878D82A}">
                    <a16:rowId xmlns:a16="http://schemas.microsoft.com/office/drawing/2014/main" val="1404471020"/>
                  </a:ext>
                </a:extLst>
              </a:tr>
              <a:tr h="700453">
                <a:tc vMerge="1">
                  <a:txBody>
                    <a:bodyPr/>
                    <a:lstStyle/>
                    <a:p>
                      <a:endParaRPr lang="en-US"/>
                    </a:p>
                  </a:txBody>
                  <a:tcPr/>
                </a:tc>
                <a:tc>
                  <a:txBody>
                    <a:bodyPr/>
                    <a:lstStyle/>
                    <a:p>
                      <a:pPr marL="0" marR="0" algn="ctr">
                        <a:lnSpc>
                          <a:spcPct val="115000"/>
                        </a:lnSpc>
                        <a:spcBef>
                          <a:spcPts val="1195"/>
                        </a:spcBef>
                        <a:spcAft>
                          <a:spcPts val="0"/>
                        </a:spcAft>
                      </a:pPr>
                      <a:r>
                        <a:rPr lang="en-US" sz="2800">
                          <a:effectLst/>
                        </a:rPr>
                        <a:t>Y</a:t>
                      </a:r>
                      <a:endParaRPr lang="en-US" sz="2800">
                        <a:effectLst/>
                        <a:latin typeface="Times New Roman" panose="02020603050405020304" pitchFamily="18" charset="0"/>
                        <a:ea typeface="Times New Roman" panose="02020603050405020304" pitchFamily="18" charset="0"/>
                        <a:cs typeface="Latha" panose="020B0604020202020204" pitchFamily="34" charset="0"/>
                      </a:endParaRPr>
                    </a:p>
                  </a:txBody>
                  <a:tcPr marL="94561" marR="94561" marT="0" marB="0" anchor="ctr"/>
                </a:tc>
                <a:tc>
                  <a:txBody>
                    <a:bodyPr/>
                    <a:lstStyle/>
                    <a:p>
                      <a:pPr marL="0" marR="0" algn="ctr">
                        <a:lnSpc>
                          <a:spcPct val="115000"/>
                        </a:lnSpc>
                        <a:spcBef>
                          <a:spcPts val="1195"/>
                        </a:spcBef>
                        <a:spcAft>
                          <a:spcPts val="0"/>
                        </a:spcAft>
                      </a:pPr>
                      <a:r>
                        <a:rPr lang="en-US" sz="2800" dirty="0">
                          <a:effectLst/>
                        </a:rPr>
                        <a:t>6.98</a:t>
                      </a:r>
                      <a:br>
                        <a:rPr lang="en-US" sz="2800" dirty="0">
                          <a:effectLst/>
                        </a:rPr>
                      </a:br>
                      <a:r>
                        <a:rPr lang="en-US" sz="2800" dirty="0">
                          <a:effectLst/>
                        </a:rPr>
                        <a:t>(1.28)</a:t>
                      </a:r>
                      <a:endParaRPr lang="en-US" sz="28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94561" marR="94561" marT="0" marB="0"/>
                </a:tc>
                <a:tc>
                  <a:txBody>
                    <a:bodyPr/>
                    <a:lstStyle/>
                    <a:p>
                      <a:pPr marL="0" marR="0" algn="ctr">
                        <a:lnSpc>
                          <a:spcPct val="115000"/>
                        </a:lnSpc>
                        <a:spcBef>
                          <a:spcPts val="1195"/>
                        </a:spcBef>
                        <a:spcAft>
                          <a:spcPts val="0"/>
                        </a:spcAft>
                      </a:pPr>
                      <a:r>
                        <a:rPr lang="en-US" sz="2800" dirty="0">
                          <a:effectLst/>
                        </a:rPr>
                        <a:t>6.88</a:t>
                      </a:r>
                      <a:br>
                        <a:rPr lang="en-US" sz="2800" dirty="0">
                          <a:effectLst/>
                        </a:rPr>
                      </a:br>
                      <a:r>
                        <a:rPr lang="en-US" sz="2800" dirty="0">
                          <a:effectLst/>
                        </a:rPr>
                        <a:t>(1.37)</a:t>
                      </a:r>
                      <a:endParaRPr lang="en-US" sz="28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94561" marR="94561" marT="0" marB="0"/>
                </a:tc>
                <a:tc>
                  <a:txBody>
                    <a:bodyPr/>
                    <a:lstStyle/>
                    <a:p>
                      <a:pPr marL="0" marR="0" algn="ctr">
                        <a:lnSpc>
                          <a:spcPct val="115000"/>
                        </a:lnSpc>
                        <a:spcBef>
                          <a:spcPts val="1195"/>
                        </a:spcBef>
                        <a:spcAft>
                          <a:spcPts val="0"/>
                        </a:spcAft>
                      </a:pPr>
                      <a:r>
                        <a:rPr lang="en-US" sz="2800">
                          <a:effectLst/>
                        </a:rPr>
                        <a:t>6.93</a:t>
                      </a:r>
                      <a:br>
                        <a:rPr lang="en-US" sz="2800">
                          <a:effectLst/>
                        </a:rPr>
                      </a:br>
                      <a:r>
                        <a:rPr lang="en-US" sz="2800">
                          <a:effectLst/>
                        </a:rPr>
                        <a:t>(1.33)</a:t>
                      </a:r>
                      <a:endParaRPr lang="en-US" sz="2800">
                        <a:effectLst/>
                        <a:latin typeface="Times New Roman" panose="02020603050405020304" pitchFamily="18" charset="0"/>
                        <a:ea typeface="Times New Roman" panose="02020603050405020304" pitchFamily="18" charset="0"/>
                        <a:cs typeface="Latha" panose="020B0604020202020204" pitchFamily="34" charset="0"/>
                      </a:endParaRPr>
                    </a:p>
                  </a:txBody>
                  <a:tcPr marL="126081" marR="126081" marT="63041" marB="63041"/>
                </a:tc>
                <a:extLst>
                  <a:ext uri="{0D108BD9-81ED-4DB2-BD59-A6C34878D82A}">
                    <a16:rowId xmlns:a16="http://schemas.microsoft.com/office/drawing/2014/main" val="2836657929"/>
                  </a:ext>
                </a:extLst>
              </a:tr>
              <a:tr h="621652">
                <a:tc>
                  <a:txBody>
                    <a:bodyPr/>
                    <a:lstStyle/>
                    <a:p>
                      <a:pPr marL="0" marR="0" algn="ctr">
                        <a:lnSpc>
                          <a:spcPct val="115000"/>
                        </a:lnSpc>
                        <a:spcBef>
                          <a:spcPts val="1195"/>
                        </a:spcBef>
                        <a:spcAft>
                          <a:spcPts val="0"/>
                        </a:spcAft>
                      </a:pPr>
                      <a:r>
                        <a:rPr lang="en-US" sz="2800">
                          <a:effectLst/>
                        </a:rPr>
                        <a:t> </a:t>
                      </a:r>
                      <a:endParaRPr lang="en-US" sz="2800">
                        <a:effectLst/>
                        <a:latin typeface="Times New Roman" panose="02020603050405020304" pitchFamily="18" charset="0"/>
                        <a:ea typeface="Times New Roman" panose="02020603050405020304" pitchFamily="18" charset="0"/>
                        <a:cs typeface="Latha" panose="020B0604020202020204" pitchFamily="34" charset="0"/>
                      </a:endParaRPr>
                    </a:p>
                  </a:txBody>
                  <a:tcPr marL="94561" marR="94561" marT="0" marB="0"/>
                </a:tc>
                <a:tc>
                  <a:txBody>
                    <a:bodyPr/>
                    <a:lstStyle/>
                    <a:p>
                      <a:pPr marL="0" marR="0" algn="ctr">
                        <a:lnSpc>
                          <a:spcPct val="115000"/>
                        </a:lnSpc>
                        <a:spcBef>
                          <a:spcPts val="1195"/>
                        </a:spcBef>
                        <a:spcAft>
                          <a:spcPts val="0"/>
                        </a:spcAft>
                      </a:pPr>
                      <a:r>
                        <a:rPr lang="en-US" sz="2800">
                          <a:effectLst/>
                        </a:rPr>
                        <a:t>Mean</a:t>
                      </a:r>
                      <a:endParaRPr lang="en-US" sz="2800">
                        <a:effectLst/>
                        <a:latin typeface="Times New Roman" panose="02020603050405020304" pitchFamily="18" charset="0"/>
                        <a:ea typeface="Times New Roman" panose="02020603050405020304" pitchFamily="18" charset="0"/>
                        <a:cs typeface="Latha" panose="020B0604020202020204" pitchFamily="34" charset="0"/>
                      </a:endParaRPr>
                    </a:p>
                  </a:txBody>
                  <a:tcPr marL="94561" marR="94561" marT="0" marB="0" anchor="ctr"/>
                </a:tc>
                <a:tc>
                  <a:txBody>
                    <a:bodyPr/>
                    <a:lstStyle/>
                    <a:p>
                      <a:pPr marL="0" marR="0" algn="ctr">
                        <a:lnSpc>
                          <a:spcPct val="115000"/>
                        </a:lnSpc>
                        <a:spcBef>
                          <a:spcPts val="1195"/>
                        </a:spcBef>
                        <a:spcAft>
                          <a:spcPts val="0"/>
                        </a:spcAft>
                      </a:pPr>
                      <a:r>
                        <a:rPr lang="en-US" sz="2800">
                          <a:effectLst/>
                        </a:rPr>
                        <a:t>5.45</a:t>
                      </a:r>
                      <a:br>
                        <a:rPr lang="en-US" sz="2800">
                          <a:effectLst/>
                        </a:rPr>
                      </a:br>
                      <a:r>
                        <a:rPr lang="en-US" sz="2800">
                          <a:effectLst/>
                        </a:rPr>
                        <a:t>(2.04)</a:t>
                      </a:r>
                      <a:endParaRPr lang="en-US" sz="2800">
                        <a:effectLst/>
                        <a:latin typeface="Times New Roman" panose="02020603050405020304" pitchFamily="18" charset="0"/>
                        <a:ea typeface="Times New Roman" panose="02020603050405020304" pitchFamily="18" charset="0"/>
                        <a:cs typeface="Latha" panose="020B0604020202020204" pitchFamily="34" charset="0"/>
                      </a:endParaRPr>
                    </a:p>
                  </a:txBody>
                  <a:tcPr marL="94561" marR="94561" marT="0" marB="0"/>
                </a:tc>
                <a:tc>
                  <a:txBody>
                    <a:bodyPr/>
                    <a:lstStyle/>
                    <a:p>
                      <a:pPr marL="0" marR="0" algn="ctr">
                        <a:lnSpc>
                          <a:spcPct val="115000"/>
                        </a:lnSpc>
                        <a:spcBef>
                          <a:spcPts val="1195"/>
                        </a:spcBef>
                        <a:spcAft>
                          <a:spcPts val="0"/>
                        </a:spcAft>
                      </a:pPr>
                      <a:r>
                        <a:rPr lang="en-US" sz="2800" dirty="0">
                          <a:effectLst/>
                        </a:rPr>
                        <a:t>5.55</a:t>
                      </a:r>
                      <a:br>
                        <a:rPr lang="en-US" sz="2800" dirty="0">
                          <a:effectLst/>
                        </a:rPr>
                      </a:br>
                      <a:r>
                        <a:rPr lang="en-US" sz="2800" dirty="0">
                          <a:effectLst/>
                        </a:rPr>
                        <a:t>(1.86)</a:t>
                      </a:r>
                      <a:endParaRPr lang="en-US" sz="28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94561" marR="94561" marT="0" marB="0"/>
                </a:tc>
                <a:tc>
                  <a:txBody>
                    <a:bodyPr/>
                    <a:lstStyle/>
                    <a:p>
                      <a:pPr marL="0" marR="0" algn="ctr">
                        <a:lnSpc>
                          <a:spcPct val="115000"/>
                        </a:lnSpc>
                        <a:spcBef>
                          <a:spcPts val="1195"/>
                        </a:spcBef>
                        <a:spcAft>
                          <a:spcPts val="0"/>
                        </a:spcAft>
                      </a:pPr>
                      <a:r>
                        <a:rPr lang="en-US" sz="2800" dirty="0">
                          <a:effectLst/>
                        </a:rPr>
                        <a:t> </a:t>
                      </a:r>
                      <a:endParaRPr lang="en-US" sz="28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126081" marR="126081" marT="63041" marB="63041"/>
                </a:tc>
                <a:extLst>
                  <a:ext uri="{0D108BD9-81ED-4DB2-BD59-A6C34878D82A}">
                    <a16:rowId xmlns:a16="http://schemas.microsoft.com/office/drawing/2014/main" val="1685345231"/>
                  </a:ext>
                </a:extLst>
              </a:tr>
            </a:tbl>
          </a:graphicData>
        </a:graphic>
      </p:graphicFrame>
      <p:sp>
        <p:nvSpPr>
          <p:cNvPr id="11" name="Rectangle 10">
            <a:extLst>
              <a:ext uri="{FF2B5EF4-FFF2-40B4-BE49-F238E27FC236}">
                <a16:creationId xmlns:a16="http://schemas.microsoft.com/office/drawing/2014/main" id="{B8A0887E-AD41-E2FC-E580-85777CCD747C}"/>
              </a:ext>
            </a:extLst>
          </p:cNvPr>
          <p:cNvSpPr/>
          <p:nvPr/>
        </p:nvSpPr>
        <p:spPr>
          <a:xfrm>
            <a:off x="4310743" y="3301340"/>
            <a:ext cx="3420093" cy="2161309"/>
          </a:xfrm>
          <a:prstGeom prst="rect">
            <a:avLst/>
          </a:prstGeom>
          <a:noFill/>
          <a:ln w="571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A3AD6CC-6742-271E-24A1-D7C90CA5D1CE}"/>
              </a:ext>
            </a:extLst>
          </p:cNvPr>
          <p:cNvSpPr/>
          <p:nvPr/>
        </p:nvSpPr>
        <p:spPr>
          <a:xfrm>
            <a:off x="7730836" y="3301340"/>
            <a:ext cx="1319131" cy="2161309"/>
          </a:xfrm>
          <a:prstGeom prst="rect">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FFE84E5-7222-A765-3C9B-433B2B88D350}"/>
              </a:ext>
            </a:extLst>
          </p:cNvPr>
          <p:cNvSpPr/>
          <p:nvPr/>
        </p:nvSpPr>
        <p:spPr>
          <a:xfrm>
            <a:off x="4320639" y="5462650"/>
            <a:ext cx="3420093" cy="1030226"/>
          </a:xfrm>
          <a:prstGeom prst="rect">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312307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57551E9-F903-F133-42A3-4E7A08C98E06}"/>
              </a:ext>
            </a:extLst>
          </p:cNvPr>
          <p:cNvSpPr>
            <a:spLocks noGrp="1"/>
          </p:cNvSpPr>
          <p:nvPr>
            <p:ph type="title"/>
          </p:nvPr>
        </p:nvSpPr>
        <p:spPr/>
        <p:txBody>
          <a:bodyPr/>
          <a:lstStyle/>
          <a:p>
            <a:r>
              <a:rPr lang="en-US" dirty="0"/>
              <a:t>Data terms</a:t>
            </a:r>
          </a:p>
        </p:txBody>
      </p:sp>
      <p:sp>
        <p:nvSpPr>
          <p:cNvPr id="6" name="Content Placeholder 5">
            <a:extLst>
              <a:ext uri="{FF2B5EF4-FFF2-40B4-BE49-F238E27FC236}">
                <a16:creationId xmlns:a16="http://schemas.microsoft.com/office/drawing/2014/main" id="{EC064BB6-3AFB-5327-204F-156E05392344}"/>
              </a:ext>
            </a:extLst>
          </p:cNvPr>
          <p:cNvSpPr>
            <a:spLocks noGrp="1"/>
          </p:cNvSpPr>
          <p:nvPr>
            <p:ph idx="1"/>
          </p:nvPr>
        </p:nvSpPr>
        <p:spPr/>
        <p:txBody>
          <a:bodyPr>
            <a:normAutofit fontScale="92500" lnSpcReduction="10000"/>
          </a:bodyPr>
          <a:lstStyle/>
          <a:p>
            <a:r>
              <a:rPr lang="en-US" dirty="0"/>
              <a:t>Condition or cell means</a:t>
            </a:r>
          </a:p>
          <a:p>
            <a:pPr lvl="1"/>
            <a:r>
              <a:rPr lang="en-US" dirty="0"/>
              <a:t>Performance of the participants in specific conditions</a:t>
            </a:r>
          </a:p>
          <a:p>
            <a:pPr lvl="1"/>
            <a:r>
              <a:rPr lang="en-US" dirty="0"/>
              <a:t>AX, AY, BX, BY</a:t>
            </a:r>
          </a:p>
          <a:p>
            <a:r>
              <a:rPr lang="en-US" dirty="0"/>
              <a:t>Marginal means</a:t>
            </a:r>
          </a:p>
          <a:p>
            <a:pPr lvl="1"/>
            <a:r>
              <a:rPr lang="en-US" dirty="0"/>
              <a:t>Average performance of participants by factor</a:t>
            </a:r>
          </a:p>
          <a:p>
            <a:pPr lvl="1"/>
            <a:r>
              <a:rPr lang="en-US" dirty="0"/>
              <a:t>Factor 1: A vs B</a:t>
            </a:r>
          </a:p>
          <a:p>
            <a:pPr lvl="2"/>
            <a:r>
              <a:rPr lang="en-US" dirty="0"/>
              <a:t>Average(AX,AY) and Average (BX,BY)</a:t>
            </a:r>
          </a:p>
          <a:p>
            <a:pPr lvl="1"/>
            <a:r>
              <a:rPr lang="en-US" dirty="0"/>
              <a:t>Factor 2: X vs Y</a:t>
            </a:r>
          </a:p>
          <a:p>
            <a:pPr lvl="2"/>
            <a:r>
              <a:rPr lang="en-US" dirty="0"/>
              <a:t>Average(AX,BX) and Average (AY,BY)</a:t>
            </a:r>
          </a:p>
          <a:p>
            <a:r>
              <a:rPr lang="en-US" dirty="0"/>
              <a:t>Effect size</a:t>
            </a:r>
          </a:p>
          <a:p>
            <a:pPr lvl="1"/>
            <a:r>
              <a:rPr lang="en-US" dirty="0"/>
              <a:t>Difference in the marginal means across the factor</a:t>
            </a:r>
          </a:p>
          <a:p>
            <a:pPr lvl="1"/>
            <a:r>
              <a:rPr lang="en-US" dirty="0"/>
              <a:t>“Unstandardized” = actual DV difference</a:t>
            </a:r>
          </a:p>
        </p:txBody>
      </p:sp>
    </p:spTree>
    <p:extLst>
      <p:ext uri="{BB962C8B-B14F-4D97-AF65-F5344CB8AC3E}">
        <p14:creationId xmlns:p14="http://schemas.microsoft.com/office/powerpoint/2010/main" val="31744025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D6FE2BC-D68B-4398-78F0-1FC5CD47F5A2}"/>
              </a:ext>
            </a:extLst>
          </p:cNvPr>
          <p:cNvSpPr>
            <a:spLocks noGrp="1"/>
          </p:cNvSpPr>
          <p:nvPr>
            <p:ph type="title"/>
          </p:nvPr>
        </p:nvSpPr>
        <p:spPr/>
        <p:txBody>
          <a:bodyPr/>
          <a:lstStyle/>
          <a:p>
            <a:r>
              <a:rPr lang="en-US" dirty="0"/>
              <a:t>Data Visualization: Lines and Bars</a:t>
            </a:r>
          </a:p>
        </p:txBody>
      </p:sp>
      <p:graphicFrame>
        <p:nvGraphicFramePr>
          <p:cNvPr id="10" name="Content Placeholder 9">
            <a:extLst>
              <a:ext uri="{FF2B5EF4-FFF2-40B4-BE49-F238E27FC236}">
                <a16:creationId xmlns:a16="http://schemas.microsoft.com/office/drawing/2014/main" id="{22513976-D198-444F-B91A-783EEF5D4992}"/>
              </a:ext>
            </a:extLst>
          </p:cNvPr>
          <p:cNvGraphicFramePr>
            <a:graphicFrameLocks noGrp="1"/>
          </p:cNvGraphicFramePr>
          <p:nvPr>
            <p:ph sz="half" idx="1"/>
          </p:nvPr>
        </p:nvGraphicFramePr>
        <p:xfrm>
          <a:off x="838200" y="1825625"/>
          <a:ext cx="5181600" cy="4351338"/>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1" name="Content Placeholder 10">
            <a:extLst>
              <a:ext uri="{FF2B5EF4-FFF2-40B4-BE49-F238E27FC236}">
                <a16:creationId xmlns:a16="http://schemas.microsoft.com/office/drawing/2014/main" id="{D8F8FC79-9A91-4374-AF0B-D0B93C451018}"/>
              </a:ext>
            </a:extLst>
          </p:cNvPr>
          <p:cNvGraphicFramePr>
            <a:graphicFrameLocks noGrp="1"/>
          </p:cNvGraphicFramePr>
          <p:nvPr>
            <p:ph sz="half" idx="2"/>
          </p:nvPr>
        </p:nvGraphicFramePr>
        <p:xfrm>
          <a:off x="6172200" y="1825625"/>
          <a:ext cx="5181600" cy="4351338"/>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3003456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902B55-1B6E-D60B-B772-9AFCA5E6F845}"/>
              </a:ext>
            </a:extLst>
          </p:cNvPr>
          <p:cNvSpPr>
            <a:spLocks noGrp="1"/>
          </p:cNvSpPr>
          <p:nvPr>
            <p:ph type="title"/>
          </p:nvPr>
        </p:nvSpPr>
        <p:spPr/>
        <p:txBody>
          <a:bodyPr/>
          <a:lstStyle/>
          <a:p>
            <a:r>
              <a:rPr lang="en-US" dirty="0"/>
              <a:t>For Wed 10/22</a:t>
            </a:r>
          </a:p>
        </p:txBody>
      </p:sp>
      <p:sp>
        <p:nvSpPr>
          <p:cNvPr id="3" name="Content Placeholder 2">
            <a:extLst>
              <a:ext uri="{FF2B5EF4-FFF2-40B4-BE49-F238E27FC236}">
                <a16:creationId xmlns:a16="http://schemas.microsoft.com/office/drawing/2014/main" id="{01E66BC9-012A-D17F-CB89-0F3632C54C0E}"/>
              </a:ext>
            </a:extLst>
          </p:cNvPr>
          <p:cNvSpPr>
            <a:spLocks noGrp="1"/>
          </p:cNvSpPr>
          <p:nvPr>
            <p:ph idx="1"/>
          </p:nvPr>
        </p:nvSpPr>
        <p:spPr/>
        <p:txBody>
          <a:bodyPr/>
          <a:lstStyle/>
          <a:p>
            <a:r>
              <a:rPr lang="en-US" dirty="0"/>
              <a:t>Analyze the data for Experiment 2 when posted to Canvas</a:t>
            </a:r>
          </a:p>
          <a:p>
            <a:pPr lvl="1"/>
            <a:r>
              <a:rPr lang="en-US" dirty="0"/>
              <a:t>R script will be provided</a:t>
            </a:r>
          </a:p>
          <a:p>
            <a:pPr lvl="1"/>
            <a:r>
              <a:rPr lang="en-US" dirty="0"/>
              <a:t>Make a table of the mean performance for each cell</a:t>
            </a:r>
          </a:p>
          <a:p>
            <a:pPr lvl="2"/>
            <a:r>
              <a:rPr lang="en-US" dirty="0"/>
              <a:t>And standard deviations</a:t>
            </a:r>
          </a:p>
          <a:p>
            <a:pPr lvl="1"/>
            <a:r>
              <a:rPr lang="en-US" dirty="0"/>
              <a:t>Write out the results of the 3 hypotheses tested in the ANOVA</a:t>
            </a:r>
          </a:p>
          <a:p>
            <a:pPr lvl="1"/>
            <a:r>
              <a:rPr lang="en-US" dirty="0"/>
              <a:t>Prepare a 2x2 graph of the data</a:t>
            </a:r>
          </a:p>
        </p:txBody>
      </p:sp>
    </p:spTree>
    <p:extLst>
      <p:ext uri="{BB962C8B-B14F-4D97-AF65-F5344CB8AC3E}">
        <p14:creationId xmlns:p14="http://schemas.microsoft.com/office/powerpoint/2010/main" val="41026309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22462</TotalTime>
  <Words>746</Words>
  <Application>Microsoft Office PowerPoint</Application>
  <PresentationFormat>Widescreen</PresentationFormat>
  <Paragraphs>159</Paragraphs>
  <Slides>18</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Aptos</vt:lpstr>
      <vt:lpstr>Aptos Display</vt:lpstr>
      <vt:lpstr>Arial</vt:lpstr>
      <vt:lpstr>Times New Roman</vt:lpstr>
      <vt:lpstr>Office Theme</vt:lpstr>
      <vt:lpstr>301 Oct 20, Class 15</vt:lpstr>
      <vt:lpstr>Running ezANOVA</vt:lpstr>
      <vt:lpstr>Example 1</vt:lpstr>
      <vt:lpstr>Reporting ANOVA results</vt:lpstr>
      <vt:lpstr>Example 2</vt:lpstr>
      <vt:lpstr>Reporting ANOVA results</vt:lpstr>
      <vt:lpstr>The grass is always greener on the other side</vt:lpstr>
      <vt:lpstr>Reporting ANOVA results</vt:lpstr>
      <vt:lpstr>PowerPoint Presentation</vt:lpstr>
      <vt:lpstr>Experiment 2 Design</vt:lpstr>
      <vt:lpstr>Rating scales</vt:lpstr>
      <vt:lpstr>Experiment 2</vt:lpstr>
      <vt:lpstr>Making a 2x2 figure</vt:lpstr>
      <vt:lpstr>Patterns of Results in 2x2 Designs</vt:lpstr>
      <vt:lpstr>Data in a Means Table</vt:lpstr>
      <vt:lpstr>Data terms</vt:lpstr>
      <vt:lpstr>Data Visualization: Lines and Bars</vt:lpstr>
      <vt:lpstr>For Wed 10/22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205 Feb 9, Class 16</dc:title>
  <dc:creator>Paul Reber</dc:creator>
  <cp:lastModifiedBy>Paul Reber</cp:lastModifiedBy>
  <cp:revision>18</cp:revision>
  <cp:lastPrinted>2025-10-19T22:17:43Z</cp:lastPrinted>
  <dcterms:created xsi:type="dcterms:W3CDTF">2024-02-07T21:36:21Z</dcterms:created>
  <dcterms:modified xsi:type="dcterms:W3CDTF">2025-10-21T22:41:15Z</dcterms:modified>
</cp:coreProperties>
</file>