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837" r:id="rId2"/>
    <p:sldId id="839" r:id="rId3"/>
    <p:sldId id="838" r:id="rId4"/>
    <p:sldId id="283" r:id="rId5"/>
    <p:sldId id="822" r:id="rId6"/>
    <p:sldId id="824" r:id="rId7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2" autoAdjust="0"/>
    <p:restoredTop sz="94660"/>
  </p:normalViewPr>
  <p:slideViewPr>
    <p:cSldViewPr snapToGrid="0">
      <p:cViewPr varScale="1">
        <p:scale>
          <a:sx n="97" d="100"/>
          <a:sy n="97" d="100"/>
        </p:scale>
        <p:origin x="3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653F5990-6D27-4645-802A-1A91E80E977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E9DF8CE3-EF19-43B2-B53D-940CBC9FD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32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E1C22-423C-F95D-9E4D-C2073A7ED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ED840933-9D6A-1C57-8C11-CF567FA6F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03558D8-15F3-4A47-8F3A-8638566C761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72BCF50-6605-55E0-00E4-5F12B708BD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AF0C3ED-633E-C97D-4BB0-6B1B161A2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25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2B9C7-3C45-F4F1-2005-50D8F1F3F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E52A3-CE31-C363-1875-5EE1007F7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5BA55-850B-68CF-B305-766D5597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FD98E-B051-2650-A833-A62EF452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98463-64C6-5C63-617E-73968D18B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3E3FC-CE42-FE39-CE43-AA283FA07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B41AE-83E0-897F-10B6-FEB0EF42B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0A254-A04A-335A-FEC7-BAA13D299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199E1-E2C2-50D7-950E-808C5734B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66260-A2AC-3F34-2EF8-BBAE1E69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83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6641-AF8D-8DA1-2EDF-47ABF43CE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E98CB-51C6-679E-8B3E-66A2C4EB2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4B65E-F500-A9CA-C76D-2D1072CBD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AD4D4-3A0A-34D9-47DF-A3369937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BDDC5-B0F2-2D64-9342-55DF8DF0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5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1E9A-8611-6D0E-0DF2-1869459A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2414-F0E1-3BF7-2FA8-BFA17B324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13501F-62E8-16A4-DBC4-E73581C25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C666B-39C9-1E1F-7C99-C27D39A53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4D153-62B9-FE31-101B-9D053C12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5BD8CE-E571-93E4-120F-75F347A8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62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38D19-DC89-5394-F1F0-204BABBF1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128FE-3595-4FEC-8FBC-7838321EA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E7561-444F-7962-A18F-A3C709D11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C06C2-4A79-017A-40C4-0ED4589DC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2FA4BA-81BA-0862-DDAB-9BBB71EE25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CEE46B-414E-12E7-3310-35311C96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E01C2-28F7-6D78-84A3-9326CE0E9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8E38C-8876-1034-2DFB-6089AA73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53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1C0E-DC5E-FA9C-6559-05A7245CD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4954B7-5B48-9E5D-C890-62FB0A0B3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4FE3C-442A-0934-8201-5F1AEF9F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43E679-24D6-BDB3-93EB-2C4DAC6B5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2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9199A-276E-745C-9817-D7713865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15B28-2420-CF37-01A5-E1808EC55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836AF-61C0-B7D0-DF39-25661347D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81670-4ABC-27EB-D093-CDB9278A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7E89E-AE37-41CC-AD2F-77F4203E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347BA-1709-B201-A5FE-D9811D716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3C115-7178-2E7C-8B03-94ADA0A15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FFA71-BB1F-8FFF-F050-6BE8C76B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299FB-00FF-4C0F-02B9-030E928A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7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B802-A378-61B1-99FD-CBF979A5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A4D6FA-7342-0331-52AE-563B8C8A0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976A5-01B8-984F-A343-9395A3F6D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F1E93-E00F-5D4B-DE0A-CBC0F421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0B906-E5D7-1F6F-EF0F-62770AFB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C8828-7850-D487-E5E7-B03764FF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51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059-A698-6C72-0CB6-D988A27E2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597D5-2600-ED6F-A5AD-54609FECB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D14DB-3160-4602-934A-A5E2D2A9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51625-EBBD-9E6E-E55E-D6A4A0FB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0BAE8-96D4-7FB1-32CC-BE1B928A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45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DFD6D0-E1C8-B85B-7B5C-3D4992680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887D1-0CCD-13A2-3542-A8CE1473D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95726-47DE-82E8-90D1-16BAD784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4F17F-3981-BF91-3C2C-47999DA4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AFE37-1B0D-E75F-F6A8-9184FCBB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22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48DE1-D4F0-6B37-08C5-A5CA50BF9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89D49-FA11-F602-55B3-624A7CCD9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DE3B-5914-7914-4670-BC6F2DBE1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803A8-A464-4769-A6D4-3B6F57CA8CC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F76DD-6861-2B58-1063-9D2EE32843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05147-82C0-943E-1902-E4BF997AB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CB5DB-25B2-4521-8B00-F54C1DE41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ontiersin.org/journals/psychology/articles/10.3389/fpsyg.2024.1416041/full?utm_sourc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527561-F20E-B38E-4FB4-ACDA03FE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301, Oct 31, Class 20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6C7A6B-0536-5EE7-20DA-D2EBD5146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TA’s present on Swearing/Pain &amp; </a:t>
            </a:r>
            <a:r>
              <a:rPr lang="en-US" dirty="0" err="1"/>
              <a:t>Mythbusters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259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3071-3B59-E26F-DCE6-9BC1C703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B309A-022F-A9B2-1A88-B46057835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</a:t>
            </a:r>
          </a:p>
          <a:p>
            <a:r>
              <a:rPr lang="en-US" dirty="0">
                <a:hlinkClick r:id="rId2"/>
              </a:rPr>
              <a:t>https://www.frontiersin.org/journals/psychology/articles/10.3389/fpsyg.2024.1416041/full?utm_source</a:t>
            </a:r>
            <a:endParaRPr lang="en-US" dirty="0"/>
          </a:p>
          <a:p>
            <a:r>
              <a:rPr lang="en-US" dirty="0"/>
              <a:t>Hay, C. M., Sills, J. L., Shoemake, J. M., Ballmann, C. G., Stephens, R., &amp; Washmuth, N. B. (2024). F@# $ pain! A mini-review of the </a:t>
            </a:r>
            <a:r>
              <a:rPr lang="en-US" dirty="0" err="1"/>
              <a:t>hypoalgesic</a:t>
            </a:r>
            <a:r>
              <a:rPr lang="en-US" dirty="0"/>
              <a:t> effects of swearing. </a:t>
            </a:r>
            <a:r>
              <a:rPr lang="en-US" i="1"/>
              <a:t>Frontiers in psychology</a:t>
            </a:r>
            <a:r>
              <a:rPr lang="en-US"/>
              <a:t>, </a:t>
            </a:r>
            <a:r>
              <a:rPr lang="en-US" i="1"/>
              <a:t>15</a:t>
            </a:r>
            <a:r>
              <a:rPr lang="en-US"/>
              <a:t>, 1416041.</a:t>
            </a:r>
          </a:p>
        </p:txBody>
      </p:sp>
    </p:spTree>
    <p:extLst>
      <p:ext uri="{BB962C8B-B14F-4D97-AF65-F5344CB8AC3E}">
        <p14:creationId xmlns:p14="http://schemas.microsoft.com/office/powerpoint/2010/main" val="68209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9B57A-A7C6-EBBC-98E5-C8838C5B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Monday 11/3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B8C58-DAF0-549C-E887-C3CF4B99A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12, Non-experimental design</a:t>
            </a:r>
          </a:p>
          <a:p>
            <a:r>
              <a:rPr lang="en-US" dirty="0"/>
              <a:t>Review #10 Plant et al. (2009)</a:t>
            </a:r>
          </a:p>
        </p:txBody>
      </p:sp>
    </p:spTree>
    <p:extLst>
      <p:ext uri="{BB962C8B-B14F-4D97-AF65-F5344CB8AC3E}">
        <p14:creationId xmlns:p14="http://schemas.microsoft.com/office/powerpoint/2010/main" val="1072590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D93CA-6548-7998-8B9E-2E7B9E574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Intervention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F55B3-1CBD-B8C1-1995-1B9B249B5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an example of a research study not included in the chapter for which it would be unethical to include a placebo/control group.</a:t>
            </a:r>
          </a:p>
          <a:p>
            <a:endParaRPr lang="en-US" dirty="0"/>
          </a:p>
          <a:p>
            <a:r>
              <a:rPr lang="en-US" dirty="0"/>
              <a:t>Why are rules requiring reporting of conflict of interest important for ensuring accurate and fair scientific processes and reports?</a:t>
            </a:r>
          </a:p>
        </p:txBody>
      </p:sp>
    </p:spTree>
    <p:extLst>
      <p:ext uri="{BB962C8B-B14F-4D97-AF65-F5344CB8AC3E}">
        <p14:creationId xmlns:p14="http://schemas.microsoft.com/office/powerpoint/2010/main" val="4072548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65A3C-9811-0004-3EAB-CB1980034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Curing cancer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33166-0529-BCA5-1631-1BEF935C8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have a new drug that we think cures cancer.  We need to prove it works so we can confidently give it to all cancer patients.</a:t>
            </a:r>
          </a:p>
          <a:p>
            <a:endParaRPr lang="en-US" dirty="0"/>
          </a:p>
          <a:p>
            <a:r>
              <a:rPr lang="en-US" dirty="0"/>
              <a:t>Research study</a:t>
            </a:r>
          </a:p>
          <a:p>
            <a:pPr lvl="1"/>
            <a:r>
              <a:rPr lang="en-US" dirty="0"/>
              <a:t>Set up a fully double-blind design</a:t>
            </a:r>
          </a:p>
          <a:p>
            <a:pPr lvl="1"/>
            <a:r>
              <a:rPr lang="en-US" dirty="0"/>
              <a:t>Recruit participants who are cancer patients</a:t>
            </a:r>
          </a:p>
          <a:p>
            <a:pPr lvl="1"/>
            <a:r>
              <a:rPr lang="en-US" dirty="0"/>
              <a:t>IV = ???</a:t>
            </a:r>
          </a:p>
          <a:p>
            <a:pPr lvl="1"/>
            <a:r>
              <a:rPr lang="en-US" dirty="0"/>
              <a:t>DV = ???</a:t>
            </a:r>
          </a:p>
          <a:p>
            <a:pPr lvl="1"/>
            <a:r>
              <a:rPr lang="en-US" dirty="0"/>
              <a:t>What if the pharmaceutical company wants to sponsor </a:t>
            </a:r>
            <a:r>
              <a:rPr lang="en-US"/>
              <a:t>the research?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22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E892-BB63-372A-E9D0-D7832912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1A7BBFE-E824-2DB1-754D-3CD7312D1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Philosophical Ethical Challenges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66E7B74-64B4-EF36-B740-47D817D4F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the experimental treatment is a benefit</a:t>
            </a:r>
          </a:p>
          <a:p>
            <a:pPr lvl="1"/>
            <a:r>
              <a:rPr lang="en-US" dirty="0"/>
              <a:t>Justice would normally mean equal benefits across groups</a:t>
            </a:r>
          </a:p>
          <a:p>
            <a:pPr lvl="1"/>
            <a:r>
              <a:rPr lang="en-US" dirty="0"/>
              <a:t>Intervention research on Monday</a:t>
            </a:r>
          </a:p>
          <a:p>
            <a:r>
              <a:rPr lang="en-US" dirty="0"/>
              <a:t>Coercion versus voluntary participation</a:t>
            </a:r>
          </a:p>
          <a:p>
            <a:pPr lvl="1"/>
            <a:r>
              <a:rPr lang="en-US" dirty="0"/>
              <a:t>Authority figures: supervisors, teachers</a:t>
            </a:r>
          </a:p>
          <a:p>
            <a:pPr lvl="1"/>
            <a:r>
              <a:rPr lang="en-US" dirty="0"/>
              <a:t>Financial rewards: incentivizing risk</a:t>
            </a:r>
          </a:p>
          <a:p>
            <a:r>
              <a:rPr lang="en-US" dirty="0"/>
              <a:t>Vulnerable populations</a:t>
            </a:r>
          </a:p>
          <a:p>
            <a:pPr lvl="1"/>
            <a:r>
              <a:rPr lang="en-US" dirty="0"/>
              <a:t>Children: depend on guardian</a:t>
            </a:r>
          </a:p>
          <a:p>
            <a:pPr lvl="2"/>
            <a:r>
              <a:rPr lang="en-US" dirty="0"/>
              <a:t>Mandatory reporting training for staff</a:t>
            </a:r>
          </a:p>
          <a:p>
            <a:pPr lvl="1"/>
            <a:r>
              <a:rPr lang="en-US" dirty="0"/>
              <a:t>Prisoners: cannot voluntarily consent</a:t>
            </a:r>
          </a:p>
          <a:p>
            <a:pPr lvl="2"/>
            <a:r>
              <a:rPr lang="en-US" dirty="0"/>
              <a:t>Research must be for prisoners’ benefit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282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18172</TotalTime>
  <Words>291</Words>
  <Application>Microsoft Office PowerPoint</Application>
  <PresentationFormat>Widescreen</PresentationFormat>
  <Paragraphs>34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301, Oct 31, Class 20</vt:lpstr>
      <vt:lpstr>PowerPoint Presentation</vt:lpstr>
      <vt:lpstr>For Monday 11/3</vt:lpstr>
      <vt:lpstr>Intervention research</vt:lpstr>
      <vt:lpstr>Curing cancer</vt:lpstr>
      <vt:lpstr>Philosophical Ethical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Feb 21</dc:title>
  <dc:creator>Paul Reber</dc:creator>
  <cp:lastModifiedBy>Paul Reber</cp:lastModifiedBy>
  <cp:revision>18</cp:revision>
  <cp:lastPrinted>2024-11-11T14:21:37Z</cp:lastPrinted>
  <dcterms:created xsi:type="dcterms:W3CDTF">2024-02-18T20:17:25Z</dcterms:created>
  <dcterms:modified xsi:type="dcterms:W3CDTF">2025-11-03T02:29:49Z</dcterms:modified>
</cp:coreProperties>
</file>