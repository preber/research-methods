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9" r:id="rId3"/>
    <p:sldId id="260" r:id="rId4"/>
    <p:sldId id="266" r:id="rId5"/>
    <p:sldId id="273" r:id="rId6"/>
    <p:sldId id="276" r:id="rId7"/>
    <p:sldId id="265" r:id="rId8"/>
    <p:sldId id="277" r:id="rId9"/>
    <p:sldId id="278" r:id="rId10"/>
    <p:sldId id="279" r:id="rId11"/>
    <p:sldId id="280" r:id="rId12"/>
    <p:sldId id="281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205CD-4E92-496A-AEB2-F6A9593AF53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EE1CD-60C2-4BB7-BEBD-C0E819EB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6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D090E0-8188-4F4E-92E1-7BBC12B459BD}" type="slidenum">
              <a:rPr lang="en-US"/>
              <a:pPr/>
              <a:t>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11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9F5FDB-7781-45FA-B3DD-1621141DC192}" type="slidenum">
              <a:rPr lang="en-US"/>
              <a:pPr/>
              <a:t>7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3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3A41-3798-4289-1365-18E55829F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8DE4D-5027-DFFE-D298-2E0E22424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5C272-63AC-7864-FAB7-EC7279B1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F5769-4501-9BB4-75AC-67CCE85E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8A4B-5CA0-E7F3-D3E9-134C4A23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FED0-2AD8-212B-7C4C-60C5A793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07A5-6EC5-1BE4-8B81-AB0517AD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83EA-4673-A0A1-602C-F218FFFE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B650-6480-096F-643B-5E32332C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07735-287C-4053-9B41-4614C968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A931-9470-4443-9D6B-EA2639D4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BA0E8-4989-7842-2331-8C161F1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2BA8-4983-BA9A-B877-60FC5864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88C39-258B-D7AD-E220-051B5D03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7DB4-7FD1-B3BB-DCD1-9BB6A2C3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7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9FCA-B79D-BAFB-4552-027DB01E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3D630-6C5C-1A8D-49D5-09408383B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CF241-65EB-9B80-7823-3E7C96975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DB6BD-0A81-4257-1C58-06F62398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A7EDB-2511-03D5-4C90-5ED3BE76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2699-0BC1-FE2F-EB37-8154E598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7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170D-8BB8-F45B-5C89-79FA81091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DB6C7-5DEC-166E-9DB7-C7CB4978D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1332E-D44C-182E-F40E-E200B8AB4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848C9-5E40-F8A4-52E3-0444470D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3285B-76CB-EF56-58EB-33C41EE6E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29495-6622-6DC3-CB51-25D8CE4D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09B9B-F9AD-0837-207A-C53D553F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7B4CC-3EF2-66FC-B656-52C70F20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1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A37B-5CF2-7EF5-2ECB-213237FA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FB8AA-038E-E36E-7263-E035563B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229C-092E-1857-5A57-1AAA4997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63BCC-7469-110B-9B80-598F3C35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3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A56646-728B-7F88-12A3-F2F17FB9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0B188-7588-7611-226E-56B8CF63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AB48E-C3E3-129F-A5BD-72F02FE8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7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5155-40BD-2F21-332A-61B498C8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8F18C-110B-C7AC-6807-091B1661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E4C0-0471-628A-55B8-EFFB6B9A9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BC102-A191-E8E2-1C22-D13B24B55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49EE8-04B7-E1CF-D43A-E3427EAA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D898-E635-3196-D6AB-297304EE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7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5A92-6232-BBA1-F2C2-FD7D31E9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9122B-C8C4-8BD4-2BF8-42AB5180A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AE2FB-4397-8B16-BF3D-6DA3B359B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1E35B-AA16-1CDA-25AA-EAC365EF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02F7D-9FED-1376-2CE6-96706B4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55DAD-5802-9E03-F40A-7185C327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039F-824C-10BE-42BF-999B04D5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528E5-9D62-233B-5A04-EBB31DE5E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FE73B-669A-43F6-E748-10A9CB3F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18508-DE92-7C44-E0D6-A84F49E6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7A1B-0CCD-8056-C17D-F494A24A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0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969C9-6C41-3F27-3373-B571A5498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60C4D-94D5-D65D-F1DF-615B45DF0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45CFF-5A91-529E-9D66-78781DC7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C8C0-275B-32BD-9ED1-40A592FF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A576E-BD51-B4AB-43F8-22C992E8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C9D47-E8DE-2CAD-1AB2-FA63B2F4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ED9FA-F8C4-285A-2F1B-B9C036131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97B4F-7ED0-9FCE-6DAF-B46502514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81A46-83B4-4A84-82DE-FF6DD8D0F66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4F727-6D95-D585-6800-F94B40EAA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F0BC-F2DC-F068-9438-382F6440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60BE-DE3D-40CB-92D0-0D03DA3CD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5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2D9B-EFDE-40B3-CA45-948B4F2C7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Methods, 205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389C-5C3D-2202-2136-946206BC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Professor Paul J. Reber, PhD.</a:t>
            </a:r>
          </a:p>
          <a:p>
            <a:pPr lvl="1"/>
            <a:r>
              <a:rPr lang="en-US" dirty="0"/>
              <a:t>TA: Vanessa </a:t>
            </a:r>
            <a:r>
              <a:rPr lang="en-US" dirty="0" err="1"/>
              <a:t>Zarubin</a:t>
            </a:r>
            <a:endParaRPr lang="en-US" dirty="0"/>
          </a:p>
          <a:p>
            <a:pPr lvl="1"/>
            <a:r>
              <a:rPr lang="en-US" dirty="0"/>
              <a:t>TA: Madeline Awad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4856EA1-C210-3D45-2221-FA087506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9931" y="3779520"/>
            <a:ext cx="567213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16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1631-4DAE-12FC-64FE-AD097FF9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E9253-1D4B-DF7A-D750-405089C2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QR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Should work on mobile devices…</a:t>
            </a:r>
          </a:p>
          <a:p>
            <a:endParaRPr lang="en-US" dirty="0"/>
          </a:p>
          <a:p>
            <a:r>
              <a:rPr lang="en-US" dirty="0"/>
              <a:t>Link on canvas</a:t>
            </a:r>
          </a:p>
          <a:p>
            <a:pPr lvl="1"/>
            <a:r>
              <a:rPr lang="en-US" dirty="0"/>
              <a:t>https://tinyurl.com/Reber205</a:t>
            </a:r>
          </a:p>
          <a:p>
            <a:pPr lvl="1"/>
            <a:r>
              <a:rPr lang="en-US" sz="2000" dirty="0"/>
              <a:t>https://www.reberlab.org/file/show/Memory205.html?group=c0ff24d7a593fce6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32500-B7C0-3C81-7540-B29B24E5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102" y="365125"/>
            <a:ext cx="3868573" cy="386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1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Experimental Methods in Psychology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Primary goal for this class is for you to learn how to understand the process of science in Psychology</a:t>
            </a:r>
          </a:p>
          <a:p>
            <a:pPr lvl="1"/>
            <a:r>
              <a:rPr lang="en-US" dirty="0"/>
              <a:t>How to carry out experiments</a:t>
            </a:r>
          </a:p>
          <a:p>
            <a:pPr lvl="1"/>
            <a:r>
              <a:rPr lang="en-US" dirty="0"/>
              <a:t>How to read the literature reporting Psychology studies</a:t>
            </a:r>
          </a:p>
          <a:p>
            <a:pPr lvl="2"/>
            <a:r>
              <a:rPr lang="en-US" dirty="0"/>
              <a:t>Identifying strengths and weaknesses of methodology</a:t>
            </a:r>
          </a:p>
          <a:p>
            <a:pPr lvl="2"/>
            <a:r>
              <a:rPr lang="en-US" dirty="0"/>
              <a:t>How Do They Know That?</a:t>
            </a:r>
          </a:p>
          <a:p>
            <a:r>
              <a:rPr lang="en-US" dirty="0"/>
              <a:t>Hands-on means:</a:t>
            </a:r>
          </a:p>
          <a:p>
            <a:pPr lvl="1"/>
            <a:r>
              <a:rPr lang="en-US" dirty="0"/>
              <a:t>Working through 3 short research projects</a:t>
            </a:r>
          </a:p>
          <a:p>
            <a:pPr lvl="2"/>
            <a:r>
              <a:rPr lang="en-US" dirty="0"/>
              <a:t>Methods, data analysis, statistics and reporting results</a:t>
            </a:r>
          </a:p>
          <a:p>
            <a:pPr lvl="1"/>
            <a:r>
              <a:rPr lang="en-US" dirty="0"/>
              <a:t>Reading published research for class discussion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27285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C982-64C6-81A3-BA9B-B75221B7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Overview: Major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0868-37A5-730C-6757-EED0DAFC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 Midterm exams</a:t>
            </a:r>
          </a:p>
          <a:p>
            <a:pPr lvl="1"/>
            <a:r>
              <a:rPr lang="en-US" dirty="0"/>
              <a:t>Exam 1: Chapters 1-8, on 10/14</a:t>
            </a:r>
          </a:p>
          <a:p>
            <a:pPr lvl="1"/>
            <a:r>
              <a:rPr lang="en-US" dirty="0"/>
              <a:t>Exam 2: Chapters 1-20, on 11/20</a:t>
            </a:r>
          </a:p>
          <a:p>
            <a:pPr lvl="1"/>
            <a:r>
              <a:rPr lang="en-US" dirty="0"/>
              <a:t>No exam during finals week</a:t>
            </a:r>
          </a:p>
          <a:p>
            <a:r>
              <a:rPr lang="en-US" dirty="0"/>
              <a:t>3 Writing assignments related to hands-on research</a:t>
            </a:r>
          </a:p>
          <a:p>
            <a:pPr lvl="1"/>
            <a:r>
              <a:rPr lang="en-US" dirty="0"/>
              <a:t>Experiment 1: you just participated, we analyze, you write up (brief)</a:t>
            </a:r>
          </a:p>
          <a:p>
            <a:pPr lvl="2"/>
            <a:r>
              <a:rPr lang="en-US" dirty="0"/>
              <a:t>Friday 10/11</a:t>
            </a:r>
          </a:p>
          <a:p>
            <a:pPr lvl="1"/>
            <a:r>
              <a:rPr lang="en-US" dirty="0"/>
              <a:t>Experiment 2: you collect data, we analyze, you write up (complete)</a:t>
            </a:r>
          </a:p>
          <a:p>
            <a:pPr lvl="2"/>
            <a:r>
              <a:rPr lang="en-US" dirty="0"/>
              <a:t>Friday 11/8</a:t>
            </a:r>
          </a:p>
          <a:p>
            <a:pPr lvl="1"/>
            <a:r>
              <a:rPr lang="en-US" dirty="0"/>
              <a:t>Final project: working in small groups, carry out and write up a self-directed project</a:t>
            </a:r>
          </a:p>
          <a:p>
            <a:pPr lvl="2"/>
            <a:r>
              <a:rPr lang="en-US" dirty="0"/>
              <a:t>Due end of finals week</a:t>
            </a:r>
          </a:p>
        </p:txBody>
      </p:sp>
    </p:spTree>
    <p:extLst>
      <p:ext uri="{BB962C8B-B14F-4D97-AF65-F5344CB8AC3E}">
        <p14:creationId xmlns:p14="http://schemas.microsoft.com/office/powerpoint/2010/main" val="229578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C279-25AD-4B1D-4C8D-001AC862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71D57-17BF-E418-A5D0-5DAF9528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Research Methods: How Do They Know That?</a:t>
            </a:r>
          </a:p>
          <a:p>
            <a:pPr lvl="1"/>
            <a:r>
              <a:rPr lang="en-US" dirty="0"/>
              <a:t>Available free download as pdf on Canvas</a:t>
            </a:r>
          </a:p>
          <a:p>
            <a:r>
              <a:rPr lang="en-US" dirty="0"/>
              <a:t>Message from Prof. Reber</a:t>
            </a:r>
          </a:p>
          <a:p>
            <a:pPr lvl="1"/>
            <a:r>
              <a:rPr lang="en-US" dirty="0"/>
              <a:t>The textbook is a work in progress to match the pacing of our hands-on, writing-intensive approach to Research Methods</a:t>
            </a:r>
          </a:p>
          <a:p>
            <a:pPr lvl="1"/>
            <a:r>
              <a:rPr lang="en-US" dirty="0"/>
              <a:t>This is the third year of use but it is still being revised each time</a:t>
            </a:r>
          </a:p>
          <a:p>
            <a:pPr lvl="2"/>
            <a:r>
              <a:rPr lang="en-US" dirty="0"/>
              <a:t>If you find typos or have suggestions, you can be included by name in the Acknowledgements if you want</a:t>
            </a:r>
          </a:p>
          <a:p>
            <a:pPr lvl="1"/>
            <a:r>
              <a:rPr lang="en-US" dirty="0"/>
              <a:t>This year’s revision is splitting into two documents, one general topic content and one with specific information for this exact class (Operations Manual)</a:t>
            </a:r>
          </a:p>
          <a:p>
            <a:pPr lvl="1"/>
            <a:r>
              <a:rPr lang="en-US" dirty="0"/>
              <a:t>Documents are posted but note that they might still get updated and reposted, remember to update if that happens</a:t>
            </a:r>
          </a:p>
          <a:p>
            <a:pPr lvl="2"/>
            <a:r>
              <a:rPr lang="en-US" dirty="0"/>
              <a:t>First eight chapters should not get further revision</a:t>
            </a:r>
          </a:p>
        </p:txBody>
      </p:sp>
    </p:spTree>
    <p:extLst>
      <p:ext uri="{BB962C8B-B14F-4D97-AF65-F5344CB8AC3E}">
        <p14:creationId xmlns:p14="http://schemas.microsoft.com/office/powerpoint/2010/main" val="244326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CF6C-F199-DB7C-F4D9-2D64CAD3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Assignments for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9B9D-91F2-F24E-C922-7D5D09BDF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the quarter, there will be approximately 20 classes where we cover content from the textbook or outside readings</a:t>
            </a:r>
          </a:p>
          <a:p>
            <a:r>
              <a:rPr lang="en-US" dirty="0"/>
              <a:t>For each of these, there will be a short assignment due before class starts</a:t>
            </a:r>
          </a:p>
          <a:p>
            <a:pPr lvl="1"/>
            <a:r>
              <a:rPr lang="en-US" dirty="0"/>
              <a:t>These aim to motivate being prepared for class</a:t>
            </a:r>
          </a:p>
          <a:p>
            <a:pPr lvl="1"/>
            <a:r>
              <a:rPr lang="en-US" dirty="0"/>
              <a:t>Late submissions are NOT accepted</a:t>
            </a:r>
          </a:p>
          <a:p>
            <a:pPr lvl="1"/>
            <a:r>
              <a:rPr lang="en-US" dirty="0"/>
              <a:t>Corrections can be submitted after class (if there was an on-time submission)</a:t>
            </a:r>
          </a:p>
        </p:txBody>
      </p:sp>
    </p:spTree>
    <p:extLst>
      <p:ext uri="{BB962C8B-B14F-4D97-AF65-F5344CB8AC3E}">
        <p14:creationId xmlns:p14="http://schemas.microsoft.com/office/powerpoint/2010/main" val="45828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Grading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/>
              <a:t>Papers, 60% total</a:t>
            </a:r>
          </a:p>
          <a:p>
            <a:pPr lvl="1" eaLnBrk="1" hangingPunct="1"/>
            <a:r>
              <a:rPr lang="en-US" dirty="0"/>
              <a:t>Experiment 1, 10%</a:t>
            </a:r>
          </a:p>
          <a:p>
            <a:pPr lvl="1" eaLnBrk="1" hangingPunct="1"/>
            <a:r>
              <a:rPr lang="en-US" dirty="0"/>
              <a:t>Experiments 1 &amp; 2, 20%</a:t>
            </a:r>
          </a:p>
          <a:p>
            <a:pPr lvl="2"/>
            <a:r>
              <a:rPr lang="en-US" dirty="0"/>
              <a:t>Including revisions of Experiment 1</a:t>
            </a:r>
          </a:p>
          <a:p>
            <a:pPr lvl="1" eaLnBrk="1" hangingPunct="1"/>
            <a:r>
              <a:rPr lang="en-US" dirty="0"/>
              <a:t>Final project, 30%</a:t>
            </a:r>
          </a:p>
          <a:p>
            <a:pPr lvl="2" eaLnBrk="1" hangingPunct="1"/>
            <a:r>
              <a:rPr lang="en-US" dirty="0"/>
              <a:t>Includes: group research proposal, and class progress presentation</a:t>
            </a:r>
          </a:p>
          <a:p>
            <a:pPr eaLnBrk="1" hangingPunct="1"/>
            <a:r>
              <a:rPr lang="en-US" dirty="0"/>
              <a:t>2 Exams, 30% total</a:t>
            </a:r>
          </a:p>
          <a:p>
            <a:pPr lvl="1"/>
            <a:r>
              <a:rPr lang="en-US" dirty="0"/>
              <a:t>15% each</a:t>
            </a:r>
          </a:p>
          <a:p>
            <a:r>
              <a:rPr lang="en-US" dirty="0"/>
              <a:t>Daily assignments, 10%</a:t>
            </a:r>
          </a:p>
          <a:p>
            <a:r>
              <a:rPr lang="en-US" dirty="0"/>
              <a:t>Standard Student Expectations</a:t>
            </a:r>
          </a:p>
          <a:p>
            <a:pPr lvl="1"/>
            <a:r>
              <a:rPr lang="en-US" dirty="0"/>
              <a:t>https://www.registrar.northwestern.edu/registration-graduation/northwestern-university-syllabus-standards.html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72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6FAC8F-0D07-D665-5525-269005C7D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was Experiment 1 about?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55C18D-E2F3-836D-B00F-74E513701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was the dependent variable?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5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was the independent variable?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7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a hypothesis relating the independent variable to the dependent variable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0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D462-DB03-135B-8FEA-C14963610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What statistical test would we use to establish a reliable relationship between our independent and dependent variables that would allow us to test our hypothesis?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4C211B-BCAA-1C8E-04F0-1405B8AA1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8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5DA2-0835-1CF4-5F9E-9BC5715F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Friday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95DAA-9A6E-2351-9839-78B0C76B3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Chapter 1</a:t>
            </a:r>
          </a:p>
          <a:p>
            <a:endParaRPr lang="en-US" dirty="0"/>
          </a:p>
          <a:p>
            <a:r>
              <a:rPr lang="en-US" dirty="0"/>
              <a:t>HW1: Reading 1, Craik &amp; Lockhart (1972)</a:t>
            </a:r>
          </a:p>
          <a:p>
            <a:pPr lvl="1"/>
            <a:r>
              <a:rPr lang="en-US" dirty="0"/>
              <a:t>This paper introduces the theoretical basis of our Experiment 1</a:t>
            </a:r>
          </a:p>
          <a:p>
            <a:pPr lvl="1"/>
            <a:r>
              <a:rPr lang="en-US" dirty="0"/>
              <a:t>Assignment: brief questions about this paper (posted to Canvas)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41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10184</TotalTime>
  <Words>588</Words>
  <Application>Microsoft Office PowerPoint</Application>
  <PresentationFormat>Widescreen</PresentationFormat>
  <Paragraphs>77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Research Methods, 205</vt:lpstr>
      <vt:lpstr>Experiment 1</vt:lpstr>
      <vt:lpstr>Experimental Methods in Psychology</vt:lpstr>
      <vt:lpstr>Class Overview: Major Assignments</vt:lpstr>
      <vt:lpstr>Textbook</vt:lpstr>
      <vt:lpstr>Daily Assignments for Class</vt:lpstr>
      <vt:lpstr>Grading</vt:lpstr>
      <vt:lpstr>What was Experiment 1 about?</vt:lpstr>
      <vt:lpstr>What was the dependent variable?</vt:lpstr>
      <vt:lpstr>What was the independent variable?</vt:lpstr>
      <vt:lpstr>State a hypothesis relating the independent variable to the dependent variable</vt:lpstr>
      <vt:lpstr>What statistical test would we use to establish a reliable relationship between our independent and dependent variables that would allow us to test our hypothesis?</vt:lpstr>
      <vt:lpstr>For Friday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Methods, 205</dc:title>
  <dc:creator>Paul Reber</dc:creator>
  <cp:lastModifiedBy>Paul Reber</cp:lastModifiedBy>
  <cp:revision>14</cp:revision>
  <dcterms:created xsi:type="dcterms:W3CDTF">2022-09-13T13:53:02Z</dcterms:created>
  <dcterms:modified xsi:type="dcterms:W3CDTF">2024-09-19T15:41:15Z</dcterms:modified>
</cp:coreProperties>
</file>