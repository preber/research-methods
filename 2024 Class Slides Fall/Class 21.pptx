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820" r:id="rId3"/>
    <p:sldId id="821" r:id="rId4"/>
    <p:sldId id="816" r:id="rId5"/>
    <p:sldId id="817" r:id="rId6"/>
    <p:sldId id="818" r:id="rId7"/>
    <p:sldId id="819" r:id="rId8"/>
    <p:sldId id="269" r:id="rId9"/>
    <p:sldId id="823" r:id="rId10"/>
    <p:sldId id="278" r:id="rId11"/>
    <p:sldId id="815" r:id="rId12"/>
    <p:sldId id="279" r:id="rId13"/>
    <p:sldId id="277" r:id="rId14"/>
    <p:sldId id="280" r:id="rId15"/>
    <p:sldId id="271" r:id="rId16"/>
    <p:sldId id="282" r:id="rId17"/>
    <p:sldId id="283" r:id="rId18"/>
    <p:sldId id="822" r:id="rId19"/>
    <p:sldId id="276" r:id="rId20"/>
    <p:sldId id="258" r:id="rId21"/>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5" autoAdjust="0"/>
    <p:restoredTop sz="94660"/>
  </p:normalViewPr>
  <p:slideViewPr>
    <p:cSldViewPr snapToGrid="0">
      <p:cViewPr varScale="1">
        <p:scale>
          <a:sx n="97" d="100"/>
          <a:sy n="97" d="100"/>
        </p:scale>
        <p:origin x="1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AE8AD1E7-AB51-422C-A8BB-A7FEA0FB755B}" type="datetimeFigureOut">
              <a:rPr lang="en-US" smtClean="0"/>
              <a:t>11/13/2024</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888A7875-4471-4DD7-A530-94B14D5358F8}" type="slidenum">
              <a:rPr lang="en-US" smtClean="0"/>
              <a:t>‹#›</a:t>
            </a:fld>
            <a:endParaRPr lang="en-US"/>
          </a:p>
        </p:txBody>
      </p:sp>
    </p:spTree>
    <p:extLst>
      <p:ext uri="{BB962C8B-B14F-4D97-AF65-F5344CB8AC3E}">
        <p14:creationId xmlns:p14="http://schemas.microsoft.com/office/powerpoint/2010/main" val="3279466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10B7135-5148-4ACD-B305-0394EBD9F4EA}" type="slidenum">
              <a:rPr lang="en-US"/>
              <a:pPr fontAlgn="base">
                <a:spcBef>
                  <a:spcPct val="0"/>
                </a:spcBef>
                <a:spcAft>
                  <a:spcPct val="0"/>
                </a:spcAft>
              </a:pPr>
              <a:t>8</a:t>
            </a:fld>
            <a:endParaRPr lang="en-US"/>
          </a:p>
        </p:txBody>
      </p:sp>
      <p:sp>
        <p:nvSpPr>
          <p:cNvPr id="194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E1C22-423C-F95D-9E4D-C2073A7EDABD}"/>
            </a:ext>
          </a:extLst>
        </p:cNvPr>
        <p:cNvGrpSpPr/>
        <p:nvPr/>
      </p:nvGrpSpPr>
      <p:grpSpPr>
        <a:xfrm>
          <a:off x="0" y="0"/>
          <a:ext cx="0" cy="0"/>
          <a:chOff x="0" y="0"/>
          <a:chExt cx="0" cy="0"/>
        </a:xfrm>
      </p:grpSpPr>
      <p:sp>
        <p:nvSpPr>
          <p:cNvPr id="24578" name="Rectangle 7">
            <a:extLst>
              <a:ext uri="{FF2B5EF4-FFF2-40B4-BE49-F238E27FC236}">
                <a16:creationId xmlns:a16="http://schemas.microsoft.com/office/drawing/2014/main" id="{ED840933-9D6A-1C57-8C11-CF567FA6FC2A}"/>
              </a:ext>
            </a:extLst>
          </p:cNvPr>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03558D8-15F3-4A47-8F3A-8638566C761C}" type="slidenum">
              <a:rPr lang="en-US"/>
              <a:pPr fontAlgn="base">
                <a:spcBef>
                  <a:spcPct val="0"/>
                </a:spcBef>
                <a:spcAft>
                  <a:spcPct val="0"/>
                </a:spcAft>
              </a:pPr>
              <a:t>19</a:t>
            </a:fld>
            <a:endParaRPr lang="en-US"/>
          </a:p>
        </p:txBody>
      </p:sp>
      <p:sp>
        <p:nvSpPr>
          <p:cNvPr id="24579" name="Rectangle 2">
            <a:extLst>
              <a:ext uri="{FF2B5EF4-FFF2-40B4-BE49-F238E27FC236}">
                <a16:creationId xmlns:a16="http://schemas.microsoft.com/office/drawing/2014/main" id="{472BCF50-6605-55E0-00E4-5F12B708BD57}"/>
              </a:ext>
            </a:extLst>
          </p:cNvPr>
          <p:cNvSpPr>
            <a:spLocks noGrp="1" noRot="1" noChangeAspect="1" noChangeArrowheads="1" noTextEdit="1"/>
          </p:cNvSpPr>
          <p:nvPr>
            <p:ph type="sldImg"/>
          </p:nvPr>
        </p:nvSpPr>
        <p:spPr bwMode="auto">
          <a:noFill/>
          <a:ln>
            <a:solidFill>
              <a:srgbClr val="000000"/>
            </a:solidFill>
            <a:miter lim="800000"/>
            <a:headEnd/>
            <a:tailEnd/>
          </a:ln>
        </p:spPr>
      </p:sp>
      <p:sp>
        <p:nvSpPr>
          <p:cNvPr id="24580" name="Rectangle 3">
            <a:extLst>
              <a:ext uri="{FF2B5EF4-FFF2-40B4-BE49-F238E27FC236}">
                <a16:creationId xmlns:a16="http://schemas.microsoft.com/office/drawing/2014/main" id="{8AF0C3ED-633E-C97D-4BB0-6B1B161A2C52}"/>
              </a:ext>
            </a:extLst>
          </p:cNvPr>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4259824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85372-B9AC-3123-0C55-4B85130FCD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0015DCE-5AD6-A4FF-2FF7-2C30D05C32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F19604-F34C-13C1-7588-AFA3AD2207F0}"/>
              </a:ext>
            </a:extLst>
          </p:cNvPr>
          <p:cNvSpPr>
            <a:spLocks noGrp="1"/>
          </p:cNvSpPr>
          <p:nvPr>
            <p:ph type="dt" sz="half" idx="10"/>
          </p:nvPr>
        </p:nvSpPr>
        <p:spPr/>
        <p:txBody>
          <a:bodyPr/>
          <a:lstStyle/>
          <a:p>
            <a:fld id="{3C9621BD-9A58-4B6A-8D79-A1F7EB728343}" type="datetimeFigureOut">
              <a:rPr lang="en-US" smtClean="0"/>
              <a:t>11/13/2024</a:t>
            </a:fld>
            <a:endParaRPr lang="en-US"/>
          </a:p>
        </p:txBody>
      </p:sp>
      <p:sp>
        <p:nvSpPr>
          <p:cNvPr id="5" name="Footer Placeholder 4">
            <a:extLst>
              <a:ext uri="{FF2B5EF4-FFF2-40B4-BE49-F238E27FC236}">
                <a16:creationId xmlns:a16="http://schemas.microsoft.com/office/drawing/2014/main" id="{DBBE4BCE-A9DC-58DD-3698-7692209EAE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24E68F-CBCD-F76C-6FAD-0C2D324D9E32}"/>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1290551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A0550-0A6F-FF87-6159-98A0B00589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697261-6062-4CD3-85A4-D0A4583A80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50F1A1-240D-61F3-AB3B-DFAE789E482D}"/>
              </a:ext>
            </a:extLst>
          </p:cNvPr>
          <p:cNvSpPr>
            <a:spLocks noGrp="1"/>
          </p:cNvSpPr>
          <p:nvPr>
            <p:ph type="dt" sz="half" idx="10"/>
          </p:nvPr>
        </p:nvSpPr>
        <p:spPr/>
        <p:txBody>
          <a:bodyPr/>
          <a:lstStyle/>
          <a:p>
            <a:fld id="{3C9621BD-9A58-4B6A-8D79-A1F7EB728343}" type="datetimeFigureOut">
              <a:rPr lang="en-US" smtClean="0"/>
              <a:t>11/13/2024</a:t>
            </a:fld>
            <a:endParaRPr lang="en-US"/>
          </a:p>
        </p:txBody>
      </p:sp>
      <p:sp>
        <p:nvSpPr>
          <p:cNvPr id="5" name="Footer Placeholder 4">
            <a:extLst>
              <a:ext uri="{FF2B5EF4-FFF2-40B4-BE49-F238E27FC236}">
                <a16:creationId xmlns:a16="http://schemas.microsoft.com/office/drawing/2014/main" id="{C16DD000-BDBF-B231-AB26-F18947FD19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B70968-FCE1-5E21-CE83-FD1FFBC13B9F}"/>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621874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947F2-CD63-0542-035D-0F6A619AF3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9A9775-01F0-0B9D-400E-927EAA5A53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7DB248-9691-EAF8-644D-079789A438F5}"/>
              </a:ext>
            </a:extLst>
          </p:cNvPr>
          <p:cNvSpPr>
            <a:spLocks noGrp="1"/>
          </p:cNvSpPr>
          <p:nvPr>
            <p:ph type="dt" sz="half" idx="10"/>
          </p:nvPr>
        </p:nvSpPr>
        <p:spPr/>
        <p:txBody>
          <a:bodyPr/>
          <a:lstStyle/>
          <a:p>
            <a:fld id="{3C9621BD-9A58-4B6A-8D79-A1F7EB728343}" type="datetimeFigureOut">
              <a:rPr lang="en-US" smtClean="0"/>
              <a:t>11/13/2024</a:t>
            </a:fld>
            <a:endParaRPr lang="en-US"/>
          </a:p>
        </p:txBody>
      </p:sp>
      <p:sp>
        <p:nvSpPr>
          <p:cNvPr id="5" name="Footer Placeholder 4">
            <a:extLst>
              <a:ext uri="{FF2B5EF4-FFF2-40B4-BE49-F238E27FC236}">
                <a16:creationId xmlns:a16="http://schemas.microsoft.com/office/drawing/2014/main" id="{1A5882D8-D774-A836-16E9-0EF3C3515C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DB22D7-A969-000D-F06E-8BB314AC4696}"/>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3465270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3E596-EF06-EF8C-24E2-6997581424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86A76F-5333-D7AA-ABCF-8EF3B85D2F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F61325-D769-C7D2-462E-2D467A66C0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02EB7F-0822-7A14-3E09-6E7901056A60}"/>
              </a:ext>
            </a:extLst>
          </p:cNvPr>
          <p:cNvSpPr>
            <a:spLocks noGrp="1"/>
          </p:cNvSpPr>
          <p:nvPr>
            <p:ph type="dt" sz="half" idx="10"/>
          </p:nvPr>
        </p:nvSpPr>
        <p:spPr/>
        <p:txBody>
          <a:bodyPr/>
          <a:lstStyle/>
          <a:p>
            <a:fld id="{3C9621BD-9A58-4B6A-8D79-A1F7EB728343}" type="datetimeFigureOut">
              <a:rPr lang="en-US" smtClean="0"/>
              <a:t>11/13/2024</a:t>
            </a:fld>
            <a:endParaRPr lang="en-US"/>
          </a:p>
        </p:txBody>
      </p:sp>
      <p:sp>
        <p:nvSpPr>
          <p:cNvPr id="6" name="Footer Placeholder 5">
            <a:extLst>
              <a:ext uri="{FF2B5EF4-FFF2-40B4-BE49-F238E27FC236}">
                <a16:creationId xmlns:a16="http://schemas.microsoft.com/office/drawing/2014/main" id="{5AB0DFF9-AF13-9B87-851B-8EF67FADBA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B1AAA7-4B47-1D3B-09F7-9257D4A2C0CA}"/>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544370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3B7C0-D671-4EC8-C95D-C6F114DCDD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27D47F-AD41-C04E-4BB3-0FDF270D20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3BEF29-1C77-B509-B4D5-23D46F51C6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3FB90B-7931-1399-BAD0-EBDACC997F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A077BF-519D-A71C-8F4F-DD5B3D1621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7938A7-A5EC-98B1-E76A-1B805AE5864F}"/>
              </a:ext>
            </a:extLst>
          </p:cNvPr>
          <p:cNvSpPr>
            <a:spLocks noGrp="1"/>
          </p:cNvSpPr>
          <p:nvPr>
            <p:ph type="dt" sz="half" idx="10"/>
          </p:nvPr>
        </p:nvSpPr>
        <p:spPr/>
        <p:txBody>
          <a:bodyPr/>
          <a:lstStyle/>
          <a:p>
            <a:fld id="{3C9621BD-9A58-4B6A-8D79-A1F7EB728343}" type="datetimeFigureOut">
              <a:rPr lang="en-US" smtClean="0"/>
              <a:t>11/13/2024</a:t>
            </a:fld>
            <a:endParaRPr lang="en-US"/>
          </a:p>
        </p:txBody>
      </p:sp>
      <p:sp>
        <p:nvSpPr>
          <p:cNvPr id="8" name="Footer Placeholder 7">
            <a:extLst>
              <a:ext uri="{FF2B5EF4-FFF2-40B4-BE49-F238E27FC236}">
                <a16:creationId xmlns:a16="http://schemas.microsoft.com/office/drawing/2014/main" id="{DC40BA58-2D6D-02E7-0D3F-6C12895189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0FA02A-79B9-EED9-3E7B-C091130FB613}"/>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3350373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078BD-0442-5D3C-0442-BB9BEA03FE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D9EC34-F1CA-7652-8A07-42EB1B07A52C}"/>
              </a:ext>
            </a:extLst>
          </p:cNvPr>
          <p:cNvSpPr>
            <a:spLocks noGrp="1"/>
          </p:cNvSpPr>
          <p:nvPr>
            <p:ph type="dt" sz="half" idx="10"/>
          </p:nvPr>
        </p:nvSpPr>
        <p:spPr/>
        <p:txBody>
          <a:bodyPr/>
          <a:lstStyle/>
          <a:p>
            <a:fld id="{3C9621BD-9A58-4B6A-8D79-A1F7EB728343}" type="datetimeFigureOut">
              <a:rPr lang="en-US" smtClean="0"/>
              <a:t>11/13/2024</a:t>
            </a:fld>
            <a:endParaRPr lang="en-US"/>
          </a:p>
        </p:txBody>
      </p:sp>
      <p:sp>
        <p:nvSpPr>
          <p:cNvPr id="4" name="Footer Placeholder 3">
            <a:extLst>
              <a:ext uri="{FF2B5EF4-FFF2-40B4-BE49-F238E27FC236}">
                <a16:creationId xmlns:a16="http://schemas.microsoft.com/office/drawing/2014/main" id="{A92BE5E6-B0A4-2DCF-BC7A-388B376EE8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6ECC81-6313-F117-EE3F-F7C5DF251D76}"/>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771094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50C5B5-E7D9-F3C9-997D-92D7569BAF5E}"/>
              </a:ext>
            </a:extLst>
          </p:cNvPr>
          <p:cNvSpPr>
            <a:spLocks noGrp="1"/>
          </p:cNvSpPr>
          <p:nvPr>
            <p:ph type="dt" sz="half" idx="10"/>
          </p:nvPr>
        </p:nvSpPr>
        <p:spPr/>
        <p:txBody>
          <a:bodyPr/>
          <a:lstStyle/>
          <a:p>
            <a:fld id="{3C9621BD-9A58-4B6A-8D79-A1F7EB728343}" type="datetimeFigureOut">
              <a:rPr lang="en-US" smtClean="0"/>
              <a:t>11/13/2024</a:t>
            </a:fld>
            <a:endParaRPr lang="en-US"/>
          </a:p>
        </p:txBody>
      </p:sp>
      <p:sp>
        <p:nvSpPr>
          <p:cNvPr id="3" name="Footer Placeholder 2">
            <a:extLst>
              <a:ext uri="{FF2B5EF4-FFF2-40B4-BE49-F238E27FC236}">
                <a16:creationId xmlns:a16="http://schemas.microsoft.com/office/drawing/2014/main" id="{4B5FF48D-5917-DFC0-B16B-6AB683941B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451736-1DF4-40FA-F571-975DE62D77C8}"/>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2806587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17688-4CFB-B99F-6659-3B68F3B90C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E32A05-C381-831B-16E1-B7E9EF6BBA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85AB9D-13C4-D46A-7E5A-277843F3B2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E66D3C-0BA2-E16B-512F-D214D05BA466}"/>
              </a:ext>
            </a:extLst>
          </p:cNvPr>
          <p:cNvSpPr>
            <a:spLocks noGrp="1"/>
          </p:cNvSpPr>
          <p:nvPr>
            <p:ph type="dt" sz="half" idx="10"/>
          </p:nvPr>
        </p:nvSpPr>
        <p:spPr/>
        <p:txBody>
          <a:bodyPr/>
          <a:lstStyle/>
          <a:p>
            <a:fld id="{3C9621BD-9A58-4B6A-8D79-A1F7EB728343}" type="datetimeFigureOut">
              <a:rPr lang="en-US" smtClean="0"/>
              <a:t>11/13/2024</a:t>
            </a:fld>
            <a:endParaRPr lang="en-US"/>
          </a:p>
        </p:txBody>
      </p:sp>
      <p:sp>
        <p:nvSpPr>
          <p:cNvPr id="6" name="Footer Placeholder 5">
            <a:extLst>
              <a:ext uri="{FF2B5EF4-FFF2-40B4-BE49-F238E27FC236}">
                <a16:creationId xmlns:a16="http://schemas.microsoft.com/office/drawing/2014/main" id="{EA82B9E2-1726-5544-3A04-1B25435DFF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731471-CC46-7182-1DB2-CA4EF4DBFF1A}"/>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2202543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3F10B-F0A8-F0C1-4316-7DA4B84C53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860140-323D-241F-2834-B0CC60F8C6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07CFBB8-71C7-5109-D0F0-B506A4E1F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DDC44F-C6AB-DA00-A1B0-1BF4F60D77F4}"/>
              </a:ext>
            </a:extLst>
          </p:cNvPr>
          <p:cNvSpPr>
            <a:spLocks noGrp="1"/>
          </p:cNvSpPr>
          <p:nvPr>
            <p:ph type="dt" sz="half" idx="10"/>
          </p:nvPr>
        </p:nvSpPr>
        <p:spPr/>
        <p:txBody>
          <a:bodyPr/>
          <a:lstStyle/>
          <a:p>
            <a:fld id="{3C9621BD-9A58-4B6A-8D79-A1F7EB728343}" type="datetimeFigureOut">
              <a:rPr lang="en-US" smtClean="0"/>
              <a:t>11/13/2024</a:t>
            </a:fld>
            <a:endParaRPr lang="en-US"/>
          </a:p>
        </p:txBody>
      </p:sp>
      <p:sp>
        <p:nvSpPr>
          <p:cNvPr id="6" name="Footer Placeholder 5">
            <a:extLst>
              <a:ext uri="{FF2B5EF4-FFF2-40B4-BE49-F238E27FC236}">
                <a16:creationId xmlns:a16="http://schemas.microsoft.com/office/drawing/2014/main" id="{2FECEEE2-2A9B-595C-7833-A674D636B0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A7A10-93E2-B65D-587B-9E19DCAEA67C}"/>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561992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688C3-DE8B-804E-4920-31BE9A7951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6C137F-A7A7-BF77-1298-E31EE71C22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AEB676-5D08-17BE-C391-6EABAD2F7F07}"/>
              </a:ext>
            </a:extLst>
          </p:cNvPr>
          <p:cNvSpPr>
            <a:spLocks noGrp="1"/>
          </p:cNvSpPr>
          <p:nvPr>
            <p:ph type="dt" sz="half" idx="10"/>
          </p:nvPr>
        </p:nvSpPr>
        <p:spPr/>
        <p:txBody>
          <a:bodyPr/>
          <a:lstStyle/>
          <a:p>
            <a:fld id="{3C9621BD-9A58-4B6A-8D79-A1F7EB728343}" type="datetimeFigureOut">
              <a:rPr lang="en-US" smtClean="0"/>
              <a:t>11/13/2024</a:t>
            </a:fld>
            <a:endParaRPr lang="en-US"/>
          </a:p>
        </p:txBody>
      </p:sp>
      <p:sp>
        <p:nvSpPr>
          <p:cNvPr id="5" name="Footer Placeholder 4">
            <a:extLst>
              <a:ext uri="{FF2B5EF4-FFF2-40B4-BE49-F238E27FC236}">
                <a16:creationId xmlns:a16="http://schemas.microsoft.com/office/drawing/2014/main" id="{D63B7271-0D51-F8C6-7E42-A7B018AAD8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D84B2F-A45A-154A-E105-1F7D28E768B9}"/>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2656613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47F4E5-B579-0227-BB97-7AF2819BE3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33F903-903A-44BB-F655-F3A9107FED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EB5386-4DBB-EAE8-1EEE-AE5A77D0F17F}"/>
              </a:ext>
            </a:extLst>
          </p:cNvPr>
          <p:cNvSpPr>
            <a:spLocks noGrp="1"/>
          </p:cNvSpPr>
          <p:nvPr>
            <p:ph type="dt" sz="half" idx="10"/>
          </p:nvPr>
        </p:nvSpPr>
        <p:spPr/>
        <p:txBody>
          <a:bodyPr/>
          <a:lstStyle/>
          <a:p>
            <a:fld id="{3C9621BD-9A58-4B6A-8D79-A1F7EB728343}" type="datetimeFigureOut">
              <a:rPr lang="en-US" smtClean="0"/>
              <a:t>11/13/2024</a:t>
            </a:fld>
            <a:endParaRPr lang="en-US"/>
          </a:p>
        </p:txBody>
      </p:sp>
      <p:sp>
        <p:nvSpPr>
          <p:cNvPr id="5" name="Footer Placeholder 4">
            <a:extLst>
              <a:ext uri="{FF2B5EF4-FFF2-40B4-BE49-F238E27FC236}">
                <a16:creationId xmlns:a16="http://schemas.microsoft.com/office/drawing/2014/main" id="{7C35E63F-5A4B-61C9-E0C1-858F7F63FA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5B90D1-0850-95CE-ADA7-849D7E943007}"/>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2567830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B3CBC2-976A-25FB-0F26-6C2CFF74CC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988249-7E88-E0EF-A341-9BA582A0A8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453554-01F8-3C19-67BB-5977EE35D7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9621BD-9A58-4B6A-8D79-A1F7EB728343}" type="datetimeFigureOut">
              <a:rPr lang="en-US" smtClean="0"/>
              <a:t>11/13/2024</a:t>
            </a:fld>
            <a:endParaRPr lang="en-US"/>
          </a:p>
        </p:txBody>
      </p:sp>
      <p:sp>
        <p:nvSpPr>
          <p:cNvPr id="5" name="Footer Placeholder 4">
            <a:extLst>
              <a:ext uri="{FF2B5EF4-FFF2-40B4-BE49-F238E27FC236}">
                <a16:creationId xmlns:a16="http://schemas.microsoft.com/office/drawing/2014/main" id="{3CA972DE-4DCB-BB24-65F6-0CBB999E7F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FBE4EF-B8CE-08DF-2525-05537147DC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C774E1-256C-41E1-913F-7853C47714A4}" type="slidenum">
              <a:rPr lang="en-US" smtClean="0"/>
              <a:t>‹#›</a:t>
            </a:fld>
            <a:endParaRPr lang="en-US"/>
          </a:p>
        </p:txBody>
      </p:sp>
    </p:spTree>
    <p:extLst>
      <p:ext uri="{BB962C8B-B14F-4D97-AF65-F5344CB8AC3E}">
        <p14:creationId xmlns:p14="http://schemas.microsoft.com/office/powerpoint/2010/main" val="24849984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5DABC0-F854-1CB6-2ECB-DE52FD453D8B}"/>
              </a:ext>
            </a:extLst>
          </p:cNvPr>
          <p:cNvSpPr>
            <a:spLocks noGrp="1"/>
          </p:cNvSpPr>
          <p:nvPr>
            <p:ph type="title"/>
          </p:nvPr>
        </p:nvSpPr>
        <p:spPr/>
        <p:txBody>
          <a:bodyPr/>
          <a:lstStyle/>
          <a:p>
            <a:r>
              <a:rPr lang="en-US" dirty="0"/>
              <a:t>205, Nov 13, Class 21</a:t>
            </a:r>
          </a:p>
        </p:txBody>
      </p:sp>
      <p:sp>
        <p:nvSpPr>
          <p:cNvPr id="5" name="Content Placeholder 4">
            <a:extLst>
              <a:ext uri="{FF2B5EF4-FFF2-40B4-BE49-F238E27FC236}">
                <a16:creationId xmlns:a16="http://schemas.microsoft.com/office/drawing/2014/main" id="{B1FAAC4E-BD78-3CD5-EF4D-DCB9E1F2D5BB}"/>
              </a:ext>
            </a:extLst>
          </p:cNvPr>
          <p:cNvSpPr>
            <a:spLocks noGrp="1"/>
          </p:cNvSpPr>
          <p:nvPr>
            <p:ph idx="1"/>
          </p:nvPr>
        </p:nvSpPr>
        <p:spPr/>
        <p:txBody>
          <a:bodyPr/>
          <a:lstStyle/>
          <a:p>
            <a:r>
              <a:rPr lang="en-US" dirty="0"/>
              <a:t>Final projects</a:t>
            </a:r>
          </a:p>
          <a:p>
            <a:pPr lvl="1"/>
            <a:r>
              <a:rPr lang="en-US" dirty="0"/>
              <a:t>Start building your procedure online</a:t>
            </a:r>
          </a:p>
          <a:p>
            <a:pPr lvl="1"/>
            <a:endParaRPr lang="en-US" dirty="0"/>
          </a:p>
          <a:p>
            <a:r>
              <a:rPr lang="en-US" dirty="0"/>
              <a:t>Ethics 2: Responsible Conduct of Research</a:t>
            </a:r>
          </a:p>
        </p:txBody>
      </p:sp>
    </p:spTree>
    <p:extLst>
      <p:ext uri="{BB962C8B-B14F-4D97-AF65-F5344CB8AC3E}">
        <p14:creationId xmlns:p14="http://schemas.microsoft.com/office/powerpoint/2010/main" val="1660890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8E7E-B490-D015-7F90-79259EEA4E31}"/>
              </a:ext>
            </a:extLst>
          </p:cNvPr>
          <p:cNvSpPr>
            <a:spLocks noGrp="1"/>
          </p:cNvSpPr>
          <p:nvPr>
            <p:ph type="title"/>
          </p:nvPr>
        </p:nvSpPr>
        <p:spPr/>
        <p:txBody>
          <a:bodyPr/>
          <a:lstStyle/>
          <a:p>
            <a:r>
              <a:rPr lang="en-US" dirty="0"/>
              <a:t>Background research</a:t>
            </a:r>
          </a:p>
        </p:txBody>
      </p:sp>
      <p:sp>
        <p:nvSpPr>
          <p:cNvPr id="3" name="Content Placeholder 2">
            <a:extLst>
              <a:ext uri="{FF2B5EF4-FFF2-40B4-BE49-F238E27FC236}">
                <a16:creationId xmlns:a16="http://schemas.microsoft.com/office/drawing/2014/main" id="{8C12ACDD-9DC7-E73E-9349-4D11D8EB970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CFA502F-BF0E-AA6A-C740-B967B4318125}"/>
              </a:ext>
            </a:extLst>
          </p:cNvPr>
          <p:cNvPicPr>
            <a:picLocks noChangeAspect="1"/>
          </p:cNvPicPr>
          <p:nvPr/>
        </p:nvPicPr>
        <p:blipFill>
          <a:blip r:embed="rId2"/>
          <a:stretch>
            <a:fillRect/>
          </a:stretch>
        </p:blipFill>
        <p:spPr>
          <a:xfrm>
            <a:off x="461962" y="1825625"/>
            <a:ext cx="11268075" cy="4410075"/>
          </a:xfrm>
          <a:prstGeom prst="rect">
            <a:avLst/>
          </a:prstGeom>
        </p:spPr>
      </p:pic>
      <p:cxnSp>
        <p:nvCxnSpPr>
          <p:cNvPr id="7" name="Straight Arrow Connector 6">
            <a:extLst>
              <a:ext uri="{FF2B5EF4-FFF2-40B4-BE49-F238E27FC236}">
                <a16:creationId xmlns:a16="http://schemas.microsoft.com/office/drawing/2014/main" id="{6DD7B007-50E0-3A3A-F91F-160870470682}"/>
              </a:ext>
            </a:extLst>
          </p:cNvPr>
          <p:cNvCxnSpPr>
            <a:cxnSpLocks/>
          </p:cNvCxnSpPr>
          <p:nvPr/>
        </p:nvCxnSpPr>
        <p:spPr>
          <a:xfrm flipH="1" flipV="1">
            <a:off x="4483509" y="5684390"/>
            <a:ext cx="2871019" cy="38711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D1FE2FB-3CF2-C0AE-9D79-99938C31E770}"/>
              </a:ext>
            </a:extLst>
          </p:cNvPr>
          <p:cNvSpPr/>
          <p:nvPr/>
        </p:nvSpPr>
        <p:spPr>
          <a:xfrm>
            <a:off x="3834581" y="5437239"/>
            <a:ext cx="707922" cy="2359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ECB697B-BD21-3A25-BF3F-92C2BAD339F8}"/>
              </a:ext>
            </a:extLst>
          </p:cNvPr>
          <p:cNvSpPr/>
          <p:nvPr/>
        </p:nvSpPr>
        <p:spPr>
          <a:xfrm>
            <a:off x="9355393" y="3426285"/>
            <a:ext cx="1440425" cy="2608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13062ED-F929-7F88-755E-111BAE3832D9}"/>
              </a:ext>
            </a:extLst>
          </p:cNvPr>
          <p:cNvSpPr txBox="1"/>
          <p:nvPr/>
        </p:nvSpPr>
        <p:spPr>
          <a:xfrm>
            <a:off x="7354528" y="5866368"/>
            <a:ext cx="3441290" cy="369332"/>
          </a:xfrm>
          <a:prstGeom prst="rect">
            <a:avLst/>
          </a:prstGeom>
          <a:noFill/>
        </p:spPr>
        <p:txBody>
          <a:bodyPr wrap="square" rtlCol="0">
            <a:spAutoFit/>
          </a:bodyPr>
          <a:lstStyle/>
          <a:p>
            <a:r>
              <a:rPr lang="en-US" dirty="0"/>
              <a:t>Articles that cite your main source.</a:t>
            </a:r>
          </a:p>
        </p:txBody>
      </p:sp>
      <p:cxnSp>
        <p:nvCxnSpPr>
          <p:cNvPr id="13" name="Straight Arrow Connector 12">
            <a:extLst>
              <a:ext uri="{FF2B5EF4-FFF2-40B4-BE49-F238E27FC236}">
                <a16:creationId xmlns:a16="http://schemas.microsoft.com/office/drawing/2014/main" id="{4B95CB43-1E9C-E422-FE6E-F505738F10D7}"/>
              </a:ext>
            </a:extLst>
          </p:cNvPr>
          <p:cNvCxnSpPr>
            <a:cxnSpLocks/>
          </p:cNvCxnSpPr>
          <p:nvPr/>
        </p:nvCxnSpPr>
        <p:spPr>
          <a:xfrm flipH="1" flipV="1">
            <a:off x="9813742" y="3687097"/>
            <a:ext cx="982076" cy="89188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F360224-2338-948F-FD26-BA0A30A88FAA}"/>
              </a:ext>
            </a:extLst>
          </p:cNvPr>
          <p:cNvSpPr txBox="1"/>
          <p:nvPr/>
        </p:nvSpPr>
        <p:spPr>
          <a:xfrm>
            <a:off x="9355393" y="4529249"/>
            <a:ext cx="2562762" cy="369332"/>
          </a:xfrm>
          <a:prstGeom prst="rect">
            <a:avLst/>
          </a:prstGeom>
          <a:noFill/>
        </p:spPr>
        <p:txBody>
          <a:bodyPr wrap="square" rtlCol="0">
            <a:spAutoFit/>
          </a:bodyPr>
          <a:lstStyle/>
          <a:p>
            <a:r>
              <a:rPr lang="en-US" dirty="0"/>
              <a:t>Missing Find @ NU link</a:t>
            </a:r>
          </a:p>
        </p:txBody>
      </p:sp>
      <p:cxnSp>
        <p:nvCxnSpPr>
          <p:cNvPr id="16" name="Straight Arrow Connector 15">
            <a:extLst>
              <a:ext uri="{FF2B5EF4-FFF2-40B4-BE49-F238E27FC236}">
                <a16:creationId xmlns:a16="http://schemas.microsoft.com/office/drawing/2014/main" id="{B91A96C6-FC3A-EFAA-14B4-ED23014AE249}"/>
              </a:ext>
            </a:extLst>
          </p:cNvPr>
          <p:cNvCxnSpPr>
            <a:cxnSpLocks/>
          </p:cNvCxnSpPr>
          <p:nvPr/>
        </p:nvCxnSpPr>
        <p:spPr>
          <a:xfrm flipV="1">
            <a:off x="1908034" y="5595694"/>
            <a:ext cx="1509173" cy="4553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CDA305C-531B-CFED-8B32-8F7A5B63A1D6}"/>
              </a:ext>
            </a:extLst>
          </p:cNvPr>
          <p:cNvSpPr txBox="1"/>
          <p:nvPr/>
        </p:nvSpPr>
        <p:spPr>
          <a:xfrm>
            <a:off x="212441" y="6001274"/>
            <a:ext cx="2390783" cy="369332"/>
          </a:xfrm>
          <a:prstGeom prst="rect">
            <a:avLst/>
          </a:prstGeom>
          <a:noFill/>
        </p:spPr>
        <p:txBody>
          <a:bodyPr wrap="none" rtlCol="0">
            <a:spAutoFit/>
          </a:bodyPr>
          <a:lstStyle/>
          <a:p>
            <a:r>
              <a:rPr lang="en-US" dirty="0"/>
              <a:t>Preformatted reference</a:t>
            </a:r>
          </a:p>
        </p:txBody>
      </p:sp>
    </p:spTree>
    <p:extLst>
      <p:ext uri="{BB962C8B-B14F-4D97-AF65-F5344CB8AC3E}">
        <p14:creationId xmlns:p14="http://schemas.microsoft.com/office/powerpoint/2010/main" val="818066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91929-6AD0-FD29-397A-F4AF051F14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E05992-41F2-6B79-C584-943B112096F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424F727-85FA-75EC-6CC9-BEF36D33E6AF}"/>
              </a:ext>
            </a:extLst>
          </p:cNvPr>
          <p:cNvPicPr>
            <a:picLocks noChangeAspect="1"/>
          </p:cNvPicPr>
          <p:nvPr/>
        </p:nvPicPr>
        <p:blipFill>
          <a:blip r:embed="rId2"/>
          <a:stretch>
            <a:fillRect/>
          </a:stretch>
        </p:blipFill>
        <p:spPr>
          <a:xfrm>
            <a:off x="1643062" y="652462"/>
            <a:ext cx="8905875" cy="5553075"/>
          </a:xfrm>
          <a:prstGeom prst="rect">
            <a:avLst/>
          </a:prstGeom>
        </p:spPr>
      </p:pic>
      <p:sp>
        <p:nvSpPr>
          <p:cNvPr id="6" name="Rectangle 5">
            <a:extLst>
              <a:ext uri="{FF2B5EF4-FFF2-40B4-BE49-F238E27FC236}">
                <a16:creationId xmlns:a16="http://schemas.microsoft.com/office/drawing/2014/main" id="{89049506-CFBE-1562-AB24-C3A1EC56F47A}"/>
              </a:ext>
            </a:extLst>
          </p:cNvPr>
          <p:cNvSpPr/>
          <p:nvPr/>
        </p:nvSpPr>
        <p:spPr>
          <a:xfrm>
            <a:off x="5702710" y="2487561"/>
            <a:ext cx="4345858" cy="8062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4964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10D89-2222-3096-8184-CFB0EF42D1F4}"/>
              </a:ext>
            </a:extLst>
          </p:cNvPr>
          <p:cNvSpPr>
            <a:spLocks noGrp="1"/>
          </p:cNvSpPr>
          <p:nvPr>
            <p:ph type="title"/>
          </p:nvPr>
        </p:nvSpPr>
        <p:spPr/>
        <p:txBody>
          <a:bodyPr/>
          <a:lstStyle/>
          <a:p>
            <a:r>
              <a:rPr lang="en-US" dirty="0"/>
              <a:t>Vaccine skepticism</a:t>
            </a:r>
          </a:p>
        </p:txBody>
      </p:sp>
      <p:sp>
        <p:nvSpPr>
          <p:cNvPr id="3" name="Content Placeholder 2">
            <a:extLst>
              <a:ext uri="{FF2B5EF4-FFF2-40B4-BE49-F238E27FC236}">
                <a16:creationId xmlns:a16="http://schemas.microsoft.com/office/drawing/2014/main" id="{E8873607-1467-006C-E219-40338376298B}"/>
              </a:ext>
            </a:extLst>
          </p:cNvPr>
          <p:cNvSpPr>
            <a:spLocks noGrp="1"/>
          </p:cNvSpPr>
          <p:nvPr>
            <p:ph idx="1"/>
          </p:nvPr>
        </p:nvSpPr>
        <p:spPr/>
        <p:txBody>
          <a:bodyPr/>
          <a:lstStyle/>
          <a:p>
            <a:r>
              <a:rPr lang="en-US" b="0" i="0" dirty="0">
                <a:solidFill>
                  <a:srgbClr val="212121"/>
                </a:solidFill>
                <a:effectLst/>
                <a:latin typeface="Cambria" panose="02040503050406030204" pitchFamily="18" charset="0"/>
              </a:rPr>
              <a:t>In 1998, Andrew Wakefield and 12 of his colleagues published a case series in the </a:t>
            </a:r>
            <a:r>
              <a:rPr lang="en-US" b="0" i="1" dirty="0">
                <a:solidFill>
                  <a:srgbClr val="212121"/>
                </a:solidFill>
                <a:effectLst/>
                <a:latin typeface="Cambria" panose="02040503050406030204" pitchFamily="18" charset="0"/>
              </a:rPr>
              <a:t>Lancet</a:t>
            </a:r>
            <a:r>
              <a:rPr lang="en-US" b="0" i="0" dirty="0">
                <a:solidFill>
                  <a:srgbClr val="212121"/>
                </a:solidFill>
                <a:effectLst/>
                <a:latin typeface="Cambria" panose="02040503050406030204" pitchFamily="18" charset="0"/>
              </a:rPr>
              <a:t>, which suggested that the measles, mumps, and rubella (MMR) vaccine may predispose to behavioral regression and pervasive developmental disorder in children.</a:t>
            </a:r>
          </a:p>
          <a:p>
            <a:r>
              <a:rPr lang="en-US" b="0" i="0" dirty="0">
                <a:solidFill>
                  <a:srgbClr val="212121"/>
                </a:solidFill>
                <a:effectLst/>
                <a:latin typeface="Cambria" panose="02040503050406030204" pitchFamily="18" charset="0"/>
              </a:rPr>
              <a:t>Despite the small sample size (</a:t>
            </a:r>
            <a:r>
              <a:rPr lang="en-US" b="0" i="1" dirty="0">
                <a:solidFill>
                  <a:srgbClr val="212121"/>
                </a:solidFill>
                <a:effectLst/>
                <a:latin typeface="Cambria" panose="02040503050406030204" pitchFamily="18" charset="0"/>
              </a:rPr>
              <a:t>n</a:t>
            </a:r>
            <a:r>
              <a:rPr lang="en-US" b="0" i="0" dirty="0">
                <a:solidFill>
                  <a:srgbClr val="212121"/>
                </a:solidFill>
                <a:effectLst/>
                <a:latin typeface="Cambria" panose="02040503050406030204" pitchFamily="18" charset="0"/>
              </a:rPr>
              <a:t>=12), the uncontrolled design, and the speculative nature of the conclusions, the paper received wide publicity, and MMR vaccination rates began to drop because parents were concerned about the risk of autism after vaccination.</a:t>
            </a:r>
            <a:endParaRPr lang="en-US" dirty="0"/>
          </a:p>
        </p:txBody>
      </p:sp>
    </p:spTree>
    <p:extLst>
      <p:ext uri="{BB962C8B-B14F-4D97-AF65-F5344CB8AC3E}">
        <p14:creationId xmlns:p14="http://schemas.microsoft.com/office/powerpoint/2010/main" val="3163183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C8EF2-BF3F-D0D6-0A71-A6BB7913EB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6892571-45EA-88A9-1B3F-A293B3682D01}"/>
              </a:ext>
            </a:extLst>
          </p:cNvPr>
          <p:cNvSpPr>
            <a:spLocks noGrp="1"/>
          </p:cNvSpPr>
          <p:nvPr>
            <p:ph idx="1"/>
          </p:nvPr>
        </p:nvSpPr>
        <p:spPr/>
        <p:txBody>
          <a:bodyPr/>
          <a:lstStyle/>
          <a:p>
            <a:r>
              <a:rPr lang="en-US" dirty="0"/>
              <a:t>Taylor et al (1999) examined 498 cases of autism</a:t>
            </a:r>
          </a:p>
          <a:p>
            <a:pPr lvl="1"/>
            <a:r>
              <a:rPr lang="en-US" b="0" i="0" dirty="0">
                <a:solidFill>
                  <a:srgbClr val="212121"/>
                </a:solidFill>
                <a:effectLst/>
                <a:latin typeface="BlinkMacSystemFont"/>
              </a:rPr>
              <a:t>There was no difference in age at diagnosis between the cases vaccinated before or after 18 months of age and those never vaccinated. </a:t>
            </a:r>
          </a:p>
          <a:p>
            <a:pPr lvl="1"/>
            <a:r>
              <a:rPr lang="en-US" b="0" i="0" dirty="0">
                <a:solidFill>
                  <a:srgbClr val="212121"/>
                </a:solidFill>
                <a:effectLst/>
                <a:latin typeface="BlinkMacSystemFont"/>
              </a:rPr>
              <a:t>There was no temporal association between onset of autism within 1 or 2 years after vaccination with MMR (relative incidence compared with control period 0.94 [95% CI 0.60-1.47] and 1.09 [0.79-1.52]).</a:t>
            </a:r>
          </a:p>
          <a:p>
            <a:r>
              <a:rPr lang="en-US" dirty="0">
                <a:solidFill>
                  <a:srgbClr val="212121"/>
                </a:solidFill>
                <a:latin typeface="BlinkMacSystemFont"/>
              </a:rPr>
              <a:t>Lancet (2004) reviewed allegations against Wakefield</a:t>
            </a:r>
          </a:p>
          <a:p>
            <a:pPr lvl="1"/>
            <a:r>
              <a:rPr lang="en-US" dirty="0">
                <a:solidFill>
                  <a:srgbClr val="212121"/>
                </a:solidFill>
                <a:latin typeface="BlinkMacSystemFont"/>
              </a:rPr>
              <a:t>Acknowledged that Wakefield had a significant “conflict of interest”</a:t>
            </a:r>
          </a:p>
          <a:p>
            <a:pPr lvl="1"/>
            <a:r>
              <a:rPr lang="en-US" dirty="0">
                <a:solidFill>
                  <a:srgbClr val="212121"/>
                </a:solidFill>
                <a:latin typeface="BlinkMacSystemFont"/>
              </a:rPr>
              <a:t>Dismissed allegations of improper recruiting, patient selection</a:t>
            </a:r>
            <a:endParaRPr lang="en-US" dirty="0"/>
          </a:p>
        </p:txBody>
      </p:sp>
    </p:spTree>
    <p:extLst>
      <p:ext uri="{BB962C8B-B14F-4D97-AF65-F5344CB8AC3E}">
        <p14:creationId xmlns:p14="http://schemas.microsoft.com/office/powerpoint/2010/main" val="3519365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46581-93BB-D4C7-925A-F14C1CEA2A4D}"/>
              </a:ext>
            </a:extLst>
          </p:cNvPr>
          <p:cNvSpPr>
            <a:spLocks noGrp="1"/>
          </p:cNvSpPr>
          <p:nvPr>
            <p:ph type="title"/>
          </p:nvPr>
        </p:nvSpPr>
        <p:spPr/>
        <p:txBody>
          <a:bodyPr/>
          <a:lstStyle/>
          <a:p>
            <a:r>
              <a:rPr lang="en-US" dirty="0"/>
              <a:t>Full Investigation</a:t>
            </a:r>
          </a:p>
        </p:txBody>
      </p:sp>
      <p:sp>
        <p:nvSpPr>
          <p:cNvPr id="3" name="Content Placeholder 2">
            <a:extLst>
              <a:ext uri="{FF2B5EF4-FFF2-40B4-BE49-F238E27FC236}">
                <a16:creationId xmlns:a16="http://schemas.microsoft.com/office/drawing/2014/main" id="{7AAFE7E4-5EDD-3E19-9AEE-C1660984E991}"/>
              </a:ext>
            </a:extLst>
          </p:cNvPr>
          <p:cNvSpPr>
            <a:spLocks noGrp="1"/>
          </p:cNvSpPr>
          <p:nvPr>
            <p:ph idx="1"/>
          </p:nvPr>
        </p:nvSpPr>
        <p:spPr/>
        <p:txBody>
          <a:bodyPr>
            <a:normAutofit fontScale="92500" lnSpcReduction="20000"/>
          </a:bodyPr>
          <a:lstStyle/>
          <a:p>
            <a:r>
              <a:rPr lang="en-US" dirty="0"/>
              <a:t>Wakefield was paid over £400k by lawyers trying to sue vaccine companies in the two years before the study</a:t>
            </a:r>
          </a:p>
          <a:p>
            <a:pPr lvl="1"/>
            <a:r>
              <a:rPr lang="en-US" dirty="0"/>
              <a:t>Had already asserted a vaccine/bowel/autism link before data were collected</a:t>
            </a:r>
          </a:p>
          <a:p>
            <a:pPr lvl="1"/>
            <a:r>
              <a:rPr lang="en-US" dirty="0"/>
              <a:t>Written communication asked him to find a “temporal link”</a:t>
            </a:r>
          </a:p>
          <a:p>
            <a:r>
              <a:rPr lang="en-US" dirty="0"/>
              <a:t>Analysis of the 12 patients revealed none matched their actual medical records</a:t>
            </a:r>
          </a:p>
          <a:p>
            <a:pPr lvl="1"/>
            <a:r>
              <a:rPr lang="en-US" dirty="0"/>
              <a:t>Patients mostly knew each other and were recruited due to vaccine concerns and were pre-interviewed for consistency with the hypothesis before enrolling in study</a:t>
            </a:r>
          </a:p>
          <a:p>
            <a:pPr lvl="1"/>
            <a:r>
              <a:rPr lang="en-US" dirty="0"/>
              <a:t>Several had documented symptoms pre-dating vaccination (developmental delays and/or GI problems)</a:t>
            </a:r>
          </a:p>
          <a:p>
            <a:pPr lvl="1"/>
            <a:r>
              <a:rPr lang="en-US" dirty="0"/>
              <a:t>Data linking the time from vaccination to diagnosis were incorrect, inconsistent data were excluded</a:t>
            </a:r>
          </a:p>
          <a:p>
            <a:r>
              <a:rPr lang="en-US" dirty="0"/>
              <a:t>Full retraction of the paper from Lancet in 2010</a:t>
            </a:r>
          </a:p>
          <a:p>
            <a:pPr lvl="1"/>
            <a:r>
              <a:rPr lang="en-US" dirty="0"/>
              <a:t>Wakefield lost medical license</a:t>
            </a:r>
          </a:p>
        </p:txBody>
      </p:sp>
    </p:spTree>
    <p:extLst>
      <p:ext uri="{BB962C8B-B14F-4D97-AF65-F5344CB8AC3E}">
        <p14:creationId xmlns:p14="http://schemas.microsoft.com/office/powerpoint/2010/main" val="1841456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8A7B0-1441-5D05-48C1-80EAB047F93A}"/>
              </a:ext>
            </a:extLst>
          </p:cNvPr>
          <p:cNvSpPr>
            <a:spLocks noGrp="1"/>
          </p:cNvSpPr>
          <p:nvPr>
            <p:ph type="title"/>
          </p:nvPr>
        </p:nvSpPr>
        <p:spPr/>
        <p:txBody>
          <a:bodyPr/>
          <a:lstStyle/>
          <a:p>
            <a:r>
              <a:rPr lang="en-US" dirty="0"/>
              <a:t>Research Integrity</a:t>
            </a:r>
          </a:p>
        </p:txBody>
      </p:sp>
      <p:sp>
        <p:nvSpPr>
          <p:cNvPr id="3" name="Content Placeholder 2">
            <a:extLst>
              <a:ext uri="{FF2B5EF4-FFF2-40B4-BE49-F238E27FC236}">
                <a16:creationId xmlns:a16="http://schemas.microsoft.com/office/drawing/2014/main" id="{D1E84582-D961-7706-7051-3B2C85D99990}"/>
              </a:ext>
            </a:extLst>
          </p:cNvPr>
          <p:cNvSpPr>
            <a:spLocks noGrp="1"/>
          </p:cNvSpPr>
          <p:nvPr>
            <p:ph idx="1"/>
          </p:nvPr>
        </p:nvSpPr>
        <p:spPr/>
        <p:txBody>
          <a:bodyPr/>
          <a:lstStyle/>
          <a:p>
            <a:r>
              <a:rPr lang="en-US" dirty="0"/>
              <a:t>Brian Deer, journalist, did most of the investigation uncovering the research fraud</a:t>
            </a:r>
          </a:p>
          <a:p>
            <a:pPr lvl="1"/>
            <a:r>
              <a:rPr lang="en-US" b="0" i="0" dirty="0">
                <a:solidFill>
                  <a:srgbClr val="333333"/>
                </a:solidFill>
                <a:effectLst/>
                <a:latin typeface="interfaceregular"/>
              </a:rPr>
              <a:t>Funded by the </a:t>
            </a:r>
            <a:r>
              <a:rPr lang="en-US" b="0" i="1" dirty="0">
                <a:solidFill>
                  <a:srgbClr val="333333"/>
                </a:solidFill>
                <a:effectLst/>
                <a:latin typeface="interfaceregular"/>
              </a:rPr>
              <a:t>Sunday Times</a:t>
            </a:r>
            <a:r>
              <a:rPr lang="en-US" b="0" i="0" dirty="0">
                <a:solidFill>
                  <a:srgbClr val="333333"/>
                </a:solidFill>
                <a:effectLst/>
                <a:latin typeface="interfaceregular"/>
              </a:rPr>
              <a:t> of London and the Channel 4 television network.</a:t>
            </a:r>
          </a:p>
          <a:p>
            <a:pPr lvl="1"/>
            <a:r>
              <a:rPr lang="en-US" b="0" i="0" dirty="0">
                <a:solidFill>
                  <a:srgbClr val="333333"/>
                </a:solidFill>
                <a:effectLst/>
                <a:latin typeface="interfaceregular"/>
              </a:rPr>
              <a:t>Reports by Deer in the </a:t>
            </a:r>
            <a:r>
              <a:rPr lang="en-US" b="0" i="1" dirty="0">
                <a:solidFill>
                  <a:srgbClr val="333333"/>
                </a:solidFill>
                <a:effectLst/>
                <a:latin typeface="interfaceregular"/>
              </a:rPr>
              <a:t>BMJ</a:t>
            </a:r>
            <a:r>
              <a:rPr lang="en-US" b="0" i="0" dirty="0">
                <a:solidFill>
                  <a:srgbClr val="333333"/>
                </a:solidFill>
                <a:effectLst/>
                <a:latin typeface="interfaceregular"/>
              </a:rPr>
              <a:t> were commissioned and paid for by the journal.</a:t>
            </a:r>
          </a:p>
          <a:p>
            <a:pPr lvl="1"/>
            <a:r>
              <a:rPr lang="en-US" b="0" i="0" dirty="0">
                <a:solidFill>
                  <a:srgbClr val="333333"/>
                </a:solidFill>
                <a:effectLst/>
                <a:latin typeface="interfaceregular"/>
              </a:rPr>
              <a:t>No other funding was received, apart from legal costs paid to Deer by the Medical Protection Society on behalf of Andrew Wakefield.</a:t>
            </a:r>
          </a:p>
          <a:p>
            <a:pPr lvl="1"/>
            <a:r>
              <a:rPr lang="en-US" dirty="0">
                <a:solidFill>
                  <a:srgbClr val="333333"/>
                </a:solidFill>
                <a:latin typeface="interfaceregular"/>
              </a:rPr>
              <a:t>All claims in Deer’s articles consistent with investigation from the British General Medical Counsel assessed by editors at the British Medical Journal</a:t>
            </a:r>
            <a:endParaRPr lang="en-US" b="0" i="0" dirty="0">
              <a:solidFill>
                <a:srgbClr val="333333"/>
              </a:solidFill>
              <a:effectLst/>
              <a:latin typeface="interfaceregular"/>
            </a:endParaRPr>
          </a:p>
          <a:p>
            <a:r>
              <a:rPr lang="en-US" dirty="0">
                <a:solidFill>
                  <a:srgbClr val="333333"/>
                </a:solidFill>
                <a:latin typeface="interfaceregular"/>
              </a:rPr>
              <a:t>Took 12 years to investigate, find fraud and retract paper</a:t>
            </a:r>
          </a:p>
          <a:p>
            <a:endParaRPr lang="en-US" dirty="0"/>
          </a:p>
        </p:txBody>
      </p:sp>
    </p:spTree>
    <p:extLst>
      <p:ext uri="{BB962C8B-B14F-4D97-AF65-F5344CB8AC3E}">
        <p14:creationId xmlns:p14="http://schemas.microsoft.com/office/powerpoint/2010/main" val="3062804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dirty="0"/>
              <a:t>Responsible Conduct of Research</a:t>
            </a:r>
          </a:p>
        </p:txBody>
      </p:sp>
      <p:sp>
        <p:nvSpPr>
          <p:cNvPr id="3075" name="Rectangle 3"/>
          <p:cNvSpPr>
            <a:spLocks noGrp="1" noChangeArrowheads="1"/>
          </p:cNvSpPr>
          <p:nvPr>
            <p:ph type="body" idx="1"/>
          </p:nvPr>
        </p:nvSpPr>
        <p:spPr/>
        <p:txBody>
          <a:bodyPr/>
          <a:lstStyle/>
          <a:p>
            <a:pPr>
              <a:lnSpc>
                <a:spcPct val="90000"/>
              </a:lnSpc>
            </a:pPr>
            <a:r>
              <a:rPr lang="en-US" dirty="0"/>
              <a:t>Researchers carry out research process with rigor and integrity</a:t>
            </a:r>
          </a:p>
          <a:p>
            <a:pPr lvl="1"/>
            <a:r>
              <a:rPr lang="en-US" dirty="0"/>
              <a:t>Don’t lie, cheat or steal</a:t>
            </a:r>
          </a:p>
          <a:p>
            <a:pPr lvl="1"/>
            <a:endParaRPr lang="en-US" dirty="0"/>
          </a:p>
          <a:p>
            <a:pPr>
              <a:lnSpc>
                <a:spcPct val="90000"/>
              </a:lnSpc>
            </a:pPr>
            <a:r>
              <a:rPr lang="en-US" dirty="0"/>
              <a:t>Data Manipulation</a:t>
            </a:r>
          </a:p>
          <a:p>
            <a:pPr lvl="1">
              <a:lnSpc>
                <a:spcPct val="90000"/>
              </a:lnSpc>
            </a:pPr>
            <a:r>
              <a:rPr lang="en-US" dirty="0"/>
              <a:t>Forgery: fabrication or modification</a:t>
            </a:r>
          </a:p>
          <a:p>
            <a:pPr lvl="1">
              <a:lnSpc>
                <a:spcPct val="90000"/>
              </a:lnSpc>
            </a:pPr>
            <a:r>
              <a:rPr lang="en-US" dirty="0"/>
              <a:t>Data selection</a:t>
            </a:r>
          </a:p>
          <a:p>
            <a:pPr lvl="2"/>
            <a:r>
              <a:rPr lang="en-US" dirty="0"/>
              <a:t>Eliminating all data inconsistent with the hypothesis</a:t>
            </a:r>
          </a:p>
          <a:p>
            <a:pPr lvl="1"/>
            <a:r>
              <a:rPr lang="en-US" dirty="0"/>
              <a:t>Bias in recruiting, protocol administration or data scoring</a:t>
            </a:r>
          </a:p>
          <a:p>
            <a:pPr lvl="2"/>
            <a:endParaRPr lang="en-US" u="sng" dirty="0"/>
          </a:p>
        </p:txBody>
      </p:sp>
    </p:spTree>
    <p:extLst>
      <p:ext uri="{BB962C8B-B14F-4D97-AF65-F5344CB8AC3E}">
        <p14:creationId xmlns:p14="http://schemas.microsoft.com/office/powerpoint/2010/main" val="2940309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92E39-F9C9-03B5-2677-9550C0E803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80F575-5937-962E-B9B0-98C6478B280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66F0E9B-C06A-E36A-70C0-7D86739CDE1A}"/>
              </a:ext>
            </a:extLst>
          </p:cNvPr>
          <p:cNvPicPr>
            <a:picLocks noChangeAspect="1"/>
          </p:cNvPicPr>
          <p:nvPr/>
        </p:nvPicPr>
        <p:blipFill>
          <a:blip r:embed="rId2"/>
          <a:stretch>
            <a:fillRect/>
          </a:stretch>
        </p:blipFill>
        <p:spPr>
          <a:xfrm>
            <a:off x="609600" y="858221"/>
            <a:ext cx="5486400" cy="4609745"/>
          </a:xfrm>
          <a:prstGeom prst="rect">
            <a:avLst/>
          </a:prstGeom>
        </p:spPr>
      </p:pic>
      <p:pic>
        <p:nvPicPr>
          <p:cNvPr id="7" name="Picture 6">
            <a:extLst>
              <a:ext uri="{FF2B5EF4-FFF2-40B4-BE49-F238E27FC236}">
                <a16:creationId xmlns:a16="http://schemas.microsoft.com/office/drawing/2014/main" id="{9A7028F3-6672-B87D-45BC-036D28A23E37}"/>
              </a:ext>
            </a:extLst>
          </p:cNvPr>
          <p:cNvPicPr>
            <a:picLocks noChangeAspect="1"/>
          </p:cNvPicPr>
          <p:nvPr/>
        </p:nvPicPr>
        <p:blipFill>
          <a:blip r:embed="rId3"/>
          <a:stretch>
            <a:fillRect/>
          </a:stretch>
        </p:blipFill>
        <p:spPr>
          <a:xfrm>
            <a:off x="6096000" y="1299486"/>
            <a:ext cx="5486400" cy="4168480"/>
          </a:xfrm>
          <a:prstGeom prst="rect">
            <a:avLst/>
          </a:prstGeom>
        </p:spPr>
      </p:pic>
    </p:spTree>
    <p:extLst>
      <p:ext uri="{BB962C8B-B14F-4D97-AF65-F5344CB8AC3E}">
        <p14:creationId xmlns:p14="http://schemas.microsoft.com/office/powerpoint/2010/main" val="2351820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F8512-EE80-CE97-569B-CB02723D1883}"/>
              </a:ext>
            </a:extLst>
          </p:cNvPr>
          <p:cNvSpPr>
            <a:spLocks noGrp="1"/>
          </p:cNvSpPr>
          <p:nvPr>
            <p:ph type="title"/>
          </p:nvPr>
        </p:nvSpPr>
        <p:spPr/>
        <p:txBody>
          <a:bodyPr/>
          <a:lstStyle/>
          <a:p>
            <a:r>
              <a:rPr lang="en-US" dirty="0"/>
              <a:t>Analytic Flexibility</a:t>
            </a:r>
          </a:p>
        </p:txBody>
      </p:sp>
      <p:sp>
        <p:nvSpPr>
          <p:cNvPr id="3" name="Content Placeholder 2">
            <a:extLst>
              <a:ext uri="{FF2B5EF4-FFF2-40B4-BE49-F238E27FC236}">
                <a16:creationId xmlns:a16="http://schemas.microsoft.com/office/drawing/2014/main" id="{550A0FFE-6F60-9209-3869-178A83BA5000}"/>
              </a:ext>
            </a:extLst>
          </p:cNvPr>
          <p:cNvSpPr>
            <a:spLocks noGrp="1"/>
          </p:cNvSpPr>
          <p:nvPr>
            <p:ph idx="1"/>
          </p:nvPr>
        </p:nvSpPr>
        <p:spPr/>
        <p:txBody>
          <a:bodyPr>
            <a:normAutofit/>
          </a:bodyPr>
          <a:lstStyle/>
          <a:p>
            <a:r>
              <a:rPr lang="en-US" dirty="0"/>
              <a:t>File drawer effect</a:t>
            </a:r>
          </a:p>
          <a:p>
            <a:pPr lvl="1"/>
            <a:r>
              <a:rPr lang="en-US" dirty="0"/>
              <a:t>Re-running or re-starting the experiment repeatedly until it “works”</a:t>
            </a:r>
          </a:p>
          <a:p>
            <a:r>
              <a:rPr lang="en-US" dirty="0"/>
              <a:t>“p-hacking”</a:t>
            </a:r>
          </a:p>
          <a:p>
            <a:pPr lvl="1"/>
            <a:r>
              <a:rPr lang="en-US" dirty="0"/>
              <a:t>Trying different analysis approaches until it “works”</a:t>
            </a:r>
          </a:p>
          <a:p>
            <a:r>
              <a:rPr lang="en-US" dirty="0"/>
              <a:t>Normal processes that seem similar</a:t>
            </a:r>
          </a:p>
          <a:p>
            <a:pPr lvl="1"/>
            <a:r>
              <a:rPr lang="en-US" dirty="0"/>
              <a:t>Pilot testing</a:t>
            </a:r>
          </a:p>
          <a:p>
            <a:pPr lvl="1"/>
            <a:r>
              <a:rPr lang="en-US" dirty="0"/>
              <a:t>Data exploration</a:t>
            </a:r>
          </a:p>
          <a:p>
            <a:pPr lvl="1"/>
            <a:r>
              <a:rPr lang="en-US" dirty="0"/>
              <a:t>Standard exclusion/filtering processes</a:t>
            </a:r>
          </a:p>
          <a:p>
            <a:pPr lvl="1"/>
            <a:r>
              <a:rPr lang="en-US" dirty="0"/>
              <a:t>When is it too much?</a:t>
            </a:r>
          </a:p>
          <a:p>
            <a:endParaRPr lang="en-US" dirty="0"/>
          </a:p>
        </p:txBody>
      </p:sp>
    </p:spTree>
    <p:extLst>
      <p:ext uri="{BB962C8B-B14F-4D97-AF65-F5344CB8AC3E}">
        <p14:creationId xmlns:p14="http://schemas.microsoft.com/office/powerpoint/2010/main" val="1589764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A1FFC-DC31-F58B-1226-D2C57626C8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788BBB-5A00-FE6E-0FE5-FFBC32BEC273}"/>
              </a:ext>
            </a:extLst>
          </p:cNvPr>
          <p:cNvSpPr>
            <a:spLocks noGrp="1"/>
          </p:cNvSpPr>
          <p:nvPr>
            <p:ph idx="1"/>
          </p:nvPr>
        </p:nvSpPr>
        <p:spPr/>
        <p:txBody>
          <a:bodyPr/>
          <a:lstStyle/>
          <a:p>
            <a:endParaRPr lang="en-US" dirty="0"/>
          </a:p>
        </p:txBody>
      </p:sp>
      <p:pic>
        <p:nvPicPr>
          <p:cNvPr id="4" name="Picture 3" descr="Significant">
            <a:extLst>
              <a:ext uri="{FF2B5EF4-FFF2-40B4-BE49-F238E27FC236}">
                <a16:creationId xmlns:a16="http://schemas.microsoft.com/office/drawing/2014/main" id="{7C8AB4F2-0C4F-90D6-BFE3-25FCE0FBB960}"/>
              </a:ext>
            </a:extLst>
          </p:cNvPr>
          <p:cNvPicPr>
            <a:picLocks noChangeAspect="1"/>
          </p:cNvPicPr>
          <p:nvPr/>
        </p:nvPicPr>
        <p:blipFill rotWithShape="1">
          <a:blip r:embed="rId2">
            <a:extLst>
              <a:ext uri="{28A0092B-C50C-407E-A947-70E740481C1C}">
                <a14:useLocalDpi xmlns:a14="http://schemas.microsoft.com/office/drawing/2010/main" val="0"/>
              </a:ext>
            </a:extLst>
          </a:blip>
          <a:srcRect t="47574"/>
          <a:stretch/>
        </p:blipFill>
        <p:spPr bwMode="auto">
          <a:xfrm>
            <a:off x="5570621" y="295892"/>
            <a:ext cx="4379495" cy="6369074"/>
          </a:xfrm>
          <a:prstGeom prst="rect">
            <a:avLst/>
          </a:prstGeom>
          <a:noFill/>
          <a:ln>
            <a:noFill/>
          </a:ln>
        </p:spPr>
      </p:pic>
      <p:pic>
        <p:nvPicPr>
          <p:cNvPr id="5" name="Picture 4" descr="Significant">
            <a:extLst>
              <a:ext uri="{FF2B5EF4-FFF2-40B4-BE49-F238E27FC236}">
                <a16:creationId xmlns:a16="http://schemas.microsoft.com/office/drawing/2014/main" id="{39964DC8-9C0D-C3F4-0C65-E71441419ACE}"/>
              </a:ext>
            </a:extLst>
          </p:cNvPr>
          <p:cNvPicPr>
            <a:picLocks noChangeAspect="1"/>
          </p:cNvPicPr>
          <p:nvPr/>
        </p:nvPicPr>
        <p:blipFill rotWithShape="1">
          <a:blip r:embed="rId2">
            <a:extLst>
              <a:ext uri="{28A0092B-C50C-407E-A947-70E740481C1C}">
                <a14:useLocalDpi xmlns:a14="http://schemas.microsoft.com/office/drawing/2010/main" val="0"/>
              </a:ext>
            </a:extLst>
          </a:blip>
          <a:srcRect b="51925"/>
          <a:stretch/>
        </p:blipFill>
        <p:spPr bwMode="auto">
          <a:xfrm>
            <a:off x="838200" y="365125"/>
            <a:ext cx="4106779" cy="5476681"/>
          </a:xfrm>
          <a:prstGeom prst="rect">
            <a:avLst/>
          </a:prstGeom>
          <a:noFill/>
          <a:ln>
            <a:noFill/>
          </a:ln>
        </p:spPr>
      </p:pic>
    </p:spTree>
    <p:extLst>
      <p:ext uri="{BB962C8B-B14F-4D97-AF65-F5344CB8AC3E}">
        <p14:creationId xmlns:p14="http://schemas.microsoft.com/office/powerpoint/2010/main" val="1398781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322AA-7821-D6B7-3618-DC8172462BEE}"/>
              </a:ext>
            </a:extLst>
          </p:cNvPr>
          <p:cNvSpPr>
            <a:spLocks noGrp="1"/>
          </p:cNvSpPr>
          <p:nvPr>
            <p:ph type="title"/>
          </p:nvPr>
        </p:nvSpPr>
        <p:spPr/>
        <p:txBody>
          <a:bodyPr/>
          <a:lstStyle/>
          <a:p>
            <a:r>
              <a:rPr lang="en-US" dirty="0"/>
              <a:t>Reproducibility</a:t>
            </a:r>
          </a:p>
        </p:txBody>
      </p:sp>
      <p:sp>
        <p:nvSpPr>
          <p:cNvPr id="3" name="Content Placeholder 2">
            <a:extLst>
              <a:ext uri="{FF2B5EF4-FFF2-40B4-BE49-F238E27FC236}">
                <a16:creationId xmlns:a16="http://schemas.microsoft.com/office/drawing/2014/main" id="{D6591A6C-2793-8295-CF38-2D0FD8873C43}"/>
              </a:ext>
            </a:extLst>
          </p:cNvPr>
          <p:cNvSpPr>
            <a:spLocks noGrp="1"/>
          </p:cNvSpPr>
          <p:nvPr>
            <p:ph idx="1"/>
          </p:nvPr>
        </p:nvSpPr>
        <p:spPr/>
        <p:txBody>
          <a:bodyPr>
            <a:normAutofit lnSpcReduction="10000"/>
          </a:bodyPr>
          <a:lstStyle/>
          <a:p>
            <a:r>
              <a:rPr lang="en-US" dirty="0"/>
              <a:t>Research that meets the p&lt;.05 statistical criterion should replicate if repeated</a:t>
            </a:r>
          </a:p>
          <a:p>
            <a:pPr lvl="1"/>
            <a:r>
              <a:rPr lang="en-US" dirty="0"/>
              <a:t>Except for power issues or generalizability questions or new extraneous variables or unlucky variance or imprecise protocol following…</a:t>
            </a:r>
          </a:p>
          <a:p>
            <a:pPr lvl="1"/>
            <a:endParaRPr lang="en-US" dirty="0"/>
          </a:p>
          <a:p>
            <a:r>
              <a:rPr lang="en-US" dirty="0"/>
              <a:t>Weak processes for research rigor make this less likely</a:t>
            </a:r>
          </a:p>
          <a:p>
            <a:pPr lvl="1"/>
            <a:r>
              <a:rPr lang="en-US" dirty="0"/>
              <a:t>Even typical lab processes risk inflating the estimated effect size</a:t>
            </a:r>
          </a:p>
          <a:p>
            <a:pPr lvl="1"/>
            <a:endParaRPr lang="en-US" dirty="0"/>
          </a:p>
          <a:p>
            <a:r>
              <a:rPr lang="en-US" dirty="0"/>
              <a:t>Replication crisis approaches</a:t>
            </a:r>
          </a:p>
          <a:p>
            <a:pPr lvl="1"/>
            <a:r>
              <a:rPr lang="en-US" dirty="0"/>
              <a:t>More rigor, fewer studies with greater confidence</a:t>
            </a:r>
          </a:p>
          <a:p>
            <a:pPr lvl="1"/>
            <a:r>
              <a:rPr lang="en-US" dirty="0"/>
              <a:t>More studies without increasing rigor, build in replications</a:t>
            </a:r>
          </a:p>
        </p:txBody>
      </p:sp>
    </p:spTree>
    <p:extLst>
      <p:ext uri="{BB962C8B-B14F-4D97-AF65-F5344CB8AC3E}">
        <p14:creationId xmlns:p14="http://schemas.microsoft.com/office/powerpoint/2010/main" val="3476197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CBAE7-CDEB-B7E0-409E-B6399FC44910}"/>
              </a:ext>
            </a:extLst>
          </p:cNvPr>
          <p:cNvSpPr>
            <a:spLocks noGrp="1"/>
          </p:cNvSpPr>
          <p:nvPr>
            <p:ph type="title"/>
          </p:nvPr>
        </p:nvSpPr>
        <p:spPr/>
        <p:txBody>
          <a:bodyPr/>
          <a:lstStyle/>
          <a:p>
            <a:r>
              <a:rPr lang="en-US" dirty="0"/>
              <a:t>Plagiarism</a:t>
            </a:r>
          </a:p>
        </p:txBody>
      </p:sp>
      <p:sp>
        <p:nvSpPr>
          <p:cNvPr id="3" name="Content Placeholder 2">
            <a:extLst>
              <a:ext uri="{FF2B5EF4-FFF2-40B4-BE49-F238E27FC236}">
                <a16:creationId xmlns:a16="http://schemas.microsoft.com/office/drawing/2014/main" id="{0521D31B-1514-59D3-3A29-85832CF72513}"/>
              </a:ext>
            </a:extLst>
          </p:cNvPr>
          <p:cNvSpPr>
            <a:spLocks noGrp="1"/>
          </p:cNvSpPr>
          <p:nvPr>
            <p:ph idx="1"/>
          </p:nvPr>
        </p:nvSpPr>
        <p:spPr/>
        <p:txBody>
          <a:bodyPr/>
          <a:lstStyle/>
          <a:p>
            <a:pPr>
              <a:lnSpc>
                <a:spcPct val="90000"/>
              </a:lnSpc>
            </a:pPr>
            <a:r>
              <a:rPr lang="en-US" dirty="0"/>
              <a:t>Citation strengthens reports</a:t>
            </a:r>
          </a:p>
          <a:p>
            <a:pPr lvl="1"/>
            <a:r>
              <a:rPr lang="en-US" dirty="0"/>
              <a:t>Novel findings have value</a:t>
            </a:r>
          </a:p>
          <a:p>
            <a:pPr lvl="1"/>
            <a:r>
              <a:rPr lang="en-US" dirty="0"/>
              <a:t>Build on existing ideas</a:t>
            </a:r>
          </a:p>
          <a:p>
            <a:pPr>
              <a:lnSpc>
                <a:spcPct val="90000"/>
              </a:lnSpc>
            </a:pPr>
            <a:r>
              <a:rPr lang="en-US" dirty="0"/>
              <a:t>Actual appropriation of others’ ideas is rare</a:t>
            </a:r>
          </a:p>
          <a:p>
            <a:pPr lvl="1">
              <a:lnSpc>
                <a:spcPct val="90000"/>
              </a:lnSpc>
            </a:pPr>
            <a:r>
              <a:rPr lang="en-US" dirty="0"/>
              <a:t>Scooping other labs</a:t>
            </a:r>
          </a:p>
          <a:p>
            <a:pPr lvl="1">
              <a:lnSpc>
                <a:spcPct val="90000"/>
              </a:lnSpc>
            </a:pPr>
            <a:r>
              <a:rPr lang="en-US" dirty="0"/>
              <a:t>Pre/re publishing manuscripts</a:t>
            </a:r>
          </a:p>
          <a:p>
            <a:r>
              <a:rPr lang="en-US" dirty="0"/>
              <a:t>Authorial credit to collaborators and research team</a:t>
            </a:r>
          </a:p>
          <a:p>
            <a:pPr lvl="1"/>
            <a:r>
              <a:rPr lang="en-US" dirty="0"/>
              <a:t>Significant intellectual contribution</a:t>
            </a:r>
          </a:p>
          <a:p>
            <a:pPr lvl="1"/>
            <a:r>
              <a:rPr lang="en-US" dirty="0"/>
              <a:t>Definition varies across psychology, medicine for example</a:t>
            </a:r>
          </a:p>
          <a:p>
            <a:pPr lvl="1"/>
            <a:r>
              <a:rPr lang="en-US" dirty="0"/>
              <a:t>Not uncommon source of in-laboratory friction</a:t>
            </a:r>
          </a:p>
          <a:p>
            <a:endParaRPr lang="en-US" dirty="0"/>
          </a:p>
        </p:txBody>
      </p:sp>
    </p:spTree>
    <p:extLst>
      <p:ext uri="{BB962C8B-B14F-4D97-AF65-F5344CB8AC3E}">
        <p14:creationId xmlns:p14="http://schemas.microsoft.com/office/powerpoint/2010/main" val="1961449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0978C-1C8B-C6AD-963F-C26A84C0A7BA}"/>
              </a:ext>
            </a:extLst>
          </p:cNvPr>
          <p:cNvSpPr>
            <a:spLocks noGrp="1"/>
          </p:cNvSpPr>
          <p:nvPr>
            <p:ph type="title"/>
          </p:nvPr>
        </p:nvSpPr>
        <p:spPr/>
        <p:txBody>
          <a:bodyPr/>
          <a:lstStyle/>
          <a:p>
            <a:r>
              <a:rPr lang="en-US" dirty="0"/>
              <a:t>Transparency: Being Public</a:t>
            </a:r>
          </a:p>
        </p:txBody>
      </p:sp>
      <p:sp>
        <p:nvSpPr>
          <p:cNvPr id="3" name="Content Placeholder 2">
            <a:extLst>
              <a:ext uri="{FF2B5EF4-FFF2-40B4-BE49-F238E27FC236}">
                <a16:creationId xmlns:a16="http://schemas.microsoft.com/office/drawing/2014/main" id="{AA14E0C6-D422-84F0-8EFD-0F295FBE6574}"/>
              </a:ext>
            </a:extLst>
          </p:cNvPr>
          <p:cNvSpPr>
            <a:spLocks noGrp="1"/>
          </p:cNvSpPr>
          <p:nvPr>
            <p:ph idx="1"/>
          </p:nvPr>
        </p:nvSpPr>
        <p:spPr/>
        <p:txBody>
          <a:bodyPr/>
          <a:lstStyle/>
          <a:p>
            <a:pPr>
              <a:lnSpc>
                <a:spcPct val="90000"/>
              </a:lnSpc>
            </a:pPr>
            <a:r>
              <a:rPr lang="en-US" dirty="0"/>
              <a:t>All aspects of the research process are auditable</a:t>
            </a:r>
          </a:p>
          <a:p>
            <a:pPr lvl="1"/>
            <a:r>
              <a:rPr lang="en-US" dirty="0"/>
              <a:t>Participant privacy must still be protected</a:t>
            </a:r>
          </a:p>
          <a:p>
            <a:pPr lvl="1"/>
            <a:r>
              <a:rPr lang="en-US" dirty="0"/>
              <a:t>Researchers protected from exposure to competing labs</a:t>
            </a:r>
          </a:p>
          <a:p>
            <a:pPr lvl="1"/>
            <a:r>
              <a:rPr lang="en-US" dirty="0"/>
              <a:t>Patent, copyright, and invention privacy</a:t>
            </a:r>
          </a:p>
          <a:p>
            <a:pPr>
              <a:lnSpc>
                <a:spcPct val="90000"/>
              </a:lnSpc>
            </a:pPr>
            <a:r>
              <a:rPr lang="en-US" dirty="0"/>
              <a:t>Publication</a:t>
            </a:r>
          </a:p>
          <a:p>
            <a:pPr lvl="1">
              <a:lnSpc>
                <a:spcPct val="90000"/>
              </a:lnSpc>
            </a:pPr>
            <a:r>
              <a:rPr lang="en-US" dirty="0"/>
              <a:t>Full, fair &amp; accurate reporting, making all resources available </a:t>
            </a:r>
          </a:p>
          <a:p>
            <a:pPr lvl="2"/>
            <a:r>
              <a:rPr lang="en-US" dirty="0"/>
              <a:t>Not always practically effective</a:t>
            </a:r>
          </a:p>
          <a:p>
            <a:pPr lvl="1">
              <a:lnSpc>
                <a:spcPct val="90000"/>
              </a:lnSpc>
            </a:pPr>
            <a:r>
              <a:rPr lang="en-US" dirty="0"/>
              <a:t>Supplementary materials via journal website</a:t>
            </a:r>
          </a:p>
          <a:p>
            <a:pPr lvl="1">
              <a:lnSpc>
                <a:spcPct val="90000"/>
              </a:lnSpc>
            </a:pPr>
            <a:r>
              <a:rPr lang="en-US" dirty="0"/>
              <a:t>Public availability of de-identified data</a:t>
            </a:r>
          </a:p>
          <a:p>
            <a:pPr lvl="2"/>
            <a:r>
              <a:rPr lang="en-US" dirty="0"/>
              <a:t>Does not always include excluded data</a:t>
            </a:r>
          </a:p>
          <a:p>
            <a:endParaRPr lang="en-US" dirty="0"/>
          </a:p>
        </p:txBody>
      </p:sp>
    </p:spTree>
    <p:extLst>
      <p:ext uri="{BB962C8B-B14F-4D97-AF65-F5344CB8AC3E}">
        <p14:creationId xmlns:p14="http://schemas.microsoft.com/office/powerpoint/2010/main" val="1458181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a:t>RCR Errors</a:t>
            </a:r>
          </a:p>
        </p:txBody>
      </p:sp>
      <p:sp>
        <p:nvSpPr>
          <p:cNvPr id="4099" name="Content Placeholder 2"/>
          <p:cNvSpPr>
            <a:spLocks noGrp="1"/>
          </p:cNvSpPr>
          <p:nvPr>
            <p:ph idx="1"/>
          </p:nvPr>
        </p:nvSpPr>
        <p:spPr/>
        <p:txBody>
          <a:bodyPr/>
          <a:lstStyle/>
          <a:p>
            <a:pPr algn="l"/>
            <a:r>
              <a:rPr lang="en-US" b="0" i="0" dirty="0">
                <a:solidFill>
                  <a:srgbClr val="2D3B45"/>
                </a:solidFill>
                <a:effectLst/>
                <a:latin typeface="Lato Extended"/>
              </a:rPr>
              <a:t>Suppose a friend doing a research project said to you, “I’m sure my hypothesis is correct, so I’ll just give my participants a hint here and there to make sure the data come out properly.”</a:t>
            </a:r>
          </a:p>
          <a:p>
            <a:pPr algn="l"/>
            <a:endParaRPr lang="en-US" b="0" i="0" dirty="0">
              <a:solidFill>
                <a:srgbClr val="2D3B45"/>
              </a:solidFill>
              <a:effectLst/>
              <a:latin typeface="Lato Extended"/>
            </a:endParaRPr>
          </a:p>
          <a:p>
            <a:r>
              <a:rPr lang="en-US" b="0" i="0" dirty="0">
                <a:solidFill>
                  <a:srgbClr val="2D3B45"/>
                </a:solidFill>
                <a:effectLst/>
                <a:latin typeface="Lato Extended"/>
              </a:rPr>
              <a:t>What kind of RCR violation is this?</a:t>
            </a:r>
          </a:p>
          <a:p>
            <a:r>
              <a:rPr lang="en-US" b="0" i="0" dirty="0">
                <a:solidFill>
                  <a:srgbClr val="2D3B45"/>
                </a:solidFill>
                <a:effectLst/>
                <a:latin typeface="Lato Extended"/>
              </a:rPr>
              <a:t>What methodological approach should be used by this research to avoid this problem?</a:t>
            </a:r>
          </a:p>
        </p:txBody>
      </p:sp>
    </p:spTree>
    <p:extLst>
      <p:ext uri="{BB962C8B-B14F-4D97-AF65-F5344CB8AC3E}">
        <p14:creationId xmlns:p14="http://schemas.microsoft.com/office/powerpoint/2010/main" val="1103811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0E94A-7B39-B350-549B-07721FFA7027}"/>
              </a:ext>
            </a:extLst>
          </p:cNvPr>
          <p:cNvSpPr>
            <a:spLocks noGrp="1"/>
          </p:cNvSpPr>
          <p:nvPr>
            <p:ph type="title"/>
          </p:nvPr>
        </p:nvSpPr>
        <p:spPr/>
        <p:txBody>
          <a:bodyPr/>
          <a:lstStyle/>
          <a:p>
            <a:r>
              <a:rPr lang="en-US" dirty="0"/>
              <a:t>RCR Errors </a:t>
            </a:r>
          </a:p>
        </p:txBody>
      </p:sp>
      <p:sp>
        <p:nvSpPr>
          <p:cNvPr id="3" name="Content Placeholder 2">
            <a:extLst>
              <a:ext uri="{FF2B5EF4-FFF2-40B4-BE49-F238E27FC236}">
                <a16:creationId xmlns:a16="http://schemas.microsoft.com/office/drawing/2014/main" id="{9B123693-9582-6879-98DD-B092ABACB478}"/>
              </a:ext>
            </a:extLst>
          </p:cNvPr>
          <p:cNvSpPr>
            <a:spLocks noGrp="1"/>
          </p:cNvSpPr>
          <p:nvPr>
            <p:ph idx="1"/>
          </p:nvPr>
        </p:nvSpPr>
        <p:spPr/>
        <p:txBody>
          <a:bodyPr/>
          <a:lstStyle/>
          <a:p>
            <a:r>
              <a:rPr lang="en-US" dirty="0"/>
              <a:t>A researcher doing a study on academic performance of students who have been diagnosed with ADHD.  Some of the potential participants have refused to answer the question about their diagnosis, so the researcher contacts their medical provides without the participant’s knowledge.</a:t>
            </a:r>
          </a:p>
          <a:p>
            <a:endParaRPr lang="en-US" dirty="0"/>
          </a:p>
          <a:p>
            <a:r>
              <a:rPr lang="en-US" dirty="0"/>
              <a:t>What kind of research ethics violation has occurred here?</a:t>
            </a:r>
          </a:p>
        </p:txBody>
      </p:sp>
    </p:spTree>
    <p:extLst>
      <p:ext uri="{BB962C8B-B14F-4D97-AF65-F5344CB8AC3E}">
        <p14:creationId xmlns:p14="http://schemas.microsoft.com/office/powerpoint/2010/main" val="4060370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D93CA-6548-7998-8B9E-2E7B9E574699}"/>
              </a:ext>
            </a:extLst>
          </p:cNvPr>
          <p:cNvSpPr>
            <a:spLocks noGrp="1"/>
          </p:cNvSpPr>
          <p:nvPr>
            <p:ph type="title"/>
          </p:nvPr>
        </p:nvSpPr>
        <p:spPr/>
        <p:txBody>
          <a:bodyPr/>
          <a:lstStyle/>
          <a:p>
            <a:r>
              <a:rPr lang="en-US" dirty="0"/>
              <a:t>Intervention research</a:t>
            </a:r>
          </a:p>
        </p:txBody>
      </p:sp>
      <p:sp>
        <p:nvSpPr>
          <p:cNvPr id="3" name="Content Placeholder 2">
            <a:extLst>
              <a:ext uri="{FF2B5EF4-FFF2-40B4-BE49-F238E27FC236}">
                <a16:creationId xmlns:a16="http://schemas.microsoft.com/office/drawing/2014/main" id="{368F55B3-1CBD-B8C1-1995-1B9B249B5548}"/>
              </a:ext>
            </a:extLst>
          </p:cNvPr>
          <p:cNvSpPr>
            <a:spLocks noGrp="1"/>
          </p:cNvSpPr>
          <p:nvPr>
            <p:ph idx="1"/>
          </p:nvPr>
        </p:nvSpPr>
        <p:spPr/>
        <p:txBody>
          <a:bodyPr/>
          <a:lstStyle/>
          <a:p>
            <a:r>
              <a:rPr lang="en-US" dirty="0"/>
              <a:t>Give an example of a research study not included in the chapter for which it would be unethical to include a placebo/control group.</a:t>
            </a:r>
          </a:p>
          <a:p>
            <a:endParaRPr lang="en-US" dirty="0"/>
          </a:p>
          <a:p>
            <a:r>
              <a:rPr lang="en-US" dirty="0"/>
              <a:t>Why are rules requiring reporting of conflict of interest important for ensuring accurate and fair scientific processes and reports?</a:t>
            </a:r>
          </a:p>
        </p:txBody>
      </p:sp>
    </p:spTree>
    <p:extLst>
      <p:ext uri="{BB962C8B-B14F-4D97-AF65-F5344CB8AC3E}">
        <p14:creationId xmlns:p14="http://schemas.microsoft.com/office/powerpoint/2010/main" val="3801400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65A3C-9811-0004-3EAB-CB1980034C47}"/>
              </a:ext>
            </a:extLst>
          </p:cNvPr>
          <p:cNvSpPr>
            <a:spLocks noGrp="1"/>
          </p:cNvSpPr>
          <p:nvPr>
            <p:ph type="title"/>
          </p:nvPr>
        </p:nvSpPr>
        <p:spPr/>
        <p:txBody>
          <a:bodyPr/>
          <a:lstStyle/>
          <a:p>
            <a:r>
              <a:rPr lang="en-US" dirty="0"/>
              <a:t>Curing cancer</a:t>
            </a:r>
          </a:p>
        </p:txBody>
      </p:sp>
      <p:sp>
        <p:nvSpPr>
          <p:cNvPr id="3" name="Content Placeholder 2">
            <a:extLst>
              <a:ext uri="{FF2B5EF4-FFF2-40B4-BE49-F238E27FC236}">
                <a16:creationId xmlns:a16="http://schemas.microsoft.com/office/drawing/2014/main" id="{8C833166-0529-BCA5-1631-1BEF935C854A}"/>
              </a:ext>
            </a:extLst>
          </p:cNvPr>
          <p:cNvSpPr>
            <a:spLocks noGrp="1"/>
          </p:cNvSpPr>
          <p:nvPr>
            <p:ph idx="1"/>
          </p:nvPr>
        </p:nvSpPr>
        <p:spPr/>
        <p:txBody>
          <a:bodyPr/>
          <a:lstStyle/>
          <a:p>
            <a:r>
              <a:rPr lang="en-US" dirty="0"/>
              <a:t>Suppose we have a new drug that we think cures cancer.  We need to prove it works so we can confidently give it to all cancer patients.</a:t>
            </a:r>
          </a:p>
          <a:p>
            <a:endParaRPr lang="en-US" dirty="0"/>
          </a:p>
          <a:p>
            <a:r>
              <a:rPr lang="en-US" dirty="0"/>
              <a:t>Research study</a:t>
            </a:r>
          </a:p>
          <a:p>
            <a:pPr lvl="1"/>
            <a:r>
              <a:rPr lang="en-US" dirty="0"/>
              <a:t>Set up a fully double-blind design</a:t>
            </a:r>
          </a:p>
          <a:p>
            <a:pPr lvl="1"/>
            <a:r>
              <a:rPr lang="en-US" dirty="0"/>
              <a:t>Recruit participants who are cancer patients</a:t>
            </a:r>
          </a:p>
          <a:p>
            <a:pPr lvl="1"/>
            <a:r>
              <a:rPr lang="en-US" dirty="0"/>
              <a:t>IV = ???</a:t>
            </a:r>
          </a:p>
          <a:p>
            <a:pPr lvl="1"/>
            <a:r>
              <a:rPr lang="en-US" dirty="0"/>
              <a:t>DV = ???</a:t>
            </a:r>
          </a:p>
          <a:p>
            <a:pPr lvl="1"/>
            <a:r>
              <a:rPr lang="en-US" dirty="0"/>
              <a:t>What if the pharmaceutical company wants to sponsor </a:t>
            </a:r>
            <a:r>
              <a:rPr lang="en-US"/>
              <a:t>the research?</a:t>
            </a:r>
            <a:endParaRPr lang="en-US" dirty="0"/>
          </a:p>
        </p:txBody>
      </p:sp>
    </p:spTree>
    <p:extLst>
      <p:ext uri="{BB962C8B-B14F-4D97-AF65-F5344CB8AC3E}">
        <p14:creationId xmlns:p14="http://schemas.microsoft.com/office/powerpoint/2010/main" val="1201255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5E892-BB63-372A-E9D0-D7832912CA1F}"/>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1A7BBFE-E824-2DB1-754D-3CD7312D1EE3}"/>
              </a:ext>
            </a:extLst>
          </p:cNvPr>
          <p:cNvSpPr>
            <a:spLocks noGrp="1" noChangeArrowheads="1"/>
          </p:cNvSpPr>
          <p:nvPr>
            <p:ph type="title"/>
          </p:nvPr>
        </p:nvSpPr>
        <p:spPr/>
        <p:txBody>
          <a:bodyPr/>
          <a:lstStyle/>
          <a:p>
            <a:r>
              <a:rPr lang="en-US" dirty="0"/>
              <a:t>Philosophical Ethical Challenges</a:t>
            </a:r>
          </a:p>
        </p:txBody>
      </p:sp>
      <p:sp>
        <p:nvSpPr>
          <p:cNvPr id="10243" name="Rectangle 3">
            <a:extLst>
              <a:ext uri="{FF2B5EF4-FFF2-40B4-BE49-F238E27FC236}">
                <a16:creationId xmlns:a16="http://schemas.microsoft.com/office/drawing/2014/main" id="{D66E7B74-64B4-EF36-B740-47D817D4F5D1}"/>
              </a:ext>
            </a:extLst>
          </p:cNvPr>
          <p:cNvSpPr>
            <a:spLocks noGrp="1" noChangeArrowheads="1"/>
          </p:cNvSpPr>
          <p:nvPr>
            <p:ph type="body" idx="1"/>
          </p:nvPr>
        </p:nvSpPr>
        <p:spPr/>
        <p:txBody>
          <a:bodyPr>
            <a:normAutofit lnSpcReduction="10000"/>
          </a:bodyPr>
          <a:lstStyle/>
          <a:p>
            <a:r>
              <a:rPr lang="en-US" dirty="0"/>
              <a:t>When the experimental treatment is a benefit</a:t>
            </a:r>
          </a:p>
          <a:p>
            <a:pPr lvl="1"/>
            <a:r>
              <a:rPr lang="en-US" dirty="0"/>
              <a:t>Justice would normally mean equal benefits across groups</a:t>
            </a:r>
          </a:p>
          <a:p>
            <a:pPr lvl="1"/>
            <a:r>
              <a:rPr lang="en-US" dirty="0"/>
              <a:t>Intervention research on Monday</a:t>
            </a:r>
          </a:p>
          <a:p>
            <a:r>
              <a:rPr lang="en-US" dirty="0"/>
              <a:t>Coercion versus voluntary participation</a:t>
            </a:r>
          </a:p>
          <a:p>
            <a:pPr lvl="1"/>
            <a:r>
              <a:rPr lang="en-US" dirty="0"/>
              <a:t>Authority figures: supervisors, teachers</a:t>
            </a:r>
          </a:p>
          <a:p>
            <a:pPr lvl="1"/>
            <a:r>
              <a:rPr lang="en-US" dirty="0"/>
              <a:t>Financial rewards: incentivizing risk</a:t>
            </a:r>
          </a:p>
          <a:p>
            <a:r>
              <a:rPr lang="en-US" dirty="0"/>
              <a:t>Vulnerable populations</a:t>
            </a:r>
          </a:p>
          <a:p>
            <a:pPr lvl="1"/>
            <a:r>
              <a:rPr lang="en-US" dirty="0"/>
              <a:t>Children: depend on guardian</a:t>
            </a:r>
          </a:p>
          <a:p>
            <a:pPr lvl="2"/>
            <a:r>
              <a:rPr lang="en-US" dirty="0"/>
              <a:t>Mandatory reporting training for staff</a:t>
            </a:r>
          </a:p>
          <a:p>
            <a:pPr lvl="1"/>
            <a:r>
              <a:rPr lang="en-US" dirty="0"/>
              <a:t>Prisoners: cannot voluntarily consent</a:t>
            </a:r>
          </a:p>
          <a:p>
            <a:pPr lvl="2"/>
            <a:r>
              <a:rPr lang="en-US" dirty="0"/>
              <a:t>Research must be for prisoners’ benefit</a:t>
            </a:r>
          </a:p>
          <a:p>
            <a:endParaRPr lang="en-US" dirty="0"/>
          </a:p>
          <a:p>
            <a:endParaRPr lang="en-US" dirty="0"/>
          </a:p>
        </p:txBody>
      </p:sp>
    </p:spTree>
    <p:extLst>
      <p:ext uri="{BB962C8B-B14F-4D97-AF65-F5344CB8AC3E}">
        <p14:creationId xmlns:p14="http://schemas.microsoft.com/office/powerpoint/2010/main" val="95894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F7F56-121A-5255-29FC-AFF29E2D4744}"/>
              </a:ext>
            </a:extLst>
          </p:cNvPr>
          <p:cNvSpPr>
            <a:spLocks noGrp="1"/>
          </p:cNvSpPr>
          <p:nvPr>
            <p:ph type="title"/>
          </p:nvPr>
        </p:nvSpPr>
        <p:spPr/>
        <p:txBody>
          <a:bodyPr/>
          <a:lstStyle/>
          <a:p>
            <a:r>
              <a:rPr lang="en-US" dirty="0"/>
              <a:t>For Fri Nov 15</a:t>
            </a:r>
          </a:p>
        </p:txBody>
      </p:sp>
      <p:sp>
        <p:nvSpPr>
          <p:cNvPr id="3" name="Content Placeholder 2">
            <a:extLst>
              <a:ext uri="{FF2B5EF4-FFF2-40B4-BE49-F238E27FC236}">
                <a16:creationId xmlns:a16="http://schemas.microsoft.com/office/drawing/2014/main" id="{BE6798D5-8617-B782-5DED-FAD4BA0F559B}"/>
              </a:ext>
            </a:extLst>
          </p:cNvPr>
          <p:cNvSpPr>
            <a:spLocks noGrp="1"/>
          </p:cNvSpPr>
          <p:nvPr>
            <p:ph idx="1"/>
          </p:nvPr>
        </p:nvSpPr>
        <p:spPr/>
        <p:txBody>
          <a:bodyPr/>
          <a:lstStyle/>
          <a:p>
            <a:r>
              <a:rPr lang="en-US" dirty="0"/>
              <a:t>Chapter 19:  Applied research</a:t>
            </a:r>
          </a:p>
          <a:p>
            <a:pPr lvl="1"/>
            <a:endParaRPr lang="en-US" dirty="0"/>
          </a:p>
          <a:p>
            <a:r>
              <a:rPr lang="en-US" dirty="0"/>
              <a:t>Upcoming</a:t>
            </a:r>
          </a:p>
          <a:p>
            <a:pPr lvl="1"/>
            <a:r>
              <a:rPr lang="en-US" dirty="0"/>
              <a:t>Monday, Chapter 20</a:t>
            </a:r>
          </a:p>
          <a:p>
            <a:pPr lvl="2"/>
            <a:r>
              <a:rPr lang="en-US" dirty="0"/>
              <a:t>Developmental psychology and Neuropsychology</a:t>
            </a:r>
          </a:p>
          <a:p>
            <a:pPr lvl="1"/>
            <a:r>
              <a:rPr lang="en-US" dirty="0"/>
              <a:t>Wednesday, Exam 2</a:t>
            </a:r>
          </a:p>
          <a:p>
            <a:pPr lvl="1"/>
            <a:r>
              <a:rPr lang="en-US" dirty="0"/>
              <a:t>Project presentations Friday 11/22 and Monday 11/25</a:t>
            </a:r>
          </a:p>
        </p:txBody>
      </p:sp>
    </p:spTree>
    <p:extLst>
      <p:ext uri="{BB962C8B-B14F-4D97-AF65-F5344CB8AC3E}">
        <p14:creationId xmlns:p14="http://schemas.microsoft.com/office/powerpoint/2010/main" val="741108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6708</TotalTime>
  <Words>1058</Words>
  <Application>Microsoft Office PowerPoint</Application>
  <PresentationFormat>Widescreen</PresentationFormat>
  <Paragraphs>130</Paragraphs>
  <Slides>20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BlinkMacSystemFont</vt:lpstr>
      <vt:lpstr>Calibri</vt:lpstr>
      <vt:lpstr>Calibri Light</vt:lpstr>
      <vt:lpstr>Cambria</vt:lpstr>
      <vt:lpstr>interfaceregular</vt:lpstr>
      <vt:lpstr>Lato Extended</vt:lpstr>
      <vt:lpstr>Office Theme</vt:lpstr>
      <vt:lpstr>205, Nov 13, Class 21</vt:lpstr>
      <vt:lpstr>Background research</vt:lpstr>
      <vt:lpstr>PowerPoint Presentation</vt:lpstr>
      <vt:lpstr>Vaccine skepticism</vt:lpstr>
      <vt:lpstr>PowerPoint Presentation</vt:lpstr>
      <vt:lpstr>Full Investigation</vt:lpstr>
      <vt:lpstr>Research Integrity</vt:lpstr>
      <vt:lpstr>Responsible Conduct of Research</vt:lpstr>
      <vt:lpstr>PowerPoint Presentation</vt:lpstr>
      <vt:lpstr>Analytic Flexibility</vt:lpstr>
      <vt:lpstr>PowerPoint Presentation</vt:lpstr>
      <vt:lpstr>Reproducibility</vt:lpstr>
      <vt:lpstr>Plagiarism</vt:lpstr>
      <vt:lpstr>Transparency: Being Public</vt:lpstr>
      <vt:lpstr>RCR Errors</vt:lpstr>
      <vt:lpstr>RCR Errors </vt:lpstr>
      <vt:lpstr>Intervention research</vt:lpstr>
      <vt:lpstr>Curing cancer</vt:lpstr>
      <vt:lpstr>Philosophical Ethical Challenges</vt:lpstr>
      <vt:lpstr>For Fri Nov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Nov 11, Class 22</dc:title>
  <dc:creator>Paul Reber</dc:creator>
  <cp:lastModifiedBy>Paul Reber</cp:lastModifiedBy>
  <cp:revision>22</cp:revision>
  <cp:lastPrinted>2024-11-13T14:15:45Z</cp:lastPrinted>
  <dcterms:created xsi:type="dcterms:W3CDTF">2022-11-11T14:18:06Z</dcterms:created>
  <dcterms:modified xsi:type="dcterms:W3CDTF">2024-11-14T21:20:47Z</dcterms:modified>
</cp:coreProperties>
</file>