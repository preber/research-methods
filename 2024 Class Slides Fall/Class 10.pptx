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2" r:id="rId3"/>
    <p:sldId id="263" r:id="rId4"/>
    <p:sldId id="275" r:id="rId5"/>
    <p:sldId id="276" r:id="rId6"/>
    <p:sldId id="391" r:id="rId7"/>
    <p:sldId id="277" r:id="rId8"/>
    <p:sldId id="392" r:id="rId9"/>
    <p:sldId id="278" r:id="rId10"/>
    <p:sldId id="382" r:id="rId11"/>
    <p:sldId id="384" r:id="rId12"/>
    <p:sldId id="385" r:id="rId13"/>
    <p:sldId id="273" r:id="rId14"/>
    <p:sldId id="394" r:id="rId15"/>
    <p:sldId id="386" r:id="rId16"/>
    <p:sldId id="387" r:id="rId17"/>
    <p:sldId id="388" r:id="rId18"/>
    <p:sldId id="395" r:id="rId19"/>
    <p:sldId id="383" r:id="rId20"/>
    <p:sldId id="390" r:id="rId21"/>
    <p:sldId id="280" r:id="rId22"/>
    <p:sldId id="257" r:id="rId23"/>
    <p:sldId id="282" r:id="rId24"/>
    <p:sldId id="284" r:id="rId25"/>
    <p:sldId id="283" r:id="rId26"/>
    <p:sldId id="281" r:id="rId27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64" d="100"/>
          <a:sy n="64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Sheet1!$C$34:$D$34</c:f>
              <c:numCache>
                <c:formatCode>General</c:formatCode>
                <c:ptCount val="2"/>
                <c:pt idx="0">
                  <c:v>3.93</c:v>
                </c:pt>
                <c:pt idx="1">
                  <c:v>4.21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F8-4488-82B5-71E1A043D946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Sheet1!$C$35:$D$35</c:f>
              <c:numCache>
                <c:formatCode>General</c:formatCode>
                <c:ptCount val="2"/>
                <c:pt idx="0">
                  <c:v>6.98</c:v>
                </c:pt>
                <c:pt idx="1">
                  <c:v>6.88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F8-4488-82B5-71E1A043D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Sheet1!$C$34:$D$34</c:f>
              <c:numCache>
                <c:formatCode>General</c:formatCode>
                <c:ptCount val="2"/>
                <c:pt idx="0">
                  <c:v>3.93</c:v>
                </c:pt>
                <c:pt idx="1">
                  <c:v>4.21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ED-4E46-947C-FAD5DB76437C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Sheet1!$C$35:$D$35</c:f>
              <c:numCache>
                <c:formatCode>General</c:formatCode>
                <c:ptCount val="2"/>
                <c:pt idx="0">
                  <c:v>6.98</c:v>
                </c:pt>
                <c:pt idx="1">
                  <c:v>6.88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ED-4E46-947C-FAD5DB7643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ADAE7C20-884B-4AD7-AC5E-61FD9B6381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51DBFFE7-63B1-4148-AD17-CDD381518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78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E4C8E8-E769-4FB3-BD13-F5445F1CB92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80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DBC92-A2CD-430F-B457-AE151215CE4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50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949C00-F9FE-494A-8F72-A34556B1B41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81F23D-7C69-46C9-86E3-F797AF044AB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89325E-ACA8-40F8-BFF5-1D5AD6DB43B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0C1F9A-F7B5-40B7-9C72-F73B4B86440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D316-4FC1-1F8B-01C5-339D40AF5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84E33-EF2C-450F-2863-D692D2559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7964A-6AC7-80C2-B0BC-CA25838F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5CD5E-8F55-4586-3781-F7048613F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23BD6-4E54-18C1-E264-8AE1B2AF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2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424D-A69E-ED57-20DB-00430264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FA7B9-47CB-C5B9-7640-952432FF3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F7C31-1771-3FE6-9B45-536CC73C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6BFB2-F039-3AAA-E577-C24DAA9E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A54F4-1326-88C4-56CD-68E0BFE1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2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3992-E9D6-650B-8619-3B180AF2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9461A-6674-81EC-2E5C-96E6E9B0F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A3DE-FA5D-2374-6B7F-DB1BB55C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7C185-DC20-F363-42BD-D5FB9B72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33BF0-944D-E351-5694-CD2B35E8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7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1A3A-04F7-22B8-A3D4-7B03D9A6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3303D-3436-B90B-D246-4540F9D7F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82083-597E-3C9D-B8FC-4A111568A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4DB1A-E731-1BBF-FDDF-5496C89D6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C3D0E-1938-054E-61CF-08033AF4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61AC-B0B7-6C6E-2764-5AC58542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2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51EA-CE04-F63E-F920-9BC5F8B9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E1042-EC5A-77A8-A862-A1069FD17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5C453-FF19-E560-636C-E985A6873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0FFDC-4B82-0EBF-D15F-58084C4DA3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4EE55-0CC7-E667-6F17-4CE3AD899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E2D6F3-B6FD-B027-FD9A-0A3E9ADD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5A3C32-845E-827E-E0D5-C09ED821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D7B4C4-4C9F-00C3-3EE9-F9394D66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48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8EEB-9980-C632-DE29-CE046C5D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76DCC-E307-7954-A1A9-3DBBA574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7EB3F-DD14-6947-A08B-EEFB6E40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0B374-7B16-F169-24E2-6B602C2C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1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ACBA01-8229-5CCC-3D26-0B199DD8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C87C8-567E-3786-A3F3-BB17AC44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9F4E3-DD7A-C740-F72C-78226511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39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5822-A5EA-CCFE-7943-976454A81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2929-15D0-82C0-DB7C-7EFF0A3E0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DFB06-B102-3F5D-FEF5-4F439D7ED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E2899-1C39-F0EA-3C5C-8875DA93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1B0ED-B2EE-2CA7-3F50-D1B62E1A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B2DE-0A22-596F-51F3-B9F6BE92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70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4662-2352-4D2F-7F78-D9DDBDFB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92F9E-90E4-DC87-6D7B-28F072434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8434C-7D18-0769-124C-CE1DC3F99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C5F6E-6E7F-999B-EA5C-9B1FA251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7B4DE-589D-158A-FCF1-BCFE0D707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AB686-5159-133D-3F1D-440895EEC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883D-39DF-F85C-350D-8488C641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B0B97-221B-B588-7F39-E6E40A93D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798A1-E3DA-10A9-9634-F8670547F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A8E7B-7AFC-DBA6-CCD5-87A5E770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3D27B-30E1-A6E8-C43F-C9F778A9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20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BD7BE-A2A8-AB3B-3AE7-37CAED55B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09F5E-B736-4964-EDBD-FD77E48E0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0B20B-61C2-DFAC-4012-47B692DE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255C7-C7C7-D397-7E26-3D5A9A07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839E4-A285-5086-167F-BAE56C2F8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9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6909E-8DAB-A7F4-E140-7D9A0B736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8E334-DF7A-9CFD-8DD6-591D2A729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39B29-0BD5-4F85-8E0F-7967107E1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D958D-6EF0-4115-9E19-50641A40D36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59446-260E-04D8-117D-497924C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F4B81-4C0A-8ECF-60A8-2D197C122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5E342-4EE4-4C9D-BD20-922283FD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0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D2285E-BBAF-A6BC-CD4B-9157FAB6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205 Fri Oct 18, Class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2ADED9-0271-02CC-A3B7-6E3A7C4A2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Levav</a:t>
            </a:r>
            <a:r>
              <a:rPr lang="en-US" dirty="0"/>
              <a:t> &amp; Argo (2010)</a:t>
            </a:r>
          </a:p>
          <a:p>
            <a:r>
              <a:rPr lang="en-US" dirty="0"/>
              <a:t>Discussion of Experiment 2</a:t>
            </a:r>
          </a:p>
          <a:p>
            <a:r>
              <a:rPr lang="en-US"/>
              <a:t>Interpreting data from factorial designs, part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889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Choosing where to sit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In a study of interpersonal closeness, researchers primed either independence or interdependence by writing out reasons why they thought of themselves as similar or different from their close friends and family.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Participants were then were asked to take a seat in a waiting area full of chairs where a jacket indicated the presence of another person.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Data from men and women in the study were considered separately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The dependent variable measured was the number of chairs between the jacket and the chosen seat.</a:t>
            </a:r>
          </a:p>
        </p:txBody>
      </p:sp>
    </p:spTree>
    <p:extLst>
      <p:ext uri="{BB962C8B-B14F-4D97-AF65-F5344CB8AC3E}">
        <p14:creationId xmlns:p14="http://schemas.microsoft.com/office/powerpoint/2010/main" val="3584830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Group 2"/>
          <p:cNvGraphicFramePr>
            <a:graphicFrameLocks noGrp="1"/>
          </p:cNvGraphicFramePr>
          <p:nvPr/>
        </p:nvGraphicFramePr>
        <p:xfrm>
          <a:off x="1828800" y="228600"/>
          <a:ext cx="5410200" cy="27813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Women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Independent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Interdepdendent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076" name="Object 20"/>
          <p:cNvGraphicFramePr>
            <a:graphicFrameLocks noChangeAspect="1"/>
          </p:cNvGraphicFramePr>
          <p:nvPr/>
        </p:nvGraphicFramePr>
        <p:xfrm>
          <a:off x="5562600" y="3201989"/>
          <a:ext cx="5105400" cy="337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419600" imgH="2924231" progId="MSGraph.Chart.8">
                  <p:embed followColorScheme="full"/>
                </p:oleObj>
              </mc:Choice>
              <mc:Fallback>
                <p:oleObj name="Chart" r:id="rId3" imgW="4419600" imgH="2924231" progId="MSGraph.Chart.8">
                  <p:embed followColorScheme="full"/>
                  <p:pic>
                    <p:nvPicPr>
                      <p:cNvPr id="4507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201989"/>
                        <a:ext cx="5105400" cy="3379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105401" y="1447800"/>
            <a:ext cx="1831975" cy="1208088"/>
            <a:chOff x="1344" y="1031"/>
            <a:chExt cx="1154" cy="761"/>
          </a:xfrm>
        </p:grpSpPr>
        <p:sp>
          <p:nvSpPr>
            <p:cNvPr id="3094" name="Text Box 22"/>
            <p:cNvSpPr txBox="1">
              <a:spLocks noChangeArrowheads="1"/>
            </p:cNvSpPr>
            <p:nvPr/>
          </p:nvSpPr>
          <p:spPr bwMode="auto">
            <a:xfrm>
              <a:off x="1344" y="1031"/>
              <a:ext cx="3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6.1</a:t>
              </a:r>
            </a:p>
          </p:txBody>
        </p:sp>
        <p:sp>
          <p:nvSpPr>
            <p:cNvPr id="3095" name="Text Box 23"/>
            <p:cNvSpPr txBox="1">
              <a:spLocks noChangeArrowheads="1"/>
            </p:cNvSpPr>
            <p:nvPr/>
          </p:nvSpPr>
          <p:spPr bwMode="auto">
            <a:xfrm>
              <a:off x="2198" y="1031"/>
              <a:ext cx="3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4.5</a:t>
              </a:r>
            </a:p>
          </p:txBody>
        </p:sp>
        <p:sp>
          <p:nvSpPr>
            <p:cNvPr id="3096" name="Text Box 24"/>
            <p:cNvSpPr txBox="1">
              <a:spLocks noChangeArrowheads="1"/>
            </p:cNvSpPr>
            <p:nvPr/>
          </p:nvSpPr>
          <p:spPr bwMode="auto">
            <a:xfrm>
              <a:off x="1344" y="1559"/>
              <a:ext cx="3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4.3</a:t>
              </a:r>
            </a:p>
          </p:txBody>
        </p:sp>
        <p:sp>
          <p:nvSpPr>
            <p:cNvPr id="3097" name="Text Box 25"/>
            <p:cNvSpPr txBox="1">
              <a:spLocks noChangeArrowheads="1"/>
            </p:cNvSpPr>
            <p:nvPr/>
          </p:nvSpPr>
          <p:spPr bwMode="auto">
            <a:xfrm>
              <a:off x="2198" y="1559"/>
              <a:ext cx="3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2.7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430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450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Levav &amp; Argo (2010)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8195" y="1262742"/>
            <a:ext cx="10324605" cy="5180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Design, Experiment 1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375" y="1576388"/>
            <a:ext cx="4988625" cy="4822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22078" y="1690688"/>
            <a:ext cx="4962547" cy="2261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80235-3048-36C5-7172-3EC331E3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4B387-2499-3D56-2357-014078DD1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Experiment 1 is a simple two group study. </a:t>
            </a: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The procedure for implementing the independent variable is described as “In the touch condition, the verbal instruction was accompanied by a light, open-palmed touch on the back of the shoulder blade, right below the deltoid; this touch lasted approximately 1 s. In the no-touch condition, the verbal instruction was unaccompanied by any form of touch. Following this manipulation, the experimenter — who was blind to the hypothesis—retreated to a cubicle on the other side of the room so as not to be visible to the participant.” </a:t>
            </a: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Why does this operational definition of “touch” need such an elaborate description?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695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2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825625"/>
            <a:ext cx="5119835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1" y="1600201"/>
            <a:ext cx="3933825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2AC5-9591-C772-9E8E-E0FFBEA5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Questions 2-5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0B636-6636-B19A-6CC6-F54EE4603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Experiment 2 uses a factorial design.  How many factors are there and how many levels of each factor?</a:t>
            </a: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What is the dependent variable in Experiment 2?</a:t>
            </a: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List the hypotheses tested by this design.</a:t>
            </a:r>
          </a:p>
          <a:p>
            <a:endParaRPr lang="en-US" dirty="0">
              <a:solidFill>
                <a:srgbClr val="2D3B45"/>
              </a:solidFill>
              <a:latin typeface="Lato Extended"/>
            </a:endParaRPr>
          </a:p>
          <a:p>
            <a:endParaRPr lang="en-US" dirty="0">
              <a:solidFill>
                <a:srgbClr val="2D3B45"/>
              </a:solidFill>
              <a:latin typeface="Lato Extended"/>
            </a:endParaRP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What kind of interaction is shown in Figure 4 (Experiment 3)</a:t>
            </a:r>
          </a:p>
          <a:p>
            <a:endParaRPr lang="en-US" b="0" i="0" dirty="0">
              <a:solidFill>
                <a:srgbClr val="2D3B45"/>
              </a:solidFill>
              <a:effectLst/>
              <a:latin typeface="Lato Extended"/>
            </a:endParaRP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2D3B45"/>
              </a:solidFill>
              <a:effectLst/>
              <a:latin typeface="Lato Extended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709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3</a:t>
            </a:r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635918"/>
            <a:ext cx="5196638" cy="1024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1444832" y="2961481"/>
            <a:ext cx="3905250" cy="3276600"/>
          </a:xfrm>
        </p:spPr>
      </p:pic>
      <p:pic>
        <p:nvPicPr>
          <p:cNvPr id="13317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58298" y="2894806"/>
            <a:ext cx="4086225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8" name="Rectangle 8"/>
          <p:cNvSpPr>
            <a:spLocks noChangeArrowheads="1"/>
          </p:cNvSpPr>
          <p:nvPr/>
        </p:nvSpPr>
        <p:spPr bwMode="auto">
          <a:xfrm>
            <a:off x="6095999" y="1600199"/>
            <a:ext cx="504305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Operational definition, Security:</a:t>
            </a:r>
          </a:p>
          <a:p>
            <a:r>
              <a:rPr lang="en-US" sz="1200" dirty="0"/>
              <a:t>We primed feelings of security or insecurity in a laboratory room by having participants write a brief essay about a time in their life when they “felt secure and supported” (secure-essay condition) or a time in their life when they “felt insecure and alone” (insecure-essay condition).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FD1B-2D97-427F-968A-5EE0E0A4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FDFAB-9675-4E70-B048-20DCF3E9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for pictures/images</a:t>
            </a:r>
          </a:p>
          <a:p>
            <a:pPr lvl="1"/>
            <a:r>
              <a:rPr lang="en-US" dirty="0"/>
              <a:t>Usually very good</a:t>
            </a:r>
          </a:p>
          <a:p>
            <a:pPr lvl="1"/>
            <a:r>
              <a:rPr lang="en-US" dirty="0"/>
              <a:t>“Picture superiority” effect</a:t>
            </a:r>
          </a:p>
          <a:p>
            <a:pPr lvl="1"/>
            <a:endParaRPr lang="en-US" dirty="0"/>
          </a:p>
          <a:p>
            <a:r>
              <a:rPr lang="en-US" dirty="0"/>
              <a:t>How does “deep encoding” work?</a:t>
            </a:r>
          </a:p>
          <a:p>
            <a:r>
              <a:rPr lang="en-US" dirty="0"/>
              <a:t>How would this process be affected by more or less meaningful pictures?</a:t>
            </a:r>
          </a:p>
        </p:txBody>
      </p:sp>
    </p:spTree>
    <p:extLst>
      <p:ext uri="{BB962C8B-B14F-4D97-AF65-F5344CB8AC3E}">
        <p14:creationId xmlns:p14="http://schemas.microsoft.com/office/powerpoint/2010/main" val="185273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5444-0321-4893-B2B7-E56A8EEC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C909-DB84-45E4-ACC9-DA076CC70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D513838-5D5A-41D4-9FB2-129EBC3696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1500" y="2286794"/>
            <a:ext cx="3429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8247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B977-0980-4580-8B69-947B3D3A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9C605-6F3C-4E54-91F5-A5986F549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A4843-1060-4663-AD6B-A946DA7307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324894"/>
            <a:ext cx="33528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74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9334-EA89-4C5E-8044-39AFE941D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D6561-107F-4B94-A5A2-D923DD2BC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95B43-ED54-13FD-1296-129237B3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590"/>
          <a:stretch/>
        </p:blipFill>
        <p:spPr>
          <a:xfrm>
            <a:off x="4866648" y="2777331"/>
            <a:ext cx="2458703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55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F346-8111-7566-72B0-1E5A74294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87943-D341-7303-6143-8C603B589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2DF61A-7608-AD6A-FA7F-A55B8F9C8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832"/>
          <a:stretch/>
        </p:blipFill>
        <p:spPr>
          <a:xfrm>
            <a:off x="4916282" y="2796381"/>
            <a:ext cx="235943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58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F2525-4291-430F-8A31-FE11E958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ADD6-A925-4870-AA59-8B48FD2D8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6D5D7EF-CAC1-4983-874F-F902F48600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09800" y="2344738"/>
            <a:ext cx="3429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9B4BF1-1812-4EE1-B7B3-99CE0ADF96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731" y="22098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59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7C75-FD6B-491D-BF76-BE1C07C4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ED448-49D4-4B8B-9A2D-75293125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B11BA-8F18-4454-8382-37F13112D2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407" y="1836683"/>
            <a:ext cx="342900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0A299-94F0-4D31-8B1F-72349858E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050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89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B849-B223-4D6C-90BF-64944DEF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2BCA-616A-4733-94EF-5B2859FBA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FB0190-B23C-2D25-0D0F-6D1B84D38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62" y="2582148"/>
            <a:ext cx="62388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38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2FDB-77E2-F490-FC69-A284B1272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84B2B9-9D7E-E11E-C0BB-27F57A9B3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137" y="2796381"/>
            <a:ext cx="618172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11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D1DC-41CC-442E-9023-E3EA0170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03403-5B94-4A0B-BDCB-34912BCE4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Shallow?</a:t>
            </a:r>
          </a:p>
        </p:txBody>
      </p:sp>
    </p:spTree>
    <p:extLst>
      <p:ext uri="{BB962C8B-B14F-4D97-AF65-F5344CB8AC3E}">
        <p14:creationId xmlns:p14="http://schemas.microsoft.com/office/powerpoint/2010/main" val="3409542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2E12-BFB2-45C7-AC0F-5D74E82F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diagram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3A96E512-D9D3-46A9-9759-2EB4D5654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3841900"/>
              </p:ext>
            </p:extLst>
          </p:nvPr>
        </p:nvGraphicFramePr>
        <p:xfrm>
          <a:off x="2873829" y="2438401"/>
          <a:ext cx="5279570" cy="2172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270">
                  <a:extLst>
                    <a:ext uri="{9D8B030D-6E8A-4147-A177-3AD203B41FA5}">
                      <a16:colId xmlns:a16="http://schemas.microsoft.com/office/drawing/2014/main" val="3861923587"/>
                    </a:ext>
                  </a:extLst>
                </a:gridCol>
                <a:gridCol w="1050661">
                  <a:extLst>
                    <a:ext uri="{9D8B030D-6E8A-4147-A177-3AD203B41FA5}">
                      <a16:colId xmlns:a16="http://schemas.microsoft.com/office/drawing/2014/main" val="762835054"/>
                    </a:ext>
                  </a:extLst>
                </a:gridCol>
                <a:gridCol w="1624483">
                  <a:extLst>
                    <a:ext uri="{9D8B030D-6E8A-4147-A177-3AD203B41FA5}">
                      <a16:colId xmlns:a16="http://schemas.microsoft.com/office/drawing/2014/main" val="730290203"/>
                    </a:ext>
                  </a:extLst>
                </a:gridCol>
                <a:gridCol w="1868156">
                  <a:extLst>
                    <a:ext uri="{9D8B030D-6E8A-4147-A177-3AD203B41FA5}">
                      <a16:colId xmlns:a16="http://schemas.microsoft.com/office/drawing/2014/main" val="2610166615"/>
                    </a:ext>
                  </a:extLst>
                </a:gridCol>
              </a:tblGrid>
              <a:tr h="5218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of Picture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967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Meaningful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Abstract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1827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of Study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134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Shallow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735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378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C9E1-AEC7-C45E-B54F-26CAB2DF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10: Factorial design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AB74F-6573-3A1D-DD51-2E53CACF3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 main effect</a:t>
            </a:r>
          </a:p>
          <a:p>
            <a:pPr lvl="1"/>
            <a:r>
              <a:rPr lang="en-US" dirty="0"/>
              <a:t>Or the other main effect</a:t>
            </a:r>
          </a:p>
          <a:p>
            <a:r>
              <a:rPr lang="en-US" dirty="0"/>
              <a:t>2 main effects with no interaction</a:t>
            </a:r>
          </a:p>
          <a:p>
            <a:pPr lvl="1"/>
            <a:r>
              <a:rPr lang="en-US" dirty="0"/>
              <a:t>Effects add up</a:t>
            </a:r>
          </a:p>
          <a:p>
            <a:r>
              <a:rPr lang="en-US" dirty="0"/>
              <a:t>Super-additive interaction</a:t>
            </a:r>
          </a:p>
          <a:p>
            <a:pPr lvl="1"/>
            <a:r>
              <a:rPr lang="en-US" dirty="0"/>
              <a:t>Bigger effect in one condition</a:t>
            </a:r>
          </a:p>
          <a:p>
            <a:r>
              <a:rPr lang="en-US" dirty="0"/>
              <a:t>3:1 interaction</a:t>
            </a:r>
          </a:p>
          <a:p>
            <a:pPr lvl="1"/>
            <a:r>
              <a:rPr lang="en-US" dirty="0"/>
              <a:t>Little to no effect in one condition</a:t>
            </a:r>
          </a:p>
          <a:p>
            <a:r>
              <a:rPr lang="en-US" dirty="0"/>
              <a:t>Cross-over interaction</a:t>
            </a:r>
          </a:p>
          <a:p>
            <a:pPr lvl="1"/>
            <a:r>
              <a:rPr lang="en-US" dirty="0"/>
              <a:t>Effect inverts across conditions</a:t>
            </a:r>
          </a:p>
        </p:txBody>
      </p:sp>
    </p:spTree>
    <p:extLst>
      <p:ext uri="{BB962C8B-B14F-4D97-AF65-F5344CB8AC3E}">
        <p14:creationId xmlns:p14="http://schemas.microsoft.com/office/powerpoint/2010/main" val="4121052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D67C-F23D-8246-E305-9576BD63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of Results in 2x2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E5027-F516-3C6C-47C1-5EE3F873B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Simulated data</a:t>
            </a:r>
          </a:p>
          <a:p>
            <a:r>
              <a:rPr lang="en-US" dirty="0"/>
              <a:t>Factor 1 has two levels</a:t>
            </a:r>
          </a:p>
          <a:p>
            <a:pPr lvl="1"/>
            <a:r>
              <a:rPr lang="en-US" dirty="0"/>
              <a:t>Condition A, Condition B</a:t>
            </a:r>
          </a:p>
          <a:p>
            <a:r>
              <a:rPr lang="en-US" dirty="0"/>
              <a:t>Factor 2 has two levels</a:t>
            </a:r>
          </a:p>
          <a:p>
            <a:pPr lvl="1"/>
            <a:r>
              <a:rPr lang="en-US" dirty="0"/>
              <a:t>Condition X, Condition Y</a:t>
            </a:r>
          </a:p>
          <a:p>
            <a:r>
              <a:rPr lang="en-US" dirty="0"/>
              <a:t>Dependent variable is a measure on a 10-point scale</a:t>
            </a:r>
          </a:p>
          <a:p>
            <a:r>
              <a:rPr lang="en-US" dirty="0"/>
              <a:t>20 participants per condition</a:t>
            </a:r>
          </a:p>
        </p:txBody>
      </p:sp>
    </p:spTree>
    <p:extLst>
      <p:ext uri="{BB962C8B-B14F-4D97-AF65-F5344CB8AC3E}">
        <p14:creationId xmlns:p14="http://schemas.microsoft.com/office/powerpoint/2010/main" val="2182114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175D-7541-8701-3CA2-F79DC085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a Means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CAAD58-D79F-92DF-15D4-9C6A5E1353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3848" y="2255520"/>
          <a:ext cx="8146119" cy="41796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98598">
                  <a:extLst>
                    <a:ext uri="{9D8B030D-6E8A-4147-A177-3AD203B41FA5}">
                      <a16:colId xmlns:a16="http://schemas.microsoft.com/office/drawing/2014/main" val="1616339839"/>
                    </a:ext>
                  </a:extLst>
                </a:gridCol>
                <a:gridCol w="1698598">
                  <a:extLst>
                    <a:ext uri="{9D8B030D-6E8A-4147-A177-3AD203B41FA5}">
                      <a16:colId xmlns:a16="http://schemas.microsoft.com/office/drawing/2014/main" val="3907258368"/>
                    </a:ext>
                  </a:extLst>
                </a:gridCol>
                <a:gridCol w="1713482">
                  <a:extLst>
                    <a:ext uri="{9D8B030D-6E8A-4147-A177-3AD203B41FA5}">
                      <a16:colId xmlns:a16="http://schemas.microsoft.com/office/drawing/2014/main" val="3012083006"/>
                    </a:ext>
                  </a:extLst>
                </a:gridCol>
                <a:gridCol w="1713482">
                  <a:extLst>
                    <a:ext uri="{9D8B030D-6E8A-4147-A177-3AD203B41FA5}">
                      <a16:colId xmlns:a16="http://schemas.microsoft.com/office/drawing/2014/main" val="1141096882"/>
                    </a:ext>
                  </a:extLst>
                </a:gridCol>
                <a:gridCol w="1321959">
                  <a:extLst>
                    <a:ext uri="{9D8B030D-6E8A-4147-A177-3AD203B41FA5}">
                      <a16:colId xmlns:a16="http://schemas.microsoft.com/office/drawing/2014/main" val="369330102"/>
                    </a:ext>
                  </a:extLst>
                </a:gridCol>
              </a:tblGrid>
              <a:tr h="271689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Means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Table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extLst>
                  <a:ext uri="{0D108BD9-81ED-4DB2-BD59-A6C34878D82A}">
                    <a16:rowId xmlns:a16="http://schemas.microsoft.com/office/drawing/2014/main" val="4276051239"/>
                  </a:ext>
                </a:extLst>
              </a:tr>
              <a:tr h="28998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extLst>
                  <a:ext uri="{0D108BD9-81ED-4DB2-BD59-A6C34878D82A}">
                    <a16:rowId xmlns:a16="http://schemas.microsoft.com/office/drawing/2014/main" val="610288733"/>
                  </a:ext>
                </a:extLst>
              </a:tr>
              <a:tr h="85805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X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3.93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(1.43)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4.21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(1.22)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4.07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extLst>
                  <a:ext uri="{0D108BD9-81ED-4DB2-BD59-A6C34878D82A}">
                    <a16:rowId xmlns:a16="http://schemas.microsoft.com/office/drawing/2014/main" val="1404471020"/>
                  </a:ext>
                </a:extLst>
              </a:tr>
              <a:tr h="7004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6.98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(1.28)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6.88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(1.37)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6.93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extLst>
                  <a:ext uri="{0D108BD9-81ED-4DB2-BD59-A6C34878D82A}">
                    <a16:rowId xmlns:a16="http://schemas.microsoft.com/office/drawing/2014/main" val="2836657929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5.45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(2.04)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5.55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(1.86)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extLst>
                  <a:ext uri="{0D108BD9-81ED-4DB2-BD59-A6C34878D82A}">
                    <a16:rowId xmlns:a16="http://schemas.microsoft.com/office/drawing/2014/main" val="168534523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8A0887E-AD41-E2FC-E580-85777CCD747C}"/>
              </a:ext>
            </a:extLst>
          </p:cNvPr>
          <p:cNvSpPr/>
          <p:nvPr/>
        </p:nvSpPr>
        <p:spPr>
          <a:xfrm>
            <a:off x="4310743" y="3301340"/>
            <a:ext cx="3420093" cy="2161309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3AD6CC-6742-271E-24A1-D7C90CA5D1CE}"/>
              </a:ext>
            </a:extLst>
          </p:cNvPr>
          <p:cNvSpPr/>
          <p:nvPr/>
        </p:nvSpPr>
        <p:spPr>
          <a:xfrm>
            <a:off x="7730836" y="3301340"/>
            <a:ext cx="1319131" cy="216130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E84E5-7222-A765-3C9B-433B2B88D350}"/>
              </a:ext>
            </a:extLst>
          </p:cNvPr>
          <p:cNvSpPr/>
          <p:nvPr/>
        </p:nvSpPr>
        <p:spPr>
          <a:xfrm>
            <a:off x="4320639" y="5462650"/>
            <a:ext cx="3420093" cy="103022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30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7551E9-F903-F133-42A3-4E7A08C98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terms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64BB6-3AFB-5327-204F-156E05392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Condition or cell means</a:t>
            </a:r>
          </a:p>
          <a:p>
            <a:pPr lvl="1"/>
            <a:r>
              <a:rPr lang="en-US" dirty="0"/>
              <a:t>Performance of the participants in specific conditions</a:t>
            </a:r>
          </a:p>
          <a:p>
            <a:pPr lvl="1"/>
            <a:r>
              <a:rPr lang="en-US" dirty="0"/>
              <a:t>AX, AY, BX, BY</a:t>
            </a:r>
          </a:p>
          <a:p>
            <a:r>
              <a:rPr lang="en-US" dirty="0"/>
              <a:t>Marginal means</a:t>
            </a:r>
          </a:p>
          <a:p>
            <a:pPr lvl="1"/>
            <a:r>
              <a:rPr lang="en-US" dirty="0"/>
              <a:t>Average performance of participants by factor</a:t>
            </a:r>
          </a:p>
          <a:p>
            <a:pPr lvl="1"/>
            <a:r>
              <a:rPr lang="en-US" dirty="0"/>
              <a:t>Factor 1: A vs B</a:t>
            </a:r>
          </a:p>
          <a:p>
            <a:pPr lvl="2"/>
            <a:r>
              <a:rPr lang="en-US" dirty="0"/>
              <a:t>Average(AX,AY) and Average (BX,BY)</a:t>
            </a:r>
          </a:p>
          <a:p>
            <a:pPr lvl="1"/>
            <a:r>
              <a:rPr lang="en-US" dirty="0"/>
              <a:t>Factor 2: X vs Y</a:t>
            </a:r>
          </a:p>
          <a:p>
            <a:pPr lvl="2"/>
            <a:r>
              <a:rPr lang="en-US" dirty="0"/>
              <a:t>Average(AX,BX) and Average (AY,BY)</a:t>
            </a:r>
          </a:p>
          <a:p>
            <a:r>
              <a:rPr lang="en-US" dirty="0"/>
              <a:t>Effect size</a:t>
            </a:r>
          </a:p>
          <a:p>
            <a:pPr lvl="1"/>
            <a:r>
              <a:rPr lang="en-US" dirty="0"/>
              <a:t>Difference in the marginal means across the factor</a:t>
            </a:r>
          </a:p>
          <a:p>
            <a:pPr lvl="1"/>
            <a:r>
              <a:rPr lang="en-US" dirty="0"/>
              <a:t>“Unstandardized” = actual DV difference</a:t>
            </a:r>
          </a:p>
        </p:txBody>
      </p:sp>
    </p:spTree>
    <p:extLst>
      <p:ext uri="{BB962C8B-B14F-4D97-AF65-F5344CB8AC3E}">
        <p14:creationId xmlns:p14="http://schemas.microsoft.com/office/powerpoint/2010/main" val="3174402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6FE2BC-D68B-4398-78F0-1FC5CD47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Visualization: Lines and Bars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2513976-D198-444F-B91A-783EEF5D499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8F8FC79-9A91-4374-AF0B-D0B93C45101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0345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CADA-45E9-6FC1-24D0-4618F08B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Mon Oct 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FA75F-3D74-CE6D-E635-7A7141824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10</a:t>
            </a:r>
          </a:p>
          <a:p>
            <a:endParaRPr lang="en-US" dirty="0"/>
          </a:p>
          <a:p>
            <a:r>
              <a:rPr lang="en-US" dirty="0"/>
              <a:t>Test out Exp2 for pilot testing</a:t>
            </a:r>
          </a:p>
          <a:p>
            <a:pPr lvl="1"/>
            <a:r>
              <a:rPr lang="en-US" dirty="0"/>
              <a:t>Report back subjective impressions of the design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878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14191</TotalTime>
  <Words>692</Words>
  <Application>Microsoft Office PowerPoint</Application>
  <PresentationFormat>Widescreen</PresentationFormat>
  <Paragraphs>121</Paragraphs>
  <Slides>26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Lato Extended</vt:lpstr>
      <vt:lpstr>Times New Roman</vt:lpstr>
      <vt:lpstr>Office Theme</vt:lpstr>
      <vt:lpstr>Chart</vt:lpstr>
      <vt:lpstr>205 Fri Oct 18, Class 10</vt:lpstr>
      <vt:lpstr>Choosing where to sit</vt:lpstr>
      <vt:lpstr>PowerPoint Presentation</vt:lpstr>
      <vt:lpstr>Levav &amp; Argo (2010)</vt:lpstr>
      <vt:lpstr>Design, Experiment 1</vt:lpstr>
      <vt:lpstr>Assignment Question 1</vt:lpstr>
      <vt:lpstr>Experiment 2</vt:lpstr>
      <vt:lpstr>Assignment Questions 2-5</vt:lpstr>
      <vt:lpstr>Experiment 3</vt:lpstr>
      <vt:lpstr>Experiment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Operational definitions</vt:lpstr>
      <vt:lpstr>Factorial diagram</vt:lpstr>
      <vt:lpstr>Chapter 10: Factorial design outcomes</vt:lpstr>
      <vt:lpstr>Patterns of Results in 2x2 Designs</vt:lpstr>
      <vt:lpstr>Data in a Means Table</vt:lpstr>
      <vt:lpstr>Data terms</vt:lpstr>
      <vt:lpstr>Data Visualization: Lines and Bars</vt:lpstr>
      <vt:lpstr>For Mon Oct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17, Interactions</dc:title>
  <dc:creator>Paul Reber</dc:creator>
  <cp:lastModifiedBy>Paul J Reber</cp:lastModifiedBy>
  <cp:revision>15</cp:revision>
  <cp:lastPrinted>2024-10-18T02:38:34Z</cp:lastPrinted>
  <dcterms:created xsi:type="dcterms:W3CDTF">2022-10-12T22:21:01Z</dcterms:created>
  <dcterms:modified xsi:type="dcterms:W3CDTF">2024-10-18T14:59:49Z</dcterms:modified>
</cp:coreProperties>
</file>