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66" r:id="rId3"/>
    <p:sldId id="338" r:id="rId4"/>
    <p:sldId id="360" r:id="rId5"/>
    <p:sldId id="340" r:id="rId6"/>
    <p:sldId id="357" r:id="rId7"/>
    <p:sldId id="358" r:id="rId8"/>
    <p:sldId id="272" r:id="rId9"/>
    <p:sldId id="364" r:id="rId10"/>
    <p:sldId id="346" r:id="rId11"/>
    <p:sldId id="359" r:id="rId12"/>
    <p:sldId id="284" r:id="rId13"/>
    <p:sldId id="361" r:id="rId14"/>
    <p:sldId id="356" r:id="rId15"/>
    <p:sldId id="261" r:id="rId16"/>
    <p:sldId id="326" r:id="rId17"/>
    <p:sldId id="327" r:id="rId18"/>
    <p:sldId id="328" r:id="rId19"/>
    <p:sldId id="329" r:id="rId20"/>
    <p:sldId id="330" r:id="rId21"/>
    <p:sldId id="332" r:id="rId22"/>
    <p:sldId id="331" r:id="rId23"/>
    <p:sldId id="363" r:id="rId24"/>
    <p:sldId id="335" r:id="rId25"/>
    <p:sldId id="337" r:id="rId26"/>
    <p:sldId id="355"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5" autoAdjust="0"/>
    <p:restoredTop sz="94660"/>
  </p:normalViewPr>
  <p:slideViewPr>
    <p:cSldViewPr snapToGrid="0">
      <p:cViewPr varScale="1">
        <p:scale>
          <a:sx n="97" d="100"/>
          <a:sy n="97" d="100"/>
        </p:scale>
        <p:origin x="1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DA0A6F-04A1-4018-814E-B14B9F1D8F64}" type="datetimeFigureOut">
              <a:rPr lang="en-US" smtClean="0"/>
              <a:t>10/9/2024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F4793C-47C0-4DA0-AB76-CDDD70A533E8}" type="slidenum">
              <a:rPr lang="en-US" smtClean="0"/>
              <a:t>‹#›</a:t>
            </a:fld>
            <a:endParaRPr lang="en-US"/>
          </a:p>
        </p:txBody>
      </p:sp>
    </p:spTree>
    <p:extLst>
      <p:ext uri="{BB962C8B-B14F-4D97-AF65-F5344CB8AC3E}">
        <p14:creationId xmlns:p14="http://schemas.microsoft.com/office/powerpoint/2010/main" val="899525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p>
            <a:fld id="{50D19C12-4DFF-43B1-B212-EEBFA616618C}" type="slidenum">
              <a:rPr lang="en-US" smtClean="0"/>
              <a:pPr/>
              <a:t>2</a:t>
            </a:fld>
            <a:endParaRPr 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14270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435A974-589E-4F74-BB87-4E84C3769ACA}" type="slidenum">
              <a:rPr lang="en-US"/>
              <a:pPr fontAlgn="base">
                <a:spcBef>
                  <a:spcPct val="0"/>
                </a:spcBef>
                <a:spcAft>
                  <a:spcPct val="0"/>
                </a:spcAft>
              </a:pPr>
              <a:t>8</a:t>
            </a:fld>
            <a:endParaRPr lang="en-US"/>
          </a:p>
        </p:txBody>
      </p:sp>
      <p:sp>
        <p:nvSpPr>
          <p:cNvPr id="2048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48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cs typeface="Arial" charset="0"/>
              </a:defRPr>
            </a:lvl1pPr>
            <a:lvl2pPr marL="765545" indent="-294440" eaLnBrk="0" hangingPunct="0">
              <a:defRPr>
                <a:solidFill>
                  <a:schemeClr val="tx1"/>
                </a:solidFill>
                <a:latin typeface="Arial" charset="0"/>
                <a:cs typeface="Arial" charset="0"/>
              </a:defRPr>
            </a:lvl2pPr>
            <a:lvl3pPr marL="1177762" indent="-235552" eaLnBrk="0" hangingPunct="0">
              <a:defRPr>
                <a:solidFill>
                  <a:schemeClr val="tx1"/>
                </a:solidFill>
                <a:latin typeface="Arial" charset="0"/>
                <a:cs typeface="Arial" charset="0"/>
              </a:defRPr>
            </a:lvl3pPr>
            <a:lvl4pPr marL="1648867" indent="-235552" eaLnBrk="0" hangingPunct="0">
              <a:defRPr>
                <a:solidFill>
                  <a:schemeClr val="tx1"/>
                </a:solidFill>
                <a:latin typeface="Arial" charset="0"/>
                <a:cs typeface="Arial" charset="0"/>
              </a:defRPr>
            </a:lvl4pPr>
            <a:lvl5pPr marL="2119972" indent="-235552" eaLnBrk="0" hangingPunct="0">
              <a:defRPr>
                <a:solidFill>
                  <a:schemeClr val="tx1"/>
                </a:solidFill>
                <a:latin typeface="Arial" charset="0"/>
                <a:cs typeface="Arial" charset="0"/>
              </a:defRPr>
            </a:lvl5pPr>
            <a:lvl6pPr marL="2591076" indent="-235552" eaLnBrk="0" fontAlgn="base" hangingPunct="0">
              <a:spcBef>
                <a:spcPct val="0"/>
              </a:spcBef>
              <a:spcAft>
                <a:spcPct val="0"/>
              </a:spcAft>
              <a:defRPr>
                <a:solidFill>
                  <a:schemeClr val="tx1"/>
                </a:solidFill>
                <a:latin typeface="Arial" charset="0"/>
                <a:cs typeface="Arial" charset="0"/>
              </a:defRPr>
            </a:lvl6pPr>
            <a:lvl7pPr marL="3062181" indent="-235552" eaLnBrk="0" fontAlgn="base" hangingPunct="0">
              <a:spcBef>
                <a:spcPct val="0"/>
              </a:spcBef>
              <a:spcAft>
                <a:spcPct val="0"/>
              </a:spcAft>
              <a:defRPr>
                <a:solidFill>
                  <a:schemeClr val="tx1"/>
                </a:solidFill>
                <a:latin typeface="Arial" charset="0"/>
                <a:cs typeface="Arial" charset="0"/>
              </a:defRPr>
            </a:lvl7pPr>
            <a:lvl8pPr marL="3533285" indent="-235552" eaLnBrk="0" fontAlgn="base" hangingPunct="0">
              <a:spcBef>
                <a:spcPct val="0"/>
              </a:spcBef>
              <a:spcAft>
                <a:spcPct val="0"/>
              </a:spcAft>
              <a:defRPr>
                <a:solidFill>
                  <a:schemeClr val="tx1"/>
                </a:solidFill>
                <a:latin typeface="Arial" charset="0"/>
                <a:cs typeface="Arial" charset="0"/>
              </a:defRPr>
            </a:lvl8pPr>
            <a:lvl9pPr marL="4004390" indent="-235552" eaLnBrk="0" fontAlgn="base" hangingPunct="0">
              <a:spcBef>
                <a:spcPct val="0"/>
              </a:spcBef>
              <a:spcAft>
                <a:spcPct val="0"/>
              </a:spcAft>
              <a:defRPr>
                <a:solidFill>
                  <a:schemeClr val="tx1"/>
                </a:solidFill>
                <a:latin typeface="Arial" charset="0"/>
                <a:cs typeface="Arial" charset="0"/>
              </a:defRPr>
            </a:lvl9pPr>
          </a:lstStyle>
          <a:p>
            <a:pPr eaLnBrk="1" hangingPunct="1"/>
            <a:fld id="{8C6454AF-A3F4-4654-85C8-8D53AD94A576}" type="slidenum">
              <a:rPr lang="en-US" smtClean="0"/>
              <a:pPr eaLnBrk="1" hangingPunct="1"/>
              <a:t>15</a:t>
            </a:fld>
            <a:endParaRPr lang="en-US"/>
          </a:p>
        </p:txBody>
      </p:sp>
      <p:sp>
        <p:nvSpPr>
          <p:cNvPr id="204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use of google scholar</a:t>
            </a:r>
          </a:p>
        </p:txBody>
      </p:sp>
      <p:sp>
        <p:nvSpPr>
          <p:cNvPr id="4" name="Slide Number Placeholder 3"/>
          <p:cNvSpPr>
            <a:spLocks noGrp="1"/>
          </p:cNvSpPr>
          <p:nvPr>
            <p:ph type="sldNum" sz="quarter" idx="5"/>
          </p:nvPr>
        </p:nvSpPr>
        <p:spPr/>
        <p:txBody>
          <a:bodyPr/>
          <a:lstStyle/>
          <a:p>
            <a:pPr>
              <a:defRPr/>
            </a:pPr>
            <a:fld id="{A209961E-0A26-45CB-B2A9-D09862605DC9}" type="slidenum">
              <a:rPr lang="en-US" smtClean="0"/>
              <a:pPr>
                <a:defRPr/>
              </a:pPr>
              <a:t>20</a:t>
            </a:fld>
            <a:endParaRPr lang="en-US"/>
          </a:p>
        </p:txBody>
      </p:sp>
    </p:spTree>
    <p:extLst>
      <p:ext uri="{BB962C8B-B14F-4D97-AF65-F5344CB8AC3E}">
        <p14:creationId xmlns:p14="http://schemas.microsoft.com/office/powerpoint/2010/main" val="3274714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3D3B5-35EC-B7D2-6D61-CE98A6F5F0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0C29367-0057-72CE-2F1B-10C6D3FF93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1C9BBD-1B67-ED0B-EBAB-F9C3BE5C5DF7}"/>
              </a:ext>
            </a:extLst>
          </p:cNvPr>
          <p:cNvSpPr>
            <a:spLocks noGrp="1"/>
          </p:cNvSpPr>
          <p:nvPr>
            <p:ph type="dt" sz="half" idx="10"/>
          </p:nvPr>
        </p:nvSpPr>
        <p:spPr/>
        <p:txBody>
          <a:bodyPr/>
          <a:lstStyle/>
          <a:p>
            <a:fld id="{658CE488-0C45-4C90-8B4B-0A64883178EB}" type="datetimeFigureOut">
              <a:rPr lang="en-US" smtClean="0"/>
              <a:t>10/9/2024</a:t>
            </a:fld>
            <a:endParaRPr lang="en-US"/>
          </a:p>
        </p:txBody>
      </p:sp>
      <p:sp>
        <p:nvSpPr>
          <p:cNvPr id="5" name="Footer Placeholder 4">
            <a:extLst>
              <a:ext uri="{FF2B5EF4-FFF2-40B4-BE49-F238E27FC236}">
                <a16:creationId xmlns:a16="http://schemas.microsoft.com/office/drawing/2014/main" id="{BE28C589-70EC-212F-3E2B-826AFC00F4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DD859D-F83D-BA0B-A5E7-BB419157B398}"/>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2834460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1DB60-3CF9-7A9C-31AE-6CF0052117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2F2F9A-9345-D42C-1505-01A1AB5F78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B6C559-A6FA-065D-3210-FD14E02F1D03}"/>
              </a:ext>
            </a:extLst>
          </p:cNvPr>
          <p:cNvSpPr>
            <a:spLocks noGrp="1"/>
          </p:cNvSpPr>
          <p:nvPr>
            <p:ph type="dt" sz="half" idx="10"/>
          </p:nvPr>
        </p:nvSpPr>
        <p:spPr/>
        <p:txBody>
          <a:bodyPr/>
          <a:lstStyle/>
          <a:p>
            <a:fld id="{658CE488-0C45-4C90-8B4B-0A64883178EB}" type="datetimeFigureOut">
              <a:rPr lang="en-US" smtClean="0"/>
              <a:t>10/9/2024</a:t>
            </a:fld>
            <a:endParaRPr lang="en-US"/>
          </a:p>
        </p:txBody>
      </p:sp>
      <p:sp>
        <p:nvSpPr>
          <p:cNvPr id="5" name="Footer Placeholder 4">
            <a:extLst>
              <a:ext uri="{FF2B5EF4-FFF2-40B4-BE49-F238E27FC236}">
                <a16:creationId xmlns:a16="http://schemas.microsoft.com/office/drawing/2014/main" id="{D85052DF-2C8A-44D6-0B05-06F0EA980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733728-AF3D-0122-3800-3117507BD7FB}"/>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3616481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0E32-12AD-44A6-F786-E218110A10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0E0CF9-5AB4-CD6A-8945-C60AFA0CF9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C2E32F-C64E-BAA2-1433-A41376CF04A8}"/>
              </a:ext>
            </a:extLst>
          </p:cNvPr>
          <p:cNvSpPr>
            <a:spLocks noGrp="1"/>
          </p:cNvSpPr>
          <p:nvPr>
            <p:ph type="dt" sz="half" idx="10"/>
          </p:nvPr>
        </p:nvSpPr>
        <p:spPr/>
        <p:txBody>
          <a:bodyPr/>
          <a:lstStyle/>
          <a:p>
            <a:fld id="{658CE488-0C45-4C90-8B4B-0A64883178EB}" type="datetimeFigureOut">
              <a:rPr lang="en-US" smtClean="0"/>
              <a:t>10/9/2024</a:t>
            </a:fld>
            <a:endParaRPr lang="en-US"/>
          </a:p>
        </p:txBody>
      </p:sp>
      <p:sp>
        <p:nvSpPr>
          <p:cNvPr id="5" name="Footer Placeholder 4">
            <a:extLst>
              <a:ext uri="{FF2B5EF4-FFF2-40B4-BE49-F238E27FC236}">
                <a16:creationId xmlns:a16="http://schemas.microsoft.com/office/drawing/2014/main" id="{96E2EFA3-BF56-FF7E-EF75-E480D7DED4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486338-4893-517D-B278-C67949E34670}"/>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3027830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2E4AA-DF0A-B718-1742-85067FC176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EB577D-2117-293F-BCD3-A4F784A1B5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3A5438-38D3-47D6-8F75-EA01A61171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CC3CDB-C5B8-A584-A000-AE7CA8E8776F}"/>
              </a:ext>
            </a:extLst>
          </p:cNvPr>
          <p:cNvSpPr>
            <a:spLocks noGrp="1"/>
          </p:cNvSpPr>
          <p:nvPr>
            <p:ph type="dt" sz="half" idx="10"/>
          </p:nvPr>
        </p:nvSpPr>
        <p:spPr/>
        <p:txBody>
          <a:bodyPr/>
          <a:lstStyle/>
          <a:p>
            <a:fld id="{658CE488-0C45-4C90-8B4B-0A64883178EB}" type="datetimeFigureOut">
              <a:rPr lang="en-US" smtClean="0"/>
              <a:t>10/9/2024</a:t>
            </a:fld>
            <a:endParaRPr lang="en-US"/>
          </a:p>
        </p:txBody>
      </p:sp>
      <p:sp>
        <p:nvSpPr>
          <p:cNvPr id="6" name="Footer Placeholder 5">
            <a:extLst>
              <a:ext uri="{FF2B5EF4-FFF2-40B4-BE49-F238E27FC236}">
                <a16:creationId xmlns:a16="http://schemas.microsoft.com/office/drawing/2014/main" id="{633D8F88-C509-A8B2-DD0A-5FB4159713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B72D82-F368-2186-DE80-79539769EAE3}"/>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2712713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7D385-2EF9-31E5-929E-14874B1A1A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F6943C-61E6-4A38-EA27-0574434B34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E0DCC-85A7-1269-BF1A-8A5ADA51B2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22F44D-769B-86D1-B31D-9059A668B4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70F925-6F80-60B1-0140-333491D895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760722-0248-E66E-29A2-D32A7A853864}"/>
              </a:ext>
            </a:extLst>
          </p:cNvPr>
          <p:cNvSpPr>
            <a:spLocks noGrp="1"/>
          </p:cNvSpPr>
          <p:nvPr>
            <p:ph type="dt" sz="half" idx="10"/>
          </p:nvPr>
        </p:nvSpPr>
        <p:spPr/>
        <p:txBody>
          <a:bodyPr/>
          <a:lstStyle/>
          <a:p>
            <a:fld id="{658CE488-0C45-4C90-8B4B-0A64883178EB}" type="datetimeFigureOut">
              <a:rPr lang="en-US" smtClean="0"/>
              <a:t>10/9/2024</a:t>
            </a:fld>
            <a:endParaRPr lang="en-US"/>
          </a:p>
        </p:txBody>
      </p:sp>
      <p:sp>
        <p:nvSpPr>
          <p:cNvPr id="8" name="Footer Placeholder 7">
            <a:extLst>
              <a:ext uri="{FF2B5EF4-FFF2-40B4-BE49-F238E27FC236}">
                <a16:creationId xmlns:a16="http://schemas.microsoft.com/office/drawing/2014/main" id="{B26C0311-E8FF-9ACB-B583-DC8A571B5A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4D30AD-42D1-D808-B110-76F2BBF9722A}"/>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4037895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99475-4DBC-179F-550A-B5F939E4A8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3D89A2-6335-78E2-AECB-64B2F03D5159}"/>
              </a:ext>
            </a:extLst>
          </p:cNvPr>
          <p:cNvSpPr>
            <a:spLocks noGrp="1"/>
          </p:cNvSpPr>
          <p:nvPr>
            <p:ph type="dt" sz="half" idx="10"/>
          </p:nvPr>
        </p:nvSpPr>
        <p:spPr/>
        <p:txBody>
          <a:bodyPr/>
          <a:lstStyle/>
          <a:p>
            <a:fld id="{658CE488-0C45-4C90-8B4B-0A64883178EB}" type="datetimeFigureOut">
              <a:rPr lang="en-US" smtClean="0"/>
              <a:t>10/9/2024</a:t>
            </a:fld>
            <a:endParaRPr lang="en-US"/>
          </a:p>
        </p:txBody>
      </p:sp>
      <p:sp>
        <p:nvSpPr>
          <p:cNvPr id="4" name="Footer Placeholder 3">
            <a:extLst>
              <a:ext uri="{FF2B5EF4-FFF2-40B4-BE49-F238E27FC236}">
                <a16:creationId xmlns:a16="http://schemas.microsoft.com/office/drawing/2014/main" id="{5F1E25E4-5FF5-52D0-1C27-3019630845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F3A224-ABF3-6A30-FFDB-210A02BF4051}"/>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4291212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19545D-8C36-A72F-51FC-0ECE67A111F9}"/>
              </a:ext>
            </a:extLst>
          </p:cNvPr>
          <p:cNvSpPr>
            <a:spLocks noGrp="1"/>
          </p:cNvSpPr>
          <p:nvPr>
            <p:ph type="dt" sz="half" idx="10"/>
          </p:nvPr>
        </p:nvSpPr>
        <p:spPr/>
        <p:txBody>
          <a:bodyPr/>
          <a:lstStyle/>
          <a:p>
            <a:fld id="{658CE488-0C45-4C90-8B4B-0A64883178EB}" type="datetimeFigureOut">
              <a:rPr lang="en-US" smtClean="0"/>
              <a:t>10/9/2024</a:t>
            </a:fld>
            <a:endParaRPr lang="en-US"/>
          </a:p>
        </p:txBody>
      </p:sp>
      <p:sp>
        <p:nvSpPr>
          <p:cNvPr id="3" name="Footer Placeholder 2">
            <a:extLst>
              <a:ext uri="{FF2B5EF4-FFF2-40B4-BE49-F238E27FC236}">
                <a16:creationId xmlns:a16="http://schemas.microsoft.com/office/drawing/2014/main" id="{D1B2530A-8047-8D3C-08C4-0003E73506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25B1A1-0735-44E5-AD57-E9E2A97AACF5}"/>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3127820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9262-6123-F203-36DE-8DE1CBB09D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A8265D-E66E-EBF8-5F77-56AD1A8675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7163A3-A111-F804-9413-EDD6B9E405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E3167A-623E-350B-5101-FDB3BD61E933}"/>
              </a:ext>
            </a:extLst>
          </p:cNvPr>
          <p:cNvSpPr>
            <a:spLocks noGrp="1"/>
          </p:cNvSpPr>
          <p:nvPr>
            <p:ph type="dt" sz="half" idx="10"/>
          </p:nvPr>
        </p:nvSpPr>
        <p:spPr/>
        <p:txBody>
          <a:bodyPr/>
          <a:lstStyle/>
          <a:p>
            <a:fld id="{658CE488-0C45-4C90-8B4B-0A64883178EB}" type="datetimeFigureOut">
              <a:rPr lang="en-US" smtClean="0"/>
              <a:t>10/9/2024</a:t>
            </a:fld>
            <a:endParaRPr lang="en-US"/>
          </a:p>
        </p:txBody>
      </p:sp>
      <p:sp>
        <p:nvSpPr>
          <p:cNvPr id="6" name="Footer Placeholder 5">
            <a:extLst>
              <a:ext uri="{FF2B5EF4-FFF2-40B4-BE49-F238E27FC236}">
                <a16:creationId xmlns:a16="http://schemas.microsoft.com/office/drawing/2014/main" id="{64BABE7A-3F08-C278-8646-56BFD340DA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B15BDB-824B-5EDF-7238-A8663036544D}"/>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4059649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679E9-3B93-316A-988E-88A89FC79D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85561E-2748-FA43-818A-3016497737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137341-56A1-5D32-98E6-6923E07660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18D3A0-7A3C-D56D-7771-482281719C1B}"/>
              </a:ext>
            </a:extLst>
          </p:cNvPr>
          <p:cNvSpPr>
            <a:spLocks noGrp="1"/>
          </p:cNvSpPr>
          <p:nvPr>
            <p:ph type="dt" sz="half" idx="10"/>
          </p:nvPr>
        </p:nvSpPr>
        <p:spPr/>
        <p:txBody>
          <a:bodyPr/>
          <a:lstStyle/>
          <a:p>
            <a:fld id="{658CE488-0C45-4C90-8B4B-0A64883178EB}" type="datetimeFigureOut">
              <a:rPr lang="en-US" smtClean="0"/>
              <a:t>10/9/2024</a:t>
            </a:fld>
            <a:endParaRPr lang="en-US"/>
          </a:p>
        </p:txBody>
      </p:sp>
      <p:sp>
        <p:nvSpPr>
          <p:cNvPr id="6" name="Footer Placeholder 5">
            <a:extLst>
              <a:ext uri="{FF2B5EF4-FFF2-40B4-BE49-F238E27FC236}">
                <a16:creationId xmlns:a16="http://schemas.microsoft.com/office/drawing/2014/main" id="{F060B277-DB85-AADF-5FE7-328E45219C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1B673E-F292-59C4-5416-5583CBE2D075}"/>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1841036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A3403-268C-9848-00B0-36B78B139C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D46941-EEB2-50DE-D371-90DF44D86E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BB0C41-606B-3DEB-9874-34CEF43098F5}"/>
              </a:ext>
            </a:extLst>
          </p:cNvPr>
          <p:cNvSpPr>
            <a:spLocks noGrp="1"/>
          </p:cNvSpPr>
          <p:nvPr>
            <p:ph type="dt" sz="half" idx="10"/>
          </p:nvPr>
        </p:nvSpPr>
        <p:spPr/>
        <p:txBody>
          <a:bodyPr/>
          <a:lstStyle/>
          <a:p>
            <a:fld id="{658CE488-0C45-4C90-8B4B-0A64883178EB}" type="datetimeFigureOut">
              <a:rPr lang="en-US" smtClean="0"/>
              <a:t>10/9/2024</a:t>
            </a:fld>
            <a:endParaRPr lang="en-US"/>
          </a:p>
        </p:txBody>
      </p:sp>
      <p:sp>
        <p:nvSpPr>
          <p:cNvPr id="5" name="Footer Placeholder 4">
            <a:extLst>
              <a:ext uri="{FF2B5EF4-FFF2-40B4-BE49-F238E27FC236}">
                <a16:creationId xmlns:a16="http://schemas.microsoft.com/office/drawing/2014/main" id="{65501FA1-38E5-D9F1-ADCC-AE67312058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CC7419-49B8-5508-97F5-37064CD5336D}"/>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889953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828355-ECD6-26F8-0AB0-713204752F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3CDFEB-7633-BB1D-EAE2-ED15BFA43D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5595E4-B550-36CB-D78F-DEFDE998C7BA}"/>
              </a:ext>
            </a:extLst>
          </p:cNvPr>
          <p:cNvSpPr>
            <a:spLocks noGrp="1"/>
          </p:cNvSpPr>
          <p:nvPr>
            <p:ph type="dt" sz="half" idx="10"/>
          </p:nvPr>
        </p:nvSpPr>
        <p:spPr/>
        <p:txBody>
          <a:bodyPr/>
          <a:lstStyle/>
          <a:p>
            <a:fld id="{658CE488-0C45-4C90-8B4B-0A64883178EB}" type="datetimeFigureOut">
              <a:rPr lang="en-US" smtClean="0"/>
              <a:t>10/9/2024</a:t>
            </a:fld>
            <a:endParaRPr lang="en-US"/>
          </a:p>
        </p:txBody>
      </p:sp>
      <p:sp>
        <p:nvSpPr>
          <p:cNvPr id="5" name="Footer Placeholder 4">
            <a:extLst>
              <a:ext uri="{FF2B5EF4-FFF2-40B4-BE49-F238E27FC236}">
                <a16:creationId xmlns:a16="http://schemas.microsoft.com/office/drawing/2014/main" id="{F95955FB-2E28-6D53-AA0B-0FA1C12A3F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7AD638-FA30-CD68-F1B6-29BD3126DF29}"/>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1608666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D36622-7490-3AC3-6417-30FB6C245E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4DCE2A-A83B-B750-3232-089526F369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06F4F6-AF55-19E1-C86B-A6C0050CF0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8CE488-0C45-4C90-8B4B-0A64883178EB}" type="datetimeFigureOut">
              <a:rPr lang="en-US" smtClean="0"/>
              <a:t>10/9/2024</a:t>
            </a:fld>
            <a:endParaRPr lang="en-US"/>
          </a:p>
        </p:txBody>
      </p:sp>
      <p:sp>
        <p:nvSpPr>
          <p:cNvPr id="5" name="Footer Placeholder 4">
            <a:extLst>
              <a:ext uri="{FF2B5EF4-FFF2-40B4-BE49-F238E27FC236}">
                <a16:creationId xmlns:a16="http://schemas.microsoft.com/office/drawing/2014/main" id="{6080E5CF-0FA2-8612-460E-F500977726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2227D2D-D531-031A-ABAD-16891260AA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9F224A-8A88-4B5D-AD42-E43566A09ECA}" type="slidenum">
              <a:rPr lang="en-US" smtClean="0"/>
              <a:t>‹#›</a:t>
            </a:fld>
            <a:endParaRPr lang="en-US"/>
          </a:p>
        </p:txBody>
      </p:sp>
    </p:spTree>
    <p:extLst>
      <p:ext uri="{BB962C8B-B14F-4D97-AF65-F5344CB8AC3E}">
        <p14:creationId xmlns:p14="http://schemas.microsoft.com/office/powerpoint/2010/main" val="3991695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96A341-71B2-B72F-F23F-5DCEEA02AAC5}"/>
              </a:ext>
            </a:extLst>
          </p:cNvPr>
          <p:cNvSpPr>
            <a:spLocks noGrp="1"/>
          </p:cNvSpPr>
          <p:nvPr>
            <p:ph type="title"/>
          </p:nvPr>
        </p:nvSpPr>
        <p:spPr/>
        <p:txBody>
          <a:bodyPr/>
          <a:lstStyle/>
          <a:p>
            <a:r>
              <a:rPr lang="en-US" dirty="0"/>
              <a:t>205 Oct 11, Class 8</a:t>
            </a:r>
          </a:p>
        </p:txBody>
      </p:sp>
      <p:sp>
        <p:nvSpPr>
          <p:cNvPr id="5" name="Content Placeholder 4">
            <a:extLst>
              <a:ext uri="{FF2B5EF4-FFF2-40B4-BE49-F238E27FC236}">
                <a16:creationId xmlns:a16="http://schemas.microsoft.com/office/drawing/2014/main" id="{129F741E-4ADC-C3E2-47F2-5A74CF75BC04}"/>
              </a:ext>
            </a:extLst>
          </p:cNvPr>
          <p:cNvSpPr>
            <a:spLocks noGrp="1"/>
          </p:cNvSpPr>
          <p:nvPr>
            <p:ph idx="1"/>
          </p:nvPr>
        </p:nvSpPr>
        <p:spPr/>
        <p:txBody>
          <a:bodyPr/>
          <a:lstStyle/>
          <a:p>
            <a:r>
              <a:rPr lang="en-US" dirty="0"/>
              <a:t>Chapter 8, Research Ethics</a:t>
            </a:r>
          </a:p>
          <a:p>
            <a:pPr lvl="1"/>
            <a:r>
              <a:rPr lang="en-US" dirty="0"/>
              <a:t>Fair and equitable treatment of human research participants</a:t>
            </a:r>
          </a:p>
          <a:p>
            <a:endParaRPr lang="en-US" dirty="0"/>
          </a:p>
          <a:p>
            <a:r>
              <a:rPr lang="en-US" dirty="0"/>
              <a:t>Time permitting: Writing/Exam review</a:t>
            </a:r>
          </a:p>
        </p:txBody>
      </p:sp>
    </p:spTree>
    <p:extLst>
      <p:ext uri="{BB962C8B-B14F-4D97-AF65-F5344CB8AC3E}">
        <p14:creationId xmlns:p14="http://schemas.microsoft.com/office/powerpoint/2010/main" val="1372572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961901" y="716189"/>
            <a:ext cx="9547761" cy="5570756"/>
          </a:xfrm>
          <a:prstGeom prst="rect">
            <a:avLst/>
          </a:prstGeom>
          <a:noFill/>
          <a:ln w="9525">
            <a:noFill/>
            <a:miter lim="800000"/>
            <a:headEnd/>
            <a:tailEnd/>
          </a:ln>
        </p:spPr>
        <p:txBody>
          <a:bodyPr wrap="square">
            <a:spAutoFit/>
          </a:bodyPr>
          <a:lstStyle/>
          <a:p>
            <a:pPr>
              <a:spcBef>
                <a:spcPts val="600"/>
              </a:spcBef>
            </a:pPr>
            <a:r>
              <a:rPr lang="en-US" sz="2400" dirty="0">
                <a:latin typeface="Times New Roman" pitchFamily="18" charset="0"/>
                <a:cs typeface="Times New Roman" pitchFamily="18" charset="0"/>
              </a:rPr>
              <a:t>In an effort to determine the effects of the drug chlorpromazine on the cognitive performance of schizophrenics, two clinical investigators randomly selected 20 acute schizophrenics from a mental hospital population.</a:t>
            </a:r>
          </a:p>
          <a:p>
            <a:pPr>
              <a:spcBef>
                <a:spcPts val="600"/>
              </a:spcBef>
            </a:pPr>
            <a:r>
              <a:rPr lang="en-US" sz="2400" dirty="0">
                <a:latin typeface="Times New Roman" pitchFamily="18" charset="0"/>
                <a:cs typeface="Times New Roman" pitchFamily="18" charset="0"/>
              </a:rPr>
              <a:t>The patients were asked to order several stimuli along some dimension, such as ordering eight stimuli by weight.  </a:t>
            </a:r>
          </a:p>
          <a:p>
            <a:pPr>
              <a:spcBef>
                <a:spcPts val="600"/>
              </a:spcBef>
            </a:pPr>
            <a:r>
              <a:rPr lang="en-US" sz="2400" dirty="0">
                <a:latin typeface="Times New Roman" pitchFamily="18" charset="0"/>
                <a:cs typeface="Times New Roman" pitchFamily="18" charset="0"/>
              </a:rPr>
              <a:t>There were several tasks of this sort.  </a:t>
            </a:r>
          </a:p>
          <a:p>
            <a:pPr>
              <a:spcBef>
                <a:spcPts val="600"/>
              </a:spcBef>
            </a:pPr>
            <a:r>
              <a:rPr lang="en-US" sz="2400" dirty="0">
                <a:latin typeface="Times New Roman" pitchFamily="18" charset="0"/>
                <a:cs typeface="Times New Roman" pitchFamily="18" charset="0"/>
              </a:rPr>
              <a:t>The investigators used a within-participant design in which all participants first performed the tasks after being injected with a saline solution (placebo) and then performed the tasks again several hours later after being injected with chlorpromazine.  </a:t>
            </a:r>
          </a:p>
          <a:p>
            <a:pPr>
              <a:spcBef>
                <a:spcPts val="600"/>
              </a:spcBef>
            </a:pPr>
            <a:r>
              <a:rPr lang="en-US" sz="2400" dirty="0">
                <a:latin typeface="Times New Roman" pitchFamily="18" charset="0"/>
                <a:cs typeface="Times New Roman" pitchFamily="18" charset="0"/>
              </a:rPr>
              <a:t>The results indicated that fewer errors were made in the chlorpromazine treatment, which suggested to the investigators that the drug facilitates more adequate cognitive functioning in this type of patient.</a:t>
            </a:r>
            <a:r>
              <a:rPr lang="en-US" sz="2400" dirty="0">
                <a:latin typeface="Times New Roman" pitchFamily="18" charset="0"/>
              </a:rPr>
              <a:t> </a:t>
            </a:r>
          </a:p>
        </p:txBody>
      </p:sp>
    </p:spTree>
    <p:extLst>
      <p:ext uri="{BB962C8B-B14F-4D97-AF65-F5344CB8AC3E}">
        <p14:creationId xmlns:p14="http://schemas.microsoft.com/office/powerpoint/2010/main" val="2418888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8</a:t>
            </a:r>
          </a:p>
        </p:txBody>
      </p:sp>
      <p:sp>
        <p:nvSpPr>
          <p:cNvPr id="3" name="Content Placeholder 2"/>
          <p:cNvSpPr>
            <a:spLocks noGrp="1"/>
          </p:cNvSpPr>
          <p:nvPr>
            <p:ph idx="1"/>
          </p:nvPr>
        </p:nvSpPr>
        <p:spPr/>
        <p:txBody>
          <a:bodyPr>
            <a:normAutofit/>
          </a:bodyPr>
          <a:lstStyle/>
          <a:p>
            <a:r>
              <a:rPr lang="en-US" dirty="0"/>
              <a:t>Research Ethics</a:t>
            </a:r>
          </a:p>
          <a:p>
            <a:pPr lvl="1"/>
            <a:r>
              <a:rPr lang="en-US" dirty="0"/>
              <a:t>Fair and respectful treatment of participants in research</a:t>
            </a:r>
          </a:p>
          <a:p>
            <a:r>
              <a:rPr lang="en-US" dirty="0"/>
              <a:t>Basic Ethical Principles (Belmont Report)</a:t>
            </a:r>
          </a:p>
          <a:p>
            <a:pPr lvl="1">
              <a:defRPr/>
            </a:pPr>
            <a:r>
              <a:rPr lang="en-US" dirty="0"/>
              <a:t>Respect for Persons</a:t>
            </a:r>
          </a:p>
          <a:p>
            <a:pPr lvl="2">
              <a:buFont typeface="Arial" pitchFamily="34" charset="0"/>
              <a:buChar char="–"/>
              <a:defRPr/>
            </a:pPr>
            <a:r>
              <a:rPr lang="en-US" dirty="0"/>
              <a:t>Consent is voluntary</a:t>
            </a:r>
          </a:p>
          <a:p>
            <a:pPr lvl="2">
              <a:buFont typeface="Arial" pitchFamily="34" charset="0"/>
              <a:buChar char="–"/>
              <a:defRPr/>
            </a:pPr>
            <a:r>
              <a:rPr lang="en-US" dirty="0"/>
              <a:t>Vulnerable populations are protected</a:t>
            </a:r>
          </a:p>
          <a:p>
            <a:pPr lvl="1">
              <a:defRPr/>
            </a:pPr>
            <a:r>
              <a:rPr lang="en-US" dirty="0"/>
              <a:t>Beneficence</a:t>
            </a:r>
          </a:p>
          <a:p>
            <a:pPr lvl="2">
              <a:buFont typeface="Arial" pitchFamily="34" charset="0"/>
              <a:buChar char="–"/>
              <a:defRPr/>
            </a:pPr>
            <a:r>
              <a:rPr lang="en-US" dirty="0"/>
              <a:t>Good outweighs the risk</a:t>
            </a:r>
          </a:p>
          <a:p>
            <a:pPr lvl="1">
              <a:defRPr/>
            </a:pPr>
            <a:r>
              <a:rPr lang="en-US" dirty="0"/>
              <a:t>Justice</a:t>
            </a:r>
          </a:p>
          <a:p>
            <a:pPr lvl="2">
              <a:buFont typeface="Arial" pitchFamily="34" charset="0"/>
              <a:buChar char="–"/>
              <a:defRPr/>
            </a:pPr>
            <a:r>
              <a:rPr lang="en-US" dirty="0"/>
              <a:t>Fairness in distribution</a:t>
            </a:r>
          </a:p>
          <a:p>
            <a:endParaRPr lang="en-US" dirty="0"/>
          </a:p>
          <a:p>
            <a:endParaRPr lang="en-US" dirty="0"/>
          </a:p>
        </p:txBody>
      </p:sp>
    </p:spTree>
    <p:extLst>
      <p:ext uri="{BB962C8B-B14F-4D97-AF65-F5344CB8AC3E}">
        <p14:creationId xmlns:p14="http://schemas.microsoft.com/office/powerpoint/2010/main" val="4211413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05645-1BFF-23C5-87C4-BECF84E87721}"/>
              </a:ext>
            </a:extLst>
          </p:cNvPr>
          <p:cNvSpPr>
            <a:spLocks noGrp="1"/>
          </p:cNvSpPr>
          <p:nvPr>
            <p:ph type="title"/>
          </p:nvPr>
        </p:nvSpPr>
        <p:spPr/>
        <p:txBody>
          <a:bodyPr/>
          <a:lstStyle/>
          <a:p>
            <a:r>
              <a:rPr lang="en-US" dirty="0"/>
              <a:t>Famous ethical transgressions</a:t>
            </a:r>
          </a:p>
        </p:txBody>
      </p:sp>
      <p:sp>
        <p:nvSpPr>
          <p:cNvPr id="3" name="Content Placeholder 2">
            <a:extLst>
              <a:ext uri="{FF2B5EF4-FFF2-40B4-BE49-F238E27FC236}">
                <a16:creationId xmlns:a16="http://schemas.microsoft.com/office/drawing/2014/main" id="{607CA111-3F0C-133B-10F1-CC8A786C2438}"/>
              </a:ext>
            </a:extLst>
          </p:cNvPr>
          <p:cNvSpPr>
            <a:spLocks noGrp="1"/>
          </p:cNvSpPr>
          <p:nvPr>
            <p:ph idx="1"/>
          </p:nvPr>
        </p:nvSpPr>
        <p:spPr/>
        <p:txBody>
          <a:bodyPr/>
          <a:lstStyle/>
          <a:p>
            <a:r>
              <a:rPr lang="en-US" dirty="0"/>
              <a:t>Tuskegee Syphilis Study</a:t>
            </a:r>
          </a:p>
          <a:p>
            <a:r>
              <a:rPr lang="en-US" dirty="0"/>
              <a:t>Guatemala Syphilis</a:t>
            </a:r>
          </a:p>
          <a:p>
            <a:r>
              <a:rPr lang="en-US" dirty="0" err="1"/>
              <a:t>Willowbrook</a:t>
            </a:r>
            <a:r>
              <a:rPr lang="en-US" dirty="0"/>
              <a:t> State School Hepatitis studies</a:t>
            </a:r>
          </a:p>
          <a:p>
            <a:r>
              <a:rPr lang="en-US" dirty="0"/>
              <a:t>Milgram studies</a:t>
            </a:r>
          </a:p>
          <a:p>
            <a:r>
              <a:rPr lang="en-US" dirty="0"/>
              <a:t>Zimbardo prison studies</a:t>
            </a:r>
          </a:p>
          <a:p>
            <a:endParaRPr lang="en-US" dirty="0"/>
          </a:p>
        </p:txBody>
      </p:sp>
    </p:spTree>
    <p:extLst>
      <p:ext uri="{BB962C8B-B14F-4D97-AF65-F5344CB8AC3E}">
        <p14:creationId xmlns:p14="http://schemas.microsoft.com/office/powerpoint/2010/main" val="2812420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039F4-887C-4983-B432-DD0BCF2ECA7E}"/>
              </a:ext>
            </a:extLst>
          </p:cNvPr>
          <p:cNvSpPr>
            <a:spLocks noGrp="1"/>
          </p:cNvSpPr>
          <p:nvPr>
            <p:ph type="title"/>
          </p:nvPr>
        </p:nvSpPr>
        <p:spPr/>
        <p:txBody>
          <a:bodyPr/>
          <a:lstStyle/>
          <a:p>
            <a:r>
              <a:rPr lang="en-US" dirty="0"/>
              <a:t>Historical Events in Research Ethics</a:t>
            </a:r>
          </a:p>
        </p:txBody>
      </p:sp>
      <p:sp>
        <p:nvSpPr>
          <p:cNvPr id="3" name="Content Placeholder 2">
            <a:extLst>
              <a:ext uri="{FF2B5EF4-FFF2-40B4-BE49-F238E27FC236}">
                <a16:creationId xmlns:a16="http://schemas.microsoft.com/office/drawing/2014/main" id="{DE91283D-2ECF-4323-ACD3-9A36C4C2A464}"/>
              </a:ext>
            </a:extLst>
          </p:cNvPr>
          <p:cNvSpPr>
            <a:spLocks noGrp="1"/>
          </p:cNvSpPr>
          <p:nvPr>
            <p:ph idx="1"/>
          </p:nvPr>
        </p:nvSpPr>
        <p:spPr/>
        <p:txBody>
          <a:bodyPr>
            <a:normAutofit lnSpcReduction="10000"/>
          </a:bodyPr>
          <a:lstStyle/>
          <a:p>
            <a:r>
              <a:rPr lang="en-US" dirty="0"/>
              <a:t>Nuremberg Code, 1947</a:t>
            </a:r>
          </a:p>
          <a:p>
            <a:pPr lvl="1"/>
            <a:r>
              <a:rPr lang="en-US" dirty="0"/>
              <a:t>Response to Nazi researchers</a:t>
            </a:r>
          </a:p>
          <a:p>
            <a:r>
              <a:rPr lang="en-US" dirty="0"/>
              <a:t>Declaration of Helsinki, 1964</a:t>
            </a:r>
          </a:p>
          <a:p>
            <a:pPr lvl="1"/>
            <a:r>
              <a:rPr lang="en-US" dirty="0"/>
              <a:t>Broader statement of principles</a:t>
            </a:r>
          </a:p>
          <a:p>
            <a:r>
              <a:rPr lang="en-US" dirty="0"/>
              <a:t>Belmont Report, 1979</a:t>
            </a:r>
          </a:p>
          <a:p>
            <a:pPr lvl="1"/>
            <a:r>
              <a:rPr lang="en-US" dirty="0"/>
              <a:t>Respect for persons</a:t>
            </a:r>
          </a:p>
          <a:p>
            <a:pPr lvl="1"/>
            <a:r>
              <a:rPr lang="en-US" dirty="0"/>
              <a:t>Beneficence</a:t>
            </a:r>
          </a:p>
          <a:p>
            <a:pPr lvl="1"/>
            <a:r>
              <a:rPr lang="en-US" dirty="0"/>
              <a:t>Justice</a:t>
            </a:r>
          </a:p>
          <a:p>
            <a:r>
              <a:rPr lang="en-US" dirty="0"/>
              <a:t>APA Code of Ethics</a:t>
            </a:r>
          </a:p>
          <a:p>
            <a:pPr lvl="1"/>
            <a:r>
              <a:rPr lang="en-US" dirty="0"/>
              <a:t>Includes integrity</a:t>
            </a:r>
          </a:p>
        </p:txBody>
      </p:sp>
    </p:spTree>
    <p:extLst>
      <p:ext uri="{BB962C8B-B14F-4D97-AF65-F5344CB8AC3E}">
        <p14:creationId xmlns:p14="http://schemas.microsoft.com/office/powerpoint/2010/main" val="3288209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CA25E-0129-751D-CE09-49BE1BA80101}"/>
              </a:ext>
            </a:extLst>
          </p:cNvPr>
          <p:cNvSpPr>
            <a:spLocks noGrp="1"/>
          </p:cNvSpPr>
          <p:nvPr>
            <p:ph type="title"/>
          </p:nvPr>
        </p:nvSpPr>
        <p:spPr/>
        <p:txBody>
          <a:bodyPr/>
          <a:lstStyle/>
          <a:p>
            <a:r>
              <a:rPr lang="en-US" dirty="0"/>
              <a:t>IRB</a:t>
            </a:r>
          </a:p>
        </p:txBody>
      </p:sp>
      <p:sp>
        <p:nvSpPr>
          <p:cNvPr id="3" name="Content Placeholder 2">
            <a:extLst>
              <a:ext uri="{FF2B5EF4-FFF2-40B4-BE49-F238E27FC236}">
                <a16:creationId xmlns:a16="http://schemas.microsoft.com/office/drawing/2014/main" id="{49B3DB39-F32C-16FD-0122-2D9A0766B011}"/>
              </a:ext>
            </a:extLst>
          </p:cNvPr>
          <p:cNvSpPr>
            <a:spLocks noGrp="1"/>
          </p:cNvSpPr>
          <p:nvPr>
            <p:ph idx="1"/>
          </p:nvPr>
        </p:nvSpPr>
        <p:spPr/>
        <p:txBody>
          <a:bodyPr>
            <a:normAutofit/>
          </a:bodyPr>
          <a:lstStyle/>
          <a:p>
            <a:r>
              <a:rPr lang="en-US" dirty="0"/>
              <a:t>What is the main goal and purpose of the Institutional Review Board?</a:t>
            </a:r>
          </a:p>
        </p:txBody>
      </p:sp>
    </p:spTree>
    <p:extLst>
      <p:ext uri="{BB962C8B-B14F-4D97-AF65-F5344CB8AC3E}">
        <p14:creationId xmlns:p14="http://schemas.microsoft.com/office/powerpoint/2010/main" val="2712044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9C055-8258-D9A6-EFF9-A989F304FFDB}"/>
              </a:ext>
            </a:extLst>
          </p:cNvPr>
          <p:cNvSpPr>
            <a:spLocks noGrp="1"/>
          </p:cNvSpPr>
          <p:nvPr>
            <p:ph type="title"/>
          </p:nvPr>
        </p:nvSpPr>
        <p:spPr/>
        <p:txBody>
          <a:bodyPr/>
          <a:lstStyle/>
          <a:p>
            <a:r>
              <a:rPr lang="en-US" dirty="0"/>
              <a:t>Informed Consent</a:t>
            </a:r>
          </a:p>
        </p:txBody>
      </p:sp>
      <p:sp>
        <p:nvSpPr>
          <p:cNvPr id="3" name="Content Placeholder 2">
            <a:extLst>
              <a:ext uri="{FF2B5EF4-FFF2-40B4-BE49-F238E27FC236}">
                <a16:creationId xmlns:a16="http://schemas.microsoft.com/office/drawing/2014/main" id="{409C5025-2D7E-289A-4C93-0D00D1D91BCA}"/>
              </a:ext>
            </a:extLst>
          </p:cNvPr>
          <p:cNvSpPr>
            <a:spLocks noGrp="1"/>
          </p:cNvSpPr>
          <p:nvPr>
            <p:ph idx="1"/>
          </p:nvPr>
        </p:nvSpPr>
        <p:spPr/>
        <p:txBody>
          <a:bodyPr/>
          <a:lstStyle/>
          <a:p>
            <a:r>
              <a:rPr lang="en-US" dirty="0"/>
              <a:t>Before participating in a research experiment, all participants should generally read and sign an informed consent form.  What are 3 main goals of this process intended to maintain ethical standards for the scientific work?</a:t>
            </a:r>
          </a:p>
          <a:p>
            <a:endParaRPr lang="en-US" dirty="0"/>
          </a:p>
        </p:txBody>
      </p:sp>
    </p:spTree>
    <p:extLst>
      <p:ext uri="{BB962C8B-B14F-4D97-AF65-F5344CB8AC3E}">
        <p14:creationId xmlns:p14="http://schemas.microsoft.com/office/powerpoint/2010/main" val="3892084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dirty="0"/>
              <a:t>Ethical scientific practice</a:t>
            </a:r>
          </a:p>
        </p:txBody>
      </p:sp>
      <p:sp>
        <p:nvSpPr>
          <p:cNvPr id="6147" name="Rectangle 3"/>
          <p:cNvSpPr>
            <a:spLocks noGrp="1" noChangeArrowheads="1"/>
          </p:cNvSpPr>
          <p:nvPr>
            <p:ph type="body" idx="1"/>
          </p:nvPr>
        </p:nvSpPr>
        <p:spPr/>
        <p:txBody>
          <a:bodyPr/>
          <a:lstStyle/>
          <a:p>
            <a:r>
              <a:rPr lang="en-US" dirty="0"/>
              <a:t>Assure fair treatment of participants</a:t>
            </a:r>
          </a:p>
          <a:p>
            <a:r>
              <a:rPr lang="en-US" dirty="0"/>
              <a:t>Institutional Review Board (IRB)</a:t>
            </a:r>
          </a:p>
          <a:p>
            <a:pPr lvl="1"/>
            <a:r>
              <a:rPr lang="en-US" dirty="0"/>
              <a:t>Reviews all formal research</a:t>
            </a:r>
          </a:p>
          <a:p>
            <a:pPr lvl="1"/>
            <a:r>
              <a:rPr lang="en-US" dirty="0"/>
              <a:t>Risk/benefit analysis</a:t>
            </a:r>
          </a:p>
          <a:p>
            <a:r>
              <a:rPr lang="en-US" dirty="0"/>
              <a:t>Informed Consent</a:t>
            </a:r>
          </a:p>
          <a:p>
            <a:pPr lvl="1"/>
            <a:r>
              <a:rPr lang="en-US" dirty="0"/>
              <a:t>Right to withdraw</a:t>
            </a:r>
          </a:p>
          <a:p>
            <a:pPr lvl="1"/>
            <a:r>
              <a:rPr lang="en-US" dirty="0"/>
              <a:t>Full disclosure: risks, benefits, procedure</a:t>
            </a:r>
          </a:p>
          <a:p>
            <a:pPr lvl="1"/>
            <a:r>
              <a:rPr lang="en-US" dirty="0"/>
              <a:t>Privacy</a:t>
            </a:r>
          </a:p>
        </p:txBody>
      </p:sp>
    </p:spTree>
    <p:extLst>
      <p:ext uri="{BB962C8B-B14F-4D97-AF65-F5344CB8AC3E}">
        <p14:creationId xmlns:p14="http://schemas.microsoft.com/office/powerpoint/2010/main" val="1983003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1DD6A-6190-AFD1-0F18-CE34C120BE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E9CC36-03F2-5284-2A79-956277F74033}"/>
              </a:ext>
            </a:extLst>
          </p:cNvPr>
          <p:cNvSpPr>
            <a:spLocks noGrp="1"/>
          </p:cNvSpPr>
          <p:nvPr>
            <p:ph idx="1"/>
          </p:nvPr>
        </p:nvSpPr>
        <p:spPr/>
        <p:txBody>
          <a:bodyPr/>
          <a:lstStyle/>
          <a:p>
            <a:r>
              <a:rPr lang="en-US" b="0" i="0" dirty="0">
                <a:solidFill>
                  <a:srgbClr val="2D3B45"/>
                </a:solidFill>
                <a:effectLst/>
                <a:latin typeface="Lato Extended"/>
              </a:rPr>
              <a:t>Why is deception considered an ethically challenging practice in experimental design? </a:t>
            </a:r>
          </a:p>
          <a:p>
            <a:pPr lvl="1"/>
            <a:r>
              <a:rPr lang="en-US" b="0" i="0" dirty="0">
                <a:solidFill>
                  <a:srgbClr val="2D3B45"/>
                </a:solidFill>
                <a:effectLst/>
                <a:latin typeface="Lato Extended"/>
              </a:rPr>
              <a:t>What do experimenters need to include in the research process if deception is used?</a:t>
            </a:r>
          </a:p>
          <a:p>
            <a:r>
              <a:rPr lang="en-US" b="0" i="0" dirty="0">
                <a:solidFill>
                  <a:srgbClr val="2D3B45"/>
                </a:solidFill>
                <a:effectLst/>
                <a:latin typeface="Lato Extended"/>
              </a:rPr>
              <a:t>Give an example of a group considered a “vulnerable population” and explain how this affects the process of doing ethical research.</a:t>
            </a:r>
          </a:p>
          <a:p>
            <a:endParaRPr lang="en-US" dirty="0"/>
          </a:p>
        </p:txBody>
      </p:sp>
    </p:spTree>
    <p:extLst>
      <p:ext uri="{BB962C8B-B14F-4D97-AF65-F5344CB8AC3E}">
        <p14:creationId xmlns:p14="http://schemas.microsoft.com/office/powerpoint/2010/main" val="3360146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D3A39-E1CA-48E6-AFD5-6CA758F7328F}"/>
              </a:ext>
            </a:extLst>
          </p:cNvPr>
          <p:cNvSpPr>
            <a:spLocks noGrp="1"/>
          </p:cNvSpPr>
          <p:nvPr>
            <p:ph type="title"/>
          </p:nvPr>
        </p:nvSpPr>
        <p:spPr/>
        <p:txBody>
          <a:bodyPr/>
          <a:lstStyle/>
          <a:p>
            <a:r>
              <a:rPr lang="en-US" dirty="0"/>
              <a:t>Common risks in psychological science</a:t>
            </a:r>
          </a:p>
        </p:txBody>
      </p:sp>
      <p:sp>
        <p:nvSpPr>
          <p:cNvPr id="3" name="Content Placeholder 2">
            <a:extLst>
              <a:ext uri="{FF2B5EF4-FFF2-40B4-BE49-F238E27FC236}">
                <a16:creationId xmlns:a16="http://schemas.microsoft.com/office/drawing/2014/main" id="{6531FF39-2222-4CA0-9313-7B60BBE6C908}"/>
              </a:ext>
            </a:extLst>
          </p:cNvPr>
          <p:cNvSpPr>
            <a:spLocks noGrp="1"/>
          </p:cNvSpPr>
          <p:nvPr>
            <p:ph idx="1"/>
          </p:nvPr>
        </p:nvSpPr>
        <p:spPr/>
        <p:txBody>
          <a:bodyPr/>
          <a:lstStyle/>
          <a:p>
            <a:r>
              <a:rPr lang="en-US" dirty="0"/>
              <a:t>Deception</a:t>
            </a:r>
          </a:p>
          <a:p>
            <a:pPr lvl="1"/>
            <a:r>
              <a:rPr lang="en-US" dirty="0"/>
              <a:t>Lying to participants about the experiment</a:t>
            </a:r>
          </a:p>
          <a:p>
            <a:pPr lvl="2"/>
            <a:r>
              <a:rPr lang="en-US" dirty="0"/>
              <a:t>Sneaky dependent variables</a:t>
            </a:r>
          </a:p>
          <a:p>
            <a:pPr lvl="1"/>
            <a:r>
              <a:rPr lang="en-US" dirty="0"/>
              <a:t>Sometimes necessary for good design</a:t>
            </a:r>
          </a:p>
          <a:p>
            <a:r>
              <a:rPr lang="en-US" dirty="0"/>
              <a:t>Privacy</a:t>
            </a:r>
          </a:p>
          <a:p>
            <a:pPr lvl="1"/>
            <a:r>
              <a:rPr lang="en-US" dirty="0"/>
              <a:t>Protecting identification of participants</a:t>
            </a:r>
          </a:p>
          <a:p>
            <a:pPr lvl="1"/>
            <a:r>
              <a:rPr lang="en-US" dirty="0"/>
              <a:t>Which condition, whether you were in the study</a:t>
            </a:r>
          </a:p>
          <a:p>
            <a:r>
              <a:rPr lang="en-US" dirty="0"/>
              <a:t>Frustration/fatigue</a:t>
            </a:r>
          </a:p>
          <a:p>
            <a:r>
              <a:rPr lang="en-US" dirty="0"/>
              <a:t>Emotional manipulation</a:t>
            </a:r>
          </a:p>
        </p:txBody>
      </p:sp>
    </p:spTree>
    <p:extLst>
      <p:ext uri="{BB962C8B-B14F-4D97-AF65-F5344CB8AC3E}">
        <p14:creationId xmlns:p14="http://schemas.microsoft.com/office/powerpoint/2010/main" val="2590765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3D58D-0D31-E2B9-DC5C-CCDCE1443F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8A84774-92F4-2024-5AE1-DD41F6E5AD77}"/>
              </a:ext>
            </a:extLst>
          </p:cNvPr>
          <p:cNvSpPr>
            <a:spLocks noGrp="1"/>
          </p:cNvSpPr>
          <p:nvPr>
            <p:ph idx="1"/>
          </p:nvPr>
        </p:nvSpPr>
        <p:spPr/>
        <p:txBody>
          <a:bodyPr/>
          <a:lstStyle/>
          <a:p>
            <a:r>
              <a:rPr lang="en-US" dirty="0"/>
              <a:t>In a study of attitudes about extramarital affairs, a researcher finds that an acquaintance has participated in the study and reports having cheated on their spouse.  They then find themselves torn about whether to report this information to the spouse.  What kind of research ethics problem has occurred here?  What research procedures should be used to keep this from occurring?</a:t>
            </a:r>
          </a:p>
          <a:p>
            <a:endParaRPr lang="en-US" dirty="0"/>
          </a:p>
        </p:txBody>
      </p:sp>
    </p:spTree>
    <p:extLst>
      <p:ext uri="{BB962C8B-B14F-4D97-AF65-F5344CB8AC3E}">
        <p14:creationId xmlns:p14="http://schemas.microsoft.com/office/powerpoint/2010/main" val="1086975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1951893" y="1219200"/>
            <a:ext cx="8262257" cy="4419600"/>
          </a:xfrm>
          <a:prstGeom prst="rect">
            <a:avLst/>
          </a:prstGeom>
        </p:spPr>
      </p:pic>
    </p:spTree>
    <p:extLst>
      <p:ext uri="{BB962C8B-B14F-4D97-AF65-F5344CB8AC3E}">
        <p14:creationId xmlns:p14="http://schemas.microsoft.com/office/powerpoint/2010/main" val="1033806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313F9-57D3-85EE-D4EB-972FB428782F}"/>
              </a:ext>
            </a:extLst>
          </p:cNvPr>
          <p:cNvSpPr>
            <a:spLocks noGrp="1"/>
          </p:cNvSpPr>
          <p:nvPr>
            <p:ph type="title"/>
          </p:nvPr>
        </p:nvSpPr>
        <p:spPr/>
        <p:txBody>
          <a:bodyPr/>
          <a:lstStyle/>
          <a:p>
            <a:r>
              <a:rPr lang="en-US" dirty="0"/>
              <a:t>First Exam Content</a:t>
            </a:r>
          </a:p>
        </p:txBody>
      </p:sp>
      <p:sp>
        <p:nvSpPr>
          <p:cNvPr id="3" name="Content Placeholder 2">
            <a:extLst>
              <a:ext uri="{FF2B5EF4-FFF2-40B4-BE49-F238E27FC236}">
                <a16:creationId xmlns:a16="http://schemas.microsoft.com/office/drawing/2014/main" id="{5789543F-7025-8C06-1BA3-580927B52D3A}"/>
              </a:ext>
            </a:extLst>
          </p:cNvPr>
          <p:cNvSpPr>
            <a:spLocks noGrp="1"/>
          </p:cNvSpPr>
          <p:nvPr>
            <p:ph idx="1"/>
          </p:nvPr>
        </p:nvSpPr>
        <p:spPr/>
        <p:txBody>
          <a:bodyPr/>
          <a:lstStyle/>
          <a:p>
            <a:r>
              <a:rPr lang="en-US" dirty="0"/>
              <a:t>Chapter 2: Measurement</a:t>
            </a:r>
          </a:p>
          <a:p>
            <a:pPr lvl="1"/>
            <a:r>
              <a:rPr lang="en-US" dirty="0"/>
              <a:t>Turning constructs into experiment variables</a:t>
            </a:r>
          </a:p>
          <a:p>
            <a:r>
              <a:rPr lang="en-US" dirty="0"/>
              <a:t>Chapter 3 &amp; 4: Experimental control</a:t>
            </a:r>
          </a:p>
          <a:p>
            <a:pPr lvl="1"/>
            <a:r>
              <a:rPr lang="en-US" dirty="0"/>
              <a:t>Identifying, eliminating or managing extraneous variables</a:t>
            </a:r>
          </a:p>
          <a:p>
            <a:r>
              <a:rPr lang="en-US" dirty="0"/>
              <a:t>Chapter 5: Statistics</a:t>
            </a:r>
          </a:p>
          <a:p>
            <a:pPr lvl="1"/>
            <a:r>
              <a:rPr lang="en-US" dirty="0"/>
              <a:t>Descriptive statistics and t-test</a:t>
            </a:r>
          </a:p>
          <a:p>
            <a:r>
              <a:rPr lang="en-US" dirty="0"/>
              <a:t>Chapter 7: Within-participants design</a:t>
            </a:r>
          </a:p>
          <a:p>
            <a:r>
              <a:rPr lang="en-US" dirty="0"/>
              <a:t>Chapter 8: Ethics</a:t>
            </a:r>
          </a:p>
        </p:txBody>
      </p:sp>
    </p:spTree>
    <p:extLst>
      <p:ext uri="{BB962C8B-B14F-4D97-AF65-F5344CB8AC3E}">
        <p14:creationId xmlns:p14="http://schemas.microsoft.com/office/powerpoint/2010/main" val="605272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52240-4C3C-F589-C0DB-65FA68829992}"/>
              </a:ext>
            </a:extLst>
          </p:cNvPr>
          <p:cNvSpPr>
            <a:spLocks noGrp="1"/>
          </p:cNvSpPr>
          <p:nvPr>
            <p:ph type="title"/>
          </p:nvPr>
        </p:nvSpPr>
        <p:spPr/>
        <p:txBody>
          <a:bodyPr/>
          <a:lstStyle/>
          <a:p>
            <a:r>
              <a:rPr lang="en-US" dirty="0"/>
              <a:t>For Mon Oct 14</a:t>
            </a:r>
          </a:p>
        </p:txBody>
      </p:sp>
      <p:sp>
        <p:nvSpPr>
          <p:cNvPr id="3" name="Content Placeholder 2">
            <a:extLst>
              <a:ext uri="{FF2B5EF4-FFF2-40B4-BE49-F238E27FC236}">
                <a16:creationId xmlns:a16="http://schemas.microsoft.com/office/drawing/2014/main" id="{305446BE-32D1-2AE6-274A-69FE72AE0683}"/>
              </a:ext>
            </a:extLst>
          </p:cNvPr>
          <p:cNvSpPr>
            <a:spLocks noGrp="1"/>
          </p:cNvSpPr>
          <p:nvPr>
            <p:ph idx="1"/>
          </p:nvPr>
        </p:nvSpPr>
        <p:spPr/>
        <p:txBody>
          <a:bodyPr/>
          <a:lstStyle/>
          <a:p>
            <a:r>
              <a:rPr lang="en-US" dirty="0"/>
              <a:t>Exam 1</a:t>
            </a:r>
          </a:p>
          <a:p>
            <a:pPr lvl="1"/>
            <a:r>
              <a:rPr lang="en-US" dirty="0"/>
              <a:t>Covers Chapters 1-8</a:t>
            </a:r>
          </a:p>
          <a:p>
            <a:pPr lvl="1"/>
            <a:r>
              <a:rPr lang="en-US" dirty="0"/>
              <a:t>Prior exams posted to see format</a:t>
            </a:r>
          </a:p>
          <a:p>
            <a:pPr lvl="2"/>
            <a:r>
              <a:rPr lang="en-US" dirty="0"/>
              <a:t>Note that specific topics covered were different in prior quarters</a:t>
            </a:r>
          </a:p>
          <a:p>
            <a:pPr lvl="2"/>
            <a:r>
              <a:rPr lang="en-US" dirty="0"/>
              <a:t>Different tools/programs used for statistics</a:t>
            </a:r>
          </a:p>
          <a:p>
            <a:pPr lvl="2"/>
            <a:r>
              <a:rPr lang="en-US" dirty="0"/>
              <a:t>You should be familiar with the output from R</a:t>
            </a:r>
          </a:p>
          <a:p>
            <a:pPr lvl="2"/>
            <a:endParaRPr lang="en-US" dirty="0"/>
          </a:p>
        </p:txBody>
      </p:sp>
    </p:spTree>
    <p:extLst>
      <p:ext uri="{BB962C8B-B14F-4D97-AF65-F5344CB8AC3E}">
        <p14:creationId xmlns:p14="http://schemas.microsoft.com/office/powerpoint/2010/main" val="2408486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dirty="0"/>
              <a:t>APA Report Sections</a:t>
            </a:r>
          </a:p>
        </p:txBody>
      </p:sp>
      <p:sp>
        <p:nvSpPr>
          <p:cNvPr id="10243" name="Rectangle 3"/>
          <p:cNvSpPr>
            <a:spLocks noGrp="1" noChangeArrowheads="1"/>
          </p:cNvSpPr>
          <p:nvPr>
            <p:ph type="body" idx="1"/>
          </p:nvPr>
        </p:nvSpPr>
        <p:spPr/>
        <p:txBody>
          <a:bodyPr>
            <a:normAutofit lnSpcReduction="10000"/>
          </a:bodyPr>
          <a:lstStyle/>
          <a:p>
            <a:pPr eaLnBrk="1" hangingPunct="1">
              <a:lnSpc>
                <a:spcPct val="80000"/>
              </a:lnSpc>
            </a:pPr>
            <a:r>
              <a:rPr lang="en-US" dirty="0"/>
              <a:t>Abstract</a:t>
            </a:r>
          </a:p>
          <a:p>
            <a:pPr lvl="1" eaLnBrk="1" hangingPunct="1">
              <a:lnSpc>
                <a:spcPct val="80000"/>
              </a:lnSpc>
            </a:pPr>
            <a:r>
              <a:rPr lang="en-US" dirty="0"/>
              <a:t>Very concise summary, ~200 words</a:t>
            </a:r>
          </a:p>
          <a:p>
            <a:pPr eaLnBrk="1" hangingPunct="1">
              <a:lnSpc>
                <a:spcPct val="80000"/>
              </a:lnSpc>
            </a:pPr>
            <a:r>
              <a:rPr lang="en-US" dirty="0"/>
              <a:t>Introduction</a:t>
            </a:r>
          </a:p>
          <a:p>
            <a:pPr lvl="1" eaLnBrk="1" hangingPunct="1">
              <a:lnSpc>
                <a:spcPct val="80000"/>
              </a:lnSpc>
            </a:pPr>
            <a:r>
              <a:rPr lang="en-US" dirty="0"/>
              <a:t>Construct, background, hypothesis</a:t>
            </a:r>
          </a:p>
          <a:p>
            <a:pPr eaLnBrk="1" hangingPunct="1">
              <a:lnSpc>
                <a:spcPct val="80000"/>
              </a:lnSpc>
            </a:pPr>
            <a:r>
              <a:rPr lang="en-US" dirty="0"/>
              <a:t>Methods</a:t>
            </a:r>
          </a:p>
          <a:p>
            <a:pPr lvl="1" eaLnBrk="1" hangingPunct="1">
              <a:lnSpc>
                <a:spcPct val="80000"/>
              </a:lnSpc>
            </a:pPr>
            <a:r>
              <a:rPr lang="en-US" dirty="0"/>
              <a:t>Participants, materials, procedure</a:t>
            </a:r>
          </a:p>
          <a:p>
            <a:pPr eaLnBrk="1" hangingPunct="1">
              <a:lnSpc>
                <a:spcPct val="80000"/>
              </a:lnSpc>
            </a:pPr>
            <a:r>
              <a:rPr lang="en-US" dirty="0"/>
              <a:t>Results</a:t>
            </a:r>
          </a:p>
          <a:p>
            <a:pPr lvl="1" eaLnBrk="1" hangingPunct="1">
              <a:lnSpc>
                <a:spcPct val="80000"/>
              </a:lnSpc>
            </a:pPr>
            <a:r>
              <a:rPr lang="en-US" dirty="0"/>
              <a:t>Figure</a:t>
            </a:r>
          </a:p>
          <a:p>
            <a:pPr eaLnBrk="1" hangingPunct="1">
              <a:lnSpc>
                <a:spcPct val="80000"/>
              </a:lnSpc>
            </a:pPr>
            <a:r>
              <a:rPr lang="en-US" dirty="0"/>
              <a:t>Discussion</a:t>
            </a:r>
          </a:p>
          <a:p>
            <a:pPr lvl="1" eaLnBrk="1" hangingPunct="1">
              <a:lnSpc>
                <a:spcPct val="80000"/>
              </a:lnSpc>
            </a:pPr>
            <a:r>
              <a:rPr lang="en-US" dirty="0"/>
              <a:t>Conclusion, interpretation, limitations</a:t>
            </a:r>
          </a:p>
          <a:p>
            <a:pPr eaLnBrk="1" hangingPunct="1">
              <a:lnSpc>
                <a:spcPct val="80000"/>
              </a:lnSpc>
            </a:pPr>
            <a:r>
              <a:rPr lang="en-US" dirty="0"/>
              <a:t>References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3237A-F255-4592-8221-15CA355CC938}"/>
              </a:ext>
            </a:extLst>
          </p:cNvPr>
          <p:cNvSpPr>
            <a:spLocks noGrp="1"/>
          </p:cNvSpPr>
          <p:nvPr>
            <p:ph type="title"/>
          </p:nvPr>
        </p:nvSpPr>
        <p:spPr/>
        <p:txBody>
          <a:bodyPr/>
          <a:lstStyle/>
          <a:p>
            <a:r>
              <a:rPr lang="en-US" dirty="0"/>
              <a:t>APA Format: Methods</a:t>
            </a:r>
          </a:p>
        </p:txBody>
      </p:sp>
      <p:sp>
        <p:nvSpPr>
          <p:cNvPr id="3" name="Content Placeholder 2">
            <a:extLst>
              <a:ext uri="{FF2B5EF4-FFF2-40B4-BE49-F238E27FC236}">
                <a16:creationId xmlns:a16="http://schemas.microsoft.com/office/drawing/2014/main" id="{4143DCF7-7607-4442-AA51-DFF2ABB95BC9}"/>
              </a:ext>
            </a:extLst>
          </p:cNvPr>
          <p:cNvSpPr>
            <a:spLocks noGrp="1"/>
          </p:cNvSpPr>
          <p:nvPr>
            <p:ph idx="1"/>
          </p:nvPr>
        </p:nvSpPr>
        <p:spPr/>
        <p:txBody>
          <a:bodyPr/>
          <a:lstStyle/>
          <a:p>
            <a:pPr algn="l"/>
            <a:r>
              <a:rPr lang="en-US" dirty="0">
                <a:solidFill>
                  <a:srgbClr val="2D3B45"/>
                </a:solidFill>
                <a:latin typeface="Lato Extended"/>
              </a:rPr>
              <a:t>Which of the following is the main goal of the methods section of a research report?</a:t>
            </a:r>
          </a:p>
          <a:p>
            <a:pPr lvl="1"/>
            <a:r>
              <a:rPr lang="en-US" dirty="0">
                <a:solidFill>
                  <a:srgbClr val="2D3B45"/>
                </a:solidFill>
                <a:latin typeface="Lato Extended"/>
              </a:rPr>
              <a:t>a. Meticulously articulate how you analyzed the data.</a:t>
            </a:r>
          </a:p>
          <a:p>
            <a:pPr lvl="1"/>
            <a:r>
              <a:rPr lang="en-US" dirty="0">
                <a:solidFill>
                  <a:srgbClr val="2D3B45"/>
                </a:solidFill>
                <a:latin typeface="Lato Extended"/>
              </a:rPr>
              <a:t>b. Provide enough detail to allow an independent researcher to replicate your study.</a:t>
            </a:r>
          </a:p>
          <a:p>
            <a:pPr lvl="1"/>
            <a:r>
              <a:rPr lang="en-US" dirty="0">
                <a:solidFill>
                  <a:srgbClr val="2D3B45"/>
                </a:solidFill>
                <a:latin typeface="Lato Extended"/>
              </a:rPr>
              <a:t>c. Outline the demographic information of your participants so that reviewers can access the generalizability of your research.</a:t>
            </a:r>
          </a:p>
          <a:p>
            <a:pPr lvl="1"/>
            <a:r>
              <a:rPr lang="en-US" dirty="0">
                <a:solidFill>
                  <a:srgbClr val="2D3B45"/>
                </a:solidFill>
                <a:latin typeface="Lato Extended"/>
              </a:rPr>
              <a:t>d. Discuss the procedure you used so that readers can decide for themselves if your protocol is biased.</a:t>
            </a:r>
          </a:p>
          <a:p>
            <a:pPr marL="0" indent="0">
              <a:buNone/>
            </a:pPr>
            <a:endParaRPr lang="en-US" dirty="0"/>
          </a:p>
        </p:txBody>
      </p:sp>
    </p:spTree>
    <p:extLst>
      <p:ext uri="{BB962C8B-B14F-4D97-AF65-F5344CB8AC3E}">
        <p14:creationId xmlns:p14="http://schemas.microsoft.com/office/powerpoint/2010/main" val="2039985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40C15-2283-432F-93E4-01054C37BA58}"/>
              </a:ext>
            </a:extLst>
          </p:cNvPr>
          <p:cNvSpPr>
            <a:spLocks noGrp="1"/>
          </p:cNvSpPr>
          <p:nvPr>
            <p:ph type="title"/>
          </p:nvPr>
        </p:nvSpPr>
        <p:spPr/>
        <p:txBody>
          <a:bodyPr/>
          <a:lstStyle/>
          <a:p>
            <a:r>
              <a:rPr lang="en-US" dirty="0"/>
              <a:t>APA Format: Results</a:t>
            </a:r>
          </a:p>
        </p:txBody>
      </p:sp>
      <p:sp>
        <p:nvSpPr>
          <p:cNvPr id="3" name="Content Placeholder 2">
            <a:extLst>
              <a:ext uri="{FF2B5EF4-FFF2-40B4-BE49-F238E27FC236}">
                <a16:creationId xmlns:a16="http://schemas.microsoft.com/office/drawing/2014/main" id="{9DD541CE-646D-40C1-8278-FC11E15B151B}"/>
              </a:ext>
            </a:extLst>
          </p:cNvPr>
          <p:cNvSpPr>
            <a:spLocks noGrp="1"/>
          </p:cNvSpPr>
          <p:nvPr>
            <p:ph idx="1"/>
          </p:nvPr>
        </p:nvSpPr>
        <p:spPr/>
        <p:txBody>
          <a:bodyPr/>
          <a:lstStyle/>
          <a:p>
            <a:r>
              <a:rPr lang="en-US" dirty="0">
                <a:solidFill>
                  <a:srgbClr val="2D3B45"/>
                </a:solidFill>
                <a:latin typeface="Lato Extended"/>
              </a:rPr>
              <a:t>Which of the following is usually beyond the scope of the results section of a quantitative research report?</a:t>
            </a:r>
          </a:p>
          <a:p>
            <a:pPr lvl="1"/>
            <a:r>
              <a:rPr lang="en-US" dirty="0">
                <a:solidFill>
                  <a:srgbClr val="2D3B45"/>
                </a:solidFill>
                <a:latin typeface="Lato Extended"/>
              </a:rPr>
              <a:t>a. Discussing what statistical techniques were used</a:t>
            </a:r>
          </a:p>
          <a:p>
            <a:pPr lvl="1"/>
            <a:r>
              <a:rPr lang="en-US" dirty="0">
                <a:solidFill>
                  <a:srgbClr val="2D3B45"/>
                </a:solidFill>
                <a:latin typeface="Lato Extended"/>
              </a:rPr>
              <a:t>b. Presenting figures and/or tables to portray the data</a:t>
            </a:r>
          </a:p>
          <a:p>
            <a:pPr lvl="1"/>
            <a:r>
              <a:rPr lang="en-US" dirty="0">
                <a:solidFill>
                  <a:srgbClr val="2D3B45"/>
                </a:solidFill>
                <a:latin typeface="Lato Extended"/>
              </a:rPr>
              <a:t>c. Providing detailed interpretation of the implications based on the data</a:t>
            </a:r>
          </a:p>
          <a:p>
            <a:pPr lvl="1"/>
            <a:r>
              <a:rPr lang="en-US" dirty="0">
                <a:solidFill>
                  <a:srgbClr val="2D3B45"/>
                </a:solidFill>
                <a:latin typeface="Lato Extended"/>
              </a:rPr>
              <a:t>d. Presenting specific statistics that were generated from the data</a:t>
            </a:r>
            <a:endParaRPr lang="en-US" dirty="0"/>
          </a:p>
        </p:txBody>
      </p:sp>
    </p:spTree>
    <p:extLst>
      <p:ext uri="{BB962C8B-B14F-4D97-AF65-F5344CB8AC3E}">
        <p14:creationId xmlns:p14="http://schemas.microsoft.com/office/powerpoint/2010/main" val="4091162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B36F9-34B5-4DD8-B815-B9978C465000}"/>
              </a:ext>
            </a:extLst>
          </p:cNvPr>
          <p:cNvSpPr>
            <a:spLocks noGrp="1"/>
          </p:cNvSpPr>
          <p:nvPr>
            <p:ph type="title"/>
          </p:nvPr>
        </p:nvSpPr>
        <p:spPr/>
        <p:txBody>
          <a:bodyPr/>
          <a:lstStyle/>
          <a:p>
            <a:r>
              <a:rPr lang="en-US" dirty="0"/>
              <a:t>APA Format: Discussion</a:t>
            </a:r>
          </a:p>
        </p:txBody>
      </p:sp>
      <p:sp>
        <p:nvSpPr>
          <p:cNvPr id="3" name="Content Placeholder 2">
            <a:extLst>
              <a:ext uri="{FF2B5EF4-FFF2-40B4-BE49-F238E27FC236}">
                <a16:creationId xmlns:a16="http://schemas.microsoft.com/office/drawing/2014/main" id="{1F51EAD1-F80E-42EF-93C3-13FA395A560C}"/>
              </a:ext>
            </a:extLst>
          </p:cNvPr>
          <p:cNvSpPr>
            <a:spLocks noGrp="1"/>
          </p:cNvSpPr>
          <p:nvPr>
            <p:ph idx="1"/>
          </p:nvPr>
        </p:nvSpPr>
        <p:spPr/>
        <p:txBody>
          <a:bodyPr/>
          <a:lstStyle/>
          <a:p>
            <a:r>
              <a:rPr lang="en-US" dirty="0">
                <a:solidFill>
                  <a:srgbClr val="2D3B45"/>
                </a:solidFill>
                <a:latin typeface="Lato Extended"/>
              </a:rPr>
              <a:t>If you state alternative explanations in your discussion, which of the following should you also consider doing?</a:t>
            </a:r>
          </a:p>
          <a:p>
            <a:pPr lvl="1"/>
            <a:r>
              <a:rPr lang="en-US" dirty="0">
                <a:solidFill>
                  <a:srgbClr val="2D3B45"/>
                </a:solidFill>
                <a:latin typeface="Lato Extended"/>
              </a:rPr>
              <a:t>a. Tell readers why the alternative explanation falls short of the primary explanation</a:t>
            </a:r>
          </a:p>
          <a:p>
            <a:pPr lvl="1"/>
            <a:r>
              <a:rPr lang="en-US" dirty="0">
                <a:solidFill>
                  <a:srgbClr val="2D3B45"/>
                </a:solidFill>
                <a:latin typeface="Lato Extended"/>
              </a:rPr>
              <a:t>b. Conduct statistics tests to test them specifically</a:t>
            </a:r>
          </a:p>
          <a:p>
            <a:pPr lvl="1"/>
            <a:r>
              <a:rPr lang="en-US" dirty="0">
                <a:solidFill>
                  <a:srgbClr val="2D3B45"/>
                </a:solidFill>
                <a:latin typeface="Lato Extended"/>
              </a:rPr>
              <a:t>c. Include reviewer opinions of whether they think the alternative explanation is better or worse than the primary explanation</a:t>
            </a:r>
          </a:p>
          <a:p>
            <a:pPr lvl="1"/>
            <a:r>
              <a:rPr lang="en-US" dirty="0">
                <a:solidFill>
                  <a:srgbClr val="2D3B45"/>
                </a:solidFill>
                <a:latin typeface="Lato Extended"/>
              </a:rPr>
              <a:t>d. Present a literature review that would allow readers to conduct a follow-up study based on the alternative explanation</a:t>
            </a:r>
            <a:endParaRPr lang="en-US" dirty="0"/>
          </a:p>
        </p:txBody>
      </p:sp>
    </p:spTree>
    <p:extLst>
      <p:ext uri="{BB962C8B-B14F-4D97-AF65-F5344CB8AC3E}">
        <p14:creationId xmlns:p14="http://schemas.microsoft.com/office/powerpoint/2010/main" val="2657282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41DEE-73EC-42EC-8ACC-2B18F5CEEC19}"/>
              </a:ext>
            </a:extLst>
          </p:cNvPr>
          <p:cNvSpPr>
            <a:spLocks noGrp="1"/>
          </p:cNvSpPr>
          <p:nvPr>
            <p:ph type="title"/>
          </p:nvPr>
        </p:nvSpPr>
        <p:spPr/>
        <p:txBody>
          <a:bodyPr/>
          <a:lstStyle/>
          <a:p>
            <a:r>
              <a:rPr lang="en-US" dirty="0"/>
              <a:t>APA Writing with Style</a:t>
            </a:r>
          </a:p>
        </p:txBody>
      </p:sp>
      <p:sp>
        <p:nvSpPr>
          <p:cNvPr id="3" name="Content Placeholder 2">
            <a:extLst>
              <a:ext uri="{FF2B5EF4-FFF2-40B4-BE49-F238E27FC236}">
                <a16:creationId xmlns:a16="http://schemas.microsoft.com/office/drawing/2014/main" id="{079EA18E-AD6A-4127-BDBE-7DCA7E20BAE8}"/>
              </a:ext>
            </a:extLst>
          </p:cNvPr>
          <p:cNvSpPr>
            <a:spLocks noGrp="1"/>
          </p:cNvSpPr>
          <p:nvPr>
            <p:ph idx="1"/>
          </p:nvPr>
        </p:nvSpPr>
        <p:spPr/>
        <p:txBody>
          <a:bodyPr/>
          <a:lstStyle/>
          <a:p>
            <a:r>
              <a:rPr lang="en-US" dirty="0">
                <a:solidFill>
                  <a:srgbClr val="2D3B45"/>
                </a:solidFill>
                <a:latin typeface="Lato Extended"/>
              </a:rPr>
              <a:t>What is the role played by answering the question “who will you write for” in writing a research report?  How should the answer influence the writing process?</a:t>
            </a:r>
          </a:p>
          <a:p>
            <a:pPr lvl="1"/>
            <a:endParaRPr lang="en-US" dirty="0">
              <a:solidFill>
                <a:srgbClr val="2D3B45"/>
              </a:solidFill>
              <a:latin typeface="Lato Extended"/>
            </a:endParaRPr>
          </a:p>
          <a:p>
            <a:r>
              <a:rPr lang="en-US" b="0" i="0" dirty="0">
                <a:solidFill>
                  <a:srgbClr val="2D3B45"/>
                </a:solidFill>
                <a:effectLst/>
                <a:latin typeface="Lato Extended"/>
              </a:rPr>
              <a:t>Citing previous research</a:t>
            </a:r>
          </a:p>
          <a:p>
            <a:pPr lvl="1"/>
            <a:r>
              <a:rPr lang="en-US" dirty="0">
                <a:solidFill>
                  <a:srgbClr val="2D3B45"/>
                </a:solidFill>
                <a:latin typeface="Lato Extended"/>
              </a:rPr>
              <a:t>Craik &amp; Tulving (1972) proposed that better memory would research from more semantic engagement with the material being studied and termed this “deeper” processing.</a:t>
            </a:r>
            <a:endParaRPr lang="en-US" b="0" i="0" dirty="0">
              <a:solidFill>
                <a:srgbClr val="2D3B45"/>
              </a:solidFill>
              <a:effectLst/>
              <a:latin typeface="Lato Extended"/>
            </a:endParaRPr>
          </a:p>
          <a:p>
            <a:endParaRPr lang="en-US" dirty="0"/>
          </a:p>
        </p:txBody>
      </p:sp>
    </p:spTree>
    <p:extLst>
      <p:ext uri="{BB962C8B-B14F-4D97-AF65-F5344CB8AC3E}">
        <p14:creationId xmlns:p14="http://schemas.microsoft.com/office/powerpoint/2010/main" val="3408920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E8C2B-BA5B-4F5F-A266-72BA398B2B4A}"/>
              </a:ext>
            </a:extLst>
          </p:cNvPr>
          <p:cNvSpPr>
            <a:spLocks noGrp="1"/>
          </p:cNvSpPr>
          <p:nvPr>
            <p:ph type="title"/>
          </p:nvPr>
        </p:nvSpPr>
        <p:spPr/>
        <p:txBody>
          <a:bodyPr/>
          <a:lstStyle/>
          <a:p>
            <a:r>
              <a:rPr lang="en-US" dirty="0"/>
              <a:t>Background literature</a:t>
            </a:r>
          </a:p>
        </p:txBody>
      </p:sp>
      <p:sp>
        <p:nvSpPr>
          <p:cNvPr id="3" name="Content Placeholder 2">
            <a:extLst>
              <a:ext uri="{FF2B5EF4-FFF2-40B4-BE49-F238E27FC236}">
                <a16:creationId xmlns:a16="http://schemas.microsoft.com/office/drawing/2014/main" id="{961E0421-28C0-42A9-938F-5EA1ACA38CA6}"/>
              </a:ext>
            </a:extLst>
          </p:cNvPr>
          <p:cNvSpPr>
            <a:spLocks noGrp="1"/>
          </p:cNvSpPr>
          <p:nvPr>
            <p:ph idx="1"/>
          </p:nvPr>
        </p:nvSpPr>
        <p:spPr/>
        <p:txBody>
          <a:bodyPr/>
          <a:lstStyle/>
          <a:p>
            <a:r>
              <a:rPr lang="en-US" dirty="0"/>
              <a:t>APA format for the References section</a:t>
            </a:r>
          </a:p>
          <a:p>
            <a:pPr lvl="1"/>
            <a:r>
              <a:rPr lang="en-US" sz="2400" dirty="0">
                <a:solidFill>
                  <a:srgbClr val="222222"/>
                </a:solidFill>
                <a:latin typeface="Arial" panose="020B0604020202020204" pitchFamily="34" charset="0"/>
              </a:rPr>
              <a:t>Craik, F. I. M., &amp; Lockhart, R. S. (1972). Levels of processing: A framework for memory research. </a:t>
            </a:r>
            <a:r>
              <a:rPr lang="en-US" sz="2400" i="1" dirty="0">
                <a:solidFill>
                  <a:srgbClr val="222222"/>
                </a:solidFill>
                <a:latin typeface="Arial" panose="020B0604020202020204" pitchFamily="34" charset="0"/>
              </a:rPr>
              <a:t>Journal of verbal learning and verbal behavior</a:t>
            </a:r>
            <a:r>
              <a:rPr lang="en-US" sz="2400" dirty="0">
                <a:solidFill>
                  <a:srgbClr val="222222"/>
                </a:solidFill>
                <a:latin typeface="Arial" panose="020B0604020202020204" pitchFamily="34" charset="0"/>
              </a:rPr>
              <a:t>, </a:t>
            </a:r>
            <a:r>
              <a:rPr lang="en-US" sz="2400" i="1" dirty="0">
                <a:solidFill>
                  <a:srgbClr val="222222"/>
                </a:solidFill>
                <a:latin typeface="Arial" panose="020B0604020202020204" pitchFamily="34" charset="0"/>
              </a:rPr>
              <a:t>11</a:t>
            </a:r>
            <a:r>
              <a:rPr lang="en-US" sz="2400" dirty="0">
                <a:solidFill>
                  <a:srgbClr val="222222"/>
                </a:solidFill>
                <a:latin typeface="Arial" panose="020B0604020202020204" pitchFamily="34" charset="0"/>
              </a:rPr>
              <a:t>(6), 671-684.</a:t>
            </a:r>
          </a:p>
          <a:p>
            <a:pPr lvl="1"/>
            <a:r>
              <a:rPr lang="en-US" sz="2400" dirty="0">
                <a:solidFill>
                  <a:srgbClr val="222222"/>
                </a:solidFill>
                <a:latin typeface="Arial" panose="020B0604020202020204" pitchFamily="34" charset="0"/>
              </a:rPr>
              <a:t>Craik, F. I. M., &amp; Tulving, E. (1975). Depth of processing and the retention of words in episodic memory. </a:t>
            </a:r>
            <a:r>
              <a:rPr lang="en-US" sz="2400" i="1" dirty="0">
                <a:solidFill>
                  <a:srgbClr val="222222"/>
                </a:solidFill>
                <a:latin typeface="Arial" panose="020B0604020202020204" pitchFamily="34" charset="0"/>
              </a:rPr>
              <a:t>Journal of experimental Psychology: general</a:t>
            </a:r>
            <a:r>
              <a:rPr lang="en-US" sz="2400" dirty="0">
                <a:solidFill>
                  <a:srgbClr val="222222"/>
                </a:solidFill>
                <a:latin typeface="Arial" panose="020B0604020202020204" pitchFamily="34" charset="0"/>
              </a:rPr>
              <a:t>, </a:t>
            </a:r>
            <a:r>
              <a:rPr lang="en-US" sz="2400" i="1" dirty="0">
                <a:solidFill>
                  <a:srgbClr val="222222"/>
                </a:solidFill>
                <a:latin typeface="Arial" panose="020B0604020202020204" pitchFamily="34" charset="0"/>
              </a:rPr>
              <a:t>104</a:t>
            </a:r>
            <a:r>
              <a:rPr lang="en-US" sz="2400" dirty="0">
                <a:solidFill>
                  <a:srgbClr val="222222"/>
                </a:solidFill>
                <a:latin typeface="Arial" panose="020B0604020202020204" pitchFamily="34" charset="0"/>
              </a:rPr>
              <a:t>(3), 268.</a:t>
            </a:r>
          </a:p>
          <a:p>
            <a:pPr lvl="1"/>
            <a:endParaRPr lang="en-US" dirty="0"/>
          </a:p>
          <a:p>
            <a:pPr lvl="1"/>
            <a:endParaRPr lang="en-US" dirty="0"/>
          </a:p>
        </p:txBody>
      </p:sp>
    </p:spTree>
    <p:extLst>
      <p:ext uri="{BB962C8B-B14F-4D97-AF65-F5344CB8AC3E}">
        <p14:creationId xmlns:p14="http://schemas.microsoft.com/office/powerpoint/2010/main" val="6595234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1DC33-78A1-4865-83C2-BF38C9DE1F1D}"/>
              </a:ext>
            </a:extLst>
          </p:cNvPr>
          <p:cNvSpPr>
            <a:spLocks noGrp="1"/>
          </p:cNvSpPr>
          <p:nvPr>
            <p:ph type="title"/>
          </p:nvPr>
        </p:nvSpPr>
        <p:spPr/>
        <p:txBody>
          <a:bodyPr/>
          <a:lstStyle/>
          <a:p>
            <a:r>
              <a:rPr lang="en-US" dirty="0"/>
              <a:t>Theory: “Deep” Encoding</a:t>
            </a:r>
          </a:p>
        </p:txBody>
      </p:sp>
      <p:sp>
        <p:nvSpPr>
          <p:cNvPr id="3" name="Content Placeholder 2">
            <a:extLst>
              <a:ext uri="{FF2B5EF4-FFF2-40B4-BE49-F238E27FC236}">
                <a16:creationId xmlns:a16="http://schemas.microsoft.com/office/drawing/2014/main" id="{F21CE555-A17C-49DC-9B43-DE4B133F59E6}"/>
              </a:ext>
            </a:extLst>
          </p:cNvPr>
          <p:cNvSpPr>
            <a:spLocks noGrp="1"/>
          </p:cNvSpPr>
          <p:nvPr>
            <p:ph idx="1"/>
          </p:nvPr>
        </p:nvSpPr>
        <p:spPr/>
        <p:txBody>
          <a:bodyPr/>
          <a:lstStyle/>
          <a:p>
            <a:r>
              <a:rPr lang="en-US" dirty="0"/>
              <a:t>Hypothesis</a:t>
            </a:r>
          </a:p>
          <a:p>
            <a:pPr lvl="1"/>
            <a:r>
              <a:rPr lang="en-US" dirty="0"/>
              <a:t>What is it?</a:t>
            </a:r>
          </a:p>
          <a:p>
            <a:pPr lvl="1"/>
            <a:r>
              <a:rPr lang="en-US" dirty="0"/>
              <a:t>What isn’t it?</a:t>
            </a:r>
          </a:p>
          <a:p>
            <a:r>
              <a:rPr lang="en-US" dirty="0"/>
              <a:t>Mechanism </a:t>
            </a:r>
          </a:p>
          <a:p>
            <a:pPr lvl="1"/>
            <a:r>
              <a:rPr lang="en-US" dirty="0"/>
              <a:t>Inferred</a:t>
            </a:r>
          </a:p>
          <a:p>
            <a:r>
              <a:rPr lang="en-US" dirty="0"/>
              <a:t>Specific Procedures</a:t>
            </a:r>
          </a:p>
          <a:p>
            <a:pPr lvl="1"/>
            <a:r>
              <a:rPr lang="en-US" dirty="0"/>
              <a:t>Used in studies to test</a:t>
            </a:r>
          </a:p>
          <a:p>
            <a:pPr lvl="1"/>
            <a:r>
              <a:rPr lang="en-US" dirty="0"/>
              <a:t>Combination of testing operational definitions and underlying theory</a:t>
            </a:r>
          </a:p>
          <a:p>
            <a:pPr lvl="1"/>
            <a:r>
              <a:rPr lang="en-US" dirty="0"/>
              <a:t>What if our study hadn’t worked?</a:t>
            </a:r>
          </a:p>
          <a:p>
            <a:endParaRPr lang="en-US" b="1" dirty="0"/>
          </a:p>
        </p:txBody>
      </p:sp>
    </p:spTree>
    <p:extLst>
      <p:ext uri="{BB962C8B-B14F-4D97-AF65-F5344CB8AC3E}">
        <p14:creationId xmlns:p14="http://schemas.microsoft.com/office/powerpoint/2010/main" val="18520858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1AE54-AB01-4304-8C7F-B4F517A765E0}"/>
              </a:ext>
            </a:extLst>
          </p:cNvPr>
          <p:cNvSpPr>
            <a:spLocks noGrp="1"/>
          </p:cNvSpPr>
          <p:nvPr>
            <p:ph type="title"/>
          </p:nvPr>
        </p:nvSpPr>
        <p:spPr/>
        <p:txBody>
          <a:bodyPr/>
          <a:lstStyle/>
          <a:p>
            <a:r>
              <a:rPr lang="en-US" dirty="0"/>
              <a:t>Research Context</a:t>
            </a:r>
          </a:p>
        </p:txBody>
      </p:sp>
      <p:sp>
        <p:nvSpPr>
          <p:cNvPr id="3" name="Content Placeholder 2">
            <a:extLst>
              <a:ext uri="{FF2B5EF4-FFF2-40B4-BE49-F238E27FC236}">
                <a16:creationId xmlns:a16="http://schemas.microsoft.com/office/drawing/2014/main" id="{74D2B576-9DBE-422D-B4A0-EB63A5E88C6B}"/>
              </a:ext>
            </a:extLst>
          </p:cNvPr>
          <p:cNvSpPr>
            <a:spLocks noGrp="1"/>
          </p:cNvSpPr>
          <p:nvPr>
            <p:ph idx="1"/>
          </p:nvPr>
        </p:nvSpPr>
        <p:spPr/>
        <p:txBody>
          <a:bodyPr/>
          <a:lstStyle/>
          <a:p>
            <a:r>
              <a:rPr lang="en-US" dirty="0"/>
              <a:t>Building on existing work</a:t>
            </a:r>
          </a:p>
          <a:p>
            <a:pPr lvl="1"/>
            <a:r>
              <a:rPr lang="en-US" dirty="0"/>
              <a:t>Strengthens confidence in conclusions</a:t>
            </a:r>
          </a:p>
          <a:p>
            <a:pPr lvl="1"/>
            <a:r>
              <a:rPr lang="en-US" dirty="0"/>
              <a:t>Very briefly review theory/mechanism</a:t>
            </a:r>
          </a:p>
          <a:p>
            <a:pPr lvl="1"/>
            <a:endParaRPr lang="en-US" dirty="0"/>
          </a:p>
          <a:p>
            <a:r>
              <a:rPr lang="en-US" dirty="0"/>
              <a:t>Adding something new</a:t>
            </a:r>
          </a:p>
          <a:p>
            <a:pPr lvl="1"/>
            <a:r>
              <a:rPr lang="en-US" dirty="0"/>
              <a:t>What is new about our study?</a:t>
            </a:r>
          </a:p>
          <a:p>
            <a:pPr lvl="1"/>
            <a:r>
              <a:rPr lang="en-US" dirty="0"/>
              <a:t>Motivate the current study to add to prior work</a:t>
            </a:r>
          </a:p>
          <a:p>
            <a:pPr lvl="1"/>
            <a:endParaRPr lang="en-US" dirty="0"/>
          </a:p>
          <a:p>
            <a:endParaRPr lang="en-US" dirty="0"/>
          </a:p>
          <a:p>
            <a:endParaRPr lang="en-US" dirty="0"/>
          </a:p>
        </p:txBody>
      </p:sp>
    </p:spTree>
    <p:extLst>
      <p:ext uri="{BB962C8B-B14F-4D97-AF65-F5344CB8AC3E}">
        <p14:creationId xmlns:p14="http://schemas.microsoft.com/office/powerpoint/2010/main" val="3608768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8C430-C521-F269-5711-20F2594355C2}"/>
              </a:ext>
            </a:extLst>
          </p:cNvPr>
          <p:cNvSpPr>
            <a:spLocks noGrp="1"/>
          </p:cNvSpPr>
          <p:nvPr>
            <p:ph type="title"/>
          </p:nvPr>
        </p:nvSpPr>
        <p:spPr/>
        <p:txBody>
          <a:bodyPr/>
          <a:lstStyle/>
          <a:p>
            <a:r>
              <a:rPr lang="en-US" dirty="0"/>
              <a:t>Experiment 1 Methods information</a:t>
            </a:r>
          </a:p>
        </p:txBody>
      </p:sp>
      <p:sp>
        <p:nvSpPr>
          <p:cNvPr id="3" name="Content Placeholder 2">
            <a:extLst>
              <a:ext uri="{FF2B5EF4-FFF2-40B4-BE49-F238E27FC236}">
                <a16:creationId xmlns:a16="http://schemas.microsoft.com/office/drawing/2014/main" id="{13A4C378-1140-4C2B-CE55-92AD5727448E}"/>
              </a:ext>
            </a:extLst>
          </p:cNvPr>
          <p:cNvSpPr>
            <a:spLocks noGrp="1"/>
          </p:cNvSpPr>
          <p:nvPr>
            <p:ph idx="1"/>
          </p:nvPr>
        </p:nvSpPr>
        <p:spPr/>
        <p:txBody>
          <a:bodyPr>
            <a:normAutofit fontScale="77500" lnSpcReduction="20000"/>
          </a:bodyPr>
          <a:lstStyle/>
          <a:p>
            <a:r>
              <a:rPr lang="en-US" dirty="0"/>
              <a:t>Participants</a:t>
            </a:r>
          </a:p>
          <a:p>
            <a:pPr lvl="1"/>
            <a:r>
              <a:rPr lang="en-US" dirty="0"/>
              <a:t>38 students from Research Methods classes</a:t>
            </a:r>
          </a:p>
          <a:p>
            <a:endParaRPr lang="en-US" dirty="0"/>
          </a:p>
          <a:p>
            <a:r>
              <a:rPr lang="en-US" dirty="0"/>
              <a:t>Materials</a:t>
            </a:r>
          </a:p>
          <a:p>
            <a:pPr lvl="1"/>
            <a:r>
              <a:rPr lang="en-US" sz="2800" dirty="0"/>
              <a:t>A set of 60 words was used for the study and test stimuli.  Words were selected to have a written frequency of 30-80 per million and to be 5-8 letters in length.</a:t>
            </a:r>
          </a:p>
          <a:p>
            <a:pPr lvl="1"/>
            <a:endParaRPr lang="en-US" dirty="0"/>
          </a:p>
          <a:p>
            <a:r>
              <a:rPr lang="en-US" dirty="0"/>
              <a:t>Procedure</a:t>
            </a:r>
          </a:p>
          <a:p>
            <a:pPr lvl="1"/>
            <a:r>
              <a:rPr lang="en-US" dirty="0"/>
              <a:t>4s time per word to rate (automatic advance)</a:t>
            </a:r>
          </a:p>
          <a:p>
            <a:pPr lvl="2"/>
            <a:r>
              <a:rPr lang="en-US" dirty="0"/>
              <a:t>“For each word, rate how much you like the word on a 1 to 5 scale. 5 means you like the word very much and 1 means you dislike the word very much. Indicate your rating with keyboard or mouse.”</a:t>
            </a:r>
          </a:p>
          <a:p>
            <a:pPr lvl="2"/>
            <a:r>
              <a:rPr lang="en-US" dirty="0"/>
              <a:t>“For each word, count the number of vowels in each word. Enter the number with keyboard or mouse"</a:t>
            </a:r>
          </a:p>
          <a:p>
            <a:pPr lvl="1"/>
            <a:r>
              <a:rPr lang="en-US" dirty="0"/>
              <a:t>3m delay period completing trivia questions</a:t>
            </a:r>
          </a:p>
          <a:p>
            <a:pPr lvl="1"/>
            <a:r>
              <a:rPr lang="en-US" dirty="0"/>
              <a:t>60 item post-test, 30 old, 30 new</a:t>
            </a:r>
          </a:p>
          <a:p>
            <a:endParaRPr lang="en-US" dirty="0"/>
          </a:p>
        </p:txBody>
      </p:sp>
    </p:spTree>
    <p:extLst>
      <p:ext uri="{BB962C8B-B14F-4D97-AF65-F5344CB8AC3E}">
        <p14:creationId xmlns:p14="http://schemas.microsoft.com/office/powerpoint/2010/main" val="18791034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839C2-8D3D-4CEF-A0F5-3DF29842C55E}"/>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69FD84FA-E4AA-4AE3-8E94-BB6DE2F672CA}"/>
              </a:ext>
            </a:extLst>
          </p:cNvPr>
          <p:cNvSpPr>
            <a:spLocks noGrp="1"/>
          </p:cNvSpPr>
          <p:nvPr>
            <p:ph idx="1"/>
          </p:nvPr>
        </p:nvSpPr>
        <p:spPr/>
        <p:txBody>
          <a:bodyPr/>
          <a:lstStyle/>
          <a:p>
            <a:r>
              <a:rPr lang="en-US" dirty="0"/>
              <a:t>Include all of:</a:t>
            </a:r>
          </a:p>
          <a:p>
            <a:pPr lvl="1"/>
            <a:r>
              <a:rPr lang="en-US" dirty="0"/>
              <a:t>Descriptive statistics: mean, SD, SE</a:t>
            </a:r>
          </a:p>
          <a:p>
            <a:pPr lvl="1"/>
            <a:r>
              <a:rPr lang="en-US" dirty="0"/>
              <a:t>Inferential statistics: t-test in APA format</a:t>
            </a:r>
          </a:p>
          <a:p>
            <a:pPr lvl="1"/>
            <a:r>
              <a:rPr lang="en-US" dirty="0"/>
              <a:t>Figure &amp; caption</a:t>
            </a:r>
          </a:p>
          <a:p>
            <a:pPr lvl="1"/>
            <a:endParaRPr lang="en-US" dirty="0"/>
          </a:p>
          <a:p>
            <a:r>
              <a:rPr lang="en-US" dirty="0"/>
              <a:t>As discussed in class, will be very compact</a:t>
            </a:r>
          </a:p>
        </p:txBody>
      </p:sp>
    </p:spTree>
    <p:extLst>
      <p:ext uri="{BB962C8B-B14F-4D97-AF65-F5344CB8AC3E}">
        <p14:creationId xmlns:p14="http://schemas.microsoft.com/office/powerpoint/2010/main" val="1320290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4E510-5E66-C60F-A70A-DE89CF02FBD9}"/>
              </a:ext>
            </a:extLst>
          </p:cNvPr>
          <p:cNvSpPr>
            <a:spLocks noGrp="1"/>
          </p:cNvSpPr>
          <p:nvPr>
            <p:ph type="title"/>
          </p:nvPr>
        </p:nvSpPr>
        <p:spPr/>
        <p:txBody>
          <a:bodyPr/>
          <a:lstStyle/>
          <a:p>
            <a:r>
              <a:rPr lang="en-US" dirty="0"/>
              <a:t>First writeup</a:t>
            </a:r>
          </a:p>
        </p:txBody>
      </p:sp>
      <p:sp>
        <p:nvSpPr>
          <p:cNvPr id="3" name="Content Placeholder 2">
            <a:extLst>
              <a:ext uri="{FF2B5EF4-FFF2-40B4-BE49-F238E27FC236}">
                <a16:creationId xmlns:a16="http://schemas.microsoft.com/office/drawing/2014/main" id="{C083FC1E-CB4A-4CE9-74C8-0371F595854A}"/>
              </a:ext>
            </a:extLst>
          </p:cNvPr>
          <p:cNvSpPr>
            <a:spLocks noGrp="1"/>
          </p:cNvSpPr>
          <p:nvPr>
            <p:ph idx="1"/>
          </p:nvPr>
        </p:nvSpPr>
        <p:spPr/>
        <p:txBody>
          <a:bodyPr/>
          <a:lstStyle/>
          <a:p>
            <a:r>
              <a:rPr lang="en-US" dirty="0"/>
              <a:t>Include title page, abstract</a:t>
            </a:r>
          </a:p>
          <a:p>
            <a:r>
              <a:rPr lang="en-US" dirty="0"/>
              <a:t>Introduction: 1-2 paragraphs citing prior work, noting what is new about this study</a:t>
            </a:r>
          </a:p>
          <a:p>
            <a:r>
              <a:rPr lang="en-US" dirty="0"/>
              <a:t>Methods: full detail</a:t>
            </a:r>
          </a:p>
          <a:p>
            <a:r>
              <a:rPr lang="en-US" dirty="0"/>
              <a:t>Results: full detail including Figure and caption</a:t>
            </a:r>
          </a:p>
          <a:p>
            <a:r>
              <a:rPr lang="en-US" dirty="0"/>
              <a:t>Discussion: 1-2 paragraphs summarizing conclusion, note limitations</a:t>
            </a:r>
          </a:p>
          <a:p>
            <a:pPr lvl="1"/>
            <a:r>
              <a:rPr lang="en-US" dirty="0"/>
              <a:t>Finish on strong positive statement!</a:t>
            </a:r>
          </a:p>
          <a:p>
            <a:r>
              <a:rPr lang="en-US" dirty="0"/>
              <a:t>References: </a:t>
            </a:r>
          </a:p>
        </p:txBody>
      </p:sp>
    </p:spTree>
    <p:extLst>
      <p:ext uri="{BB962C8B-B14F-4D97-AF65-F5344CB8AC3E}">
        <p14:creationId xmlns:p14="http://schemas.microsoft.com/office/powerpoint/2010/main" val="106744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CDBF7-3665-0301-20A7-60D41995C6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62AF2A0-65B6-5554-CE43-873AB149E3ED}"/>
              </a:ext>
            </a:extLst>
          </p:cNvPr>
          <p:cNvSpPr>
            <a:spLocks noGrp="1"/>
          </p:cNvSpPr>
          <p:nvPr>
            <p:ph idx="1"/>
          </p:nvPr>
        </p:nvSpPr>
        <p:spPr/>
        <p:txBody>
          <a:bodyPr/>
          <a:lstStyle/>
          <a:p>
            <a:r>
              <a:rPr lang="en-US" dirty="0"/>
              <a:t>Research definition</a:t>
            </a:r>
          </a:p>
          <a:p>
            <a:pPr lvl="1"/>
            <a:r>
              <a:rPr lang="en-US" dirty="0"/>
              <a:t>“A systematic investigation, including development, testing, and evaluation, designed to develop or contribute to generalizable knowledge”</a:t>
            </a:r>
          </a:p>
          <a:p>
            <a:pPr lvl="2"/>
            <a:r>
              <a:rPr lang="en-US" dirty="0"/>
              <a:t>Not including: case studies, biography or oral history research, classroom activities, publicly available data</a:t>
            </a:r>
          </a:p>
          <a:p>
            <a:endParaRPr lang="en-US" dirty="0"/>
          </a:p>
        </p:txBody>
      </p:sp>
    </p:spTree>
    <p:extLst>
      <p:ext uri="{BB962C8B-B14F-4D97-AF65-F5344CB8AC3E}">
        <p14:creationId xmlns:p14="http://schemas.microsoft.com/office/powerpoint/2010/main" val="19064117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12040</TotalTime>
  <Words>1349</Words>
  <Application>Microsoft Office PowerPoint</Application>
  <PresentationFormat>Widescreen</PresentationFormat>
  <Paragraphs>175</Paragraphs>
  <Slides>26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Lato Extended</vt:lpstr>
      <vt:lpstr>Times New Roman</vt:lpstr>
      <vt:lpstr>Office Theme</vt:lpstr>
      <vt:lpstr>205 Oct 11, Class 8</vt:lpstr>
      <vt:lpstr>PowerPoint Presentation</vt:lpstr>
      <vt:lpstr>Chapter 8</vt:lpstr>
      <vt:lpstr>Famous ethical transgressions</vt:lpstr>
      <vt:lpstr>Historical Events in Research Ethics</vt:lpstr>
      <vt:lpstr>IRB</vt:lpstr>
      <vt:lpstr>Informed Consent</vt:lpstr>
      <vt:lpstr>Ethical scientific practice</vt:lpstr>
      <vt:lpstr>PowerPoint Presentation</vt:lpstr>
      <vt:lpstr>Common risks in psychological science</vt:lpstr>
      <vt:lpstr>PowerPoint Presentation</vt:lpstr>
      <vt:lpstr>PowerPoint Presentation</vt:lpstr>
      <vt:lpstr>First Exam Content</vt:lpstr>
      <vt:lpstr>For Mon Oct 14</vt:lpstr>
      <vt:lpstr>APA Report Sections</vt:lpstr>
      <vt:lpstr>APA Format: Methods</vt:lpstr>
      <vt:lpstr>APA Format: Results</vt:lpstr>
      <vt:lpstr>APA Format: Discussion</vt:lpstr>
      <vt:lpstr>APA Writing with Style</vt:lpstr>
      <vt:lpstr>Background literature</vt:lpstr>
      <vt:lpstr>Theory: “Deep” Encoding</vt:lpstr>
      <vt:lpstr>Research Context</vt:lpstr>
      <vt:lpstr>Experiment 1 Methods information</vt:lpstr>
      <vt:lpstr>Results</vt:lpstr>
      <vt:lpstr>First writeup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Oct 10, Class 9</dc:title>
  <dc:creator>Paul Reber</dc:creator>
  <cp:lastModifiedBy>Paul Reber</cp:lastModifiedBy>
  <cp:revision>12</cp:revision>
  <dcterms:created xsi:type="dcterms:W3CDTF">2022-10-06T20:54:17Z</dcterms:created>
  <dcterms:modified xsi:type="dcterms:W3CDTF">2024-10-11T13:08:45Z</dcterms:modified>
</cp:coreProperties>
</file>