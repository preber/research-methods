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66" r:id="rId3"/>
    <p:sldId id="257" r:id="rId4"/>
    <p:sldId id="265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7102475" cy="93884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2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6E0855E8-6030-425E-AD5A-E8A6F1633C7C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1173163"/>
            <a:ext cx="5632450" cy="3168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518204"/>
            <a:ext cx="5681980" cy="3696712"/>
          </a:xfrm>
          <a:prstGeom prst="rect">
            <a:avLst/>
          </a:prstGeom>
        </p:spPr>
        <p:txBody>
          <a:bodyPr vert="horz" lIns="94229" tIns="47114" rIns="94229" bIns="4711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fld id="{1B879628-1E62-4151-8430-F9F62909B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427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0B7AE-D66E-21EF-C691-E1E2D16A04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F16BAC-2B9A-3A48-5CE9-1FEB28AD0A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BD6E72-5ECF-26B4-C7B1-B4B42FDE3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1FF97-7202-4846-BECC-3E8C42FA3EFA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648563-EF58-E867-5C62-2743D4C83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0A52F-C7F9-0E29-9CA4-8882BDF6D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2F22E-9707-4C15-95CD-3C993C72D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505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FB1C1-E1A1-989A-7C63-745C11439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BE314-7F81-FFBC-67F5-F5749A7047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103FEC-35AD-809D-D344-8FB672E50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1FF97-7202-4846-BECC-3E8C42FA3EFA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DB4AA4-1481-1E30-161E-B36F44BA8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56BF10-1282-95FF-4CE3-B24767015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2F22E-9707-4C15-95CD-3C993C72D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238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07619-8DEA-31B4-4BF4-4B1D12407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9B3D42-73C4-8FA1-E423-4784884C72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A3196B-AC56-6070-CB9C-BDC3E9FB3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1FF97-7202-4846-BECC-3E8C42FA3EFA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E7E795-3344-A51C-C9AF-D32AC1243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0C57C-A8E4-5977-A04B-4D3E7BDEE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2F22E-9707-4C15-95CD-3C993C72D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702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6E0EB-C91A-40E0-12A3-1298129AA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42AB0-FBEF-545C-5D1A-C3AA5E6E11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323123-5B57-5746-A45C-75EBB50241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FDFBFC-E63A-21E6-82E2-E5E1FDC0D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1FF97-7202-4846-BECC-3E8C42FA3EFA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3F605-CD5D-CC2B-F669-B3097D9D6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24B3B5-EC05-90D1-99C4-29D726BB7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2F22E-9707-4C15-95CD-3C993C72D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310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28FCA-73BE-637B-8AF6-709F4DB80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18C5A7-320F-B516-1D5B-A95942A544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13494B-095F-58A4-FE5B-BB12DD9A84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C4DDB0-02FA-FAEF-7021-DAABE313CE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BDB9B9-6A16-CC2C-C5FC-9A08AFDC95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27A3DE-EDE8-DAF4-6A4C-B0C2387B9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1FF97-7202-4846-BECC-3E8C42FA3EFA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8F8D31-2259-7597-5B58-8D6C18F7A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24ADE6-62F9-9A69-8AE9-5C4B6A265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2F22E-9707-4C15-95CD-3C993C72D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82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EE3C7-4A6A-65C3-9BF3-7DA7507ED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3A6F22-37AE-1B21-6FF9-59237C349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1FF97-7202-4846-BECC-3E8C42FA3EFA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8B8930-A75E-6A03-FFEE-62CF0F1A1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91AB8F-37D2-3F64-3B8D-F74BA9259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2F22E-9707-4C15-95CD-3C993C72D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703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01B9AF-B947-5A9D-2CDA-064F00F18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1FF97-7202-4846-BECC-3E8C42FA3EFA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1E3823-FDBF-20BD-F6DF-22CB6376A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4568F1-3BE4-E042-D0A8-83645C958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2F22E-9707-4C15-95CD-3C993C72D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266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D5707-A359-972C-A780-76224709D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A1BE52-F627-B751-2FBA-96EE7F8A30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790C8C-1C20-0746-0D87-D9A9A49053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17452B-7E9B-0F04-370B-B329C010F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1FF97-7202-4846-BECC-3E8C42FA3EFA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794EB7-4E0D-D358-FED1-AE21BE101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760F57-2D20-9913-5E7C-E0B3A73B4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2F22E-9707-4C15-95CD-3C993C72D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155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585D1-3E2B-5501-EE2B-2CC04B2EB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7324D4-1C97-3363-EDB7-02707DF3CF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CB58D8-ED26-1AEF-8CC5-CDD2D8DB75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5E675A-F63E-7A5A-784C-7AB714455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1FF97-7202-4846-BECC-3E8C42FA3EFA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454CE7-549C-D31B-9214-FE2E99E18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82B550-4E61-B7FC-B9AF-6283DC391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2F22E-9707-4C15-95CD-3C993C72D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904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1A887-862F-C45F-DEB5-1701B1F6B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25FE92-B7B6-4007-955F-113E1596F6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9C82C4-58F2-6FDA-C1D4-F242CF490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1FF97-7202-4846-BECC-3E8C42FA3EFA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AD17F4-5BDA-ADD6-AF71-4E46F52AF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965581-B35C-2138-83DC-1B0B52546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2F22E-9707-4C15-95CD-3C993C72D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880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DB0D9B-AB43-6961-4D02-BECBACC8B1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050472-A3D9-2094-8678-BC28150E3C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5FEE08-7750-1626-A4DF-CE3B2A29E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1FF97-7202-4846-BECC-3E8C42FA3EFA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4AB27-9632-76BA-EF99-A143BB08D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0B45BF-BF13-E432-E4A4-7CD9F4331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2F22E-9707-4C15-95CD-3C993C72D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537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0ADEA5-7CCB-71DD-5A83-A91C65C7E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0A3740-AC1D-5B3C-2EB4-BA8FBD4B00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C02FF3-EE6F-8BBE-6F74-7177D8E7CA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31FF97-7202-4846-BECC-3E8C42FA3EFA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F8E8F6-5310-5015-B922-A953E91830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F2BDF0-ED24-FDB2-ADC1-8686E48898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22F22E-9707-4C15-95CD-3C993C72D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169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36B6290-B1AF-3166-9E4E-E8C9ACAA4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301 Oct 1, Class 7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A73A8F4-4F60-6EB6-F421-72A8C17F85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Chapter 6, Statistics</a:t>
            </a:r>
          </a:p>
          <a:p>
            <a:pPr lvl="1"/>
            <a:r>
              <a:rPr lang="en-US" dirty="0"/>
              <a:t>Descriptive statistics</a:t>
            </a:r>
          </a:p>
          <a:p>
            <a:pPr lvl="1"/>
            <a:r>
              <a:rPr lang="en-US" dirty="0"/>
              <a:t>Inferential statistics</a:t>
            </a:r>
          </a:p>
          <a:p>
            <a:pPr lvl="1"/>
            <a:r>
              <a:rPr lang="en-US" dirty="0"/>
              <a:t>Data visualization</a:t>
            </a:r>
          </a:p>
          <a:p>
            <a:pPr lvl="1"/>
            <a:endParaRPr lang="en-US" dirty="0"/>
          </a:p>
          <a:p>
            <a:r>
              <a:rPr lang="en-US" dirty="0"/>
              <a:t>Practical approaches</a:t>
            </a:r>
          </a:p>
          <a:p>
            <a:pPr lvl="1"/>
            <a:r>
              <a:rPr lang="en-US" dirty="0"/>
              <a:t>Calculating statistics</a:t>
            </a:r>
          </a:p>
          <a:p>
            <a:pPr lvl="1"/>
            <a:r>
              <a:rPr lang="en-US" dirty="0"/>
              <a:t>Reporting statistics</a:t>
            </a:r>
          </a:p>
          <a:p>
            <a:pPr lvl="1"/>
            <a:r>
              <a:rPr lang="en-US" dirty="0"/>
              <a:t>Data visualization</a:t>
            </a:r>
          </a:p>
        </p:txBody>
      </p:sp>
    </p:spTree>
    <p:extLst>
      <p:ext uri="{BB962C8B-B14F-4D97-AF65-F5344CB8AC3E}">
        <p14:creationId xmlns:p14="http://schemas.microsoft.com/office/powerpoint/2010/main" val="2260888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455B1-C5EB-CCAE-FB70-1D474B675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Homework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75FC0-E60F-CE1C-D025-4820230D8E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4274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EAD52-338E-9931-F4EF-FBE3A64B8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Descriptive statistics for Exp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327AF-FC4F-EAA9-14B5-EF74887CE0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Working with spreadsheets</a:t>
            </a:r>
          </a:p>
          <a:p>
            <a:pPr lvl="1"/>
            <a:r>
              <a:rPr lang="en-US" dirty="0"/>
              <a:t>Selecting cells, selecting ranges, entering formulas</a:t>
            </a:r>
          </a:p>
          <a:p>
            <a:r>
              <a:rPr lang="en-US" dirty="0"/>
              <a:t>Mean</a:t>
            </a:r>
          </a:p>
          <a:p>
            <a:pPr lvl="1"/>
            <a:r>
              <a:rPr lang="en-US" dirty="0"/>
              <a:t>=average()</a:t>
            </a:r>
          </a:p>
          <a:p>
            <a:r>
              <a:rPr lang="en-US" dirty="0"/>
              <a:t>Standard deviation</a:t>
            </a:r>
          </a:p>
          <a:p>
            <a:pPr lvl="1"/>
            <a:r>
              <a:rPr lang="en-US" dirty="0"/>
              <a:t>=</a:t>
            </a:r>
            <a:r>
              <a:rPr lang="en-US" dirty="0" err="1"/>
              <a:t>stdev.s</a:t>
            </a:r>
            <a:r>
              <a:rPr lang="en-US" dirty="0"/>
              <a:t>()</a:t>
            </a:r>
          </a:p>
          <a:p>
            <a:r>
              <a:rPr lang="en-US" dirty="0"/>
              <a:t>Standard error</a:t>
            </a:r>
          </a:p>
          <a:p>
            <a:pPr lvl="1"/>
            <a:r>
              <a:rPr lang="en-US" dirty="0"/>
              <a:t>SD/sqrt(n)</a:t>
            </a:r>
          </a:p>
          <a:p>
            <a:pPr lvl="1"/>
            <a:r>
              <a:rPr lang="en-US" dirty="0"/>
              <a:t>Counting n</a:t>
            </a:r>
          </a:p>
          <a:p>
            <a:pPr lvl="1"/>
            <a:r>
              <a:rPr lang="en-US" dirty="0"/>
              <a:t>Building a formula</a:t>
            </a:r>
          </a:p>
        </p:txBody>
      </p:sp>
    </p:spTree>
    <p:extLst>
      <p:ext uri="{BB962C8B-B14F-4D97-AF65-F5344CB8AC3E}">
        <p14:creationId xmlns:p14="http://schemas.microsoft.com/office/powerpoint/2010/main" val="835793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>
            <a:extLst>
              <a:ext uri="{FF2B5EF4-FFF2-40B4-BE49-F238E27FC236}">
                <a16:creationId xmlns:a16="http://schemas.microsoft.com/office/drawing/2014/main" id="{9102C970-8158-0EF0-659D-D535FF75D4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0487" y="2804795"/>
            <a:ext cx="5163312" cy="3688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7CFEFE-1A26-86AF-73E6-60FCFFCB2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Theory: t-test</a:t>
            </a:r>
          </a:p>
        </p:txBody>
      </p:sp>
      <p:pic>
        <p:nvPicPr>
          <p:cNvPr id="1026" name="Picture 2" descr="An independent samples t-test  is a statistical test comparing a bell shaped, normal distribution mean on the left, with a bell shaped, normal distribution and mean on the right.">
            <a:extLst>
              <a:ext uri="{FF2B5EF4-FFF2-40B4-BE49-F238E27FC236}">
                <a16:creationId xmlns:a16="http://schemas.microsoft.com/office/drawing/2014/main" id="{B77D2521-94A4-67E9-C933-BFE060634E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1" y="1826419"/>
            <a:ext cx="5468492" cy="2654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6AC335-739F-385E-A161-BDD8A8E9499A}"/>
              </a:ext>
            </a:extLst>
          </p:cNvPr>
          <p:cNvSpPr txBox="1"/>
          <p:nvPr/>
        </p:nvSpPr>
        <p:spPr>
          <a:xfrm>
            <a:off x="7101444" y="1946275"/>
            <a:ext cx="3057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t = mean difference / variance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D1352A-B135-4ED7-42C1-2E7D726CC199}"/>
              </a:ext>
            </a:extLst>
          </p:cNvPr>
          <p:cNvSpPr txBox="1"/>
          <p:nvPr/>
        </p:nvSpPr>
        <p:spPr>
          <a:xfrm>
            <a:off x="1763490" y="4648835"/>
            <a:ext cx="36179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 distributions for two conditions</a:t>
            </a:r>
          </a:p>
        </p:txBody>
      </p:sp>
    </p:spTree>
    <p:extLst>
      <p:ext uri="{BB962C8B-B14F-4D97-AF65-F5344CB8AC3E}">
        <p14:creationId xmlns:p14="http://schemas.microsoft.com/office/powerpoint/2010/main" val="2556661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F1B35-E616-1902-15FE-E2986EDDB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Inferential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98043-D686-635E-353C-5DD7578387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Running a t-test on data</a:t>
            </a:r>
          </a:p>
          <a:p>
            <a:pPr lvl="1"/>
            <a:r>
              <a:rPr lang="en-US" dirty="0"/>
              <a:t>Two independent samples t-test</a:t>
            </a:r>
          </a:p>
          <a:p>
            <a:pPr lvl="1"/>
            <a:r>
              <a:rPr lang="en-US" dirty="0"/>
              <a:t>Assuming equal variances</a:t>
            </a:r>
          </a:p>
          <a:p>
            <a:pPr lvl="1"/>
            <a:r>
              <a:rPr lang="en-US" dirty="0"/>
              <a:t>Applying a 2-tailed criterion</a:t>
            </a:r>
          </a:p>
          <a:p>
            <a:pPr lvl="2"/>
            <a:r>
              <a:rPr lang="en-US" dirty="0"/>
              <a:t>Alpha = .05</a:t>
            </a:r>
          </a:p>
          <a:p>
            <a:pPr lvl="2"/>
            <a:endParaRPr lang="en-US" dirty="0"/>
          </a:p>
          <a:p>
            <a:r>
              <a:rPr lang="en-US" dirty="0"/>
              <a:t>Software</a:t>
            </a:r>
          </a:p>
          <a:p>
            <a:pPr lvl="1"/>
            <a:r>
              <a:rPr lang="en-US" dirty="0"/>
              <a:t>R &amp; RStudio – free, highly accurate</a:t>
            </a:r>
          </a:p>
          <a:p>
            <a:pPr lvl="1"/>
            <a:r>
              <a:rPr lang="en-US" dirty="0"/>
              <a:t>SPSS – expensive, highly accurate</a:t>
            </a:r>
          </a:p>
          <a:p>
            <a:pPr lvl="1"/>
            <a:r>
              <a:rPr lang="en-US" dirty="0"/>
              <a:t>MS Excel – available, slightly inaccurate</a:t>
            </a:r>
          </a:p>
        </p:txBody>
      </p:sp>
    </p:spTree>
    <p:extLst>
      <p:ext uri="{BB962C8B-B14F-4D97-AF65-F5344CB8AC3E}">
        <p14:creationId xmlns:p14="http://schemas.microsoft.com/office/powerpoint/2010/main" val="382203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1C5FE-547C-68FE-9E4E-DA7623871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00C6D-B729-B674-FFDF-47266A4FA8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Installing R</a:t>
            </a:r>
          </a:p>
          <a:p>
            <a:pPr lvl="1"/>
            <a:r>
              <a:rPr lang="en-US" dirty="0"/>
              <a:t>Installing RStudio</a:t>
            </a:r>
          </a:p>
          <a:p>
            <a:pPr lvl="1"/>
            <a:r>
              <a:rPr lang="en-US" dirty="0"/>
              <a:t>Programming environment</a:t>
            </a:r>
          </a:p>
          <a:p>
            <a:r>
              <a:rPr lang="en-US" dirty="0"/>
              <a:t>Running commands</a:t>
            </a:r>
          </a:p>
          <a:p>
            <a:r>
              <a:rPr lang="en-US" dirty="0"/>
              <a:t>Multiple panes of information</a:t>
            </a:r>
          </a:p>
          <a:p>
            <a:r>
              <a:rPr lang="en-US" dirty="0"/>
              <a:t>Using the correctly formatted version of the data</a:t>
            </a:r>
          </a:p>
          <a:p>
            <a:pPr lvl="1"/>
            <a:r>
              <a:rPr lang="en-US" dirty="0"/>
              <a:t>The ‘.csv’ file is set up slightly differently</a:t>
            </a:r>
          </a:p>
          <a:p>
            <a:r>
              <a:rPr lang="en-US" dirty="0"/>
              <a:t>Following the given recipe</a:t>
            </a:r>
          </a:p>
          <a:p>
            <a:pPr lvl="1"/>
            <a:r>
              <a:rPr lang="en-US" dirty="0"/>
              <a:t>Once everything is configured, just Run-&gt;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7838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71F8C-AB59-145D-C32C-7F22B94B6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statistical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38E0A2-966C-3520-B02D-7DFAF39F31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statistical programs produce a lot of information</a:t>
            </a:r>
          </a:p>
          <a:p>
            <a:pPr lvl="1"/>
            <a:endParaRPr lang="en-US" dirty="0"/>
          </a:p>
          <a:p>
            <a:r>
              <a:rPr lang="en-US" dirty="0"/>
              <a:t>Communicating the results</a:t>
            </a:r>
          </a:p>
          <a:p>
            <a:pPr lvl="1"/>
            <a:r>
              <a:rPr lang="en-US" dirty="0"/>
              <a:t>Parsing the output</a:t>
            </a:r>
          </a:p>
          <a:p>
            <a:pPr lvl="1"/>
            <a:r>
              <a:rPr lang="en-US" dirty="0"/>
              <a:t>Selecting the correct values</a:t>
            </a:r>
          </a:p>
          <a:p>
            <a:pPr lvl="1"/>
            <a:r>
              <a:rPr lang="en-US" dirty="0"/>
              <a:t>Reporting in APA format</a:t>
            </a:r>
          </a:p>
          <a:p>
            <a:pPr lvl="1"/>
            <a:endParaRPr lang="en-US" dirty="0"/>
          </a:p>
          <a:p>
            <a:r>
              <a:rPr lang="en-US" i="1" dirty="0"/>
              <a:t>t</a:t>
            </a:r>
            <a:r>
              <a:rPr lang="en-US" dirty="0"/>
              <a:t>(</a:t>
            </a:r>
            <a:r>
              <a:rPr lang="en-US" dirty="0" err="1"/>
              <a:t>df</a:t>
            </a:r>
            <a:r>
              <a:rPr lang="en-US" dirty="0"/>
              <a:t>) = X.XX, </a:t>
            </a:r>
            <a:r>
              <a:rPr lang="en-US" i="1" dirty="0"/>
              <a:t>p</a:t>
            </a:r>
            <a:r>
              <a:rPr lang="en-US" dirty="0"/>
              <a:t> &lt; .YYY</a:t>
            </a:r>
          </a:p>
          <a:p>
            <a:pPr lvl="1"/>
            <a:r>
              <a:rPr lang="en-US" i="1" dirty="0"/>
              <a:t>t</a:t>
            </a:r>
            <a:r>
              <a:rPr lang="en-US" dirty="0"/>
              <a:t>(</a:t>
            </a:r>
            <a:r>
              <a:rPr lang="en-US" dirty="0" err="1"/>
              <a:t>df</a:t>
            </a:r>
            <a:r>
              <a:rPr lang="en-US" dirty="0"/>
              <a:t>) = X.XX, </a:t>
            </a:r>
            <a:r>
              <a:rPr lang="en-US" i="1" dirty="0"/>
              <a:t>p</a:t>
            </a:r>
            <a:r>
              <a:rPr lang="en-US" dirty="0"/>
              <a:t> = .</a:t>
            </a:r>
            <a:r>
              <a:rPr lang="en-US" dirty="0" err="1"/>
              <a:t>yyy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337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1E14B-5BB3-8AFF-B842-E10F52799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your results section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209DA-9725-6353-37ED-D7514C8734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Includes both descriptive and inferential statistics</a:t>
            </a:r>
          </a:p>
          <a:p>
            <a:r>
              <a:rPr lang="en-US" dirty="0"/>
              <a:t>Give the performance of both groups</a:t>
            </a:r>
          </a:p>
          <a:p>
            <a:r>
              <a:rPr lang="en-US" dirty="0"/>
              <a:t>State the direction of the effect</a:t>
            </a:r>
          </a:p>
          <a:p>
            <a:r>
              <a:rPr lang="en-US" dirty="0"/>
              <a:t>Support with inferential statistics</a:t>
            </a:r>
          </a:p>
          <a:p>
            <a:endParaRPr lang="en-US" dirty="0"/>
          </a:p>
          <a:p>
            <a:r>
              <a:rPr lang="en-US" dirty="0"/>
              <a:t>Very compact, but high-risk</a:t>
            </a:r>
          </a:p>
          <a:p>
            <a:pPr lvl="1"/>
            <a:r>
              <a:rPr lang="en-US" dirty="0"/>
              <a:t>Triple check your numbers</a:t>
            </a:r>
          </a:p>
        </p:txBody>
      </p:sp>
    </p:spTree>
    <p:extLst>
      <p:ext uri="{BB962C8B-B14F-4D97-AF65-F5344CB8AC3E}">
        <p14:creationId xmlns:p14="http://schemas.microsoft.com/office/powerpoint/2010/main" val="11566806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D48A5-14B0-3A4B-6407-06CA9F54F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Fill in the reporting template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AA42D-E153-5BD1-407A-A38BD347E4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cs typeface="Times New Roman" pitchFamily="18" charset="0"/>
              </a:rPr>
              <a:t>“On the recognition test, the </a:t>
            </a:r>
            <a:r>
              <a:rPr lang="en-US" i="1" dirty="0">
                <a:cs typeface="Times New Roman" pitchFamily="18" charset="0"/>
              </a:rPr>
              <a:t>Condition-A</a:t>
            </a:r>
            <a:r>
              <a:rPr lang="en-US" dirty="0">
                <a:cs typeface="Times New Roman" pitchFamily="18" charset="0"/>
              </a:rPr>
              <a:t> participants </a:t>
            </a:r>
            <a:r>
              <a:rPr lang="en-US" i="1" dirty="0">
                <a:cs typeface="Times New Roman" pitchFamily="18" charset="0"/>
              </a:rPr>
              <a:t>exhibited performance</a:t>
            </a:r>
            <a:r>
              <a:rPr lang="en-US" dirty="0">
                <a:cs typeface="Times New Roman" pitchFamily="18" charset="0"/>
              </a:rPr>
              <a:t> of XXX </a:t>
            </a:r>
            <a:r>
              <a:rPr lang="en-US" i="1" dirty="0">
                <a:cs typeface="Times New Roman" pitchFamily="18" charset="0"/>
              </a:rPr>
              <a:t>[units]</a:t>
            </a:r>
            <a:r>
              <a:rPr lang="en-US" dirty="0">
                <a:cs typeface="Times New Roman" pitchFamily="18" charset="0"/>
              </a:rPr>
              <a:t> (SD XX; SE XX) while the </a:t>
            </a:r>
            <a:r>
              <a:rPr lang="en-US" i="1" dirty="0">
                <a:cs typeface="Times New Roman" pitchFamily="18" charset="0"/>
              </a:rPr>
              <a:t>Condition-B</a:t>
            </a:r>
            <a:r>
              <a:rPr lang="en-US" dirty="0">
                <a:cs typeface="Times New Roman" pitchFamily="18" charset="0"/>
              </a:rPr>
              <a:t> participants </a:t>
            </a:r>
            <a:r>
              <a:rPr lang="en-US" i="1" dirty="0">
                <a:cs typeface="Times New Roman" pitchFamily="18" charset="0"/>
              </a:rPr>
              <a:t>exhibited performance</a:t>
            </a:r>
            <a:r>
              <a:rPr lang="en-US" dirty="0">
                <a:cs typeface="Times New Roman" pitchFamily="18" charset="0"/>
              </a:rPr>
              <a:t> of XXX </a:t>
            </a:r>
            <a:r>
              <a:rPr lang="en-US" i="1" dirty="0">
                <a:cs typeface="Times New Roman" pitchFamily="18" charset="0"/>
              </a:rPr>
              <a:t>[units]</a:t>
            </a:r>
            <a:r>
              <a:rPr lang="en-US" dirty="0">
                <a:cs typeface="Times New Roman" pitchFamily="18" charset="0"/>
              </a:rPr>
              <a:t> (SD XX; SE XX).  The </a:t>
            </a:r>
            <a:r>
              <a:rPr lang="en-US" i="1" dirty="0">
                <a:cs typeface="Times New Roman" pitchFamily="18" charset="0"/>
              </a:rPr>
              <a:t>Condition-A </a:t>
            </a:r>
            <a:r>
              <a:rPr lang="en-US" dirty="0">
                <a:cs typeface="Times New Roman" pitchFamily="18" charset="0"/>
              </a:rPr>
              <a:t>group performed significantly better than the </a:t>
            </a:r>
            <a:r>
              <a:rPr lang="en-US" i="1" dirty="0">
                <a:cs typeface="Times New Roman" pitchFamily="18" charset="0"/>
              </a:rPr>
              <a:t>Condition-B</a:t>
            </a:r>
            <a:r>
              <a:rPr lang="en-US" dirty="0">
                <a:cs typeface="Times New Roman" pitchFamily="18" charset="0"/>
              </a:rPr>
              <a:t> group, t(xx)=ZZZ, p&lt;YYY.” </a:t>
            </a:r>
            <a:endParaRPr lang="en-US" dirty="0"/>
          </a:p>
          <a:p>
            <a:endParaRPr lang="en-US" dirty="0"/>
          </a:p>
          <a:p>
            <a:r>
              <a:rPr lang="en-US" dirty="0"/>
              <a:t>Replace</a:t>
            </a:r>
          </a:p>
          <a:p>
            <a:pPr lvl="1"/>
            <a:r>
              <a:rPr lang="en-US" dirty="0"/>
              <a:t>Condition-A, Condition-B</a:t>
            </a:r>
          </a:p>
          <a:p>
            <a:pPr lvl="1"/>
            <a:r>
              <a:rPr lang="en-US" dirty="0"/>
              <a:t>Optionally: ‘exhibited performance’</a:t>
            </a:r>
          </a:p>
          <a:p>
            <a:pPr lvl="1"/>
            <a:r>
              <a:rPr lang="en-US" dirty="0"/>
              <a:t>Include ‘units’</a:t>
            </a:r>
          </a:p>
          <a:p>
            <a:pPr lvl="1"/>
            <a:r>
              <a:rPr lang="en-US" dirty="0"/>
              <a:t>Add all the numbers, descriptive and inferential</a:t>
            </a:r>
          </a:p>
        </p:txBody>
      </p:sp>
    </p:spTree>
    <p:extLst>
      <p:ext uri="{BB962C8B-B14F-4D97-AF65-F5344CB8AC3E}">
        <p14:creationId xmlns:p14="http://schemas.microsoft.com/office/powerpoint/2010/main" val="35880155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75538-7CF1-4357-B9AF-215330F8A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Making a figure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83F20-FDBA-15D3-E599-F84D0926F1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Back to Excel</a:t>
            </a:r>
          </a:p>
          <a:p>
            <a:r>
              <a:rPr lang="en-US" dirty="0"/>
              <a:t>Getting a basic graph is straightforward</a:t>
            </a:r>
          </a:p>
          <a:p>
            <a:r>
              <a:rPr lang="en-US" dirty="0"/>
              <a:t>Necessary edits</a:t>
            </a:r>
          </a:p>
          <a:p>
            <a:pPr lvl="1"/>
            <a:r>
              <a:rPr lang="en-US" dirty="0"/>
              <a:t>Label the y-axis</a:t>
            </a:r>
          </a:p>
          <a:p>
            <a:pPr lvl="1"/>
            <a:r>
              <a:rPr lang="en-US" dirty="0"/>
              <a:t>Add SE bars</a:t>
            </a:r>
          </a:p>
          <a:p>
            <a:r>
              <a:rPr lang="en-US" dirty="0"/>
              <a:t>Recommended edits</a:t>
            </a:r>
          </a:p>
          <a:p>
            <a:pPr lvl="1"/>
            <a:r>
              <a:rPr lang="en-US" dirty="0"/>
              <a:t>Remove title, gridlines</a:t>
            </a:r>
          </a:p>
          <a:p>
            <a:r>
              <a:rPr lang="en-US" dirty="0"/>
              <a:t>Optional edits</a:t>
            </a:r>
          </a:p>
          <a:p>
            <a:pPr lvl="1"/>
            <a:r>
              <a:rPr lang="en-US" dirty="0"/>
              <a:t>Colors, layout, design</a:t>
            </a:r>
          </a:p>
        </p:txBody>
      </p:sp>
    </p:spTree>
    <p:extLst>
      <p:ext uri="{BB962C8B-B14F-4D97-AF65-F5344CB8AC3E}">
        <p14:creationId xmlns:p14="http://schemas.microsoft.com/office/powerpoint/2010/main" val="34524315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424B1-5277-82A6-85F2-2AF1DDCB8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Wed Oct 9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5C299-7371-D361-2C61-3DBF2B9B0A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Chapter 7, APA format writing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14468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26126</TotalTime>
  <Words>388</Words>
  <Application>Microsoft Office PowerPoint</Application>
  <PresentationFormat>Widescreen</PresentationFormat>
  <Paragraphs>84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Calibri Light</vt:lpstr>
      <vt:lpstr>Times New Roman</vt:lpstr>
      <vt:lpstr>Office Theme</vt:lpstr>
      <vt:lpstr>301 Oct 1, Class 7</vt:lpstr>
      <vt:lpstr>Homework questions</vt:lpstr>
      <vt:lpstr>Descriptive statistics for Exp 1</vt:lpstr>
      <vt:lpstr>Theory: t-test</vt:lpstr>
      <vt:lpstr>Practical Inferential Statistics</vt:lpstr>
      <vt:lpstr>Using R</vt:lpstr>
      <vt:lpstr>Reading statistical output</vt:lpstr>
      <vt:lpstr>Writing your results section</vt:lpstr>
      <vt:lpstr>Fill in the reporting template</vt:lpstr>
      <vt:lpstr>Making a figure</vt:lpstr>
      <vt:lpstr>For Wed Oct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205 Oct 3, Class 6</dc:title>
  <dc:creator>Paul Reber</dc:creator>
  <cp:lastModifiedBy>Paul Reber</cp:lastModifiedBy>
  <cp:revision>22</cp:revision>
  <cp:lastPrinted>2024-10-07T14:08:04Z</cp:lastPrinted>
  <dcterms:created xsi:type="dcterms:W3CDTF">2022-09-23T22:23:38Z</dcterms:created>
  <dcterms:modified xsi:type="dcterms:W3CDTF">2025-09-29T17:14:05Z</dcterms:modified>
</cp:coreProperties>
</file>