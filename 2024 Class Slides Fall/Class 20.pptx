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832" r:id="rId3"/>
    <p:sldId id="833" r:id="rId4"/>
    <p:sldId id="834" r:id="rId5"/>
    <p:sldId id="835" r:id="rId6"/>
    <p:sldId id="836" r:id="rId7"/>
    <p:sldId id="828" r:id="rId8"/>
    <p:sldId id="830" r:id="rId9"/>
    <p:sldId id="823" r:id="rId10"/>
    <p:sldId id="824" r:id="rId11"/>
    <p:sldId id="825" r:id="rId12"/>
    <p:sldId id="826" r:id="rId13"/>
    <p:sldId id="829" r:id="rId14"/>
    <p:sldId id="827" r:id="rId15"/>
    <p:sldId id="831" r:id="rId16"/>
  </p:sldIdLst>
  <p:sldSz cx="12192000" cy="6858000"/>
  <p:notesSz cx="7102475" cy="93884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02" autoAdjust="0"/>
    <p:restoredTop sz="94660"/>
  </p:normalViewPr>
  <p:slideViewPr>
    <p:cSldViewPr snapToGrid="0">
      <p:cViewPr varScale="1">
        <p:scale>
          <a:sx n="97" d="100"/>
          <a:sy n="97" d="100"/>
        </p:scale>
        <p:origin x="324"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71054"/>
          </a:xfrm>
          <a:prstGeom prst="rect">
            <a:avLst/>
          </a:prstGeom>
        </p:spPr>
        <p:txBody>
          <a:bodyPr vert="horz" lIns="94229" tIns="47114" rIns="94229" bIns="47114" rtlCol="0"/>
          <a:lstStyle>
            <a:lvl1pPr algn="l">
              <a:defRPr sz="1200"/>
            </a:lvl1pPr>
          </a:lstStyle>
          <a:p>
            <a:endParaRPr lang="en-US"/>
          </a:p>
        </p:txBody>
      </p:sp>
      <p:sp>
        <p:nvSpPr>
          <p:cNvPr id="3" name="Date Placeholder 2"/>
          <p:cNvSpPr>
            <a:spLocks noGrp="1"/>
          </p:cNvSpPr>
          <p:nvPr>
            <p:ph type="dt" idx="1"/>
          </p:nvPr>
        </p:nvSpPr>
        <p:spPr>
          <a:xfrm>
            <a:off x="4023092" y="0"/>
            <a:ext cx="3077739" cy="471054"/>
          </a:xfrm>
          <a:prstGeom prst="rect">
            <a:avLst/>
          </a:prstGeom>
        </p:spPr>
        <p:txBody>
          <a:bodyPr vert="horz" lIns="94229" tIns="47114" rIns="94229" bIns="47114" rtlCol="0"/>
          <a:lstStyle>
            <a:lvl1pPr algn="r">
              <a:defRPr sz="1200"/>
            </a:lvl1pPr>
          </a:lstStyle>
          <a:p>
            <a:fld id="{653F5990-6D27-4645-802A-1A91E80E9775}" type="datetimeFigureOut">
              <a:rPr lang="en-US" smtClean="0"/>
              <a:t>11/9/2024</a:t>
            </a:fld>
            <a:endParaRPr lang="en-US"/>
          </a:p>
        </p:txBody>
      </p:sp>
      <p:sp>
        <p:nvSpPr>
          <p:cNvPr id="4" name="Slide Image Placeholder 3"/>
          <p:cNvSpPr>
            <a:spLocks noGrp="1" noRot="1" noChangeAspect="1"/>
          </p:cNvSpPr>
          <p:nvPr>
            <p:ph type="sldImg" idx="2"/>
          </p:nvPr>
        </p:nvSpPr>
        <p:spPr>
          <a:xfrm>
            <a:off x="735013" y="1173163"/>
            <a:ext cx="5632450" cy="3168650"/>
          </a:xfrm>
          <a:prstGeom prst="rect">
            <a:avLst/>
          </a:prstGeom>
          <a:noFill/>
          <a:ln w="12700">
            <a:solidFill>
              <a:prstClr val="black"/>
            </a:solidFill>
          </a:ln>
        </p:spPr>
        <p:txBody>
          <a:bodyPr vert="horz" lIns="94229" tIns="47114" rIns="94229" bIns="47114" rtlCol="0" anchor="ctr"/>
          <a:lstStyle/>
          <a:p>
            <a:endParaRPr lang="en-US"/>
          </a:p>
        </p:txBody>
      </p:sp>
      <p:sp>
        <p:nvSpPr>
          <p:cNvPr id="5" name="Notes Placeholder 4"/>
          <p:cNvSpPr>
            <a:spLocks noGrp="1"/>
          </p:cNvSpPr>
          <p:nvPr>
            <p:ph type="body" sz="quarter" idx="3"/>
          </p:nvPr>
        </p:nvSpPr>
        <p:spPr>
          <a:xfrm>
            <a:off x="710248" y="4518204"/>
            <a:ext cx="5681980" cy="3696712"/>
          </a:xfrm>
          <a:prstGeom prst="rect">
            <a:avLst/>
          </a:prstGeom>
        </p:spPr>
        <p:txBody>
          <a:bodyPr vert="horz" lIns="94229" tIns="47114" rIns="94229" bIns="4711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7422"/>
            <a:ext cx="3077739" cy="471053"/>
          </a:xfrm>
          <a:prstGeom prst="rect">
            <a:avLst/>
          </a:prstGeom>
        </p:spPr>
        <p:txBody>
          <a:bodyPr vert="horz" lIns="94229" tIns="47114" rIns="94229" bIns="47114"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917422"/>
            <a:ext cx="3077739" cy="471053"/>
          </a:xfrm>
          <a:prstGeom prst="rect">
            <a:avLst/>
          </a:prstGeom>
        </p:spPr>
        <p:txBody>
          <a:bodyPr vert="horz" lIns="94229" tIns="47114" rIns="94229" bIns="47114" rtlCol="0" anchor="b"/>
          <a:lstStyle>
            <a:lvl1pPr algn="r">
              <a:defRPr sz="1200"/>
            </a:lvl1pPr>
          </a:lstStyle>
          <a:p>
            <a:fld id="{E9DF8CE3-EF19-43B2-B53D-940CBC9FD886}" type="slidenum">
              <a:rPr lang="en-US" smtClean="0"/>
              <a:t>‹#›</a:t>
            </a:fld>
            <a:endParaRPr lang="en-US"/>
          </a:p>
        </p:txBody>
      </p:sp>
    </p:spTree>
    <p:extLst>
      <p:ext uri="{BB962C8B-B14F-4D97-AF65-F5344CB8AC3E}">
        <p14:creationId xmlns:p14="http://schemas.microsoft.com/office/powerpoint/2010/main" val="37075324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2B9C7-3C45-F4F1-2005-50D8F1F3FE7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73E52A3-CE31-C363-1875-5EE1007F781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0A5BA55-850B-68CF-B305-766D55971BA5}"/>
              </a:ext>
            </a:extLst>
          </p:cNvPr>
          <p:cNvSpPr>
            <a:spLocks noGrp="1"/>
          </p:cNvSpPr>
          <p:nvPr>
            <p:ph type="dt" sz="half" idx="10"/>
          </p:nvPr>
        </p:nvSpPr>
        <p:spPr/>
        <p:txBody>
          <a:bodyPr/>
          <a:lstStyle/>
          <a:p>
            <a:fld id="{3D4803A8-A464-4769-A6D4-3B6F57CA8CCB}" type="datetimeFigureOut">
              <a:rPr lang="en-US" smtClean="0"/>
              <a:t>11/9/2024</a:t>
            </a:fld>
            <a:endParaRPr lang="en-US"/>
          </a:p>
        </p:txBody>
      </p:sp>
      <p:sp>
        <p:nvSpPr>
          <p:cNvPr id="5" name="Footer Placeholder 4">
            <a:extLst>
              <a:ext uri="{FF2B5EF4-FFF2-40B4-BE49-F238E27FC236}">
                <a16:creationId xmlns:a16="http://schemas.microsoft.com/office/drawing/2014/main" id="{30AFD98E-B051-2650-A833-A62EF452CF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898463-64C6-5C63-617E-73968D18B62C}"/>
              </a:ext>
            </a:extLst>
          </p:cNvPr>
          <p:cNvSpPr>
            <a:spLocks noGrp="1"/>
          </p:cNvSpPr>
          <p:nvPr>
            <p:ph type="sldNum" sz="quarter" idx="12"/>
          </p:nvPr>
        </p:nvSpPr>
        <p:spPr/>
        <p:txBody>
          <a:bodyPr/>
          <a:lstStyle/>
          <a:p>
            <a:fld id="{C8ACB5DB-25B2-4521-8B00-F54C1DE41CB3}" type="slidenum">
              <a:rPr lang="en-US" smtClean="0"/>
              <a:t>‹#›</a:t>
            </a:fld>
            <a:endParaRPr lang="en-US"/>
          </a:p>
        </p:txBody>
      </p:sp>
    </p:spTree>
    <p:extLst>
      <p:ext uri="{BB962C8B-B14F-4D97-AF65-F5344CB8AC3E}">
        <p14:creationId xmlns:p14="http://schemas.microsoft.com/office/powerpoint/2010/main" val="2550478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3E3FC-CE42-FE39-CE43-AA283FA073E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D1B41AE-83E0-897F-10B6-FEB0EF42B5D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40A254-A04A-335A-FEC7-BAA13D299C4D}"/>
              </a:ext>
            </a:extLst>
          </p:cNvPr>
          <p:cNvSpPr>
            <a:spLocks noGrp="1"/>
          </p:cNvSpPr>
          <p:nvPr>
            <p:ph type="dt" sz="half" idx="10"/>
          </p:nvPr>
        </p:nvSpPr>
        <p:spPr/>
        <p:txBody>
          <a:bodyPr/>
          <a:lstStyle/>
          <a:p>
            <a:fld id="{3D4803A8-A464-4769-A6D4-3B6F57CA8CCB}" type="datetimeFigureOut">
              <a:rPr lang="en-US" smtClean="0"/>
              <a:t>11/9/2024</a:t>
            </a:fld>
            <a:endParaRPr lang="en-US"/>
          </a:p>
        </p:txBody>
      </p:sp>
      <p:sp>
        <p:nvSpPr>
          <p:cNvPr id="5" name="Footer Placeholder 4">
            <a:extLst>
              <a:ext uri="{FF2B5EF4-FFF2-40B4-BE49-F238E27FC236}">
                <a16:creationId xmlns:a16="http://schemas.microsoft.com/office/drawing/2014/main" id="{68D199E1-E2C2-50D7-950E-808C5734B4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A66260-A2AC-3F34-2EF8-BBAE1E6929CA}"/>
              </a:ext>
            </a:extLst>
          </p:cNvPr>
          <p:cNvSpPr>
            <a:spLocks noGrp="1"/>
          </p:cNvSpPr>
          <p:nvPr>
            <p:ph type="sldNum" sz="quarter" idx="12"/>
          </p:nvPr>
        </p:nvSpPr>
        <p:spPr/>
        <p:txBody>
          <a:bodyPr/>
          <a:lstStyle/>
          <a:p>
            <a:fld id="{C8ACB5DB-25B2-4521-8B00-F54C1DE41CB3}" type="slidenum">
              <a:rPr lang="en-US" smtClean="0"/>
              <a:t>‹#›</a:t>
            </a:fld>
            <a:endParaRPr lang="en-US"/>
          </a:p>
        </p:txBody>
      </p:sp>
    </p:spTree>
    <p:extLst>
      <p:ext uri="{BB962C8B-B14F-4D97-AF65-F5344CB8AC3E}">
        <p14:creationId xmlns:p14="http://schemas.microsoft.com/office/powerpoint/2010/main" val="31275837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26641-AF8D-8DA1-2EDF-47ABF43CEF8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67E98CB-51C6-679E-8B3E-66A2C4EB28F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0A4B65E-F500-A9CA-C76D-2D1072CBDB0C}"/>
              </a:ext>
            </a:extLst>
          </p:cNvPr>
          <p:cNvSpPr>
            <a:spLocks noGrp="1"/>
          </p:cNvSpPr>
          <p:nvPr>
            <p:ph type="dt" sz="half" idx="10"/>
          </p:nvPr>
        </p:nvSpPr>
        <p:spPr/>
        <p:txBody>
          <a:bodyPr/>
          <a:lstStyle/>
          <a:p>
            <a:fld id="{3D4803A8-A464-4769-A6D4-3B6F57CA8CCB}" type="datetimeFigureOut">
              <a:rPr lang="en-US" smtClean="0"/>
              <a:t>11/9/2024</a:t>
            </a:fld>
            <a:endParaRPr lang="en-US"/>
          </a:p>
        </p:txBody>
      </p:sp>
      <p:sp>
        <p:nvSpPr>
          <p:cNvPr id="5" name="Footer Placeholder 4">
            <a:extLst>
              <a:ext uri="{FF2B5EF4-FFF2-40B4-BE49-F238E27FC236}">
                <a16:creationId xmlns:a16="http://schemas.microsoft.com/office/drawing/2014/main" id="{C61AD4D4-3A0A-34D9-47DF-A3369937B3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2BDDC5-B0F2-2D64-9342-55DF8DF0AF37}"/>
              </a:ext>
            </a:extLst>
          </p:cNvPr>
          <p:cNvSpPr>
            <a:spLocks noGrp="1"/>
          </p:cNvSpPr>
          <p:nvPr>
            <p:ph type="sldNum" sz="quarter" idx="12"/>
          </p:nvPr>
        </p:nvSpPr>
        <p:spPr/>
        <p:txBody>
          <a:bodyPr/>
          <a:lstStyle/>
          <a:p>
            <a:fld id="{C8ACB5DB-25B2-4521-8B00-F54C1DE41CB3}" type="slidenum">
              <a:rPr lang="en-US" smtClean="0"/>
              <a:t>‹#›</a:t>
            </a:fld>
            <a:endParaRPr lang="en-US"/>
          </a:p>
        </p:txBody>
      </p:sp>
    </p:spTree>
    <p:extLst>
      <p:ext uri="{BB962C8B-B14F-4D97-AF65-F5344CB8AC3E}">
        <p14:creationId xmlns:p14="http://schemas.microsoft.com/office/powerpoint/2010/main" val="7887514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91E9A-8611-6D0E-0DF2-1869459A8E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FF2414-F0E1-3BF7-2FA8-BFA17B3244F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F13501F-62E8-16A4-DBC4-E73581C25F9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EFC666B-39C9-1E1F-7C99-C27D39A53381}"/>
              </a:ext>
            </a:extLst>
          </p:cNvPr>
          <p:cNvSpPr>
            <a:spLocks noGrp="1"/>
          </p:cNvSpPr>
          <p:nvPr>
            <p:ph type="dt" sz="half" idx="10"/>
          </p:nvPr>
        </p:nvSpPr>
        <p:spPr/>
        <p:txBody>
          <a:bodyPr/>
          <a:lstStyle/>
          <a:p>
            <a:fld id="{3D4803A8-A464-4769-A6D4-3B6F57CA8CCB}" type="datetimeFigureOut">
              <a:rPr lang="en-US" smtClean="0"/>
              <a:t>11/9/2024</a:t>
            </a:fld>
            <a:endParaRPr lang="en-US"/>
          </a:p>
        </p:txBody>
      </p:sp>
      <p:sp>
        <p:nvSpPr>
          <p:cNvPr id="6" name="Footer Placeholder 5">
            <a:extLst>
              <a:ext uri="{FF2B5EF4-FFF2-40B4-BE49-F238E27FC236}">
                <a16:creationId xmlns:a16="http://schemas.microsoft.com/office/drawing/2014/main" id="{AF84D153-62B9-FE31-101B-9D053C1212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F5BD8CE-E571-93E4-120F-75F347A857F4}"/>
              </a:ext>
            </a:extLst>
          </p:cNvPr>
          <p:cNvSpPr>
            <a:spLocks noGrp="1"/>
          </p:cNvSpPr>
          <p:nvPr>
            <p:ph type="sldNum" sz="quarter" idx="12"/>
          </p:nvPr>
        </p:nvSpPr>
        <p:spPr/>
        <p:txBody>
          <a:bodyPr/>
          <a:lstStyle/>
          <a:p>
            <a:fld id="{C8ACB5DB-25B2-4521-8B00-F54C1DE41CB3}" type="slidenum">
              <a:rPr lang="en-US" smtClean="0"/>
              <a:t>‹#›</a:t>
            </a:fld>
            <a:endParaRPr lang="en-US"/>
          </a:p>
        </p:txBody>
      </p:sp>
    </p:spTree>
    <p:extLst>
      <p:ext uri="{BB962C8B-B14F-4D97-AF65-F5344CB8AC3E}">
        <p14:creationId xmlns:p14="http://schemas.microsoft.com/office/powerpoint/2010/main" val="30044620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38D19-DC89-5394-F1F0-204BABBF17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B5128FE-3595-4FEC-8FBC-7838321EA64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2AE7561-444F-7962-A18F-A3C709D1181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32C06C2-4A79-017A-40C4-0ED4589DC3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22FA4BA-81BA-0862-DDAB-9BBB71EE25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7CEE46B-414E-12E7-3310-35311C968768}"/>
              </a:ext>
            </a:extLst>
          </p:cNvPr>
          <p:cNvSpPr>
            <a:spLocks noGrp="1"/>
          </p:cNvSpPr>
          <p:nvPr>
            <p:ph type="dt" sz="half" idx="10"/>
          </p:nvPr>
        </p:nvSpPr>
        <p:spPr/>
        <p:txBody>
          <a:bodyPr/>
          <a:lstStyle/>
          <a:p>
            <a:fld id="{3D4803A8-A464-4769-A6D4-3B6F57CA8CCB}" type="datetimeFigureOut">
              <a:rPr lang="en-US" smtClean="0"/>
              <a:t>11/9/2024</a:t>
            </a:fld>
            <a:endParaRPr lang="en-US"/>
          </a:p>
        </p:txBody>
      </p:sp>
      <p:sp>
        <p:nvSpPr>
          <p:cNvPr id="8" name="Footer Placeholder 7">
            <a:extLst>
              <a:ext uri="{FF2B5EF4-FFF2-40B4-BE49-F238E27FC236}">
                <a16:creationId xmlns:a16="http://schemas.microsoft.com/office/drawing/2014/main" id="{92FE01C2-28F7-6D78-84A3-9326CE0E9D4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5F8E38C-8876-1034-2DFB-6089AA73F300}"/>
              </a:ext>
            </a:extLst>
          </p:cNvPr>
          <p:cNvSpPr>
            <a:spLocks noGrp="1"/>
          </p:cNvSpPr>
          <p:nvPr>
            <p:ph type="sldNum" sz="quarter" idx="12"/>
          </p:nvPr>
        </p:nvSpPr>
        <p:spPr/>
        <p:txBody>
          <a:bodyPr/>
          <a:lstStyle/>
          <a:p>
            <a:fld id="{C8ACB5DB-25B2-4521-8B00-F54C1DE41CB3}" type="slidenum">
              <a:rPr lang="en-US" smtClean="0"/>
              <a:t>‹#›</a:t>
            </a:fld>
            <a:endParaRPr lang="en-US"/>
          </a:p>
        </p:txBody>
      </p:sp>
    </p:spTree>
    <p:extLst>
      <p:ext uri="{BB962C8B-B14F-4D97-AF65-F5344CB8AC3E}">
        <p14:creationId xmlns:p14="http://schemas.microsoft.com/office/powerpoint/2010/main" val="18995532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11C0E-DC5E-FA9C-6559-05A7245CD3E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C4954B7-5B48-9E5D-C890-62FB0A0B3B63}"/>
              </a:ext>
            </a:extLst>
          </p:cNvPr>
          <p:cNvSpPr>
            <a:spLocks noGrp="1"/>
          </p:cNvSpPr>
          <p:nvPr>
            <p:ph type="dt" sz="half" idx="10"/>
          </p:nvPr>
        </p:nvSpPr>
        <p:spPr/>
        <p:txBody>
          <a:bodyPr/>
          <a:lstStyle/>
          <a:p>
            <a:fld id="{3D4803A8-A464-4769-A6D4-3B6F57CA8CCB}" type="datetimeFigureOut">
              <a:rPr lang="en-US" smtClean="0"/>
              <a:t>11/9/2024</a:t>
            </a:fld>
            <a:endParaRPr lang="en-US"/>
          </a:p>
        </p:txBody>
      </p:sp>
      <p:sp>
        <p:nvSpPr>
          <p:cNvPr id="4" name="Footer Placeholder 3">
            <a:extLst>
              <a:ext uri="{FF2B5EF4-FFF2-40B4-BE49-F238E27FC236}">
                <a16:creationId xmlns:a16="http://schemas.microsoft.com/office/drawing/2014/main" id="{30E4FE3C-442A-0934-8201-5F1AEF9F9C8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B43E679-24D6-BDB3-93EB-2C4DAC6B5292}"/>
              </a:ext>
            </a:extLst>
          </p:cNvPr>
          <p:cNvSpPr>
            <a:spLocks noGrp="1"/>
          </p:cNvSpPr>
          <p:nvPr>
            <p:ph type="sldNum" sz="quarter" idx="12"/>
          </p:nvPr>
        </p:nvSpPr>
        <p:spPr/>
        <p:txBody>
          <a:bodyPr/>
          <a:lstStyle/>
          <a:p>
            <a:fld id="{C8ACB5DB-25B2-4521-8B00-F54C1DE41CB3}" type="slidenum">
              <a:rPr lang="en-US" smtClean="0"/>
              <a:t>‹#›</a:t>
            </a:fld>
            <a:endParaRPr lang="en-US"/>
          </a:p>
        </p:txBody>
      </p:sp>
    </p:spTree>
    <p:extLst>
      <p:ext uri="{BB962C8B-B14F-4D97-AF65-F5344CB8AC3E}">
        <p14:creationId xmlns:p14="http://schemas.microsoft.com/office/powerpoint/2010/main" val="31533295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019199A-276E-745C-9817-D77138652C25}"/>
              </a:ext>
            </a:extLst>
          </p:cNvPr>
          <p:cNvSpPr>
            <a:spLocks noGrp="1"/>
          </p:cNvSpPr>
          <p:nvPr>
            <p:ph type="dt" sz="half" idx="10"/>
          </p:nvPr>
        </p:nvSpPr>
        <p:spPr/>
        <p:txBody>
          <a:bodyPr/>
          <a:lstStyle/>
          <a:p>
            <a:fld id="{3D4803A8-A464-4769-A6D4-3B6F57CA8CCB}" type="datetimeFigureOut">
              <a:rPr lang="en-US" smtClean="0"/>
              <a:t>11/9/2024</a:t>
            </a:fld>
            <a:endParaRPr lang="en-US"/>
          </a:p>
        </p:txBody>
      </p:sp>
      <p:sp>
        <p:nvSpPr>
          <p:cNvPr id="3" name="Footer Placeholder 2">
            <a:extLst>
              <a:ext uri="{FF2B5EF4-FFF2-40B4-BE49-F238E27FC236}">
                <a16:creationId xmlns:a16="http://schemas.microsoft.com/office/drawing/2014/main" id="{11615B28-2420-CF37-01A5-E1808EC555A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A3836AF-61C0-B7D0-DF39-25661347DCBF}"/>
              </a:ext>
            </a:extLst>
          </p:cNvPr>
          <p:cNvSpPr>
            <a:spLocks noGrp="1"/>
          </p:cNvSpPr>
          <p:nvPr>
            <p:ph type="sldNum" sz="quarter" idx="12"/>
          </p:nvPr>
        </p:nvSpPr>
        <p:spPr/>
        <p:txBody>
          <a:bodyPr/>
          <a:lstStyle/>
          <a:p>
            <a:fld id="{C8ACB5DB-25B2-4521-8B00-F54C1DE41CB3}" type="slidenum">
              <a:rPr lang="en-US" smtClean="0"/>
              <a:t>‹#›</a:t>
            </a:fld>
            <a:endParaRPr lang="en-US"/>
          </a:p>
        </p:txBody>
      </p:sp>
    </p:spTree>
    <p:extLst>
      <p:ext uri="{BB962C8B-B14F-4D97-AF65-F5344CB8AC3E}">
        <p14:creationId xmlns:p14="http://schemas.microsoft.com/office/powerpoint/2010/main" val="3291558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81670-4ABC-27EB-D093-CDB9278ACF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CC7E89E-AE37-41CC-AD2F-77F4203E542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64347BA-1709-B201-A5FE-D9811D7163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393C115-7178-2E7C-8B03-94ADA0A15456}"/>
              </a:ext>
            </a:extLst>
          </p:cNvPr>
          <p:cNvSpPr>
            <a:spLocks noGrp="1"/>
          </p:cNvSpPr>
          <p:nvPr>
            <p:ph type="dt" sz="half" idx="10"/>
          </p:nvPr>
        </p:nvSpPr>
        <p:spPr/>
        <p:txBody>
          <a:bodyPr/>
          <a:lstStyle/>
          <a:p>
            <a:fld id="{3D4803A8-A464-4769-A6D4-3B6F57CA8CCB}" type="datetimeFigureOut">
              <a:rPr lang="en-US" smtClean="0"/>
              <a:t>11/9/2024</a:t>
            </a:fld>
            <a:endParaRPr lang="en-US"/>
          </a:p>
        </p:txBody>
      </p:sp>
      <p:sp>
        <p:nvSpPr>
          <p:cNvPr id="6" name="Footer Placeholder 5">
            <a:extLst>
              <a:ext uri="{FF2B5EF4-FFF2-40B4-BE49-F238E27FC236}">
                <a16:creationId xmlns:a16="http://schemas.microsoft.com/office/drawing/2014/main" id="{596FFA71-BB1F-8FFF-F050-6BE8C76BBA5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5299FB-00FF-4C0F-02B9-030E928A9DF2}"/>
              </a:ext>
            </a:extLst>
          </p:cNvPr>
          <p:cNvSpPr>
            <a:spLocks noGrp="1"/>
          </p:cNvSpPr>
          <p:nvPr>
            <p:ph type="sldNum" sz="quarter" idx="12"/>
          </p:nvPr>
        </p:nvSpPr>
        <p:spPr/>
        <p:txBody>
          <a:bodyPr/>
          <a:lstStyle/>
          <a:p>
            <a:fld id="{C8ACB5DB-25B2-4521-8B00-F54C1DE41CB3}" type="slidenum">
              <a:rPr lang="en-US" smtClean="0"/>
              <a:t>‹#›</a:t>
            </a:fld>
            <a:endParaRPr lang="en-US"/>
          </a:p>
        </p:txBody>
      </p:sp>
    </p:spTree>
    <p:extLst>
      <p:ext uri="{BB962C8B-B14F-4D97-AF65-F5344CB8AC3E}">
        <p14:creationId xmlns:p14="http://schemas.microsoft.com/office/powerpoint/2010/main" val="29695725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BB802-A378-61B1-99FD-CBF979A5A6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6A4D6FA-7342-0331-52AE-563B8C8A06F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11976A5-01B8-984F-A343-9395A3F6D6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BF1E93-E00F-5D4B-DE0A-CBC0F421411B}"/>
              </a:ext>
            </a:extLst>
          </p:cNvPr>
          <p:cNvSpPr>
            <a:spLocks noGrp="1"/>
          </p:cNvSpPr>
          <p:nvPr>
            <p:ph type="dt" sz="half" idx="10"/>
          </p:nvPr>
        </p:nvSpPr>
        <p:spPr/>
        <p:txBody>
          <a:bodyPr/>
          <a:lstStyle/>
          <a:p>
            <a:fld id="{3D4803A8-A464-4769-A6D4-3B6F57CA8CCB}" type="datetimeFigureOut">
              <a:rPr lang="en-US" smtClean="0"/>
              <a:t>11/9/2024</a:t>
            </a:fld>
            <a:endParaRPr lang="en-US"/>
          </a:p>
        </p:txBody>
      </p:sp>
      <p:sp>
        <p:nvSpPr>
          <p:cNvPr id="6" name="Footer Placeholder 5">
            <a:extLst>
              <a:ext uri="{FF2B5EF4-FFF2-40B4-BE49-F238E27FC236}">
                <a16:creationId xmlns:a16="http://schemas.microsoft.com/office/drawing/2014/main" id="{BD00B906-E5D7-1F6F-EF0F-62770AFBC3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CC8828-7850-D487-E5E7-B03764FF9BE6}"/>
              </a:ext>
            </a:extLst>
          </p:cNvPr>
          <p:cNvSpPr>
            <a:spLocks noGrp="1"/>
          </p:cNvSpPr>
          <p:nvPr>
            <p:ph type="sldNum" sz="quarter" idx="12"/>
          </p:nvPr>
        </p:nvSpPr>
        <p:spPr/>
        <p:txBody>
          <a:bodyPr/>
          <a:lstStyle/>
          <a:p>
            <a:fld id="{C8ACB5DB-25B2-4521-8B00-F54C1DE41CB3}" type="slidenum">
              <a:rPr lang="en-US" smtClean="0"/>
              <a:t>‹#›</a:t>
            </a:fld>
            <a:endParaRPr lang="en-US"/>
          </a:p>
        </p:txBody>
      </p:sp>
    </p:spTree>
    <p:extLst>
      <p:ext uri="{BB962C8B-B14F-4D97-AF65-F5344CB8AC3E}">
        <p14:creationId xmlns:p14="http://schemas.microsoft.com/office/powerpoint/2010/main" val="33957513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6BE059-A698-6C72-0CB6-D988A27E2F1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B6597D5-2600-ED6F-A5AD-54609FECB51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AD14DB-3160-4602-934A-A5E2D2A929D8}"/>
              </a:ext>
            </a:extLst>
          </p:cNvPr>
          <p:cNvSpPr>
            <a:spLocks noGrp="1"/>
          </p:cNvSpPr>
          <p:nvPr>
            <p:ph type="dt" sz="half" idx="10"/>
          </p:nvPr>
        </p:nvSpPr>
        <p:spPr/>
        <p:txBody>
          <a:bodyPr/>
          <a:lstStyle/>
          <a:p>
            <a:fld id="{3D4803A8-A464-4769-A6D4-3B6F57CA8CCB}" type="datetimeFigureOut">
              <a:rPr lang="en-US" smtClean="0"/>
              <a:t>11/9/2024</a:t>
            </a:fld>
            <a:endParaRPr lang="en-US"/>
          </a:p>
        </p:txBody>
      </p:sp>
      <p:sp>
        <p:nvSpPr>
          <p:cNvPr id="5" name="Footer Placeholder 4">
            <a:extLst>
              <a:ext uri="{FF2B5EF4-FFF2-40B4-BE49-F238E27FC236}">
                <a16:creationId xmlns:a16="http://schemas.microsoft.com/office/drawing/2014/main" id="{D5751625-EBBD-9E6E-E55E-D6A4A0FB21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70BAE8-96D4-7FB1-32CC-BE1B928A783F}"/>
              </a:ext>
            </a:extLst>
          </p:cNvPr>
          <p:cNvSpPr>
            <a:spLocks noGrp="1"/>
          </p:cNvSpPr>
          <p:nvPr>
            <p:ph type="sldNum" sz="quarter" idx="12"/>
          </p:nvPr>
        </p:nvSpPr>
        <p:spPr/>
        <p:txBody>
          <a:bodyPr/>
          <a:lstStyle/>
          <a:p>
            <a:fld id="{C8ACB5DB-25B2-4521-8B00-F54C1DE41CB3}" type="slidenum">
              <a:rPr lang="en-US" smtClean="0"/>
              <a:t>‹#›</a:t>
            </a:fld>
            <a:endParaRPr lang="en-US"/>
          </a:p>
        </p:txBody>
      </p:sp>
    </p:spTree>
    <p:extLst>
      <p:ext uri="{BB962C8B-B14F-4D97-AF65-F5344CB8AC3E}">
        <p14:creationId xmlns:p14="http://schemas.microsoft.com/office/powerpoint/2010/main" val="28335454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DFD6D0-E1C8-B85B-7B5C-3D4992680F3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9F887D1-0CCD-13A2-3542-A8CE1473D2E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195726-47DE-82E8-90D1-16BAD7840847}"/>
              </a:ext>
            </a:extLst>
          </p:cNvPr>
          <p:cNvSpPr>
            <a:spLocks noGrp="1"/>
          </p:cNvSpPr>
          <p:nvPr>
            <p:ph type="dt" sz="half" idx="10"/>
          </p:nvPr>
        </p:nvSpPr>
        <p:spPr/>
        <p:txBody>
          <a:bodyPr/>
          <a:lstStyle/>
          <a:p>
            <a:fld id="{3D4803A8-A464-4769-A6D4-3B6F57CA8CCB}" type="datetimeFigureOut">
              <a:rPr lang="en-US" smtClean="0"/>
              <a:t>11/9/2024</a:t>
            </a:fld>
            <a:endParaRPr lang="en-US"/>
          </a:p>
        </p:txBody>
      </p:sp>
      <p:sp>
        <p:nvSpPr>
          <p:cNvPr id="5" name="Footer Placeholder 4">
            <a:extLst>
              <a:ext uri="{FF2B5EF4-FFF2-40B4-BE49-F238E27FC236}">
                <a16:creationId xmlns:a16="http://schemas.microsoft.com/office/drawing/2014/main" id="{D9F4F17F-3981-BF91-3C2C-47999DA4A1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EAFE37-1B0D-E75F-F6A8-9184FCBBBB3D}"/>
              </a:ext>
            </a:extLst>
          </p:cNvPr>
          <p:cNvSpPr>
            <a:spLocks noGrp="1"/>
          </p:cNvSpPr>
          <p:nvPr>
            <p:ph type="sldNum" sz="quarter" idx="12"/>
          </p:nvPr>
        </p:nvSpPr>
        <p:spPr/>
        <p:txBody>
          <a:bodyPr/>
          <a:lstStyle/>
          <a:p>
            <a:fld id="{C8ACB5DB-25B2-4521-8B00-F54C1DE41CB3}" type="slidenum">
              <a:rPr lang="en-US" smtClean="0"/>
              <a:t>‹#›</a:t>
            </a:fld>
            <a:endParaRPr lang="en-US"/>
          </a:p>
        </p:txBody>
      </p:sp>
    </p:spTree>
    <p:extLst>
      <p:ext uri="{BB962C8B-B14F-4D97-AF65-F5344CB8AC3E}">
        <p14:creationId xmlns:p14="http://schemas.microsoft.com/office/powerpoint/2010/main" val="21961223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E748DE1-D4F0-6B37-08C5-A5CA50BF98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E989D49-FA11-F602-55B3-624A7CCD96E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51DE3B-5914-7914-4670-BC6F2DBE10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D4803A8-A464-4769-A6D4-3B6F57CA8CCB}" type="datetimeFigureOut">
              <a:rPr lang="en-US" smtClean="0"/>
              <a:t>11/9/2024</a:t>
            </a:fld>
            <a:endParaRPr lang="en-US"/>
          </a:p>
        </p:txBody>
      </p:sp>
      <p:sp>
        <p:nvSpPr>
          <p:cNvPr id="5" name="Footer Placeholder 4">
            <a:extLst>
              <a:ext uri="{FF2B5EF4-FFF2-40B4-BE49-F238E27FC236}">
                <a16:creationId xmlns:a16="http://schemas.microsoft.com/office/drawing/2014/main" id="{894F76DD-6861-2B58-1063-9D2EE328436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3905147-82C0-943E-1902-E4BF997AB47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8ACB5DB-25B2-4521-8B00-F54C1DE41CB3}" type="slidenum">
              <a:rPr lang="en-US" smtClean="0"/>
              <a:t>‹#›</a:t>
            </a:fld>
            <a:endParaRPr lang="en-US"/>
          </a:p>
        </p:txBody>
      </p:sp>
    </p:spTree>
    <p:extLst>
      <p:ext uri="{BB962C8B-B14F-4D97-AF65-F5344CB8AC3E}">
        <p14:creationId xmlns:p14="http://schemas.microsoft.com/office/powerpoint/2010/main" val="30743331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C6E12B2-DC60-BD35-FBB9-704CB5682524}"/>
              </a:ext>
            </a:extLst>
          </p:cNvPr>
          <p:cNvSpPr>
            <a:spLocks noGrp="1"/>
          </p:cNvSpPr>
          <p:nvPr>
            <p:ph type="title"/>
          </p:nvPr>
        </p:nvSpPr>
        <p:spPr/>
        <p:txBody>
          <a:bodyPr/>
          <a:lstStyle/>
          <a:p>
            <a:r>
              <a:rPr lang="en-US" dirty="0"/>
              <a:t>205 Nov 11, Class 20</a:t>
            </a:r>
          </a:p>
        </p:txBody>
      </p:sp>
      <p:sp>
        <p:nvSpPr>
          <p:cNvPr id="5" name="Content Placeholder 4">
            <a:extLst>
              <a:ext uri="{FF2B5EF4-FFF2-40B4-BE49-F238E27FC236}">
                <a16:creationId xmlns:a16="http://schemas.microsoft.com/office/drawing/2014/main" id="{04BC3F97-3EB7-75CA-EADA-08992E249BBF}"/>
              </a:ext>
            </a:extLst>
          </p:cNvPr>
          <p:cNvSpPr>
            <a:spLocks noGrp="1"/>
          </p:cNvSpPr>
          <p:nvPr>
            <p:ph idx="1"/>
          </p:nvPr>
        </p:nvSpPr>
        <p:spPr/>
        <p:txBody>
          <a:bodyPr/>
          <a:lstStyle/>
          <a:p>
            <a:r>
              <a:rPr lang="en-US" dirty="0"/>
              <a:t>Chapter 17: Qualitative Research</a:t>
            </a:r>
          </a:p>
          <a:p>
            <a:endParaRPr lang="en-US" dirty="0"/>
          </a:p>
          <a:p>
            <a:r>
              <a:rPr lang="en-US" dirty="0"/>
              <a:t>Final project progress review</a:t>
            </a:r>
          </a:p>
          <a:p>
            <a:endParaRPr lang="en-US" dirty="0"/>
          </a:p>
          <a:p>
            <a:endParaRPr lang="en-US" dirty="0"/>
          </a:p>
        </p:txBody>
      </p:sp>
    </p:spTree>
    <p:extLst>
      <p:ext uri="{BB962C8B-B14F-4D97-AF65-F5344CB8AC3E}">
        <p14:creationId xmlns:p14="http://schemas.microsoft.com/office/powerpoint/2010/main" val="31956384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A3D1C-6B30-4705-0137-EC2193CE3DC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099FE58-E15C-AF99-192A-CA7E8499F36C}"/>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95925D3A-B78D-C39B-064F-D7B238B6DBCA}"/>
              </a:ext>
            </a:extLst>
          </p:cNvPr>
          <p:cNvPicPr>
            <a:picLocks noChangeAspect="1"/>
          </p:cNvPicPr>
          <p:nvPr/>
        </p:nvPicPr>
        <p:blipFill>
          <a:blip r:embed="rId2"/>
          <a:stretch>
            <a:fillRect/>
          </a:stretch>
        </p:blipFill>
        <p:spPr>
          <a:xfrm>
            <a:off x="1836020" y="365125"/>
            <a:ext cx="8497683" cy="6153495"/>
          </a:xfrm>
          <a:prstGeom prst="rect">
            <a:avLst/>
          </a:prstGeom>
        </p:spPr>
      </p:pic>
    </p:spTree>
    <p:extLst>
      <p:ext uri="{BB962C8B-B14F-4D97-AF65-F5344CB8AC3E}">
        <p14:creationId xmlns:p14="http://schemas.microsoft.com/office/powerpoint/2010/main" val="934194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BD442-E9F6-9E03-A41B-5189516DDC38}"/>
              </a:ext>
            </a:extLst>
          </p:cNvPr>
          <p:cNvSpPr>
            <a:spLocks noGrp="1"/>
          </p:cNvSpPr>
          <p:nvPr>
            <p:ph type="title"/>
          </p:nvPr>
        </p:nvSpPr>
        <p:spPr/>
        <p:txBody>
          <a:bodyPr/>
          <a:lstStyle/>
          <a:p>
            <a:endParaRPr lang="en-US"/>
          </a:p>
        </p:txBody>
      </p:sp>
      <p:pic>
        <p:nvPicPr>
          <p:cNvPr id="9" name="Content Placeholder 8">
            <a:extLst>
              <a:ext uri="{FF2B5EF4-FFF2-40B4-BE49-F238E27FC236}">
                <a16:creationId xmlns:a16="http://schemas.microsoft.com/office/drawing/2014/main" id="{D513D425-B194-0F68-616E-FE0D5A1884E1}"/>
              </a:ext>
            </a:extLst>
          </p:cNvPr>
          <p:cNvPicPr>
            <a:picLocks noGrp="1" noChangeAspect="1"/>
          </p:cNvPicPr>
          <p:nvPr>
            <p:ph idx="1"/>
          </p:nvPr>
        </p:nvPicPr>
        <p:blipFill>
          <a:blip r:embed="rId2"/>
          <a:stretch>
            <a:fillRect/>
          </a:stretch>
        </p:blipFill>
        <p:spPr>
          <a:xfrm>
            <a:off x="5565211" y="173319"/>
            <a:ext cx="3971925" cy="2543175"/>
          </a:xfrm>
        </p:spPr>
      </p:pic>
      <p:pic>
        <p:nvPicPr>
          <p:cNvPr id="5" name="Picture 4">
            <a:extLst>
              <a:ext uri="{FF2B5EF4-FFF2-40B4-BE49-F238E27FC236}">
                <a16:creationId xmlns:a16="http://schemas.microsoft.com/office/drawing/2014/main" id="{33FD6701-24A8-9E29-524C-D5F462B10EA1}"/>
              </a:ext>
            </a:extLst>
          </p:cNvPr>
          <p:cNvPicPr>
            <a:picLocks noChangeAspect="1"/>
          </p:cNvPicPr>
          <p:nvPr/>
        </p:nvPicPr>
        <p:blipFill>
          <a:blip r:embed="rId3"/>
          <a:stretch>
            <a:fillRect/>
          </a:stretch>
        </p:blipFill>
        <p:spPr>
          <a:xfrm>
            <a:off x="838200" y="296862"/>
            <a:ext cx="3724275" cy="3057525"/>
          </a:xfrm>
          <a:prstGeom prst="rect">
            <a:avLst/>
          </a:prstGeom>
        </p:spPr>
      </p:pic>
      <p:pic>
        <p:nvPicPr>
          <p:cNvPr id="11" name="Picture 10">
            <a:extLst>
              <a:ext uri="{FF2B5EF4-FFF2-40B4-BE49-F238E27FC236}">
                <a16:creationId xmlns:a16="http://schemas.microsoft.com/office/drawing/2014/main" id="{74920F99-4746-EAFC-BD16-44453AEF9C5A}"/>
              </a:ext>
            </a:extLst>
          </p:cNvPr>
          <p:cNvPicPr>
            <a:picLocks noChangeAspect="1"/>
          </p:cNvPicPr>
          <p:nvPr/>
        </p:nvPicPr>
        <p:blipFill>
          <a:blip r:embed="rId4"/>
          <a:stretch>
            <a:fillRect/>
          </a:stretch>
        </p:blipFill>
        <p:spPr>
          <a:xfrm>
            <a:off x="838200" y="3270608"/>
            <a:ext cx="3762375" cy="1457325"/>
          </a:xfrm>
          <a:prstGeom prst="rect">
            <a:avLst/>
          </a:prstGeom>
        </p:spPr>
      </p:pic>
      <p:pic>
        <p:nvPicPr>
          <p:cNvPr id="13" name="Picture 12">
            <a:extLst>
              <a:ext uri="{FF2B5EF4-FFF2-40B4-BE49-F238E27FC236}">
                <a16:creationId xmlns:a16="http://schemas.microsoft.com/office/drawing/2014/main" id="{671AAF7E-003C-956C-9626-3CD81BB94659}"/>
              </a:ext>
            </a:extLst>
          </p:cNvPr>
          <p:cNvPicPr>
            <a:picLocks noChangeAspect="1"/>
          </p:cNvPicPr>
          <p:nvPr/>
        </p:nvPicPr>
        <p:blipFill>
          <a:blip r:embed="rId5"/>
          <a:stretch>
            <a:fillRect/>
          </a:stretch>
        </p:blipFill>
        <p:spPr>
          <a:xfrm>
            <a:off x="857250" y="5151270"/>
            <a:ext cx="3743325" cy="790575"/>
          </a:xfrm>
          <a:prstGeom prst="rect">
            <a:avLst/>
          </a:prstGeom>
        </p:spPr>
      </p:pic>
      <p:pic>
        <p:nvPicPr>
          <p:cNvPr id="15" name="Picture 14">
            <a:extLst>
              <a:ext uri="{FF2B5EF4-FFF2-40B4-BE49-F238E27FC236}">
                <a16:creationId xmlns:a16="http://schemas.microsoft.com/office/drawing/2014/main" id="{CFFEB166-92EB-E638-E8A2-CB58E2E9A144}"/>
              </a:ext>
            </a:extLst>
          </p:cNvPr>
          <p:cNvPicPr>
            <a:picLocks noChangeAspect="1"/>
          </p:cNvPicPr>
          <p:nvPr/>
        </p:nvPicPr>
        <p:blipFill>
          <a:blip r:embed="rId6"/>
          <a:stretch>
            <a:fillRect/>
          </a:stretch>
        </p:blipFill>
        <p:spPr>
          <a:xfrm>
            <a:off x="5565211" y="2899132"/>
            <a:ext cx="6353175" cy="2200275"/>
          </a:xfrm>
          <a:prstGeom prst="rect">
            <a:avLst/>
          </a:prstGeom>
        </p:spPr>
      </p:pic>
    </p:spTree>
    <p:extLst>
      <p:ext uri="{BB962C8B-B14F-4D97-AF65-F5344CB8AC3E}">
        <p14:creationId xmlns:p14="http://schemas.microsoft.com/office/powerpoint/2010/main" val="8293520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91BE2CA-45AC-A698-9D90-665B3BC0110C}"/>
              </a:ext>
            </a:extLst>
          </p:cNvPr>
          <p:cNvSpPr>
            <a:spLocks noGrp="1"/>
          </p:cNvSpPr>
          <p:nvPr>
            <p:ph type="title"/>
          </p:nvPr>
        </p:nvSpPr>
        <p:spPr/>
        <p:txBody>
          <a:bodyPr/>
          <a:lstStyle/>
          <a:p>
            <a:r>
              <a:rPr lang="en-US" dirty="0"/>
              <a:t>Exp 2</a:t>
            </a:r>
          </a:p>
        </p:txBody>
      </p:sp>
      <p:sp>
        <p:nvSpPr>
          <p:cNvPr id="5" name="Content Placeholder 4">
            <a:extLst>
              <a:ext uri="{FF2B5EF4-FFF2-40B4-BE49-F238E27FC236}">
                <a16:creationId xmlns:a16="http://schemas.microsoft.com/office/drawing/2014/main" id="{DF1CE734-C0FC-D8E4-4D33-7E5F25498FD1}"/>
              </a:ext>
            </a:extLst>
          </p:cNvPr>
          <p:cNvSpPr>
            <a:spLocks noGrp="1"/>
          </p:cNvSpPr>
          <p:nvPr>
            <p:ph sz="half" idx="1"/>
          </p:nvPr>
        </p:nvSpPr>
        <p:spPr/>
        <p:txBody>
          <a:bodyPr>
            <a:normAutofit fontScale="92500" lnSpcReduction="10000"/>
          </a:bodyPr>
          <a:lstStyle/>
          <a:p>
            <a:pPr algn="l"/>
            <a:r>
              <a:rPr lang="en-US" sz="1800" b="0" i="0" u="none" strike="noStrike" baseline="0" dirty="0">
                <a:latin typeface="ITCGaramondStd-Lt"/>
              </a:rPr>
              <a:t>Participants in the control condition were given a neutral task: “Tomorrow, we would like you to keep track of your activities. You do not need to remember who you were with or how you were feeling during that time. Instead, just try to remember factual information about what you are doing. Do not alter your routine. Simply keep track of what you do.”</a:t>
            </a:r>
          </a:p>
          <a:p>
            <a:pPr algn="l"/>
            <a:r>
              <a:rPr lang="en-US" sz="1800" b="0" i="0" u="none" strike="noStrike" baseline="0" dirty="0">
                <a:latin typeface="ITCGaramondStd-Lt"/>
              </a:rPr>
              <a:t>Participants in the </a:t>
            </a:r>
            <a:r>
              <a:rPr lang="en-US" sz="1800" b="0" i="0" u="none" strike="noStrike" baseline="0" dirty="0" err="1">
                <a:latin typeface="ITCGaramondStd-Lt"/>
              </a:rPr>
              <a:t>proenvironmental</a:t>
            </a:r>
            <a:r>
              <a:rPr lang="en-US" sz="1800" b="0" i="0" u="none" strike="noStrike" baseline="0" dirty="0">
                <a:latin typeface="ITCGaramondStd-Lt"/>
              </a:rPr>
              <a:t> behavior condition received the following instructions: “In our daily lives, we all make choices that affect the environment. Tomorrow, your task is to do three good things for the planet, all three in one day.” We gave a list of example behaviors, including some that would be easy for young adults to implement on any particular day (e.g., “Walk, bike, or take public transportation instead of driving” or “Find a new recipe that uses vegetarian or locally produced ingredients”)…</a:t>
            </a:r>
            <a:endParaRPr lang="en-US" dirty="0"/>
          </a:p>
        </p:txBody>
      </p:sp>
      <p:sp>
        <p:nvSpPr>
          <p:cNvPr id="6" name="Content Placeholder 5">
            <a:extLst>
              <a:ext uri="{FF2B5EF4-FFF2-40B4-BE49-F238E27FC236}">
                <a16:creationId xmlns:a16="http://schemas.microsoft.com/office/drawing/2014/main" id="{CBED12E6-4E5F-24C5-3F3B-EEA8C0D01CB9}"/>
              </a:ext>
            </a:extLst>
          </p:cNvPr>
          <p:cNvSpPr>
            <a:spLocks noGrp="1"/>
          </p:cNvSpPr>
          <p:nvPr>
            <p:ph sz="half" idx="2"/>
          </p:nvPr>
        </p:nvSpPr>
        <p:spPr/>
        <p:txBody>
          <a:bodyPr>
            <a:normAutofit fontScale="92500" lnSpcReduction="10000"/>
          </a:bodyPr>
          <a:lstStyle/>
          <a:p>
            <a:pPr algn="l"/>
            <a:r>
              <a:rPr lang="en-US" sz="1800" b="0" i="0" u="none" strike="noStrike" baseline="0" dirty="0">
                <a:latin typeface="ITCGaramondStd-Lt"/>
              </a:rPr>
              <a:t>Participants in the fun condition received the following instructions: “In our daily lives, we all perform acts of kindness for others, but we often neglect to do nice things for ourselves. Tomorrow, your task is to do three good things for yourself, all three in one day.” We again gave examples (e.g., “Relax in a bath or hot tub” and “Spend some time on a hobby”) and told participants that, although they could do whatever they liked, they should choose activities that they would not typically do for themselves.</a:t>
            </a:r>
          </a:p>
          <a:p>
            <a:pPr algn="l"/>
            <a:endParaRPr lang="en-US" sz="1800" dirty="0">
              <a:latin typeface="ITCGaramondStd-Lt"/>
            </a:endParaRPr>
          </a:p>
          <a:p>
            <a:pPr algn="l"/>
            <a:r>
              <a:rPr lang="en-US" sz="1800" b="0" i="0" u="none" strike="noStrike" baseline="0" dirty="0">
                <a:latin typeface="ITCGaramondStd-Lt"/>
              </a:rPr>
              <a:t>Two days later, participants returned for follow-up. They first completed SWB measures and afterward described in their own words what they had done on the previous day.</a:t>
            </a:r>
            <a:endParaRPr lang="en-US" dirty="0"/>
          </a:p>
        </p:txBody>
      </p:sp>
    </p:spTree>
    <p:extLst>
      <p:ext uri="{BB962C8B-B14F-4D97-AF65-F5344CB8AC3E}">
        <p14:creationId xmlns:p14="http://schemas.microsoft.com/office/powerpoint/2010/main" val="5195867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4BF9B-3211-AEF6-9BAF-211EC244E4F9}"/>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5E2C330B-1E79-936B-2391-16FF5AE5CC8D}"/>
              </a:ext>
            </a:extLst>
          </p:cNvPr>
          <p:cNvPicPr>
            <a:picLocks noGrp="1" noChangeAspect="1"/>
          </p:cNvPicPr>
          <p:nvPr>
            <p:ph sz="half" idx="1"/>
          </p:nvPr>
        </p:nvPicPr>
        <p:blipFill>
          <a:blip r:embed="rId2"/>
          <a:stretch>
            <a:fillRect/>
          </a:stretch>
        </p:blipFill>
        <p:spPr>
          <a:xfrm>
            <a:off x="1576387" y="2034381"/>
            <a:ext cx="3705225" cy="3933825"/>
          </a:xfrm>
        </p:spPr>
      </p:pic>
      <p:sp>
        <p:nvSpPr>
          <p:cNvPr id="4" name="Content Placeholder 3">
            <a:extLst>
              <a:ext uri="{FF2B5EF4-FFF2-40B4-BE49-F238E27FC236}">
                <a16:creationId xmlns:a16="http://schemas.microsoft.com/office/drawing/2014/main" id="{779B1447-4202-92D6-7455-A922FCA146D1}"/>
              </a:ext>
            </a:extLst>
          </p:cNvPr>
          <p:cNvSpPr>
            <a:spLocks noGrp="1"/>
          </p:cNvSpPr>
          <p:nvPr>
            <p:ph sz="half" idx="2"/>
          </p:nvPr>
        </p:nvSpPr>
        <p:spPr/>
        <p:txBody>
          <a:bodyPr/>
          <a:lstStyle/>
          <a:p>
            <a:endParaRPr lang="en-US"/>
          </a:p>
        </p:txBody>
      </p:sp>
      <p:pic>
        <p:nvPicPr>
          <p:cNvPr id="10" name="Picture 9">
            <a:extLst>
              <a:ext uri="{FF2B5EF4-FFF2-40B4-BE49-F238E27FC236}">
                <a16:creationId xmlns:a16="http://schemas.microsoft.com/office/drawing/2014/main" id="{F42F0C46-8C21-5DE4-3E5A-D09A5248AF8D}"/>
              </a:ext>
            </a:extLst>
          </p:cNvPr>
          <p:cNvPicPr>
            <a:picLocks noChangeAspect="1"/>
          </p:cNvPicPr>
          <p:nvPr/>
        </p:nvPicPr>
        <p:blipFill>
          <a:blip r:embed="rId3"/>
          <a:stretch>
            <a:fillRect/>
          </a:stretch>
        </p:blipFill>
        <p:spPr>
          <a:xfrm>
            <a:off x="6095999" y="1690687"/>
            <a:ext cx="4572000" cy="2150838"/>
          </a:xfrm>
          <a:prstGeom prst="rect">
            <a:avLst/>
          </a:prstGeom>
        </p:spPr>
      </p:pic>
      <p:pic>
        <p:nvPicPr>
          <p:cNvPr id="12" name="Picture 11">
            <a:extLst>
              <a:ext uri="{FF2B5EF4-FFF2-40B4-BE49-F238E27FC236}">
                <a16:creationId xmlns:a16="http://schemas.microsoft.com/office/drawing/2014/main" id="{70CC6C63-C29F-4950-BED8-B5BC014B919C}"/>
              </a:ext>
            </a:extLst>
          </p:cNvPr>
          <p:cNvPicPr>
            <a:picLocks noChangeAspect="1"/>
          </p:cNvPicPr>
          <p:nvPr/>
        </p:nvPicPr>
        <p:blipFill>
          <a:blip r:embed="rId4"/>
          <a:stretch>
            <a:fillRect/>
          </a:stretch>
        </p:blipFill>
        <p:spPr>
          <a:xfrm>
            <a:off x="6095999" y="3841525"/>
            <a:ext cx="4572000" cy="673395"/>
          </a:xfrm>
          <a:prstGeom prst="rect">
            <a:avLst/>
          </a:prstGeom>
        </p:spPr>
      </p:pic>
    </p:spTree>
    <p:extLst>
      <p:ext uri="{BB962C8B-B14F-4D97-AF65-F5344CB8AC3E}">
        <p14:creationId xmlns:p14="http://schemas.microsoft.com/office/powerpoint/2010/main" val="37151216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1A237-EC7D-1631-21A5-21C9A922DF5C}"/>
              </a:ext>
            </a:extLst>
          </p:cNvPr>
          <p:cNvSpPr>
            <a:spLocks noGrp="1"/>
          </p:cNvSpPr>
          <p:nvPr>
            <p:ph type="title"/>
          </p:nvPr>
        </p:nvSpPr>
        <p:spPr/>
        <p:txBody>
          <a:bodyPr/>
          <a:lstStyle/>
          <a:p>
            <a:r>
              <a:rPr lang="en-US" dirty="0"/>
              <a:t>Open-ended questions</a:t>
            </a:r>
          </a:p>
        </p:txBody>
      </p:sp>
      <p:sp>
        <p:nvSpPr>
          <p:cNvPr id="3" name="Content Placeholder 2">
            <a:extLst>
              <a:ext uri="{FF2B5EF4-FFF2-40B4-BE49-F238E27FC236}">
                <a16:creationId xmlns:a16="http://schemas.microsoft.com/office/drawing/2014/main" id="{7EDEB92C-0633-3182-769F-088DA6140D56}"/>
              </a:ext>
            </a:extLst>
          </p:cNvPr>
          <p:cNvSpPr>
            <a:spLocks noGrp="1"/>
          </p:cNvSpPr>
          <p:nvPr>
            <p:ph sz="half" idx="1"/>
          </p:nvPr>
        </p:nvSpPr>
        <p:spPr/>
        <p:txBody>
          <a:bodyPr>
            <a:normAutofit/>
          </a:bodyPr>
          <a:lstStyle/>
          <a:p>
            <a:pPr algn="l"/>
            <a:endParaRPr lang="en-US" sz="1800" b="0" i="0" u="none" strike="noStrike" baseline="0" dirty="0">
              <a:latin typeface="ITCGaramondStd-Lt"/>
            </a:endParaRPr>
          </a:p>
          <a:p>
            <a:pPr algn="l"/>
            <a:r>
              <a:rPr lang="en-US" sz="1800" b="0" i="0" u="none" strike="noStrike" baseline="0" dirty="0">
                <a:latin typeface="ITCGaramondStd-Lt"/>
              </a:rPr>
              <a:t>Two days later, participants returned for follow-up. They first completed SWB measures and afterward described in their own words what they had done on the previous day.</a:t>
            </a:r>
          </a:p>
          <a:p>
            <a:pPr algn="l"/>
            <a:endParaRPr lang="en-US" sz="1800" b="0" i="0" u="none" strike="noStrike" baseline="0" dirty="0">
              <a:latin typeface="ITCGaramondStd-Lt"/>
            </a:endParaRPr>
          </a:p>
          <a:p>
            <a:pPr algn="l"/>
            <a:r>
              <a:rPr lang="en-US" sz="1800" b="0" i="0" u="none" strike="noStrike" baseline="0" dirty="0">
                <a:latin typeface="ITCGaramondStd-Lt"/>
              </a:rPr>
              <a:t>We content-coded the responses to the open-ended question in order to catalog the kinds of </a:t>
            </a:r>
            <a:r>
              <a:rPr lang="en-US" sz="1800" b="0" i="0" u="none" strike="noStrike" baseline="0" dirty="0" err="1">
                <a:latin typeface="ITCGaramondStd-Lt"/>
              </a:rPr>
              <a:t>proenvironmental</a:t>
            </a:r>
            <a:r>
              <a:rPr lang="en-US" sz="1800" b="0" i="0" u="none" strike="noStrike" baseline="0" dirty="0">
                <a:latin typeface="ITCGaramondStd-Lt"/>
              </a:rPr>
              <a:t> behaviors that participants chose to engage in.</a:t>
            </a:r>
          </a:p>
          <a:p>
            <a:pPr lvl="1"/>
            <a:r>
              <a:rPr lang="en-US" sz="1800" dirty="0">
                <a:latin typeface="ITCGaramondStd-Lt"/>
              </a:rPr>
              <a:t>N = 545</a:t>
            </a:r>
          </a:p>
          <a:p>
            <a:pPr lvl="1"/>
            <a:r>
              <a:rPr lang="en-US" sz="1800" dirty="0">
                <a:latin typeface="ITCGaramondStd-Lt"/>
              </a:rPr>
              <a:t>37 excluded for lack </a:t>
            </a:r>
            <a:r>
              <a:rPr lang="en-US" sz="1800">
                <a:latin typeface="ITCGaramondStd-Lt"/>
              </a:rPr>
              <a:t>of engagement</a:t>
            </a:r>
            <a:endParaRPr lang="en-US" sz="1800" dirty="0">
              <a:latin typeface="ITCGaramondStd-Lt"/>
            </a:endParaRPr>
          </a:p>
        </p:txBody>
      </p:sp>
      <p:pic>
        <p:nvPicPr>
          <p:cNvPr id="6" name="Content Placeholder 5">
            <a:extLst>
              <a:ext uri="{FF2B5EF4-FFF2-40B4-BE49-F238E27FC236}">
                <a16:creationId xmlns:a16="http://schemas.microsoft.com/office/drawing/2014/main" id="{84510703-E0E4-473D-8391-A596B19A8AEE}"/>
              </a:ext>
            </a:extLst>
          </p:cNvPr>
          <p:cNvPicPr>
            <a:picLocks noGrp="1" noChangeAspect="1"/>
          </p:cNvPicPr>
          <p:nvPr>
            <p:ph sz="half" idx="2"/>
          </p:nvPr>
        </p:nvPicPr>
        <p:blipFill>
          <a:blip r:embed="rId2"/>
          <a:stretch>
            <a:fillRect/>
          </a:stretch>
        </p:blipFill>
        <p:spPr>
          <a:xfrm>
            <a:off x="6172200" y="2393996"/>
            <a:ext cx="5181600" cy="3214595"/>
          </a:xfrm>
        </p:spPr>
      </p:pic>
    </p:spTree>
    <p:extLst>
      <p:ext uri="{BB962C8B-B14F-4D97-AF65-F5344CB8AC3E}">
        <p14:creationId xmlns:p14="http://schemas.microsoft.com/office/powerpoint/2010/main" val="25329389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3BF17BD-820C-F3F8-442D-9A847D815D50}"/>
              </a:ext>
            </a:extLst>
          </p:cNvPr>
          <p:cNvSpPr>
            <a:spLocks noGrp="1"/>
          </p:cNvSpPr>
          <p:nvPr>
            <p:ph type="title"/>
          </p:nvPr>
        </p:nvSpPr>
        <p:spPr/>
        <p:txBody>
          <a:bodyPr/>
          <a:lstStyle/>
          <a:p>
            <a:r>
              <a:rPr lang="en-US" dirty="0"/>
              <a:t>Chapter 16 Assignment</a:t>
            </a:r>
          </a:p>
        </p:txBody>
      </p:sp>
      <p:sp>
        <p:nvSpPr>
          <p:cNvPr id="6" name="Content Placeholder 5">
            <a:extLst>
              <a:ext uri="{FF2B5EF4-FFF2-40B4-BE49-F238E27FC236}">
                <a16:creationId xmlns:a16="http://schemas.microsoft.com/office/drawing/2014/main" id="{40261A22-8D14-4392-3C9A-3E9240723C17}"/>
              </a:ext>
            </a:extLst>
          </p:cNvPr>
          <p:cNvSpPr>
            <a:spLocks noGrp="1"/>
          </p:cNvSpPr>
          <p:nvPr>
            <p:ph idx="1"/>
          </p:nvPr>
        </p:nvSpPr>
        <p:spPr/>
        <p:txBody>
          <a:bodyPr>
            <a:normAutofit/>
          </a:bodyPr>
          <a:lstStyle/>
          <a:p>
            <a:pPr algn="l"/>
            <a:r>
              <a:rPr lang="en-US" b="0" i="0" dirty="0">
                <a:solidFill>
                  <a:srgbClr val="2D3B45"/>
                </a:solidFill>
                <a:effectLst/>
                <a:latin typeface="Lato Extended"/>
              </a:rPr>
              <a:t>Q1. A colleague helping with a research project comes to tell us in that the latest statistical analysis, they found an</a:t>
            </a:r>
            <a:r>
              <a:rPr lang="en-US" b="0" i="1" dirty="0">
                <a:solidFill>
                  <a:srgbClr val="2D3B45"/>
                </a:solidFill>
                <a:effectLst/>
                <a:latin typeface="Lato Extended"/>
              </a:rPr>
              <a:t> r</a:t>
            </a:r>
            <a:r>
              <a:rPr lang="en-US" b="0" i="0" dirty="0">
                <a:solidFill>
                  <a:srgbClr val="2D3B45"/>
                </a:solidFill>
                <a:effectLst/>
                <a:latin typeface="Lato Extended"/>
              </a:rPr>
              <a:t> = 2.30? Should we be excited?</a:t>
            </a:r>
          </a:p>
          <a:p>
            <a:pPr lvl="1"/>
            <a:endParaRPr lang="en-US" b="0" i="0" dirty="0">
              <a:solidFill>
                <a:srgbClr val="2D3B45"/>
              </a:solidFill>
              <a:effectLst/>
              <a:latin typeface="Lato Extended"/>
            </a:endParaRPr>
          </a:p>
          <a:p>
            <a:pPr algn="l"/>
            <a:r>
              <a:rPr lang="en-US" b="0" i="0" dirty="0">
                <a:solidFill>
                  <a:srgbClr val="2D3B45"/>
                </a:solidFill>
                <a:effectLst/>
                <a:latin typeface="Lato Extended"/>
              </a:rPr>
              <a:t>Q2. A college administrator is choosing between 2 admissions tests, one that correlates with subsequent college performance </a:t>
            </a:r>
            <a:r>
              <a:rPr lang="en-US" b="0" i="1" dirty="0">
                <a:solidFill>
                  <a:srgbClr val="2D3B45"/>
                </a:solidFill>
                <a:effectLst/>
                <a:latin typeface="Lato Extended"/>
              </a:rPr>
              <a:t>r</a:t>
            </a:r>
            <a:r>
              <a:rPr lang="en-US" b="0" i="0" dirty="0">
                <a:solidFill>
                  <a:srgbClr val="2D3B45"/>
                </a:solidFill>
                <a:effectLst/>
                <a:latin typeface="Lato Extended"/>
              </a:rPr>
              <a:t> = -.54, and one for which, </a:t>
            </a:r>
            <a:r>
              <a:rPr lang="en-US" b="0" i="1" dirty="0">
                <a:solidFill>
                  <a:srgbClr val="2D3B45"/>
                </a:solidFill>
                <a:effectLst/>
                <a:latin typeface="Lato Extended"/>
              </a:rPr>
              <a:t>r</a:t>
            </a:r>
            <a:r>
              <a:rPr lang="en-US" b="0" i="0" dirty="0">
                <a:solidFill>
                  <a:srgbClr val="2D3B45"/>
                </a:solidFill>
                <a:effectLst/>
                <a:latin typeface="Lato Extended"/>
              </a:rPr>
              <a:t> = +.45. Which test should be preferred and why? </a:t>
            </a:r>
          </a:p>
          <a:p>
            <a:endParaRPr lang="en-US" dirty="0"/>
          </a:p>
        </p:txBody>
      </p:sp>
    </p:spTree>
    <p:extLst>
      <p:ext uri="{BB962C8B-B14F-4D97-AF65-F5344CB8AC3E}">
        <p14:creationId xmlns:p14="http://schemas.microsoft.com/office/powerpoint/2010/main" val="30737411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A9318-E640-492C-345D-CED26C0DBDC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53C8849-0782-C2D0-4906-977069C9FA2D}"/>
              </a:ext>
            </a:extLst>
          </p:cNvPr>
          <p:cNvSpPr>
            <a:spLocks noGrp="1"/>
          </p:cNvSpPr>
          <p:nvPr>
            <p:ph idx="1"/>
          </p:nvPr>
        </p:nvSpPr>
        <p:spPr/>
        <p:txBody>
          <a:bodyPr>
            <a:normAutofit fontScale="85000" lnSpcReduction="10000"/>
          </a:bodyPr>
          <a:lstStyle/>
          <a:p>
            <a:pPr algn="l"/>
            <a:r>
              <a:rPr lang="en-US" b="0" i="0" dirty="0">
                <a:solidFill>
                  <a:srgbClr val="2D3B45"/>
                </a:solidFill>
                <a:effectLst/>
                <a:latin typeface="Lato Extended"/>
              </a:rPr>
              <a:t>Q3. Of all the statistical tests we have covered in class so far, explain which is appropriate for each of the following hypothetical designs and why:</a:t>
            </a:r>
          </a:p>
          <a:p>
            <a:pPr lvl="1"/>
            <a:r>
              <a:rPr lang="en-US" b="0" i="0" dirty="0">
                <a:solidFill>
                  <a:srgbClr val="2D3B45"/>
                </a:solidFill>
                <a:effectLst/>
                <a:latin typeface="Lato Extended"/>
              </a:rPr>
              <a:t>Older people (age in years) are found to exercise less (in hours per week) than middle aged people</a:t>
            </a:r>
          </a:p>
          <a:p>
            <a:pPr lvl="1"/>
            <a:r>
              <a:rPr lang="en-US" b="0" i="0" dirty="0">
                <a:solidFill>
                  <a:srgbClr val="2D3B45"/>
                </a:solidFill>
                <a:effectLst/>
                <a:latin typeface="Lato Extended"/>
              </a:rPr>
              <a:t>At a car dealership, people planning to buy a car are either shown a documentary on climate change or not and then they are scored as to whether they purchased an electric vehicle or gas vehicle</a:t>
            </a:r>
          </a:p>
          <a:p>
            <a:pPr lvl="1"/>
            <a:r>
              <a:rPr lang="en-US" b="0" i="0" dirty="0">
                <a:solidFill>
                  <a:srgbClr val="2D3B45"/>
                </a:solidFill>
                <a:effectLst/>
                <a:latin typeface="Lato Extended"/>
              </a:rPr>
              <a:t>Hospitalization rate (percent of people hospitalized) due to COVID infection differ in counties that voted red (Republican) or blue (Democrat) in the 2020 election</a:t>
            </a:r>
          </a:p>
          <a:p>
            <a:pPr lvl="1"/>
            <a:r>
              <a:rPr lang="en-US" b="0" i="0" dirty="0">
                <a:solidFill>
                  <a:srgbClr val="2D3B45"/>
                </a:solidFill>
                <a:effectLst/>
                <a:latin typeface="Lato Extended"/>
              </a:rPr>
              <a:t>The relationship of first year salary post-graduation with average GPA in sophomore year during college</a:t>
            </a:r>
          </a:p>
          <a:p>
            <a:pPr lvl="1"/>
            <a:r>
              <a:rPr lang="en-US" b="0" i="0" dirty="0">
                <a:solidFill>
                  <a:srgbClr val="2D3B45"/>
                </a:solidFill>
                <a:effectLst/>
                <a:latin typeface="Lato Extended"/>
              </a:rPr>
              <a:t>Number of social media posts made by people who either took research methods in college or did not</a:t>
            </a:r>
          </a:p>
          <a:p>
            <a:pPr lvl="1"/>
            <a:r>
              <a:rPr lang="en-US" b="0" i="0" dirty="0">
                <a:solidFill>
                  <a:srgbClr val="2D3B45"/>
                </a:solidFill>
                <a:effectLst/>
                <a:latin typeface="Lato Extended"/>
              </a:rPr>
              <a:t>An analysis of scores on the Oxford Happiness Scale based on participants diet (vegetarian/not) and whether they have a Facebook account.</a:t>
            </a:r>
          </a:p>
          <a:p>
            <a:endParaRPr lang="en-US" dirty="0"/>
          </a:p>
        </p:txBody>
      </p:sp>
    </p:spTree>
    <p:extLst>
      <p:ext uri="{BB962C8B-B14F-4D97-AF65-F5344CB8AC3E}">
        <p14:creationId xmlns:p14="http://schemas.microsoft.com/office/powerpoint/2010/main" val="21030335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8048A-E9B0-1BDF-DDD4-8DF3B5FEA5B4}"/>
              </a:ext>
            </a:extLst>
          </p:cNvPr>
          <p:cNvSpPr>
            <a:spLocks noGrp="1"/>
          </p:cNvSpPr>
          <p:nvPr>
            <p:ph type="title"/>
          </p:nvPr>
        </p:nvSpPr>
        <p:spPr/>
        <p:txBody>
          <a:bodyPr/>
          <a:lstStyle/>
          <a:p>
            <a:r>
              <a:rPr lang="en-US" dirty="0"/>
              <a:t>Brief History of Psychology</a:t>
            </a:r>
          </a:p>
        </p:txBody>
      </p:sp>
      <p:sp>
        <p:nvSpPr>
          <p:cNvPr id="3" name="Content Placeholder 2">
            <a:extLst>
              <a:ext uri="{FF2B5EF4-FFF2-40B4-BE49-F238E27FC236}">
                <a16:creationId xmlns:a16="http://schemas.microsoft.com/office/drawing/2014/main" id="{AD3889ED-8B77-8116-9DDB-65ACC6E1535F}"/>
              </a:ext>
            </a:extLst>
          </p:cNvPr>
          <p:cNvSpPr>
            <a:spLocks noGrp="1"/>
          </p:cNvSpPr>
          <p:nvPr>
            <p:ph idx="1"/>
          </p:nvPr>
        </p:nvSpPr>
        <p:spPr/>
        <p:txBody>
          <a:bodyPr>
            <a:normAutofit fontScale="92500" lnSpcReduction="20000"/>
          </a:bodyPr>
          <a:lstStyle/>
          <a:p>
            <a:r>
              <a:rPr lang="en-US" dirty="0"/>
              <a:t>Introspection</a:t>
            </a:r>
          </a:p>
          <a:p>
            <a:pPr lvl="1"/>
            <a:r>
              <a:rPr lang="en-US" dirty="0"/>
              <a:t>1890, William James</a:t>
            </a:r>
          </a:p>
          <a:p>
            <a:pPr lvl="1"/>
            <a:r>
              <a:rPr lang="en-US" dirty="0"/>
              <a:t>Subjective reflection</a:t>
            </a:r>
          </a:p>
          <a:p>
            <a:r>
              <a:rPr lang="en-US" dirty="0"/>
              <a:t>Behaviorism</a:t>
            </a:r>
          </a:p>
          <a:p>
            <a:pPr lvl="1"/>
            <a:r>
              <a:rPr lang="en-US" dirty="0"/>
              <a:t>1930, BF Skinner</a:t>
            </a:r>
          </a:p>
          <a:p>
            <a:pPr lvl="1"/>
            <a:r>
              <a:rPr lang="en-US" dirty="0"/>
              <a:t>Quantitative measures, animals</a:t>
            </a:r>
          </a:p>
          <a:p>
            <a:r>
              <a:rPr lang="en-US" dirty="0"/>
              <a:t>Cognitive Revolution</a:t>
            </a:r>
          </a:p>
          <a:p>
            <a:pPr lvl="1"/>
            <a:r>
              <a:rPr lang="en-US" dirty="0"/>
              <a:t>1960, George Miller 7</a:t>
            </a:r>
            <a:r>
              <a:rPr lang="en-US" u="sng" dirty="0"/>
              <a:t>+</a:t>
            </a:r>
            <a:r>
              <a:rPr lang="en-US" dirty="0"/>
              <a:t>2</a:t>
            </a:r>
          </a:p>
          <a:p>
            <a:pPr lvl="1"/>
            <a:r>
              <a:rPr lang="en-US" dirty="0"/>
              <a:t>Quantitative measures, humans</a:t>
            </a:r>
          </a:p>
          <a:p>
            <a:r>
              <a:rPr lang="en-US" dirty="0"/>
              <a:t>Moden Methods</a:t>
            </a:r>
          </a:p>
          <a:p>
            <a:pPr lvl="1"/>
            <a:r>
              <a:rPr lang="en-US" dirty="0"/>
              <a:t>Cognitive Neuroscience, 1990-</a:t>
            </a:r>
          </a:p>
          <a:p>
            <a:pPr lvl="1"/>
            <a:r>
              <a:rPr lang="en-US" dirty="0"/>
              <a:t>Quantitative measures, neuroscience and physiology, humans</a:t>
            </a:r>
          </a:p>
          <a:p>
            <a:pPr lvl="2"/>
            <a:endParaRPr lang="en-US" dirty="0"/>
          </a:p>
        </p:txBody>
      </p:sp>
    </p:spTree>
    <p:extLst>
      <p:ext uri="{BB962C8B-B14F-4D97-AF65-F5344CB8AC3E}">
        <p14:creationId xmlns:p14="http://schemas.microsoft.com/office/powerpoint/2010/main" val="13742431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1A17F-8063-D7C8-5397-56770A3FC509}"/>
              </a:ext>
            </a:extLst>
          </p:cNvPr>
          <p:cNvSpPr>
            <a:spLocks noGrp="1"/>
          </p:cNvSpPr>
          <p:nvPr>
            <p:ph type="title"/>
          </p:nvPr>
        </p:nvSpPr>
        <p:spPr/>
        <p:txBody>
          <a:bodyPr/>
          <a:lstStyle/>
          <a:p>
            <a:r>
              <a:rPr lang="en-US" dirty="0"/>
              <a:t>Observation as a Method</a:t>
            </a:r>
          </a:p>
        </p:txBody>
      </p:sp>
      <p:sp>
        <p:nvSpPr>
          <p:cNvPr id="3" name="Content Placeholder 2">
            <a:extLst>
              <a:ext uri="{FF2B5EF4-FFF2-40B4-BE49-F238E27FC236}">
                <a16:creationId xmlns:a16="http://schemas.microsoft.com/office/drawing/2014/main" id="{66025407-4369-56D1-8E6A-C4D78B007D74}"/>
              </a:ext>
            </a:extLst>
          </p:cNvPr>
          <p:cNvSpPr>
            <a:spLocks noGrp="1"/>
          </p:cNvSpPr>
          <p:nvPr>
            <p:ph idx="1"/>
          </p:nvPr>
        </p:nvSpPr>
        <p:spPr/>
        <p:txBody>
          <a:bodyPr/>
          <a:lstStyle/>
          <a:p>
            <a:r>
              <a:rPr lang="en-US" dirty="0"/>
              <a:t>Watching the behavior of people around you</a:t>
            </a:r>
          </a:p>
          <a:p>
            <a:pPr lvl="1"/>
            <a:r>
              <a:rPr lang="en-US" dirty="0"/>
              <a:t>Old-fashioned method for developing ideas</a:t>
            </a:r>
          </a:p>
          <a:p>
            <a:pPr lvl="1"/>
            <a:r>
              <a:rPr lang="en-US" dirty="0"/>
              <a:t>“</a:t>
            </a:r>
            <a:r>
              <a:rPr lang="en-US" dirty="0" err="1"/>
              <a:t>Didja</a:t>
            </a:r>
            <a:r>
              <a:rPr lang="en-US" dirty="0"/>
              <a:t> ever notice how…?”</a:t>
            </a:r>
          </a:p>
          <a:p>
            <a:endParaRPr lang="en-US" dirty="0"/>
          </a:p>
          <a:p>
            <a:r>
              <a:rPr lang="en-US" dirty="0"/>
              <a:t>Social media studies</a:t>
            </a:r>
          </a:p>
          <a:p>
            <a:r>
              <a:rPr lang="en-US" dirty="0"/>
              <a:t>Diary studies</a:t>
            </a:r>
          </a:p>
        </p:txBody>
      </p:sp>
    </p:spTree>
    <p:extLst>
      <p:ext uri="{BB962C8B-B14F-4D97-AF65-F5344CB8AC3E}">
        <p14:creationId xmlns:p14="http://schemas.microsoft.com/office/powerpoint/2010/main" val="25602336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8F87B-3EB5-EB6E-4C93-4C04CC198F18}"/>
              </a:ext>
            </a:extLst>
          </p:cNvPr>
          <p:cNvSpPr>
            <a:spLocks noGrp="1"/>
          </p:cNvSpPr>
          <p:nvPr>
            <p:ph type="title"/>
          </p:nvPr>
        </p:nvSpPr>
        <p:spPr/>
        <p:txBody>
          <a:bodyPr/>
          <a:lstStyle/>
          <a:p>
            <a:r>
              <a:rPr lang="en-US" dirty="0"/>
              <a:t>Interviews</a:t>
            </a:r>
          </a:p>
        </p:txBody>
      </p:sp>
      <p:sp>
        <p:nvSpPr>
          <p:cNvPr id="3" name="Content Placeholder 2">
            <a:extLst>
              <a:ext uri="{FF2B5EF4-FFF2-40B4-BE49-F238E27FC236}">
                <a16:creationId xmlns:a16="http://schemas.microsoft.com/office/drawing/2014/main" id="{4C380DC7-F12C-4062-1FDC-A1E380B82539}"/>
              </a:ext>
            </a:extLst>
          </p:cNvPr>
          <p:cNvSpPr>
            <a:spLocks noGrp="1"/>
          </p:cNvSpPr>
          <p:nvPr>
            <p:ph idx="1"/>
          </p:nvPr>
        </p:nvSpPr>
        <p:spPr/>
        <p:txBody>
          <a:bodyPr/>
          <a:lstStyle/>
          <a:p>
            <a:r>
              <a:rPr lang="en-US" dirty="0"/>
              <a:t>Methods borrowed from Sociology, Anthropology</a:t>
            </a:r>
          </a:p>
          <a:p>
            <a:endParaRPr lang="en-US" dirty="0"/>
          </a:p>
          <a:p>
            <a:r>
              <a:rPr lang="en-US" dirty="0"/>
              <a:t>Collect stories of personal experience</a:t>
            </a:r>
          </a:p>
          <a:p>
            <a:pPr lvl="1"/>
            <a:r>
              <a:rPr lang="en-US" dirty="0"/>
              <a:t>Anecdotes are not data but they are illustrative</a:t>
            </a:r>
          </a:p>
          <a:p>
            <a:pPr lvl="1"/>
            <a:r>
              <a:rPr lang="en-US" dirty="0"/>
              <a:t>Insight into cross-cultural differences</a:t>
            </a:r>
          </a:p>
        </p:txBody>
      </p:sp>
    </p:spTree>
    <p:extLst>
      <p:ext uri="{BB962C8B-B14F-4D97-AF65-F5344CB8AC3E}">
        <p14:creationId xmlns:p14="http://schemas.microsoft.com/office/powerpoint/2010/main" val="22084594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000DE-90F2-9A8C-16DA-B4B449A85CFC}"/>
              </a:ext>
            </a:extLst>
          </p:cNvPr>
          <p:cNvSpPr>
            <a:spLocks noGrp="1"/>
          </p:cNvSpPr>
          <p:nvPr>
            <p:ph type="title"/>
          </p:nvPr>
        </p:nvSpPr>
        <p:spPr/>
        <p:txBody>
          <a:bodyPr/>
          <a:lstStyle/>
          <a:p>
            <a:r>
              <a:rPr lang="en-US" dirty="0"/>
              <a:t>Quantifying Qualitative data</a:t>
            </a:r>
          </a:p>
        </p:txBody>
      </p:sp>
      <p:sp>
        <p:nvSpPr>
          <p:cNvPr id="3" name="Content Placeholder 2">
            <a:extLst>
              <a:ext uri="{FF2B5EF4-FFF2-40B4-BE49-F238E27FC236}">
                <a16:creationId xmlns:a16="http://schemas.microsoft.com/office/drawing/2014/main" id="{A1D034EE-AF1F-2AE3-E9D8-932206B6FCC1}"/>
              </a:ext>
            </a:extLst>
          </p:cNvPr>
          <p:cNvSpPr>
            <a:spLocks noGrp="1"/>
          </p:cNvSpPr>
          <p:nvPr>
            <p:ph idx="1"/>
          </p:nvPr>
        </p:nvSpPr>
        <p:spPr/>
        <p:txBody>
          <a:bodyPr/>
          <a:lstStyle/>
          <a:p>
            <a:r>
              <a:rPr lang="en-US" dirty="0"/>
              <a:t>Structured interviews</a:t>
            </a:r>
          </a:p>
          <a:p>
            <a:pPr lvl="1"/>
            <a:r>
              <a:rPr lang="en-US" dirty="0"/>
              <a:t>Protocol for interview procedures</a:t>
            </a:r>
          </a:p>
          <a:p>
            <a:r>
              <a:rPr lang="en-US" dirty="0"/>
              <a:t>Coding systems</a:t>
            </a:r>
          </a:p>
          <a:p>
            <a:pPr lvl="1"/>
            <a:r>
              <a:rPr lang="en-US" dirty="0"/>
              <a:t>Count occurrences of words, ideas</a:t>
            </a:r>
          </a:p>
          <a:p>
            <a:pPr lvl="1"/>
            <a:r>
              <a:rPr lang="en-US" dirty="0"/>
              <a:t>Calculated relationship among measures</a:t>
            </a:r>
          </a:p>
          <a:p>
            <a:r>
              <a:rPr lang="en-US" dirty="0"/>
              <a:t>Verbal protocol analysis</a:t>
            </a:r>
          </a:p>
          <a:p>
            <a:pPr lvl="1"/>
            <a:r>
              <a:rPr lang="en-US" dirty="0"/>
              <a:t>Talking out loud during problem solving</a:t>
            </a:r>
          </a:p>
        </p:txBody>
      </p:sp>
    </p:spTree>
    <p:extLst>
      <p:ext uri="{BB962C8B-B14F-4D97-AF65-F5344CB8AC3E}">
        <p14:creationId xmlns:p14="http://schemas.microsoft.com/office/powerpoint/2010/main" val="23422901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D508C-5256-0101-4A0A-CD987E0E67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31087D-34C3-AD8A-2B22-B5288E7A0CE7}"/>
              </a:ext>
            </a:extLst>
          </p:cNvPr>
          <p:cNvSpPr>
            <a:spLocks noGrp="1"/>
          </p:cNvSpPr>
          <p:nvPr>
            <p:ph type="title"/>
          </p:nvPr>
        </p:nvSpPr>
        <p:spPr/>
        <p:txBody>
          <a:bodyPr/>
          <a:lstStyle/>
          <a:p>
            <a:r>
              <a:rPr lang="en-US" b="0" i="0" dirty="0">
                <a:solidFill>
                  <a:srgbClr val="2D3B45"/>
                </a:solidFill>
                <a:effectLst/>
                <a:latin typeface="Lato Extended"/>
              </a:rPr>
              <a:t>Chapter 17</a:t>
            </a:r>
            <a:endParaRPr lang="en-US" dirty="0"/>
          </a:p>
        </p:txBody>
      </p:sp>
      <p:sp>
        <p:nvSpPr>
          <p:cNvPr id="3" name="Content Placeholder 2">
            <a:extLst>
              <a:ext uri="{FF2B5EF4-FFF2-40B4-BE49-F238E27FC236}">
                <a16:creationId xmlns:a16="http://schemas.microsoft.com/office/drawing/2014/main" id="{ED8DA525-AAF2-3A59-FA42-270A755388BA}"/>
              </a:ext>
            </a:extLst>
          </p:cNvPr>
          <p:cNvSpPr>
            <a:spLocks noGrp="1"/>
          </p:cNvSpPr>
          <p:nvPr>
            <p:ph idx="1"/>
          </p:nvPr>
        </p:nvSpPr>
        <p:spPr/>
        <p:txBody>
          <a:bodyPr>
            <a:normAutofit lnSpcReduction="10000"/>
          </a:bodyPr>
          <a:lstStyle/>
          <a:p>
            <a:pPr marL="514350" indent="-514350" algn="l">
              <a:buFont typeface="+mj-lt"/>
              <a:buAutoNum type="arabicPeriod"/>
            </a:pPr>
            <a:r>
              <a:rPr lang="en-US" b="0" i="0" dirty="0">
                <a:solidFill>
                  <a:srgbClr val="2D3B45"/>
                </a:solidFill>
                <a:effectLst/>
                <a:latin typeface="Lato Extended"/>
              </a:rPr>
              <a:t>Qualitative research is often used in a research program as a first or preliminary study before research with experimental methods and manipulated variables.  Why is this?</a:t>
            </a:r>
          </a:p>
          <a:p>
            <a:pPr marL="514350" indent="-514350" algn="l">
              <a:buFont typeface="+mj-lt"/>
              <a:buAutoNum type="arabicPeriod"/>
            </a:pPr>
            <a:r>
              <a:rPr lang="en-US" b="0" i="0" dirty="0">
                <a:solidFill>
                  <a:srgbClr val="2D3B45"/>
                </a:solidFill>
                <a:effectLst/>
                <a:latin typeface="Lato Extended"/>
              </a:rPr>
              <a:t>Why might we use a qualitative research technique to study parent-child interactions and aggressive behavior in preschoolers?  Outline what such a study might look like.</a:t>
            </a:r>
          </a:p>
          <a:p>
            <a:pPr marL="514350" indent="-514350" algn="l">
              <a:buFont typeface="+mj-lt"/>
              <a:buAutoNum type="arabicPeriod"/>
            </a:pPr>
            <a:r>
              <a:rPr lang="en-US" b="0" i="0" dirty="0">
                <a:solidFill>
                  <a:srgbClr val="2D3B45"/>
                </a:solidFill>
                <a:effectLst/>
                <a:latin typeface="Lato Extended"/>
              </a:rPr>
              <a:t>In a diary study of conflict resolution in relationships, the research protocol could involve daily documentation of any conflict experiences and how they were or were not resolved.  What kinds of events might be coded for and counted in a study of this type?</a:t>
            </a:r>
          </a:p>
          <a:p>
            <a:endParaRPr lang="en-US" dirty="0"/>
          </a:p>
        </p:txBody>
      </p:sp>
    </p:spTree>
    <p:extLst>
      <p:ext uri="{BB962C8B-B14F-4D97-AF65-F5344CB8AC3E}">
        <p14:creationId xmlns:p14="http://schemas.microsoft.com/office/powerpoint/2010/main" val="42173584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3B209-F71C-AA1C-83CC-76452A7D2C42}"/>
              </a:ext>
            </a:extLst>
          </p:cNvPr>
          <p:cNvSpPr>
            <a:spLocks noGrp="1"/>
          </p:cNvSpPr>
          <p:nvPr>
            <p:ph type="title"/>
          </p:nvPr>
        </p:nvSpPr>
        <p:spPr/>
        <p:txBody>
          <a:bodyPr/>
          <a:lstStyle/>
          <a:p>
            <a:r>
              <a:rPr lang="en-US" dirty="0"/>
              <a:t>Quasi-experimental design</a:t>
            </a:r>
          </a:p>
        </p:txBody>
      </p:sp>
      <p:sp>
        <p:nvSpPr>
          <p:cNvPr id="3" name="Content Placeholder 2">
            <a:extLst>
              <a:ext uri="{FF2B5EF4-FFF2-40B4-BE49-F238E27FC236}">
                <a16:creationId xmlns:a16="http://schemas.microsoft.com/office/drawing/2014/main" id="{26A24471-6B02-F44C-410F-6446DA94FD0B}"/>
              </a:ext>
            </a:extLst>
          </p:cNvPr>
          <p:cNvSpPr>
            <a:spLocks noGrp="1"/>
          </p:cNvSpPr>
          <p:nvPr>
            <p:ph idx="1"/>
          </p:nvPr>
        </p:nvSpPr>
        <p:spPr/>
        <p:txBody>
          <a:bodyPr/>
          <a:lstStyle/>
          <a:p>
            <a:r>
              <a:rPr lang="en-US" dirty="0"/>
              <a:t>Case study research</a:t>
            </a:r>
          </a:p>
          <a:p>
            <a:pPr lvl="1"/>
            <a:r>
              <a:rPr lang="en-US" dirty="0"/>
              <a:t>Telling the stories of notable individual cases</a:t>
            </a:r>
          </a:p>
          <a:p>
            <a:pPr lvl="1"/>
            <a:r>
              <a:rPr lang="en-US" dirty="0"/>
              <a:t>Developmental cases</a:t>
            </a:r>
          </a:p>
          <a:p>
            <a:pPr lvl="1"/>
            <a:r>
              <a:rPr lang="en-US" dirty="0"/>
              <a:t>Clinical cases</a:t>
            </a:r>
          </a:p>
          <a:p>
            <a:pPr lvl="1"/>
            <a:r>
              <a:rPr lang="en-US" dirty="0"/>
              <a:t>Neuropsychological studies</a:t>
            </a:r>
          </a:p>
          <a:p>
            <a:endParaRPr lang="en-US" dirty="0"/>
          </a:p>
          <a:p>
            <a:r>
              <a:rPr lang="en-US" dirty="0"/>
              <a:t>Field research</a:t>
            </a:r>
          </a:p>
          <a:p>
            <a:pPr lvl="1"/>
            <a:r>
              <a:rPr lang="en-US" dirty="0"/>
              <a:t>Applying experimental methods outside the lab</a:t>
            </a:r>
          </a:p>
          <a:p>
            <a:pPr lvl="1"/>
            <a:r>
              <a:rPr lang="en-US" dirty="0"/>
              <a:t>Chapter 19</a:t>
            </a:r>
          </a:p>
        </p:txBody>
      </p:sp>
    </p:spTree>
    <p:extLst>
      <p:ext uri="{BB962C8B-B14F-4D97-AF65-F5344CB8AC3E}">
        <p14:creationId xmlns:p14="http://schemas.microsoft.com/office/powerpoint/2010/main" val="19521101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C048A01-9617-0B54-10A3-78EEFB505103}"/>
              </a:ext>
            </a:extLst>
          </p:cNvPr>
          <p:cNvSpPr>
            <a:spLocks noGrp="1"/>
          </p:cNvSpPr>
          <p:nvPr>
            <p:ph type="title"/>
          </p:nvPr>
        </p:nvSpPr>
        <p:spPr/>
        <p:txBody>
          <a:bodyPr/>
          <a:lstStyle/>
          <a:p>
            <a:r>
              <a:rPr lang="en-US" dirty="0"/>
              <a:t>For Wed 11/13</a:t>
            </a:r>
          </a:p>
        </p:txBody>
      </p:sp>
      <p:sp>
        <p:nvSpPr>
          <p:cNvPr id="6" name="Content Placeholder 5">
            <a:extLst>
              <a:ext uri="{FF2B5EF4-FFF2-40B4-BE49-F238E27FC236}">
                <a16:creationId xmlns:a16="http://schemas.microsoft.com/office/drawing/2014/main" id="{B635A652-FCAF-C235-D584-61CC1A82B17D}"/>
              </a:ext>
            </a:extLst>
          </p:cNvPr>
          <p:cNvSpPr>
            <a:spLocks noGrp="1"/>
          </p:cNvSpPr>
          <p:nvPr>
            <p:ph idx="1"/>
          </p:nvPr>
        </p:nvSpPr>
        <p:spPr/>
        <p:txBody>
          <a:bodyPr/>
          <a:lstStyle/>
          <a:p>
            <a:r>
              <a:rPr lang="en-US" dirty="0"/>
              <a:t>Chapter 18: Responsible Conduct of Research</a:t>
            </a:r>
          </a:p>
          <a:p>
            <a:pPr lvl="1"/>
            <a:r>
              <a:rPr lang="en-US" dirty="0"/>
              <a:t>Assignment on Canvas</a:t>
            </a:r>
          </a:p>
          <a:p>
            <a:pPr lvl="1"/>
            <a:endParaRPr lang="en-US" dirty="0"/>
          </a:p>
          <a:p>
            <a:r>
              <a:rPr lang="en-US" dirty="0"/>
              <a:t>Final projects</a:t>
            </a:r>
          </a:p>
          <a:p>
            <a:pPr lvl="1"/>
            <a:r>
              <a:rPr lang="en-US" dirty="0"/>
              <a:t>Start putting your procedure together </a:t>
            </a:r>
            <a:r>
              <a:rPr lang="en-US"/>
              <a:t>for our review</a:t>
            </a:r>
            <a:endParaRPr lang="en-US" dirty="0"/>
          </a:p>
        </p:txBody>
      </p:sp>
    </p:spTree>
    <p:extLst>
      <p:ext uri="{BB962C8B-B14F-4D97-AF65-F5344CB8AC3E}">
        <p14:creationId xmlns:p14="http://schemas.microsoft.com/office/powerpoint/2010/main" val="30856167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4612</TotalTime>
  <Words>928</Words>
  <Application>Microsoft Office PowerPoint</Application>
  <PresentationFormat>Widescreen</PresentationFormat>
  <Paragraphs>82</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Aptos Display</vt:lpstr>
      <vt:lpstr>Arial</vt:lpstr>
      <vt:lpstr>ITCGaramondStd-Lt</vt:lpstr>
      <vt:lpstr>Lato Extended</vt:lpstr>
      <vt:lpstr>Office Theme</vt:lpstr>
      <vt:lpstr>205 Nov 11, Class 20</vt:lpstr>
      <vt:lpstr>PowerPoint Presentation</vt:lpstr>
      <vt:lpstr>PowerPoint Presentation</vt:lpstr>
      <vt:lpstr>Exp 2</vt:lpstr>
      <vt:lpstr>PowerPoint Presentation</vt:lpstr>
      <vt:lpstr>Open-ended questions</vt:lpstr>
      <vt:lpstr>Chapter 16 Assignment</vt:lpstr>
      <vt:lpstr>PowerPoint Presentation</vt:lpstr>
      <vt:lpstr>Brief History of Psychology</vt:lpstr>
      <vt:lpstr>Observation as a Method</vt:lpstr>
      <vt:lpstr>Interviews</vt:lpstr>
      <vt:lpstr>Quantifying Qualitative data</vt:lpstr>
      <vt:lpstr>Chapter 17</vt:lpstr>
      <vt:lpstr>Quasi-experimental design</vt:lpstr>
      <vt:lpstr>For Wed 11/13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205 Feb 21</dc:title>
  <dc:creator>Paul Reber</dc:creator>
  <cp:lastModifiedBy>Paul Reber</cp:lastModifiedBy>
  <cp:revision>13</cp:revision>
  <cp:lastPrinted>2024-11-11T14:21:37Z</cp:lastPrinted>
  <dcterms:created xsi:type="dcterms:W3CDTF">2024-02-18T20:17:25Z</dcterms:created>
  <dcterms:modified xsi:type="dcterms:W3CDTF">2024-11-11T15:25:50Z</dcterms:modified>
</cp:coreProperties>
</file>