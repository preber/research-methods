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488" r:id="rId3"/>
    <p:sldId id="490" r:id="rId4"/>
    <p:sldId id="491" r:id="rId5"/>
    <p:sldId id="492" r:id="rId6"/>
    <p:sldId id="493" r:id="rId7"/>
    <p:sldId id="469" r:id="rId8"/>
    <p:sldId id="470" r:id="rId9"/>
    <p:sldId id="471" r:id="rId10"/>
    <p:sldId id="472" r:id="rId11"/>
    <p:sldId id="473" r:id="rId12"/>
    <p:sldId id="475" r:id="rId13"/>
    <p:sldId id="476" r:id="rId14"/>
    <p:sldId id="477" r:id="rId15"/>
    <p:sldId id="454" r:id="rId16"/>
    <p:sldId id="487" r:id="rId17"/>
    <p:sldId id="482" r:id="rId18"/>
    <p:sldId id="480" r:id="rId19"/>
    <p:sldId id="489" r:id="rId20"/>
    <p:sldId id="483" r:id="rId21"/>
    <p:sldId id="484" r:id="rId22"/>
    <p:sldId id="465" r:id="rId23"/>
    <p:sldId id="466" r:id="rId24"/>
    <p:sldId id="258" r:id="rId25"/>
  </p:sldIdLst>
  <p:sldSz cx="12192000" cy="6858000"/>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85" autoAdjust="0"/>
    <p:restoredTop sz="94660"/>
  </p:normalViewPr>
  <p:slideViewPr>
    <p:cSldViewPr snapToGrid="0">
      <p:cViewPr varScale="1">
        <p:scale>
          <a:sx n="97" d="100"/>
          <a:sy n="97" d="100"/>
        </p:scale>
        <p:origin x="12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1200"/>
            </a:lvl1pPr>
          </a:lstStyle>
          <a:p>
            <a:fld id="{720637F1-4DE2-4332-B8DB-64E0862AC60E}" type="datetimeFigureOut">
              <a:rPr lang="en-US" smtClean="0"/>
              <a:t>11/3/2024</a:t>
            </a:fld>
            <a:endParaRPr lang="en-US"/>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710248" y="4518204"/>
            <a:ext cx="5681980" cy="3696712"/>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1200"/>
            </a:lvl1pPr>
          </a:lstStyle>
          <a:p>
            <a:fld id="{0A9DA5B8-3707-4800-B798-5565D886879B}" type="slidenum">
              <a:rPr lang="en-US" smtClean="0"/>
              <a:t>‹#›</a:t>
            </a:fld>
            <a:endParaRPr lang="en-US"/>
          </a:p>
        </p:txBody>
      </p:sp>
    </p:spTree>
    <p:extLst>
      <p:ext uri="{BB962C8B-B14F-4D97-AF65-F5344CB8AC3E}">
        <p14:creationId xmlns:p14="http://schemas.microsoft.com/office/powerpoint/2010/main" val="13409424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F56A2-03E6-5D3E-9D12-9D130D34C95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A18C696-DC7E-649B-2B6D-9F0E7A704C9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050662B-2F28-DA8D-3E9A-F599722B1E7F}"/>
              </a:ext>
            </a:extLst>
          </p:cNvPr>
          <p:cNvSpPr>
            <a:spLocks noGrp="1"/>
          </p:cNvSpPr>
          <p:nvPr>
            <p:ph type="dt" sz="half" idx="10"/>
          </p:nvPr>
        </p:nvSpPr>
        <p:spPr/>
        <p:txBody>
          <a:bodyPr/>
          <a:lstStyle/>
          <a:p>
            <a:fld id="{D2A8EFA5-8421-4A95-940C-214B2CECF242}" type="datetimeFigureOut">
              <a:rPr lang="en-US" smtClean="0"/>
              <a:t>11/3/2024</a:t>
            </a:fld>
            <a:endParaRPr lang="en-US"/>
          </a:p>
        </p:txBody>
      </p:sp>
      <p:sp>
        <p:nvSpPr>
          <p:cNvPr id="5" name="Footer Placeholder 4">
            <a:extLst>
              <a:ext uri="{FF2B5EF4-FFF2-40B4-BE49-F238E27FC236}">
                <a16:creationId xmlns:a16="http://schemas.microsoft.com/office/drawing/2014/main" id="{D6BD7BFA-2613-EE2C-BB50-BA0EACA3DD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DA864E-607F-3D24-7752-BCD6B0AEF1E0}"/>
              </a:ext>
            </a:extLst>
          </p:cNvPr>
          <p:cNvSpPr>
            <a:spLocks noGrp="1"/>
          </p:cNvSpPr>
          <p:nvPr>
            <p:ph type="sldNum" sz="quarter" idx="12"/>
          </p:nvPr>
        </p:nvSpPr>
        <p:spPr/>
        <p:txBody>
          <a:bodyPr/>
          <a:lstStyle/>
          <a:p>
            <a:fld id="{A4751BD9-19F0-4F08-B5BD-8E0D78F9D43F}" type="slidenum">
              <a:rPr lang="en-US" smtClean="0"/>
              <a:t>‹#›</a:t>
            </a:fld>
            <a:endParaRPr lang="en-US"/>
          </a:p>
        </p:txBody>
      </p:sp>
    </p:spTree>
    <p:extLst>
      <p:ext uri="{BB962C8B-B14F-4D97-AF65-F5344CB8AC3E}">
        <p14:creationId xmlns:p14="http://schemas.microsoft.com/office/powerpoint/2010/main" val="689179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C76CE-D5E8-3682-0BE4-09622ED90E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6266CB-0056-2D59-5925-4B53D64596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65A551-D355-0D06-9976-BC16DF995630}"/>
              </a:ext>
            </a:extLst>
          </p:cNvPr>
          <p:cNvSpPr>
            <a:spLocks noGrp="1"/>
          </p:cNvSpPr>
          <p:nvPr>
            <p:ph type="dt" sz="half" idx="10"/>
          </p:nvPr>
        </p:nvSpPr>
        <p:spPr/>
        <p:txBody>
          <a:bodyPr/>
          <a:lstStyle/>
          <a:p>
            <a:fld id="{D2A8EFA5-8421-4A95-940C-214B2CECF242}" type="datetimeFigureOut">
              <a:rPr lang="en-US" smtClean="0"/>
              <a:t>11/3/2024</a:t>
            </a:fld>
            <a:endParaRPr lang="en-US"/>
          </a:p>
        </p:txBody>
      </p:sp>
      <p:sp>
        <p:nvSpPr>
          <p:cNvPr id="5" name="Footer Placeholder 4">
            <a:extLst>
              <a:ext uri="{FF2B5EF4-FFF2-40B4-BE49-F238E27FC236}">
                <a16:creationId xmlns:a16="http://schemas.microsoft.com/office/drawing/2014/main" id="{403B8EA0-5F98-16DF-FC6A-F92841973D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BA03C0-DE9E-84DB-B23F-3FDF94E664CE}"/>
              </a:ext>
            </a:extLst>
          </p:cNvPr>
          <p:cNvSpPr>
            <a:spLocks noGrp="1"/>
          </p:cNvSpPr>
          <p:nvPr>
            <p:ph type="sldNum" sz="quarter" idx="12"/>
          </p:nvPr>
        </p:nvSpPr>
        <p:spPr/>
        <p:txBody>
          <a:bodyPr/>
          <a:lstStyle/>
          <a:p>
            <a:fld id="{A4751BD9-19F0-4F08-B5BD-8E0D78F9D43F}" type="slidenum">
              <a:rPr lang="en-US" smtClean="0"/>
              <a:t>‹#›</a:t>
            </a:fld>
            <a:endParaRPr lang="en-US"/>
          </a:p>
        </p:txBody>
      </p:sp>
    </p:spTree>
    <p:extLst>
      <p:ext uri="{BB962C8B-B14F-4D97-AF65-F5344CB8AC3E}">
        <p14:creationId xmlns:p14="http://schemas.microsoft.com/office/powerpoint/2010/main" val="8623813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5D505-AE23-20B7-ACEA-ADCA5BEC1F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9A57A9B-5AF5-DD7F-C1C6-28900E97AFE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F402E6-A483-1F0B-E0E5-D4E2DA9EBE28}"/>
              </a:ext>
            </a:extLst>
          </p:cNvPr>
          <p:cNvSpPr>
            <a:spLocks noGrp="1"/>
          </p:cNvSpPr>
          <p:nvPr>
            <p:ph type="dt" sz="half" idx="10"/>
          </p:nvPr>
        </p:nvSpPr>
        <p:spPr/>
        <p:txBody>
          <a:bodyPr/>
          <a:lstStyle/>
          <a:p>
            <a:fld id="{D2A8EFA5-8421-4A95-940C-214B2CECF242}" type="datetimeFigureOut">
              <a:rPr lang="en-US" smtClean="0"/>
              <a:t>11/3/2024</a:t>
            </a:fld>
            <a:endParaRPr lang="en-US"/>
          </a:p>
        </p:txBody>
      </p:sp>
      <p:sp>
        <p:nvSpPr>
          <p:cNvPr id="5" name="Footer Placeholder 4">
            <a:extLst>
              <a:ext uri="{FF2B5EF4-FFF2-40B4-BE49-F238E27FC236}">
                <a16:creationId xmlns:a16="http://schemas.microsoft.com/office/drawing/2014/main" id="{D505B39C-E1AB-DD40-46BD-22CA0B66A9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63E305-2743-7BE5-CC74-EB1D36D8CF61}"/>
              </a:ext>
            </a:extLst>
          </p:cNvPr>
          <p:cNvSpPr>
            <a:spLocks noGrp="1"/>
          </p:cNvSpPr>
          <p:nvPr>
            <p:ph type="sldNum" sz="quarter" idx="12"/>
          </p:nvPr>
        </p:nvSpPr>
        <p:spPr/>
        <p:txBody>
          <a:bodyPr/>
          <a:lstStyle/>
          <a:p>
            <a:fld id="{A4751BD9-19F0-4F08-B5BD-8E0D78F9D43F}" type="slidenum">
              <a:rPr lang="en-US" smtClean="0"/>
              <a:t>‹#›</a:t>
            </a:fld>
            <a:endParaRPr lang="en-US"/>
          </a:p>
        </p:txBody>
      </p:sp>
    </p:spTree>
    <p:extLst>
      <p:ext uri="{BB962C8B-B14F-4D97-AF65-F5344CB8AC3E}">
        <p14:creationId xmlns:p14="http://schemas.microsoft.com/office/powerpoint/2010/main" val="3022405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CB424-170A-A849-AB68-CC5902F9A78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67044C4-8B77-D7C9-6BE2-69D703370F1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A8EB323-98E9-63F7-1456-53FBA46ABA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8ACB3C5-E582-3034-2842-82E1461BAACD}"/>
              </a:ext>
            </a:extLst>
          </p:cNvPr>
          <p:cNvSpPr>
            <a:spLocks noGrp="1"/>
          </p:cNvSpPr>
          <p:nvPr>
            <p:ph type="dt" sz="half" idx="10"/>
          </p:nvPr>
        </p:nvSpPr>
        <p:spPr/>
        <p:txBody>
          <a:bodyPr/>
          <a:lstStyle/>
          <a:p>
            <a:fld id="{D2A8EFA5-8421-4A95-940C-214B2CECF242}" type="datetimeFigureOut">
              <a:rPr lang="en-US" smtClean="0"/>
              <a:t>11/3/2024</a:t>
            </a:fld>
            <a:endParaRPr lang="en-US"/>
          </a:p>
        </p:txBody>
      </p:sp>
      <p:sp>
        <p:nvSpPr>
          <p:cNvPr id="6" name="Footer Placeholder 5">
            <a:extLst>
              <a:ext uri="{FF2B5EF4-FFF2-40B4-BE49-F238E27FC236}">
                <a16:creationId xmlns:a16="http://schemas.microsoft.com/office/drawing/2014/main" id="{F90F08EC-E929-E351-99AC-8363C8F5DA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92A821-8B71-21CF-8B12-EA7141DE0918}"/>
              </a:ext>
            </a:extLst>
          </p:cNvPr>
          <p:cNvSpPr>
            <a:spLocks noGrp="1"/>
          </p:cNvSpPr>
          <p:nvPr>
            <p:ph type="sldNum" sz="quarter" idx="12"/>
          </p:nvPr>
        </p:nvSpPr>
        <p:spPr/>
        <p:txBody>
          <a:bodyPr/>
          <a:lstStyle/>
          <a:p>
            <a:fld id="{A4751BD9-19F0-4F08-B5BD-8E0D78F9D43F}" type="slidenum">
              <a:rPr lang="en-US" smtClean="0"/>
              <a:t>‹#›</a:t>
            </a:fld>
            <a:endParaRPr lang="en-US"/>
          </a:p>
        </p:txBody>
      </p:sp>
    </p:spTree>
    <p:extLst>
      <p:ext uri="{BB962C8B-B14F-4D97-AF65-F5344CB8AC3E}">
        <p14:creationId xmlns:p14="http://schemas.microsoft.com/office/powerpoint/2010/main" val="27660966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AFA5A-E47E-4801-5102-C1C965E63BF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B3DBD9A-105C-2943-67D2-8DF5130BE7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929792-CE45-CD6C-E52F-C3F5B9D99B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DAE763D-8E90-71FA-441D-718D41D583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DDE7D9-E323-D31B-4CAD-7CB298D7B53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330FC90-93BB-4CB5-095F-6B09D27AEC51}"/>
              </a:ext>
            </a:extLst>
          </p:cNvPr>
          <p:cNvSpPr>
            <a:spLocks noGrp="1"/>
          </p:cNvSpPr>
          <p:nvPr>
            <p:ph type="dt" sz="half" idx="10"/>
          </p:nvPr>
        </p:nvSpPr>
        <p:spPr/>
        <p:txBody>
          <a:bodyPr/>
          <a:lstStyle/>
          <a:p>
            <a:fld id="{D2A8EFA5-8421-4A95-940C-214B2CECF242}" type="datetimeFigureOut">
              <a:rPr lang="en-US" smtClean="0"/>
              <a:t>11/3/2024</a:t>
            </a:fld>
            <a:endParaRPr lang="en-US"/>
          </a:p>
        </p:txBody>
      </p:sp>
      <p:sp>
        <p:nvSpPr>
          <p:cNvPr id="8" name="Footer Placeholder 7">
            <a:extLst>
              <a:ext uri="{FF2B5EF4-FFF2-40B4-BE49-F238E27FC236}">
                <a16:creationId xmlns:a16="http://schemas.microsoft.com/office/drawing/2014/main" id="{6C9CCCA9-2858-A0E2-4034-664824937EF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26BBB3F-6190-6BDE-B901-8A8D1B3C9630}"/>
              </a:ext>
            </a:extLst>
          </p:cNvPr>
          <p:cNvSpPr>
            <a:spLocks noGrp="1"/>
          </p:cNvSpPr>
          <p:nvPr>
            <p:ph type="sldNum" sz="quarter" idx="12"/>
          </p:nvPr>
        </p:nvSpPr>
        <p:spPr/>
        <p:txBody>
          <a:bodyPr/>
          <a:lstStyle/>
          <a:p>
            <a:fld id="{A4751BD9-19F0-4F08-B5BD-8E0D78F9D43F}" type="slidenum">
              <a:rPr lang="en-US" smtClean="0"/>
              <a:t>‹#›</a:t>
            </a:fld>
            <a:endParaRPr lang="en-US"/>
          </a:p>
        </p:txBody>
      </p:sp>
    </p:spTree>
    <p:extLst>
      <p:ext uri="{BB962C8B-B14F-4D97-AF65-F5344CB8AC3E}">
        <p14:creationId xmlns:p14="http://schemas.microsoft.com/office/powerpoint/2010/main" val="349541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8D619-667E-461B-C06B-31DB4CC39D2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B80A9C4-77D1-C8A7-E91D-675C98F86FCF}"/>
              </a:ext>
            </a:extLst>
          </p:cNvPr>
          <p:cNvSpPr>
            <a:spLocks noGrp="1"/>
          </p:cNvSpPr>
          <p:nvPr>
            <p:ph type="dt" sz="half" idx="10"/>
          </p:nvPr>
        </p:nvSpPr>
        <p:spPr/>
        <p:txBody>
          <a:bodyPr/>
          <a:lstStyle/>
          <a:p>
            <a:fld id="{D2A8EFA5-8421-4A95-940C-214B2CECF242}" type="datetimeFigureOut">
              <a:rPr lang="en-US" smtClean="0"/>
              <a:t>11/3/2024</a:t>
            </a:fld>
            <a:endParaRPr lang="en-US"/>
          </a:p>
        </p:txBody>
      </p:sp>
      <p:sp>
        <p:nvSpPr>
          <p:cNvPr id="4" name="Footer Placeholder 3">
            <a:extLst>
              <a:ext uri="{FF2B5EF4-FFF2-40B4-BE49-F238E27FC236}">
                <a16:creationId xmlns:a16="http://schemas.microsoft.com/office/drawing/2014/main" id="{6DD75059-27DD-1FC4-6828-F448D2B8E39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C6FB0B8-7458-D6CD-52FE-18E20B1C9868}"/>
              </a:ext>
            </a:extLst>
          </p:cNvPr>
          <p:cNvSpPr>
            <a:spLocks noGrp="1"/>
          </p:cNvSpPr>
          <p:nvPr>
            <p:ph type="sldNum" sz="quarter" idx="12"/>
          </p:nvPr>
        </p:nvSpPr>
        <p:spPr/>
        <p:txBody>
          <a:bodyPr/>
          <a:lstStyle/>
          <a:p>
            <a:fld id="{A4751BD9-19F0-4F08-B5BD-8E0D78F9D43F}" type="slidenum">
              <a:rPr lang="en-US" smtClean="0"/>
              <a:t>‹#›</a:t>
            </a:fld>
            <a:endParaRPr lang="en-US"/>
          </a:p>
        </p:txBody>
      </p:sp>
    </p:spTree>
    <p:extLst>
      <p:ext uri="{BB962C8B-B14F-4D97-AF65-F5344CB8AC3E}">
        <p14:creationId xmlns:p14="http://schemas.microsoft.com/office/powerpoint/2010/main" val="1395256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9F3B40-5DE1-9506-D16E-7DA23DF0EAA3}"/>
              </a:ext>
            </a:extLst>
          </p:cNvPr>
          <p:cNvSpPr>
            <a:spLocks noGrp="1"/>
          </p:cNvSpPr>
          <p:nvPr>
            <p:ph type="dt" sz="half" idx="10"/>
          </p:nvPr>
        </p:nvSpPr>
        <p:spPr/>
        <p:txBody>
          <a:bodyPr/>
          <a:lstStyle/>
          <a:p>
            <a:fld id="{D2A8EFA5-8421-4A95-940C-214B2CECF242}" type="datetimeFigureOut">
              <a:rPr lang="en-US" smtClean="0"/>
              <a:t>11/3/2024</a:t>
            </a:fld>
            <a:endParaRPr lang="en-US"/>
          </a:p>
        </p:txBody>
      </p:sp>
      <p:sp>
        <p:nvSpPr>
          <p:cNvPr id="3" name="Footer Placeholder 2">
            <a:extLst>
              <a:ext uri="{FF2B5EF4-FFF2-40B4-BE49-F238E27FC236}">
                <a16:creationId xmlns:a16="http://schemas.microsoft.com/office/drawing/2014/main" id="{E670AE0B-4374-6555-46BB-0238401F13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217858E-EDA5-0BAC-DA9E-D14CEC36B8D6}"/>
              </a:ext>
            </a:extLst>
          </p:cNvPr>
          <p:cNvSpPr>
            <a:spLocks noGrp="1"/>
          </p:cNvSpPr>
          <p:nvPr>
            <p:ph type="sldNum" sz="quarter" idx="12"/>
          </p:nvPr>
        </p:nvSpPr>
        <p:spPr/>
        <p:txBody>
          <a:bodyPr/>
          <a:lstStyle/>
          <a:p>
            <a:fld id="{A4751BD9-19F0-4F08-B5BD-8E0D78F9D43F}" type="slidenum">
              <a:rPr lang="en-US" smtClean="0"/>
              <a:t>‹#›</a:t>
            </a:fld>
            <a:endParaRPr lang="en-US"/>
          </a:p>
        </p:txBody>
      </p:sp>
    </p:spTree>
    <p:extLst>
      <p:ext uri="{BB962C8B-B14F-4D97-AF65-F5344CB8AC3E}">
        <p14:creationId xmlns:p14="http://schemas.microsoft.com/office/powerpoint/2010/main" val="21318574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F58E3-2A08-A0F5-49F5-92AD9937DA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C92456E-3DCD-CC5C-0A58-1E3F983099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DDDA767-B7F4-F0D3-6AEA-8C1CF8FD7C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41B1D5-53D2-7CA6-1C62-10F35BBEA3C0}"/>
              </a:ext>
            </a:extLst>
          </p:cNvPr>
          <p:cNvSpPr>
            <a:spLocks noGrp="1"/>
          </p:cNvSpPr>
          <p:nvPr>
            <p:ph type="dt" sz="half" idx="10"/>
          </p:nvPr>
        </p:nvSpPr>
        <p:spPr/>
        <p:txBody>
          <a:bodyPr/>
          <a:lstStyle/>
          <a:p>
            <a:fld id="{D2A8EFA5-8421-4A95-940C-214B2CECF242}" type="datetimeFigureOut">
              <a:rPr lang="en-US" smtClean="0"/>
              <a:t>11/3/2024</a:t>
            </a:fld>
            <a:endParaRPr lang="en-US"/>
          </a:p>
        </p:txBody>
      </p:sp>
      <p:sp>
        <p:nvSpPr>
          <p:cNvPr id="6" name="Footer Placeholder 5">
            <a:extLst>
              <a:ext uri="{FF2B5EF4-FFF2-40B4-BE49-F238E27FC236}">
                <a16:creationId xmlns:a16="http://schemas.microsoft.com/office/drawing/2014/main" id="{D2CAE992-3179-CB81-4D93-AF80EFF488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EDE75F-361B-5195-F154-2F2131EF533A}"/>
              </a:ext>
            </a:extLst>
          </p:cNvPr>
          <p:cNvSpPr>
            <a:spLocks noGrp="1"/>
          </p:cNvSpPr>
          <p:nvPr>
            <p:ph type="sldNum" sz="quarter" idx="12"/>
          </p:nvPr>
        </p:nvSpPr>
        <p:spPr/>
        <p:txBody>
          <a:bodyPr/>
          <a:lstStyle/>
          <a:p>
            <a:fld id="{A4751BD9-19F0-4F08-B5BD-8E0D78F9D43F}" type="slidenum">
              <a:rPr lang="en-US" smtClean="0"/>
              <a:t>‹#›</a:t>
            </a:fld>
            <a:endParaRPr lang="en-US"/>
          </a:p>
        </p:txBody>
      </p:sp>
    </p:spTree>
    <p:extLst>
      <p:ext uri="{BB962C8B-B14F-4D97-AF65-F5344CB8AC3E}">
        <p14:creationId xmlns:p14="http://schemas.microsoft.com/office/powerpoint/2010/main" val="29910389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0BBFE-4F22-3346-3669-480D4AF1E4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C179461-832D-A5AA-9379-EF78C59CF0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161FE3A-12AC-FBE6-2151-FACF115095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726B18-74E0-65F7-46C4-D4AAEFCA7E11}"/>
              </a:ext>
            </a:extLst>
          </p:cNvPr>
          <p:cNvSpPr>
            <a:spLocks noGrp="1"/>
          </p:cNvSpPr>
          <p:nvPr>
            <p:ph type="dt" sz="half" idx="10"/>
          </p:nvPr>
        </p:nvSpPr>
        <p:spPr/>
        <p:txBody>
          <a:bodyPr/>
          <a:lstStyle/>
          <a:p>
            <a:fld id="{D2A8EFA5-8421-4A95-940C-214B2CECF242}" type="datetimeFigureOut">
              <a:rPr lang="en-US" smtClean="0"/>
              <a:t>11/3/2024</a:t>
            </a:fld>
            <a:endParaRPr lang="en-US"/>
          </a:p>
        </p:txBody>
      </p:sp>
      <p:sp>
        <p:nvSpPr>
          <p:cNvPr id="6" name="Footer Placeholder 5">
            <a:extLst>
              <a:ext uri="{FF2B5EF4-FFF2-40B4-BE49-F238E27FC236}">
                <a16:creationId xmlns:a16="http://schemas.microsoft.com/office/drawing/2014/main" id="{E9D53A7C-8450-A8F8-6AF4-E5D44CDFCE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0D5A16-0570-1352-4E67-A731EB5666A1}"/>
              </a:ext>
            </a:extLst>
          </p:cNvPr>
          <p:cNvSpPr>
            <a:spLocks noGrp="1"/>
          </p:cNvSpPr>
          <p:nvPr>
            <p:ph type="sldNum" sz="quarter" idx="12"/>
          </p:nvPr>
        </p:nvSpPr>
        <p:spPr/>
        <p:txBody>
          <a:bodyPr/>
          <a:lstStyle/>
          <a:p>
            <a:fld id="{A4751BD9-19F0-4F08-B5BD-8E0D78F9D43F}" type="slidenum">
              <a:rPr lang="en-US" smtClean="0"/>
              <a:t>‹#›</a:t>
            </a:fld>
            <a:endParaRPr lang="en-US"/>
          </a:p>
        </p:txBody>
      </p:sp>
    </p:spTree>
    <p:extLst>
      <p:ext uri="{BB962C8B-B14F-4D97-AF65-F5344CB8AC3E}">
        <p14:creationId xmlns:p14="http://schemas.microsoft.com/office/powerpoint/2010/main" val="28122272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6A20F-973D-C76F-2F08-BD732127B6A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EE8555E-B659-A7C5-8BB7-CD5725BBA09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82B59F-D1A8-614B-E301-EE7BAD2C9E3A}"/>
              </a:ext>
            </a:extLst>
          </p:cNvPr>
          <p:cNvSpPr>
            <a:spLocks noGrp="1"/>
          </p:cNvSpPr>
          <p:nvPr>
            <p:ph type="dt" sz="half" idx="10"/>
          </p:nvPr>
        </p:nvSpPr>
        <p:spPr/>
        <p:txBody>
          <a:bodyPr/>
          <a:lstStyle/>
          <a:p>
            <a:fld id="{D2A8EFA5-8421-4A95-940C-214B2CECF242}" type="datetimeFigureOut">
              <a:rPr lang="en-US" smtClean="0"/>
              <a:t>11/3/2024</a:t>
            </a:fld>
            <a:endParaRPr lang="en-US"/>
          </a:p>
        </p:txBody>
      </p:sp>
      <p:sp>
        <p:nvSpPr>
          <p:cNvPr id="5" name="Footer Placeholder 4">
            <a:extLst>
              <a:ext uri="{FF2B5EF4-FFF2-40B4-BE49-F238E27FC236}">
                <a16:creationId xmlns:a16="http://schemas.microsoft.com/office/drawing/2014/main" id="{4B531600-47DC-3B7E-C978-B93C3333B7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FAB243-56B3-818D-8643-4760F37ABECF}"/>
              </a:ext>
            </a:extLst>
          </p:cNvPr>
          <p:cNvSpPr>
            <a:spLocks noGrp="1"/>
          </p:cNvSpPr>
          <p:nvPr>
            <p:ph type="sldNum" sz="quarter" idx="12"/>
          </p:nvPr>
        </p:nvSpPr>
        <p:spPr/>
        <p:txBody>
          <a:bodyPr/>
          <a:lstStyle/>
          <a:p>
            <a:fld id="{A4751BD9-19F0-4F08-B5BD-8E0D78F9D43F}" type="slidenum">
              <a:rPr lang="en-US" smtClean="0"/>
              <a:t>‹#›</a:t>
            </a:fld>
            <a:endParaRPr lang="en-US"/>
          </a:p>
        </p:txBody>
      </p:sp>
    </p:spTree>
    <p:extLst>
      <p:ext uri="{BB962C8B-B14F-4D97-AF65-F5344CB8AC3E}">
        <p14:creationId xmlns:p14="http://schemas.microsoft.com/office/powerpoint/2010/main" val="1011745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F206F4-5E4C-4BCA-04E2-4F7117FE924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A34745-9E0A-6955-8430-E581A5350E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4F9A45-BE59-B971-95AD-6CAFB1C23345}"/>
              </a:ext>
            </a:extLst>
          </p:cNvPr>
          <p:cNvSpPr>
            <a:spLocks noGrp="1"/>
          </p:cNvSpPr>
          <p:nvPr>
            <p:ph type="dt" sz="half" idx="10"/>
          </p:nvPr>
        </p:nvSpPr>
        <p:spPr/>
        <p:txBody>
          <a:bodyPr/>
          <a:lstStyle/>
          <a:p>
            <a:fld id="{D2A8EFA5-8421-4A95-940C-214B2CECF242}" type="datetimeFigureOut">
              <a:rPr lang="en-US" smtClean="0"/>
              <a:t>11/3/2024</a:t>
            </a:fld>
            <a:endParaRPr lang="en-US"/>
          </a:p>
        </p:txBody>
      </p:sp>
      <p:sp>
        <p:nvSpPr>
          <p:cNvPr id="5" name="Footer Placeholder 4">
            <a:extLst>
              <a:ext uri="{FF2B5EF4-FFF2-40B4-BE49-F238E27FC236}">
                <a16:creationId xmlns:a16="http://schemas.microsoft.com/office/drawing/2014/main" id="{B6ACAC00-DAFA-C7EE-BFBD-99EFC09471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CC8FCB-E33B-3572-D263-700F6C5B053F}"/>
              </a:ext>
            </a:extLst>
          </p:cNvPr>
          <p:cNvSpPr>
            <a:spLocks noGrp="1"/>
          </p:cNvSpPr>
          <p:nvPr>
            <p:ph type="sldNum" sz="quarter" idx="12"/>
          </p:nvPr>
        </p:nvSpPr>
        <p:spPr/>
        <p:txBody>
          <a:bodyPr/>
          <a:lstStyle/>
          <a:p>
            <a:fld id="{A4751BD9-19F0-4F08-B5BD-8E0D78F9D43F}" type="slidenum">
              <a:rPr lang="en-US" smtClean="0"/>
              <a:t>‹#›</a:t>
            </a:fld>
            <a:endParaRPr lang="en-US"/>
          </a:p>
        </p:txBody>
      </p:sp>
    </p:spTree>
    <p:extLst>
      <p:ext uri="{BB962C8B-B14F-4D97-AF65-F5344CB8AC3E}">
        <p14:creationId xmlns:p14="http://schemas.microsoft.com/office/powerpoint/2010/main" val="2399401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96F4C5-6623-7C48-5C01-297219583C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37A5D95-C65F-008A-40C8-B96989D66A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F5F13C-A5C1-738A-006A-E395963E3E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A8EFA5-8421-4A95-940C-214B2CECF242}" type="datetimeFigureOut">
              <a:rPr lang="en-US" smtClean="0"/>
              <a:t>11/3/2024</a:t>
            </a:fld>
            <a:endParaRPr lang="en-US"/>
          </a:p>
        </p:txBody>
      </p:sp>
      <p:sp>
        <p:nvSpPr>
          <p:cNvPr id="5" name="Footer Placeholder 4">
            <a:extLst>
              <a:ext uri="{FF2B5EF4-FFF2-40B4-BE49-F238E27FC236}">
                <a16:creationId xmlns:a16="http://schemas.microsoft.com/office/drawing/2014/main" id="{4E8A25DC-BE7D-4F80-0E1C-EA0123BD98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4919907-DDB8-93C4-8524-ECAF19E240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751BD9-19F0-4F08-B5BD-8E0D78F9D43F}" type="slidenum">
              <a:rPr lang="en-US" smtClean="0"/>
              <a:t>‹#›</a:t>
            </a:fld>
            <a:endParaRPr lang="en-US"/>
          </a:p>
        </p:txBody>
      </p:sp>
    </p:spTree>
    <p:extLst>
      <p:ext uri="{BB962C8B-B14F-4D97-AF65-F5344CB8AC3E}">
        <p14:creationId xmlns:p14="http://schemas.microsoft.com/office/powerpoint/2010/main" val="39700176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AF300F-2339-DC46-3D78-30080386C97E}"/>
              </a:ext>
            </a:extLst>
          </p:cNvPr>
          <p:cNvSpPr>
            <a:spLocks noGrp="1"/>
          </p:cNvSpPr>
          <p:nvPr>
            <p:ph type="title"/>
          </p:nvPr>
        </p:nvSpPr>
        <p:spPr/>
        <p:txBody>
          <a:bodyPr/>
          <a:lstStyle/>
          <a:p>
            <a:r>
              <a:rPr lang="en-US" dirty="0"/>
              <a:t>205 Nov 4, Class 17</a:t>
            </a:r>
          </a:p>
        </p:txBody>
      </p:sp>
      <p:sp>
        <p:nvSpPr>
          <p:cNvPr id="5" name="Content Placeholder 4">
            <a:extLst>
              <a:ext uri="{FF2B5EF4-FFF2-40B4-BE49-F238E27FC236}">
                <a16:creationId xmlns:a16="http://schemas.microsoft.com/office/drawing/2014/main" id="{38B73460-479C-E872-7202-FEA38AB5931B}"/>
              </a:ext>
            </a:extLst>
          </p:cNvPr>
          <p:cNvSpPr>
            <a:spLocks noGrp="1"/>
          </p:cNvSpPr>
          <p:nvPr>
            <p:ph idx="1"/>
          </p:nvPr>
        </p:nvSpPr>
        <p:spPr/>
        <p:txBody>
          <a:bodyPr/>
          <a:lstStyle/>
          <a:p>
            <a:r>
              <a:rPr lang="en-US" dirty="0"/>
              <a:t>Chapter 15: Survey &amp; instrument design</a:t>
            </a:r>
          </a:p>
          <a:p>
            <a:r>
              <a:rPr lang="en-US" dirty="0"/>
              <a:t>Plant et al. (2009), The Obama Effect</a:t>
            </a:r>
          </a:p>
          <a:p>
            <a:endParaRPr lang="en-US" dirty="0"/>
          </a:p>
        </p:txBody>
      </p:sp>
    </p:spTree>
    <p:extLst>
      <p:ext uri="{BB962C8B-B14F-4D97-AF65-F5344CB8AC3E}">
        <p14:creationId xmlns:p14="http://schemas.microsoft.com/office/powerpoint/2010/main" val="15408147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F52F9-C0AE-19A1-9971-2B8EB0EB5B70}"/>
              </a:ext>
            </a:extLst>
          </p:cNvPr>
          <p:cNvSpPr>
            <a:spLocks noGrp="1"/>
          </p:cNvSpPr>
          <p:nvPr>
            <p:ph type="title"/>
          </p:nvPr>
        </p:nvSpPr>
        <p:spPr/>
        <p:txBody>
          <a:bodyPr/>
          <a:lstStyle/>
          <a:p>
            <a:r>
              <a:rPr lang="en-US" dirty="0"/>
              <a:t>Polling data</a:t>
            </a:r>
          </a:p>
        </p:txBody>
      </p:sp>
      <p:sp>
        <p:nvSpPr>
          <p:cNvPr id="3" name="Content Placeholder 2">
            <a:extLst>
              <a:ext uri="{FF2B5EF4-FFF2-40B4-BE49-F238E27FC236}">
                <a16:creationId xmlns:a16="http://schemas.microsoft.com/office/drawing/2014/main" id="{DDE7D279-55C8-DBBD-F813-814DC8A46A8B}"/>
              </a:ext>
            </a:extLst>
          </p:cNvPr>
          <p:cNvSpPr>
            <a:spLocks noGrp="1"/>
          </p:cNvSpPr>
          <p:nvPr>
            <p:ph idx="1"/>
          </p:nvPr>
        </p:nvSpPr>
        <p:spPr/>
        <p:txBody>
          <a:bodyPr>
            <a:normAutofit/>
          </a:bodyPr>
          <a:lstStyle/>
          <a:p>
            <a:r>
              <a:rPr lang="en-US" dirty="0"/>
              <a:t>A new York Times/Siena poll of the national electorate from 10/20/24 to 10/23/24 finds the race for president to be a statistical tie</a:t>
            </a:r>
          </a:p>
          <a:p>
            <a:pPr lvl="1"/>
            <a:r>
              <a:rPr lang="en-US" dirty="0"/>
              <a:t>48% - 48%</a:t>
            </a:r>
          </a:p>
          <a:p>
            <a:pPr lvl="1"/>
            <a:endParaRPr lang="en-US" dirty="0"/>
          </a:p>
          <a:p>
            <a:r>
              <a:rPr lang="en-US" dirty="0"/>
              <a:t>How do they “know” that?</a:t>
            </a:r>
          </a:p>
          <a:p>
            <a:pPr lvl="1"/>
            <a:r>
              <a:rPr lang="en-US" dirty="0"/>
              <a:t>Transparency: full methodology is posted as additional information together with the poll</a:t>
            </a:r>
          </a:p>
        </p:txBody>
      </p:sp>
    </p:spTree>
    <p:extLst>
      <p:ext uri="{BB962C8B-B14F-4D97-AF65-F5344CB8AC3E}">
        <p14:creationId xmlns:p14="http://schemas.microsoft.com/office/powerpoint/2010/main" val="18183272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BDF15-2FF8-AEAA-F9E0-F0D2A6308C79}"/>
              </a:ext>
            </a:extLst>
          </p:cNvPr>
          <p:cNvSpPr>
            <a:spLocks noGrp="1"/>
          </p:cNvSpPr>
          <p:nvPr>
            <p:ph type="title"/>
          </p:nvPr>
        </p:nvSpPr>
        <p:spPr/>
        <p:txBody>
          <a:bodyPr/>
          <a:lstStyle/>
          <a:p>
            <a:r>
              <a:rPr lang="en-US" dirty="0"/>
              <a:t>Poll Methodology</a:t>
            </a:r>
          </a:p>
        </p:txBody>
      </p:sp>
      <p:sp>
        <p:nvSpPr>
          <p:cNvPr id="3" name="Content Placeholder 2">
            <a:extLst>
              <a:ext uri="{FF2B5EF4-FFF2-40B4-BE49-F238E27FC236}">
                <a16:creationId xmlns:a16="http://schemas.microsoft.com/office/drawing/2014/main" id="{0E9B795F-7797-632B-F6DE-9E169F2BC9FD}"/>
              </a:ext>
            </a:extLst>
          </p:cNvPr>
          <p:cNvSpPr>
            <a:spLocks noGrp="1"/>
          </p:cNvSpPr>
          <p:nvPr>
            <p:ph idx="1"/>
          </p:nvPr>
        </p:nvSpPr>
        <p:spPr/>
        <p:txBody>
          <a:bodyPr>
            <a:normAutofit fontScale="85000" lnSpcReduction="20000"/>
          </a:bodyPr>
          <a:lstStyle/>
          <a:p>
            <a:pPr fontAlgn="base"/>
            <a:r>
              <a:rPr lang="en-US" b="0" i="0" dirty="0">
                <a:solidFill>
                  <a:srgbClr val="333333"/>
                </a:solidFill>
                <a:effectLst/>
                <a:latin typeface="nyt-franklin"/>
              </a:rPr>
              <a:t>Interviewers spoke with 2,516 voters nationwide from Oct. 20 to 23, 2024.</a:t>
            </a:r>
          </a:p>
          <a:p>
            <a:pPr fontAlgn="base"/>
            <a:r>
              <a:rPr lang="en-US" b="0" i="0" dirty="0">
                <a:solidFill>
                  <a:srgbClr val="333333"/>
                </a:solidFill>
                <a:effectLst/>
                <a:latin typeface="nyt-franklin"/>
              </a:rPr>
              <a:t>Times/Siena polls are conducted by telephone, using live interviewers, in both English and Spanish. Overall, 98 percent of respondents were contacted on a cellphone for this poll.</a:t>
            </a:r>
          </a:p>
          <a:p>
            <a:pPr fontAlgn="base"/>
            <a:r>
              <a:rPr lang="en-US" b="0" i="0" dirty="0">
                <a:solidFill>
                  <a:srgbClr val="333333"/>
                </a:solidFill>
                <a:effectLst/>
                <a:latin typeface="nyt-franklin"/>
              </a:rPr>
              <a:t>Voters are selected for the survey from a list of registered voters. The list contains information on the demographic characteristics of every registered voter, allowing us to make sure we reach the right number of voters of each party, race and region. For these polls, interviewers placed more than 260,000 calls to more than 80,000 voters.</a:t>
            </a:r>
          </a:p>
          <a:p>
            <a:pPr fontAlgn="base"/>
            <a:r>
              <a:rPr lang="en-US" b="0" i="0" dirty="0">
                <a:solidFill>
                  <a:srgbClr val="333333"/>
                </a:solidFill>
                <a:effectLst/>
                <a:latin typeface="nyt-franklin"/>
              </a:rPr>
              <a:t>To further ensure that the results reflect the entire voting population, not just those willing to take a poll, we give more weight to respondents from demographic groups that are underrepresented among survey respondents, like people without a college degree. You can see more information about the characteristics of our respondents and the weighted sample at the bottom of the page, under “Composition of the Sample.”</a:t>
            </a:r>
          </a:p>
          <a:p>
            <a:endParaRPr lang="en-US" dirty="0"/>
          </a:p>
        </p:txBody>
      </p:sp>
    </p:spTree>
    <p:extLst>
      <p:ext uri="{BB962C8B-B14F-4D97-AF65-F5344CB8AC3E}">
        <p14:creationId xmlns:p14="http://schemas.microsoft.com/office/powerpoint/2010/main" val="24288548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B2D15-C049-2794-C18F-0922A57A118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AA3D082-344A-3E60-D4DD-CFAA12205DED}"/>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27A1AE5B-0220-7536-2DB0-A22CBE2B11CB}"/>
              </a:ext>
            </a:extLst>
          </p:cNvPr>
          <p:cNvPicPr>
            <a:picLocks noChangeAspect="1"/>
          </p:cNvPicPr>
          <p:nvPr/>
        </p:nvPicPr>
        <p:blipFill>
          <a:blip r:embed="rId2"/>
          <a:stretch>
            <a:fillRect/>
          </a:stretch>
        </p:blipFill>
        <p:spPr>
          <a:xfrm>
            <a:off x="698500" y="321468"/>
            <a:ext cx="5629275" cy="4848225"/>
          </a:xfrm>
          <a:prstGeom prst="rect">
            <a:avLst/>
          </a:prstGeom>
        </p:spPr>
      </p:pic>
      <p:pic>
        <p:nvPicPr>
          <p:cNvPr id="9" name="Picture 8">
            <a:extLst>
              <a:ext uri="{FF2B5EF4-FFF2-40B4-BE49-F238E27FC236}">
                <a16:creationId xmlns:a16="http://schemas.microsoft.com/office/drawing/2014/main" id="{4FFB5146-1FCC-8FB0-9B58-1F306D827619}"/>
              </a:ext>
            </a:extLst>
          </p:cNvPr>
          <p:cNvPicPr>
            <a:picLocks noChangeAspect="1"/>
          </p:cNvPicPr>
          <p:nvPr/>
        </p:nvPicPr>
        <p:blipFill>
          <a:blip r:embed="rId3"/>
          <a:stretch>
            <a:fillRect/>
          </a:stretch>
        </p:blipFill>
        <p:spPr>
          <a:xfrm>
            <a:off x="6188075" y="681037"/>
            <a:ext cx="5229225" cy="4505325"/>
          </a:xfrm>
          <a:prstGeom prst="rect">
            <a:avLst/>
          </a:prstGeom>
        </p:spPr>
      </p:pic>
    </p:spTree>
    <p:extLst>
      <p:ext uri="{BB962C8B-B14F-4D97-AF65-F5344CB8AC3E}">
        <p14:creationId xmlns:p14="http://schemas.microsoft.com/office/powerpoint/2010/main" val="37415397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65286-C62A-19FF-DAB5-E657444848B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1B011F7-30FA-3084-C67E-064346E22BE6}"/>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7F92CE30-9AC1-9B6F-3A99-815128F271C5}"/>
              </a:ext>
            </a:extLst>
          </p:cNvPr>
          <p:cNvPicPr>
            <a:picLocks noChangeAspect="1"/>
          </p:cNvPicPr>
          <p:nvPr/>
        </p:nvPicPr>
        <p:blipFill>
          <a:blip r:embed="rId2"/>
          <a:stretch>
            <a:fillRect/>
          </a:stretch>
        </p:blipFill>
        <p:spPr>
          <a:xfrm>
            <a:off x="3481387" y="100012"/>
            <a:ext cx="5229225" cy="6657975"/>
          </a:xfrm>
          <a:prstGeom prst="rect">
            <a:avLst/>
          </a:prstGeom>
        </p:spPr>
      </p:pic>
    </p:spTree>
    <p:extLst>
      <p:ext uri="{BB962C8B-B14F-4D97-AF65-F5344CB8AC3E}">
        <p14:creationId xmlns:p14="http://schemas.microsoft.com/office/powerpoint/2010/main" val="11119450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E2040-93FA-FB43-009B-4E1749170088}"/>
              </a:ext>
            </a:extLst>
          </p:cNvPr>
          <p:cNvSpPr>
            <a:spLocks noGrp="1"/>
          </p:cNvSpPr>
          <p:nvPr>
            <p:ph type="title"/>
          </p:nvPr>
        </p:nvSpPr>
        <p:spPr/>
        <p:txBody>
          <a:bodyPr/>
          <a:lstStyle/>
          <a:p>
            <a:r>
              <a:rPr lang="en-US" dirty="0"/>
              <a:t>Polling challenges</a:t>
            </a:r>
          </a:p>
        </p:txBody>
      </p:sp>
      <p:sp>
        <p:nvSpPr>
          <p:cNvPr id="3" name="Content Placeholder 2">
            <a:extLst>
              <a:ext uri="{FF2B5EF4-FFF2-40B4-BE49-F238E27FC236}">
                <a16:creationId xmlns:a16="http://schemas.microsoft.com/office/drawing/2014/main" id="{A513B7D4-06FF-EF72-CCAE-2FAD42B683CF}"/>
              </a:ext>
            </a:extLst>
          </p:cNvPr>
          <p:cNvSpPr>
            <a:spLocks noGrp="1"/>
          </p:cNvSpPr>
          <p:nvPr>
            <p:ph idx="1"/>
          </p:nvPr>
        </p:nvSpPr>
        <p:spPr/>
        <p:txBody>
          <a:bodyPr>
            <a:normAutofit lnSpcReduction="10000"/>
          </a:bodyPr>
          <a:lstStyle/>
          <a:p>
            <a:r>
              <a:rPr lang="en-US" dirty="0"/>
              <a:t>260,000 calls -&gt; 80,000 voters -&gt; 2,516 responses</a:t>
            </a:r>
          </a:p>
          <a:p>
            <a:pPr lvl="1"/>
            <a:r>
              <a:rPr lang="en-US" dirty="0"/>
              <a:t>Non-response bias?</a:t>
            </a:r>
          </a:p>
          <a:p>
            <a:r>
              <a:rPr lang="en-US" dirty="0"/>
              <a:t>Statistical modeling adjusts the observed data to match expectations about the statistical makeup of voters</a:t>
            </a:r>
          </a:p>
          <a:p>
            <a:r>
              <a:rPr lang="en-US" dirty="0"/>
              <a:t>Margin of “sampling error” is 2.2%</a:t>
            </a:r>
          </a:p>
          <a:p>
            <a:pPr lvl="1"/>
            <a:r>
              <a:rPr lang="en-US" dirty="0"/>
              <a:t>If the model is correct, error could be much higher otherwise</a:t>
            </a:r>
          </a:p>
          <a:p>
            <a:pPr lvl="1"/>
            <a:r>
              <a:rPr lang="en-US" dirty="0"/>
              <a:t>“</a:t>
            </a:r>
            <a:r>
              <a:rPr lang="en-US" b="0" i="0" dirty="0">
                <a:solidFill>
                  <a:srgbClr val="333333"/>
                </a:solidFill>
                <a:effectLst/>
                <a:latin typeface="nyt-franklin"/>
              </a:rPr>
              <a:t>Historically, The Times/Siena Poll’s error at the 95th percentile has been plus or minus 5.1 percentage points in surveys taken over the final three weeks before an election. Real-world error includes sources of error beyond sampling error, such as nonresponse bias, coverage error, late shifts among undecided voters and error in estimating the composition of the electorate.”</a:t>
            </a:r>
            <a:endParaRPr lang="en-US" dirty="0"/>
          </a:p>
        </p:txBody>
      </p:sp>
    </p:spTree>
    <p:extLst>
      <p:ext uri="{BB962C8B-B14F-4D97-AF65-F5344CB8AC3E}">
        <p14:creationId xmlns:p14="http://schemas.microsoft.com/office/powerpoint/2010/main" val="837826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4D6CC-ED60-43C8-98A3-906D533B855A}"/>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FDE4533C-71AB-44D6-94A6-6F0FC8E39651}"/>
              </a:ext>
            </a:extLst>
          </p:cNvPr>
          <p:cNvPicPr>
            <a:picLocks noGrp="1" noChangeAspect="1"/>
          </p:cNvPicPr>
          <p:nvPr>
            <p:ph idx="1"/>
          </p:nvPr>
        </p:nvPicPr>
        <p:blipFill>
          <a:blip r:embed="rId2"/>
          <a:stretch>
            <a:fillRect/>
          </a:stretch>
        </p:blipFill>
        <p:spPr>
          <a:xfrm>
            <a:off x="641269" y="365125"/>
            <a:ext cx="10980754" cy="5145026"/>
          </a:xfrm>
          <a:prstGeom prst="rect">
            <a:avLst/>
          </a:prstGeom>
        </p:spPr>
      </p:pic>
    </p:spTree>
    <p:extLst>
      <p:ext uri="{BB962C8B-B14F-4D97-AF65-F5344CB8AC3E}">
        <p14:creationId xmlns:p14="http://schemas.microsoft.com/office/powerpoint/2010/main" val="13521531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47077-DA28-4E3B-8C9C-7B6378F95C6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93115A3-28E5-4B25-8953-A298ECF1F10B}"/>
              </a:ext>
            </a:extLst>
          </p:cNvPr>
          <p:cNvSpPr>
            <a:spLocks noGrp="1"/>
          </p:cNvSpPr>
          <p:nvPr>
            <p:ph idx="1"/>
          </p:nvPr>
        </p:nvSpPr>
        <p:spPr/>
        <p:txBody>
          <a:bodyPr/>
          <a:lstStyle/>
          <a:p>
            <a:pPr algn="l"/>
            <a:r>
              <a:rPr lang="en-US" sz="2000" b="1" dirty="0">
                <a:solidFill>
                  <a:srgbClr val="2D3B45"/>
                </a:solidFill>
                <a:latin typeface="Lato Extended"/>
              </a:rPr>
              <a:t>Evaluative IAT</a:t>
            </a:r>
            <a:r>
              <a:rPr lang="en-US" sz="2000" dirty="0">
                <a:solidFill>
                  <a:srgbClr val="2D3B45"/>
                </a:solidFill>
                <a:latin typeface="Lato Extended"/>
              </a:rPr>
              <a:t>. The IAT is a dual categorization task in which participants categorize words as pleasant or unpleasant and faces as either Black or White by pressing one of two keys on the computer keyboard. Stimuli consisted of pleasant and unpleasant words as used by Greenwald et al. (1998) and pictures of White and Black male faces displaying neutral expressions (</a:t>
            </a:r>
            <a:r>
              <a:rPr lang="en-US" sz="2000" dirty="0" err="1">
                <a:solidFill>
                  <a:srgbClr val="2D3B45"/>
                </a:solidFill>
                <a:latin typeface="Lato Extended"/>
              </a:rPr>
              <a:t>Malpass</a:t>
            </a:r>
            <a:r>
              <a:rPr lang="en-US" sz="2000" dirty="0">
                <a:solidFill>
                  <a:srgbClr val="2D3B45"/>
                </a:solidFill>
                <a:latin typeface="Lato Extended"/>
              </a:rPr>
              <a:t>, </a:t>
            </a:r>
            <a:r>
              <a:rPr lang="en-US" sz="2000" dirty="0" err="1">
                <a:solidFill>
                  <a:srgbClr val="2D3B45"/>
                </a:solidFill>
                <a:latin typeface="Lato Extended"/>
              </a:rPr>
              <a:t>Lavigueur</a:t>
            </a:r>
            <a:r>
              <a:rPr lang="en-US" sz="2000" dirty="0">
                <a:solidFill>
                  <a:srgbClr val="2D3B45"/>
                </a:solidFill>
                <a:latin typeface="Lato Extended"/>
              </a:rPr>
              <a:t>, &amp; Weldon, 1973) as used by Devine, Plant, </a:t>
            </a:r>
            <a:r>
              <a:rPr lang="en-US" sz="2000" dirty="0" err="1">
                <a:solidFill>
                  <a:srgbClr val="2D3B45"/>
                </a:solidFill>
                <a:latin typeface="Lato Extended"/>
              </a:rPr>
              <a:t>Amodio</a:t>
            </a:r>
            <a:r>
              <a:rPr lang="en-US" sz="2000" dirty="0">
                <a:solidFill>
                  <a:srgbClr val="2D3B45"/>
                </a:solidFill>
                <a:latin typeface="Lato Extended"/>
              </a:rPr>
              <a:t>, Harmon-Jones, and Vance (2002; Study 3). Pleasant words included honor, lucky, diamond, loyal, freedom, rainbow, love, honest, peace, and heaven. Unpleasant words included evil, cancer, sickness, disaster, poverty, vomit, bomb, rotten, abuse, and murder</a:t>
            </a:r>
          </a:p>
          <a:p>
            <a:pPr algn="l"/>
            <a:endParaRPr lang="en-US" sz="2000" dirty="0">
              <a:solidFill>
                <a:srgbClr val="2D3B45"/>
              </a:solidFill>
              <a:latin typeface="Lato Extended"/>
            </a:endParaRPr>
          </a:p>
          <a:p>
            <a:endParaRPr lang="en-US" sz="2000" dirty="0"/>
          </a:p>
        </p:txBody>
      </p:sp>
    </p:spTree>
    <p:extLst>
      <p:ext uri="{BB962C8B-B14F-4D97-AF65-F5344CB8AC3E}">
        <p14:creationId xmlns:p14="http://schemas.microsoft.com/office/powerpoint/2010/main" val="41196765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409A7-E7B6-4F52-B583-7BF59C106EC3}"/>
              </a:ext>
            </a:extLst>
          </p:cNvPr>
          <p:cNvSpPr>
            <a:spLocks noGrp="1"/>
          </p:cNvSpPr>
          <p:nvPr>
            <p:ph type="title"/>
          </p:nvPr>
        </p:nvSpPr>
        <p:spPr/>
        <p:txBody>
          <a:bodyPr/>
          <a:lstStyle/>
          <a:p>
            <a:r>
              <a:rPr lang="en-US" dirty="0"/>
              <a:t>IAT</a:t>
            </a:r>
          </a:p>
        </p:txBody>
      </p:sp>
      <p:sp>
        <p:nvSpPr>
          <p:cNvPr id="3" name="Content Placeholder 2">
            <a:extLst>
              <a:ext uri="{FF2B5EF4-FFF2-40B4-BE49-F238E27FC236}">
                <a16:creationId xmlns:a16="http://schemas.microsoft.com/office/drawing/2014/main" id="{85D22B6B-F740-4E2A-9447-4A8B097AE891}"/>
              </a:ext>
            </a:extLst>
          </p:cNvPr>
          <p:cNvSpPr>
            <a:spLocks noGrp="1"/>
          </p:cNvSpPr>
          <p:nvPr>
            <p:ph idx="1"/>
          </p:nvPr>
        </p:nvSpPr>
        <p:spPr/>
        <p:txBody>
          <a:bodyPr/>
          <a:lstStyle/>
          <a:p>
            <a:r>
              <a:rPr lang="en-US" dirty="0"/>
              <a:t>Block 1: Is this word good or bad?</a:t>
            </a:r>
          </a:p>
          <a:p>
            <a:r>
              <a:rPr lang="en-US" dirty="0"/>
              <a:t>Block 2: Is this face black or white?</a:t>
            </a:r>
          </a:p>
          <a:p>
            <a:r>
              <a:rPr lang="en-US" dirty="0"/>
              <a:t>Blocks 3-4: Mixed together, compatible</a:t>
            </a:r>
          </a:p>
          <a:p>
            <a:pPr lvl="1"/>
            <a:r>
              <a:rPr lang="en-US" dirty="0"/>
              <a:t>Same hand for good/white, bad/black</a:t>
            </a:r>
          </a:p>
          <a:p>
            <a:r>
              <a:rPr lang="en-US" dirty="0"/>
              <a:t>Block 5: Mixed, incompatible</a:t>
            </a:r>
          </a:p>
          <a:p>
            <a:endParaRPr lang="en-US" dirty="0"/>
          </a:p>
          <a:p>
            <a:r>
              <a:rPr lang="en-US" dirty="0"/>
              <a:t>DV = RT on block 5 – average on 3 &amp; 4</a:t>
            </a:r>
          </a:p>
        </p:txBody>
      </p:sp>
    </p:spTree>
    <p:extLst>
      <p:ext uri="{BB962C8B-B14F-4D97-AF65-F5344CB8AC3E}">
        <p14:creationId xmlns:p14="http://schemas.microsoft.com/office/powerpoint/2010/main" val="28365800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D738C-9CA8-4F16-BFC1-DBA08185EB21}"/>
              </a:ext>
            </a:extLst>
          </p:cNvPr>
          <p:cNvSpPr>
            <a:spLocks noGrp="1"/>
          </p:cNvSpPr>
          <p:nvPr>
            <p:ph type="title"/>
          </p:nvPr>
        </p:nvSpPr>
        <p:spPr/>
        <p:txBody>
          <a:bodyPr/>
          <a:lstStyle/>
          <a:p>
            <a:r>
              <a:rPr lang="en-US" dirty="0"/>
              <a:t>IAT Design</a:t>
            </a:r>
          </a:p>
        </p:txBody>
      </p:sp>
      <p:sp>
        <p:nvSpPr>
          <p:cNvPr id="3" name="Content Placeholder 2">
            <a:extLst>
              <a:ext uri="{FF2B5EF4-FFF2-40B4-BE49-F238E27FC236}">
                <a16:creationId xmlns:a16="http://schemas.microsoft.com/office/drawing/2014/main" id="{22B4DDC7-5CBF-4C02-923D-357C17776682}"/>
              </a:ext>
            </a:extLst>
          </p:cNvPr>
          <p:cNvSpPr>
            <a:spLocks noGrp="1"/>
          </p:cNvSpPr>
          <p:nvPr>
            <p:ph idx="1"/>
          </p:nvPr>
        </p:nvSpPr>
        <p:spPr/>
        <p:txBody>
          <a:bodyPr/>
          <a:lstStyle/>
          <a:p>
            <a:r>
              <a:rPr lang="en-US" dirty="0"/>
              <a:t>Aimed at overcoming response bias inherent in asking about racial stereotype/attitudes</a:t>
            </a:r>
          </a:p>
          <a:p>
            <a:pPr lvl="1"/>
            <a:r>
              <a:rPr lang="en-US" dirty="0"/>
              <a:t>Surveys can produce inaccurate data</a:t>
            </a:r>
          </a:p>
          <a:p>
            <a:r>
              <a:rPr lang="en-US" dirty="0"/>
              <a:t>Demonstrates the concept of ‘implicit’ elements of cognition</a:t>
            </a:r>
          </a:p>
          <a:p>
            <a:pPr lvl="1"/>
            <a:r>
              <a:rPr lang="en-US" dirty="0"/>
              <a:t>Unintentional bias</a:t>
            </a:r>
          </a:p>
          <a:p>
            <a:r>
              <a:rPr lang="en-US" dirty="0"/>
              <a:t>DV is fairly noisy</a:t>
            </a:r>
          </a:p>
          <a:p>
            <a:pPr lvl="1"/>
            <a:r>
              <a:rPr lang="en-US" dirty="0"/>
              <a:t>Can exhibit poor test-retest reliability</a:t>
            </a:r>
          </a:p>
        </p:txBody>
      </p:sp>
    </p:spTree>
    <p:extLst>
      <p:ext uri="{BB962C8B-B14F-4D97-AF65-F5344CB8AC3E}">
        <p14:creationId xmlns:p14="http://schemas.microsoft.com/office/powerpoint/2010/main" val="3555688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2646B-995D-4AEF-9180-FB3425FD05A7}"/>
              </a:ext>
            </a:extLst>
          </p:cNvPr>
          <p:cNvSpPr>
            <a:spLocks noGrp="1"/>
          </p:cNvSpPr>
          <p:nvPr>
            <p:ph type="title"/>
          </p:nvPr>
        </p:nvSpPr>
        <p:spPr/>
        <p:txBody>
          <a:bodyPr/>
          <a:lstStyle/>
          <a:p>
            <a:r>
              <a:rPr lang="en-US" dirty="0"/>
              <a:t>Non-experimental research</a:t>
            </a:r>
          </a:p>
        </p:txBody>
      </p:sp>
      <p:sp>
        <p:nvSpPr>
          <p:cNvPr id="3" name="Content Placeholder 2">
            <a:extLst>
              <a:ext uri="{FF2B5EF4-FFF2-40B4-BE49-F238E27FC236}">
                <a16:creationId xmlns:a16="http://schemas.microsoft.com/office/drawing/2014/main" id="{CEE8DB60-A934-4FC5-9AFC-47A38C8814B4}"/>
              </a:ext>
            </a:extLst>
          </p:cNvPr>
          <p:cNvSpPr>
            <a:spLocks noGrp="1"/>
          </p:cNvSpPr>
          <p:nvPr>
            <p:ph idx="1"/>
          </p:nvPr>
        </p:nvSpPr>
        <p:spPr/>
        <p:txBody>
          <a:bodyPr/>
          <a:lstStyle/>
          <a:p>
            <a:pPr algn="l"/>
            <a:r>
              <a:rPr lang="en-US" sz="2400" dirty="0">
                <a:solidFill>
                  <a:srgbClr val="2D3B45"/>
                </a:solidFill>
                <a:latin typeface="Lato Extended"/>
              </a:rPr>
              <a:t>“The goal of this project was to explore whether Obama’s historic presidential campaign and the resulting high levels of exposure to a positive, counter-stereotypic Black exemplar led to reduced racial prejudice and stereotyping.”</a:t>
            </a:r>
          </a:p>
          <a:p>
            <a:pPr algn="l"/>
            <a:r>
              <a:rPr lang="en-US" sz="2400" dirty="0">
                <a:solidFill>
                  <a:srgbClr val="2D3B45"/>
                </a:solidFill>
                <a:latin typeface="Lato Extended"/>
              </a:rPr>
              <a:t>Q1. Can we be confident about the causal direction here?  Why or why not?</a:t>
            </a:r>
          </a:p>
          <a:p>
            <a:pPr algn="l"/>
            <a:r>
              <a:rPr lang="en-US" sz="2400" dirty="0">
                <a:solidFill>
                  <a:srgbClr val="2D3B45"/>
                </a:solidFill>
                <a:latin typeface="Lato Extended"/>
              </a:rPr>
              <a:t>Q2. Give an alternate interpretation of the data.  The interpretation must be with the data as observed (not an alternate outcome) but is a different inference.</a:t>
            </a:r>
            <a:endParaRPr lang="en-US" sz="2400" dirty="0"/>
          </a:p>
        </p:txBody>
      </p:sp>
    </p:spTree>
    <p:extLst>
      <p:ext uri="{BB962C8B-B14F-4D97-AF65-F5344CB8AC3E}">
        <p14:creationId xmlns:p14="http://schemas.microsoft.com/office/powerpoint/2010/main" val="6968546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0A01D-F606-4BA8-B0E6-093997DD57E1}"/>
              </a:ext>
            </a:extLst>
          </p:cNvPr>
          <p:cNvSpPr>
            <a:spLocks noGrp="1"/>
          </p:cNvSpPr>
          <p:nvPr>
            <p:ph type="title"/>
          </p:nvPr>
        </p:nvSpPr>
        <p:spPr/>
        <p:txBody>
          <a:bodyPr/>
          <a:lstStyle/>
          <a:p>
            <a:r>
              <a:rPr lang="en-US" dirty="0"/>
              <a:t>Additional questions</a:t>
            </a:r>
          </a:p>
        </p:txBody>
      </p:sp>
      <p:sp>
        <p:nvSpPr>
          <p:cNvPr id="3" name="Content Placeholder 2">
            <a:extLst>
              <a:ext uri="{FF2B5EF4-FFF2-40B4-BE49-F238E27FC236}">
                <a16:creationId xmlns:a16="http://schemas.microsoft.com/office/drawing/2014/main" id="{E6CB0025-57CF-47A6-9B03-78664B127F3D}"/>
              </a:ext>
            </a:extLst>
          </p:cNvPr>
          <p:cNvSpPr>
            <a:spLocks noGrp="1"/>
          </p:cNvSpPr>
          <p:nvPr>
            <p:ph idx="1"/>
          </p:nvPr>
        </p:nvSpPr>
        <p:spPr/>
        <p:txBody>
          <a:bodyPr/>
          <a:lstStyle/>
          <a:p>
            <a:r>
              <a:rPr lang="en-US" b="0" i="0" dirty="0">
                <a:solidFill>
                  <a:srgbClr val="2D3B45"/>
                </a:solidFill>
                <a:effectLst/>
                <a:latin typeface="Lato Extended"/>
              </a:rPr>
              <a:t>Why could this research only be done non-experimentally?</a:t>
            </a:r>
          </a:p>
          <a:p>
            <a:endParaRPr lang="en-US" dirty="0">
              <a:solidFill>
                <a:srgbClr val="2D3B45"/>
              </a:solidFill>
              <a:latin typeface="Lato Extended"/>
            </a:endParaRPr>
          </a:p>
          <a:p>
            <a:r>
              <a:rPr lang="en-US" b="0" i="0" dirty="0">
                <a:solidFill>
                  <a:srgbClr val="2D3B45"/>
                </a:solidFill>
                <a:effectLst/>
                <a:latin typeface="Lato Extended"/>
              </a:rPr>
              <a:t>If the authors interpretation of the effect is correct, what subsequent recent historic events might we see as having similar types of effects and what might these be?</a:t>
            </a:r>
          </a:p>
          <a:p>
            <a:endParaRPr lang="en-US" dirty="0">
              <a:solidFill>
                <a:srgbClr val="2D3B45"/>
              </a:solidFill>
              <a:latin typeface="Lato Extended"/>
            </a:endParaRPr>
          </a:p>
          <a:p>
            <a:r>
              <a:rPr lang="en-US" dirty="0">
                <a:solidFill>
                  <a:srgbClr val="2D3B45"/>
                </a:solidFill>
                <a:latin typeface="Lato Extended"/>
              </a:rPr>
              <a:t>What principle of survey question design is implicit in the procedure of the IAT?</a:t>
            </a:r>
            <a:endParaRPr lang="en-US" dirty="0"/>
          </a:p>
        </p:txBody>
      </p:sp>
    </p:spTree>
    <p:extLst>
      <p:ext uri="{BB962C8B-B14F-4D97-AF65-F5344CB8AC3E}">
        <p14:creationId xmlns:p14="http://schemas.microsoft.com/office/powerpoint/2010/main" val="13770966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ACF19-352E-1326-D726-3A8F1349E544}"/>
              </a:ext>
            </a:extLst>
          </p:cNvPr>
          <p:cNvSpPr>
            <a:spLocks noGrp="1"/>
          </p:cNvSpPr>
          <p:nvPr>
            <p:ph type="title"/>
          </p:nvPr>
        </p:nvSpPr>
        <p:spPr/>
        <p:txBody>
          <a:bodyPr/>
          <a:lstStyle/>
          <a:p>
            <a:r>
              <a:rPr lang="en-US" dirty="0"/>
              <a:t>Surveys &amp; Instrument Design</a:t>
            </a:r>
          </a:p>
        </p:txBody>
      </p:sp>
      <p:sp>
        <p:nvSpPr>
          <p:cNvPr id="3" name="Content Placeholder 2">
            <a:extLst>
              <a:ext uri="{FF2B5EF4-FFF2-40B4-BE49-F238E27FC236}">
                <a16:creationId xmlns:a16="http://schemas.microsoft.com/office/drawing/2014/main" id="{B78D3617-C527-C569-409C-8631F90C864F}"/>
              </a:ext>
            </a:extLst>
          </p:cNvPr>
          <p:cNvSpPr>
            <a:spLocks noGrp="1"/>
          </p:cNvSpPr>
          <p:nvPr>
            <p:ph idx="1"/>
          </p:nvPr>
        </p:nvSpPr>
        <p:spPr/>
        <p:txBody>
          <a:bodyPr/>
          <a:lstStyle/>
          <a:p>
            <a:r>
              <a:rPr lang="en-US" dirty="0"/>
              <a:t>Survey</a:t>
            </a:r>
          </a:p>
          <a:p>
            <a:pPr lvl="1"/>
            <a:r>
              <a:rPr lang="en-US" dirty="0"/>
              <a:t>Series of questions, often with a simple numerical response scale</a:t>
            </a:r>
          </a:p>
          <a:p>
            <a:pPr lvl="1"/>
            <a:r>
              <a:rPr lang="en-US" dirty="0"/>
              <a:t>Often used in non-experimental research</a:t>
            </a:r>
          </a:p>
          <a:p>
            <a:pPr lvl="1"/>
            <a:r>
              <a:rPr lang="en-US" dirty="0"/>
              <a:t>Relationships among responses used for sociology, economics, epidemiology</a:t>
            </a:r>
          </a:p>
          <a:p>
            <a:r>
              <a:rPr lang="en-US" dirty="0"/>
              <a:t>Instrument</a:t>
            </a:r>
          </a:p>
          <a:p>
            <a:pPr lvl="1"/>
            <a:r>
              <a:rPr lang="en-US" dirty="0"/>
              <a:t>Established series of questions to quantify a construct</a:t>
            </a:r>
          </a:p>
          <a:p>
            <a:pPr lvl="1"/>
            <a:r>
              <a:rPr lang="en-US" dirty="0"/>
              <a:t>Operational definitions</a:t>
            </a:r>
          </a:p>
          <a:p>
            <a:pPr lvl="2"/>
            <a:r>
              <a:rPr lang="en-US" dirty="0"/>
              <a:t>Happiness, depression</a:t>
            </a:r>
          </a:p>
          <a:p>
            <a:pPr lvl="2"/>
            <a:r>
              <a:rPr lang="en-US" dirty="0"/>
              <a:t>Personality measures</a:t>
            </a:r>
          </a:p>
          <a:p>
            <a:pPr lvl="2"/>
            <a:r>
              <a:rPr lang="en-US" dirty="0"/>
              <a:t>IQ</a:t>
            </a:r>
          </a:p>
          <a:p>
            <a:pPr lvl="2"/>
            <a:endParaRPr lang="en-US" dirty="0"/>
          </a:p>
        </p:txBody>
      </p:sp>
    </p:spTree>
    <p:extLst>
      <p:ext uri="{BB962C8B-B14F-4D97-AF65-F5344CB8AC3E}">
        <p14:creationId xmlns:p14="http://schemas.microsoft.com/office/powerpoint/2010/main" val="7793312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A3285-7CD8-E8A1-56E4-48B7914DD411}"/>
              </a:ext>
            </a:extLst>
          </p:cNvPr>
          <p:cNvSpPr>
            <a:spLocks noGrp="1"/>
          </p:cNvSpPr>
          <p:nvPr>
            <p:ph type="title"/>
          </p:nvPr>
        </p:nvSpPr>
        <p:spPr/>
        <p:txBody>
          <a:bodyPr/>
          <a:lstStyle/>
          <a:p>
            <a:r>
              <a:rPr lang="en-US" dirty="0"/>
              <a:t>Survey research</a:t>
            </a:r>
          </a:p>
        </p:txBody>
      </p:sp>
      <p:sp>
        <p:nvSpPr>
          <p:cNvPr id="3" name="Content Placeholder 2">
            <a:extLst>
              <a:ext uri="{FF2B5EF4-FFF2-40B4-BE49-F238E27FC236}">
                <a16:creationId xmlns:a16="http://schemas.microsoft.com/office/drawing/2014/main" id="{801E7B12-8413-10A3-36B8-4E5FB1835114}"/>
              </a:ext>
            </a:extLst>
          </p:cNvPr>
          <p:cNvSpPr>
            <a:spLocks noGrp="1"/>
          </p:cNvSpPr>
          <p:nvPr>
            <p:ph idx="1"/>
          </p:nvPr>
        </p:nvSpPr>
        <p:spPr/>
        <p:txBody>
          <a:bodyPr/>
          <a:lstStyle/>
          <a:p>
            <a:r>
              <a:rPr lang="en-US" dirty="0"/>
              <a:t>Quality and effectiveness of questions</a:t>
            </a:r>
          </a:p>
          <a:p>
            <a:pPr lvl="1"/>
            <a:r>
              <a:rPr lang="en-US" dirty="0"/>
              <a:t>Demand characteristics</a:t>
            </a:r>
          </a:p>
          <a:p>
            <a:pPr lvl="1"/>
            <a:r>
              <a:rPr lang="en-US" dirty="0"/>
              <a:t>Complex or double-barreled questions</a:t>
            </a:r>
          </a:p>
          <a:p>
            <a:endParaRPr lang="en-US" dirty="0"/>
          </a:p>
          <a:p>
            <a:r>
              <a:rPr lang="en-US" dirty="0"/>
              <a:t>Sampling methodology</a:t>
            </a:r>
          </a:p>
          <a:p>
            <a:pPr lvl="1"/>
            <a:r>
              <a:rPr lang="en-US" dirty="0"/>
              <a:t>Recruiting bias</a:t>
            </a:r>
          </a:p>
          <a:p>
            <a:pPr lvl="1"/>
            <a:r>
              <a:rPr lang="en-US" dirty="0"/>
              <a:t>Participation/Non-response bias</a:t>
            </a:r>
          </a:p>
          <a:p>
            <a:pPr lvl="1"/>
            <a:r>
              <a:rPr lang="en-US" dirty="0"/>
              <a:t>Inaccurate responses</a:t>
            </a:r>
          </a:p>
          <a:p>
            <a:pPr lvl="1"/>
            <a:endParaRPr lang="en-US" dirty="0"/>
          </a:p>
        </p:txBody>
      </p:sp>
    </p:spTree>
    <p:extLst>
      <p:ext uri="{BB962C8B-B14F-4D97-AF65-F5344CB8AC3E}">
        <p14:creationId xmlns:p14="http://schemas.microsoft.com/office/powerpoint/2010/main" val="24899435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F0FA6-6D41-4512-A5C2-FA96D1DBFF5C}"/>
              </a:ext>
            </a:extLst>
          </p:cNvPr>
          <p:cNvSpPr>
            <a:spLocks noGrp="1"/>
          </p:cNvSpPr>
          <p:nvPr>
            <p:ph type="title"/>
          </p:nvPr>
        </p:nvSpPr>
        <p:spPr/>
        <p:txBody>
          <a:bodyPr/>
          <a:lstStyle/>
          <a:p>
            <a:r>
              <a:rPr lang="en-US" dirty="0"/>
              <a:t>Bias</a:t>
            </a:r>
          </a:p>
        </p:txBody>
      </p:sp>
      <p:sp>
        <p:nvSpPr>
          <p:cNvPr id="3" name="Content Placeholder 2">
            <a:extLst>
              <a:ext uri="{FF2B5EF4-FFF2-40B4-BE49-F238E27FC236}">
                <a16:creationId xmlns:a16="http://schemas.microsoft.com/office/drawing/2014/main" id="{E00EA0B7-51BA-417B-B975-8800A2449A3C}"/>
              </a:ext>
            </a:extLst>
          </p:cNvPr>
          <p:cNvSpPr>
            <a:spLocks noGrp="1"/>
          </p:cNvSpPr>
          <p:nvPr>
            <p:ph idx="1"/>
          </p:nvPr>
        </p:nvSpPr>
        <p:spPr/>
        <p:txBody>
          <a:bodyPr>
            <a:normAutofit/>
          </a:bodyPr>
          <a:lstStyle/>
          <a:p>
            <a:r>
              <a:rPr lang="en-US" b="0" i="0" dirty="0">
                <a:solidFill>
                  <a:srgbClr val="2D3B45"/>
                </a:solidFill>
                <a:effectLst/>
                <a:latin typeface="Lato Extended"/>
              </a:rPr>
              <a:t>1. What is meant by “selection bias” in the context of survey research?</a:t>
            </a:r>
          </a:p>
          <a:p>
            <a:pPr lvl="1"/>
            <a:r>
              <a:rPr lang="en-US" b="0" i="0" dirty="0">
                <a:solidFill>
                  <a:srgbClr val="2D3B45"/>
                </a:solidFill>
                <a:effectLst/>
                <a:latin typeface="inherit"/>
              </a:rPr>
              <a:t>a. The survey participants are not randomly chosen from the population.</a:t>
            </a:r>
          </a:p>
          <a:p>
            <a:pPr lvl="1"/>
            <a:r>
              <a:rPr lang="en-US" b="0" i="0" dirty="0">
                <a:solidFill>
                  <a:srgbClr val="2D3B45"/>
                </a:solidFill>
                <a:effectLst/>
                <a:latin typeface="inherit"/>
              </a:rPr>
              <a:t>b. The survey participants are randomly chosen from the population.</a:t>
            </a:r>
          </a:p>
          <a:p>
            <a:pPr lvl="1"/>
            <a:r>
              <a:rPr lang="en-US" b="0" i="0" dirty="0">
                <a:solidFill>
                  <a:srgbClr val="2D3B45"/>
                </a:solidFill>
                <a:effectLst/>
                <a:latin typeface="inherit"/>
              </a:rPr>
              <a:t>c. The survey participants are not part of the population of interest.</a:t>
            </a:r>
          </a:p>
          <a:p>
            <a:pPr lvl="1"/>
            <a:r>
              <a:rPr lang="en-US" b="0" i="0" dirty="0">
                <a:solidFill>
                  <a:srgbClr val="2D3B45"/>
                </a:solidFill>
                <a:effectLst/>
                <a:latin typeface="inherit"/>
              </a:rPr>
              <a:t>d. The survey participants are a part of the population of interest.</a:t>
            </a:r>
          </a:p>
          <a:p>
            <a:endParaRPr lang="en-US" dirty="0"/>
          </a:p>
        </p:txBody>
      </p:sp>
    </p:spTree>
    <p:extLst>
      <p:ext uri="{BB962C8B-B14F-4D97-AF65-F5344CB8AC3E}">
        <p14:creationId xmlns:p14="http://schemas.microsoft.com/office/powerpoint/2010/main" val="20523746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CE182-6937-5F8D-F36E-0D1427863DC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3F8466A-3709-C4CC-B586-C4D2732DF5BB}"/>
              </a:ext>
            </a:extLst>
          </p:cNvPr>
          <p:cNvSpPr>
            <a:spLocks noGrp="1"/>
          </p:cNvSpPr>
          <p:nvPr>
            <p:ph idx="1"/>
          </p:nvPr>
        </p:nvSpPr>
        <p:spPr/>
        <p:txBody>
          <a:bodyPr/>
          <a:lstStyle/>
          <a:p>
            <a:r>
              <a:rPr lang="en-US" b="0" i="0" dirty="0">
                <a:solidFill>
                  <a:srgbClr val="2D3B45"/>
                </a:solidFill>
                <a:effectLst/>
                <a:latin typeface="Lato Extended"/>
              </a:rPr>
              <a:t>2. Which bias occurs when individuals who were contacted chose to complete the survey differ in some ways from others who were contacted but chose not to take the survey?</a:t>
            </a:r>
          </a:p>
          <a:p>
            <a:pPr lvl="1"/>
            <a:r>
              <a:rPr lang="en-US" b="0" i="0" dirty="0">
                <a:solidFill>
                  <a:srgbClr val="2D3B45"/>
                </a:solidFill>
                <a:effectLst/>
                <a:latin typeface="inherit"/>
              </a:rPr>
              <a:t>a. Response set</a:t>
            </a:r>
          </a:p>
          <a:p>
            <a:pPr lvl="1"/>
            <a:r>
              <a:rPr lang="en-US" b="0" i="0" dirty="0">
                <a:solidFill>
                  <a:srgbClr val="2D3B45"/>
                </a:solidFill>
                <a:effectLst/>
                <a:latin typeface="inherit"/>
              </a:rPr>
              <a:t>b. Non-response</a:t>
            </a:r>
          </a:p>
          <a:p>
            <a:pPr lvl="1"/>
            <a:r>
              <a:rPr lang="en-US" b="0" i="0" dirty="0">
                <a:solidFill>
                  <a:srgbClr val="2D3B45"/>
                </a:solidFill>
                <a:effectLst/>
                <a:latin typeface="inherit"/>
              </a:rPr>
              <a:t>c. Attrition</a:t>
            </a:r>
          </a:p>
          <a:p>
            <a:pPr lvl="1"/>
            <a:r>
              <a:rPr lang="en-US" b="0" i="0" dirty="0">
                <a:solidFill>
                  <a:srgbClr val="2D3B45"/>
                </a:solidFill>
                <a:effectLst/>
                <a:latin typeface="inherit"/>
              </a:rPr>
              <a:t>d. Motivated respondent</a:t>
            </a:r>
            <a:endParaRPr lang="en-US" dirty="0"/>
          </a:p>
          <a:p>
            <a:endParaRPr lang="en-US" dirty="0"/>
          </a:p>
        </p:txBody>
      </p:sp>
    </p:spTree>
    <p:extLst>
      <p:ext uri="{BB962C8B-B14F-4D97-AF65-F5344CB8AC3E}">
        <p14:creationId xmlns:p14="http://schemas.microsoft.com/office/powerpoint/2010/main" val="36229762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4F6E1-A6CD-F32E-C58E-73808AB9307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AE89D2A-E35A-149C-77B8-3A7902CE7ADC}"/>
              </a:ext>
            </a:extLst>
          </p:cNvPr>
          <p:cNvSpPr>
            <a:spLocks noGrp="1"/>
          </p:cNvSpPr>
          <p:nvPr>
            <p:ph idx="1"/>
          </p:nvPr>
        </p:nvSpPr>
        <p:spPr/>
        <p:txBody>
          <a:bodyPr/>
          <a:lstStyle/>
          <a:p>
            <a:r>
              <a:rPr lang="en-US" b="0" i="0" dirty="0">
                <a:solidFill>
                  <a:srgbClr val="2D3B45"/>
                </a:solidFill>
                <a:effectLst/>
                <a:latin typeface="Lato Extended"/>
              </a:rPr>
              <a:t>Explain how each of the following two questions are examples of “double-barreled” questions:</a:t>
            </a:r>
          </a:p>
          <a:p>
            <a:pPr lvl="1"/>
            <a:r>
              <a:rPr lang="en-US" b="0" i="0" dirty="0">
                <a:solidFill>
                  <a:srgbClr val="2D3B45"/>
                </a:solidFill>
                <a:effectLst/>
                <a:latin typeface="Lato Extended"/>
              </a:rPr>
              <a:t>Please agree or disagree with the following statement: Cars should be faster and safer.</a:t>
            </a:r>
          </a:p>
          <a:p>
            <a:pPr lvl="1"/>
            <a:r>
              <a:rPr lang="en-US" b="0" i="0" dirty="0">
                <a:solidFill>
                  <a:srgbClr val="2D3B45"/>
                </a:solidFill>
                <a:effectLst/>
                <a:latin typeface="Lato Extended"/>
              </a:rPr>
              <a:t>How satisfied are you with your pay and job conditions?</a:t>
            </a:r>
            <a:endParaRPr lang="en-US" dirty="0"/>
          </a:p>
        </p:txBody>
      </p:sp>
    </p:spTree>
    <p:extLst>
      <p:ext uri="{BB962C8B-B14F-4D97-AF65-F5344CB8AC3E}">
        <p14:creationId xmlns:p14="http://schemas.microsoft.com/office/powerpoint/2010/main" val="30911967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5186A-DBFF-34B6-99AC-9DD78B72FB11}"/>
              </a:ext>
            </a:extLst>
          </p:cNvPr>
          <p:cNvSpPr>
            <a:spLocks noGrp="1"/>
          </p:cNvSpPr>
          <p:nvPr>
            <p:ph type="title"/>
          </p:nvPr>
        </p:nvSpPr>
        <p:spPr/>
        <p:txBody>
          <a:bodyPr/>
          <a:lstStyle/>
          <a:p>
            <a:r>
              <a:rPr lang="en-US" dirty="0"/>
              <a:t>Instrument development</a:t>
            </a:r>
          </a:p>
        </p:txBody>
      </p:sp>
      <p:sp>
        <p:nvSpPr>
          <p:cNvPr id="3" name="Content Placeholder 2">
            <a:extLst>
              <a:ext uri="{FF2B5EF4-FFF2-40B4-BE49-F238E27FC236}">
                <a16:creationId xmlns:a16="http://schemas.microsoft.com/office/drawing/2014/main" id="{31829CBE-8553-DD48-08A5-164FE450FC56}"/>
              </a:ext>
            </a:extLst>
          </p:cNvPr>
          <p:cNvSpPr>
            <a:spLocks noGrp="1"/>
          </p:cNvSpPr>
          <p:nvPr>
            <p:ph idx="1"/>
          </p:nvPr>
        </p:nvSpPr>
        <p:spPr/>
        <p:txBody>
          <a:bodyPr/>
          <a:lstStyle/>
          <a:p>
            <a:r>
              <a:rPr lang="en-US" dirty="0"/>
              <a:t>Reliability measures</a:t>
            </a:r>
          </a:p>
          <a:p>
            <a:pPr lvl="1"/>
            <a:r>
              <a:rPr lang="en-US" dirty="0"/>
              <a:t>Test-retest reliability: for measures that are hypothesized to be stable over time</a:t>
            </a:r>
          </a:p>
          <a:p>
            <a:pPr lvl="1"/>
            <a:r>
              <a:rPr lang="en-US" dirty="0"/>
              <a:t>Inter-item reliability: statistical tools for assessing relationships among items supposed to tap the same constructs</a:t>
            </a:r>
          </a:p>
          <a:p>
            <a:pPr lvl="1"/>
            <a:endParaRPr lang="en-US" dirty="0"/>
          </a:p>
          <a:p>
            <a:r>
              <a:rPr lang="en-US" dirty="0"/>
              <a:t>Validity measures</a:t>
            </a:r>
          </a:p>
          <a:p>
            <a:pPr lvl="1"/>
            <a:r>
              <a:rPr lang="en-US" dirty="0"/>
              <a:t>Construct/Face validity</a:t>
            </a:r>
          </a:p>
          <a:p>
            <a:pPr lvl="1"/>
            <a:r>
              <a:rPr lang="en-US" dirty="0"/>
              <a:t>Convergent validity with existing measures</a:t>
            </a:r>
          </a:p>
          <a:p>
            <a:pPr lvl="1"/>
            <a:r>
              <a:rPr lang="en-US" dirty="0"/>
              <a:t>Discriminant validity versus existing measures</a:t>
            </a:r>
          </a:p>
          <a:p>
            <a:pPr lvl="1"/>
            <a:endParaRPr lang="en-US" dirty="0"/>
          </a:p>
        </p:txBody>
      </p:sp>
    </p:spTree>
    <p:extLst>
      <p:ext uri="{BB962C8B-B14F-4D97-AF65-F5344CB8AC3E}">
        <p14:creationId xmlns:p14="http://schemas.microsoft.com/office/powerpoint/2010/main" val="6602451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887A8-06B1-9EF6-2B4A-CA4878A25186}"/>
              </a:ext>
            </a:extLst>
          </p:cNvPr>
          <p:cNvSpPr>
            <a:spLocks noGrp="1"/>
          </p:cNvSpPr>
          <p:nvPr>
            <p:ph type="title"/>
          </p:nvPr>
        </p:nvSpPr>
        <p:spPr/>
        <p:txBody>
          <a:bodyPr/>
          <a:lstStyle/>
          <a:p>
            <a:r>
              <a:rPr lang="en-US" dirty="0"/>
              <a:t>Writing Effective Questions</a:t>
            </a:r>
          </a:p>
        </p:txBody>
      </p:sp>
      <p:sp>
        <p:nvSpPr>
          <p:cNvPr id="3" name="Content Placeholder 2">
            <a:extLst>
              <a:ext uri="{FF2B5EF4-FFF2-40B4-BE49-F238E27FC236}">
                <a16:creationId xmlns:a16="http://schemas.microsoft.com/office/drawing/2014/main" id="{18DED7EF-0FF3-E772-9E86-D9A58B694918}"/>
              </a:ext>
            </a:extLst>
          </p:cNvPr>
          <p:cNvSpPr>
            <a:spLocks noGrp="1"/>
          </p:cNvSpPr>
          <p:nvPr>
            <p:ph idx="1"/>
          </p:nvPr>
        </p:nvSpPr>
        <p:spPr/>
        <p:txBody>
          <a:bodyPr/>
          <a:lstStyle/>
          <a:p>
            <a:r>
              <a:rPr lang="en-US" dirty="0"/>
              <a:t>BRUSO</a:t>
            </a:r>
          </a:p>
          <a:p>
            <a:pPr lvl="1"/>
            <a:r>
              <a:rPr lang="en-US" dirty="0"/>
              <a:t>Brief</a:t>
            </a:r>
          </a:p>
          <a:p>
            <a:pPr lvl="1"/>
            <a:r>
              <a:rPr lang="en-US" dirty="0"/>
              <a:t>Relevant</a:t>
            </a:r>
          </a:p>
          <a:p>
            <a:pPr lvl="1"/>
            <a:r>
              <a:rPr lang="en-US" dirty="0"/>
              <a:t>Unambiguous</a:t>
            </a:r>
          </a:p>
          <a:p>
            <a:pPr lvl="1"/>
            <a:r>
              <a:rPr lang="en-US" dirty="0"/>
              <a:t>Specific</a:t>
            </a:r>
          </a:p>
          <a:p>
            <a:pPr lvl="1"/>
            <a:r>
              <a:rPr lang="en-US" dirty="0"/>
              <a:t>Objective</a:t>
            </a:r>
          </a:p>
        </p:txBody>
      </p:sp>
    </p:spTree>
    <p:extLst>
      <p:ext uri="{BB962C8B-B14F-4D97-AF65-F5344CB8AC3E}">
        <p14:creationId xmlns:p14="http://schemas.microsoft.com/office/powerpoint/2010/main" val="40530312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A2D91-196A-56AB-3452-8001EACA86F3}"/>
              </a:ext>
            </a:extLst>
          </p:cNvPr>
          <p:cNvSpPr>
            <a:spLocks noGrp="1"/>
          </p:cNvSpPr>
          <p:nvPr>
            <p:ph type="title"/>
          </p:nvPr>
        </p:nvSpPr>
        <p:spPr/>
        <p:txBody>
          <a:bodyPr/>
          <a:lstStyle/>
          <a:p>
            <a:r>
              <a:rPr lang="en-US" dirty="0"/>
              <a:t>How Happy Are You?</a:t>
            </a:r>
          </a:p>
        </p:txBody>
      </p:sp>
      <p:sp>
        <p:nvSpPr>
          <p:cNvPr id="3" name="Content Placeholder 2">
            <a:extLst>
              <a:ext uri="{FF2B5EF4-FFF2-40B4-BE49-F238E27FC236}">
                <a16:creationId xmlns:a16="http://schemas.microsoft.com/office/drawing/2014/main" id="{3DDE7FD9-05CE-D064-EC77-3F714C05E42E}"/>
              </a:ext>
            </a:extLst>
          </p:cNvPr>
          <p:cNvSpPr>
            <a:spLocks noGrp="1"/>
          </p:cNvSpPr>
          <p:nvPr>
            <p:ph idx="1"/>
          </p:nvPr>
        </p:nvSpPr>
        <p:spPr/>
        <p:txBody>
          <a:bodyPr/>
          <a:lstStyle/>
          <a:p>
            <a:r>
              <a:rPr lang="en-US" dirty="0"/>
              <a:t>How do we turn happiness into a number?</a:t>
            </a:r>
          </a:p>
          <a:p>
            <a:pPr lvl="1"/>
            <a:r>
              <a:rPr lang="en-US" dirty="0"/>
              <a:t>Operational definition</a:t>
            </a:r>
          </a:p>
          <a:p>
            <a:pPr lvl="1"/>
            <a:endParaRPr lang="en-US" dirty="0"/>
          </a:p>
          <a:p>
            <a:r>
              <a:rPr lang="en-US" dirty="0"/>
              <a:t>Online survey:</a:t>
            </a:r>
          </a:p>
          <a:p>
            <a:pPr lvl="1"/>
            <a:r>
              <a:rPr lang="en-US" dirty="0"/>
              <a:t>https://www.happiness-survey.com/</a:t>
            </a:r>
          </a:p>
        </p:txBody>
      </p:sp>
    </p:spTree>
    <p:extLst>
      <p:ext uri="{BB962C8B-B14F-4D97-AF65-F5344CB8AC3E}">
        <p14:creationId xmlns:p14="http://schemas.microsoft.com/office/powerpoint/2010/main" val="17381873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91E08CB-6226-9082-50F2-A55B9BDE0E39}"/>
              </a:ext>
            </a:extLst>
          </p:cNvPr>
          <p:cNvSpPr>
            <a:spLocks noGrp="1"/>
          </p:cNvSpPr>
          <p:nvPr>
            <p:ph type="title"/>
          </p:nvPr>
        </p:nvSpPr>
        <p:spPr/>
        <p:txBody>
          <a:bodyPr/>
          <a:lstStyle/>
          <a:p>
            <a:r>
              <a:rPr lang="en-US" dirty="0"/>
              <a:t>OHQ online survey</a:t>
            </a:r>
          </a:p>
        </p:txBody>
      </p:sp>
      <p:pic>
        <p:nvPicPr>
          <p:cNvPr id="17" name="Content Placeholder 16">
            <a:extLst>
              <a:ext uri="{FF2B5EF4-FFF2-40B4-BE49-F238E27FC236}">
                <a16:creationId xmlns:a16="http://schemas.microsoft.com/office/drawing/2014/main" id="{EAED7444-1254-E48B-BEEB-73EB5D5A642E}"/>
              </a:ext>
            </a:extLst>
          </p:cNvPr>
          <p:cNvPicPr>
            <a:picLocks noGrp="1" noChangeAspect="1"/>
          </p:cNvPicPr>
          <p:nvPr>
            <p:ph sz="half" idx="1"/>
          </p:nvPr>
        </p:nvPicPr>
        <p:blipFill>
          <a:blip r:embed="rId2"/>
          <a:stretch>
            <a:fillRect/>
          </a:stretch>
        </p:blipFill>
        <p:spPr>
          <a:xfrm>
            <a:off x="838200" y="2453281"/>
            <a:ext cx="5181600" cy="3096026"/>
          </a:xfrm>
          <a:prstGeom prst="rect">
            <a:avLst/>
          </a:prstGeom>
        </p:spPr>
      </p:pic>
      <p:pic>
        <p:nvPicPr>
          <p:cNvPr id="23" name="Content Placeholder 22">
            <a:extLst>
              <a:ext uri="{FF2B5EF4-FFF2-40B4-BE49-F238E27FC236}">
                <a16:creationId xmlns:a16="http://schemas.microsoft.com/office/drawing/2014/main" id="{AFC25EE1-DFAE-8296-FA7C-7833CBCAA091}"/>
              </a:ext>
            </a:extLst>
          </p:cNvPr>
          <p:cNvPicPr>
            <a:picLocks noGrp="1" noChangeAspect="1"/>
          </p:cNvPicPr>
          <p:nvPr>
            <p:ph sz="half" idx="2"/>
          </p:nvPr>
        </p:nvPicPr>
        <p:blipFill>
          <a:blip r:embed="rId3"/>
          <a:stretch>
            <a:fillRect/>
          </a:stretch>
        </p:blipFill>
        <p:spPr>
          <a:xfrm>
            <a:off x="6172200" y="2475092"/>
            <a:ext cx="5181600" cy="3052403"/>
          </a:xfrm>
        </p:spPr>
      </p:pic>
    </p:spTree>
    <p:extLst>
      <p:ext uri="{BB962C8B-B14F-4D97-AF65-F5344CB8AC3E}">
        <p14:creationId xmlns:p14="http://schemas.microsoft.com/office/powerpoint/2010/main" val="10678791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2EB78-1787-469C-A58B-9C7496C55BFF}"/>
              </a:ext>
            </a:extLst>
          </p:cNvPr>
          <p:cNvSpPr>
            <a:spLocks noGrp="1"/>
          </p:cNvSpPr>
          <p:nvPr>
            <p:ph type="title"/>
          </p:nvPr>
        </p:nvSpPr>
        <p:spPr/>
        <p:txBody>
          <a:bodyPr/>
          <a:lstStyle/>
          <a:p>
            <a:r>
              <a:rPr lang="en-US" dirty="0"/>
              <a:t>Oxford Happiness Questionnaire</a:t>
            </a:r>
          </a:p>
        </p:txBody>
      </p:sp>
      <p:sp>
        <p:nvSpPr>
          <p:cNvPr id="3" name="Content Placeholder 2">
            <a:extLst>
              <a:ext uri="{FF2B5EF4-FFF2-40B4-BE49-F238E27FC236}">
                <a16:creationId xmlns:a16="http://schemas.microsoft.com/office/drawing/2014/main" id="{77CDAEF2-5E9A-4C66-A586-AB5EBA6DBDB6}"/>
              </a:ext>
            </a:extLst>
          </p:cNvPr>
          <p:cNvSpPr>
            <a:spLocks noGrp="1"/>
          </p:cNvSpPr>
          <p:nvPr>
            <p:ph idx="1"/>
          </p:nvPr>
        </p:nvSpPr>
        <p:spPr/>
        <p:txBody>
          <a:bodyPr/>
          <a:lstStyle/>
          <a:p>
            <a:pPr algn="l"/>
            <a:r>
              <a:rPr lang="en-US" dirty="0">
                <a:solidFill>
                  <a:srgbClr val="2E2E2E"/>
                </a:solidFill>
                <a:latin typeface="NexusSerif"/>
              </a:rPr>
              <a:t>INSTRUCTIONS. Below are a number of statements about happiness. Would you please indicate how much you agree or disagree with each by entering a number alongside it according to the following code:</a:t>
            </a:r>
          </a:p>
          <a:p>
            <a:pPr algn="l"/>
            <a:r>
              <a:rPr lang="en-US" dirty="0">
                <a:solidFill>
                  <a:srgbClr val="2E2E2E"/>
                </a:solidFill>
                <a:latin typeface="NexusSerif"/>
              </a:rPr>
              <a:t>1=strongly disagree; 2=moderately disagree; 3=slightly disagree; 4=slightly agree; 5=moderately agree; 6=strongly agree.</a:t>
            </a:r>
          </a:p>
          <a:p>
            <a:pPr lvl="1"/>
            <a:r>
              <a:rPr lang="en-US" dirty="0">
                <a:solidFill>
                  <a:srgbClr val="2E2E2E"/>
                </a:solidFill>
                <a:latin typeface="NexusSerif"/>
              </a:rPr>
              <a:t>I feel that life is very rewarding</a:t>
            </a:r>
          </a:p>
          <a:p>
            <a:pPr lvl="1"/>
            <a:r>
              <a:rPr lang="en-US" dirty="0">
                <a:solidFill>
                  <a:srgbClr val="2E2E2E"/>
                </a:solidFill>
                <a:latin typeface="NexusSerif"/>
              </a:rPr>
              <a:t>I am well satisfied about everything in my life</a:t>
            </a:r>
          </a:p>
          <a:p>
            <a:pPr lvl="1"/>
            <a:r>
              <a:rPr lang="en-US" dirty="0">
                <a:solidFill>
                  <a:srgbClr val="2E2E2E"/>
                </a:solidFill>
                <a:latin typeface="NexusSerif"/>
              </a:rPr>
              <a:t>I don't feel particularly pleased with the way I am (−)</a:t>
            </a:r>
          </a:p>
          <a:p>
            <a:endParaRPr lang="en-US" dirty="0"/>
          </a:p>
        </p:txBody>
      </p:sp>
    </p:spTree>
    <p:extLst>
      <p:ext uri="{BB962C8B-B14F-4D97-AF65-F5344CB8AC3E}">
        <p14:creationId xmlns:p14="http://schemas.microsoft.com/office/powerpoint/2010/main" val="42846271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10AEC-1BD0-4FF4-BD98-A0D75234445F}"/>
              </a:ext>
            </a:extLst>
          </p:cNvPr>
          <p:cNvSpPr>
            <a:spLocks noGrp="1"/>
          </p:cNvSpPr>
          <p:nvPr>
            <p:ph type="title"/>
          </p:nvPr>
        </p:nvSpPr>
        <p:spPr/>
        <p:txBody>
          <a:bodyPr/>
          <a:lstStyle/>
          <a:p>
            <a:r>
              <a:rPr lang="en-US" dirty="0"/>
              <a:t>Using an existing scale</a:t>
            </a:r>
          </a:p>
        </p:txBody>
      </p:sp>
      <p:sp>
        <p:nvSpPr>
          <p:cNvPr id="3" name="Content Placeholder 2">
            <a:extLst>
              <a:ext uri="{FF2B5EF4-FFF2-40B4-BE49-F238E27FC236}">
                <a16:creationId xmlns:a16="http://schemas.microsoft.com/office/drawing/2014/main" id="{9503BB62-4DC6-4E49-9D2A-E2DEDBA8EED6}"/>
              </a:ext>
            </a:extLst>
          </p:cNvPr>
          <p:cNvSpPr>
            <a:spLocks noGrp="1"/>
          </p:cNvSpPr>
          <p:nvPr>
            <p:ph idx="1"/>
          </p:nvPr>
        </p:nvSpPr>
        <p:spPr/>
        <p:txBody>
          <a:bodyPr/>
          <a:lstStyle/>
          <a:p>
            <a:r>
              <a:rPr lang="en-US" dirty="0"/>
              <a:t>Follow the directions in the publication that describes and establishes scale validity</a:t>
            </a:r>
          </a:p>
          <a:p>
            <a:r>
              <a:rPr lang="en-US" dirty="0"/>
              <a:t>Note varieties: 29 items or 8 (short form)</a:t>
            </a:r>
          </a:p>
          <a:p>
            <a:r>
              <a:rPr lang="en-US" dirty="0"/>
              <a:t>Use all items in form selected</a:t>
            </a:r>
          </a:p>
          <a:p>
            <a:pPr lvl="1"/>
            <a:r>
              <a:rPr lang="en-US" dirty="0"/>
              <a:t>Following scoring procedure</a:t>
            </a:r>
          </a:p>
          <a:p>
            <a:pPr lvl="1"/>
            <a:r>
              <a:rPr lang="en-US" dirty="0"/>
              <a:t>Flip reverse items</a:t>
            </a:r>
          </a:p>
          <a:p>
            <a:pPr lvl="1"/>
            <a:r>
              <a:rPr lang="en-US" dirty="0"/>
              <a:t>Usually sum, sometimes weighting</a:t>
            </a:r>
          </a:p>
          <a:p>
            <a:pPr lvl="1"/>
            <a:endParaRPr lang="en-US" dirty="0"/>
          </a:p>
          <a:p>
            <a:r>
              <a:rPr lang="en-US" sz="1800" dirty="0">
                <a:solidFill>
                  <a:srgbClr val="222222"/>
                </a:solidFill>
                <a:latin typeface="Arial" panose="020B0604020202020204" pitchFamily="34" charset="0"/>
              </a:rPr>
              <a:t>Hills, P., &amp; Argyle, M. (2002). The Oxford Happiness Questionnaire: a compact scale for the measurement of psychological well-being. </a:t>
            </a:r>
            <a:r>
              <a:rPr lang="en-US" sz="1800" i="1" dirty="0">
                <a:solidFill>
                  <a:srgbClr val="222222"/>
                </a:solidFill>
                <a:latin typeface="Arial" panose="020B0604020202020204" pitchFamily="34" charset="0"/>
              </a:rPr>
              <a:t>Personality and individual differences</a:t>
            </a:r>
            <a:r>
              <a:rPr lang="en-US" sz="1800" dirty="0">
                <a:solidFill>
                  <a:srgbClr val="222222"/>
                </a:solidFill>
                <a:latin typeface="Arial" panose="020B0604020202020204" pitchFamily="34" charset="0"/>
              </a:rPr>
              <a:t>, </a:t>
            </a:r>
            <a:r>
              <a:rPr lang="en-US" sz="1800" i="1" dirty="0">
                <a:solidFill>
                  <a:srgbClr val="222222"/>
                </a:solidFill>
                <a:latin typeface="Arial" panose="020B0604020202020204" pitchFamily="34" charset="0"/>
              </a:rPr>
              <a:t>33</a:t>
            </a:r>
            <a:r>
              <a:rPr lang="en-US" sz="1800" dirty="0">
                <a:solidFill>
                  <a:srgbClr val="222222"/>
                </a:solidFill>
                <a:latin typeface="Arial" panose="020B0604020202020204" pitchFamily="34" charset="0"/>
              </a:rPr>
              <a:t>(7), 1073-1082.</a:t>
            </a:r>
            <a:endParaRPr lang="en-US" sz="1800" dirty="0"/>
          </a:p>
        </p:txBody>
      </p:sp>
    </p:spTree>
    <p:extLst>
      <p:ext uri="{BB962C8B-B14F-4D97-AF65-F5344CB8AC3E}">
        <p14:creationId xmlns:p14="http://schemas.microsoft.com/office/powerpoint/2010/main" val="6772217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7B901-C021-662C-A9A5-096C5A3B159E}"/>
              </a:ext>
            </a:extLst>
          </p:cNvPr>
          <p:cNvSpPr>
            <a:spLocks noGrp="1"/>
          </p:cNvSpPr>
          <p:nvPr>
            <p:ph type="title"/>
          </p:nvPr>
        </p:nvSpPr>
        <p:spPr/>
        <p:txBody>
          <a:bodyPr/>
          <a:lstStyle/>
          <a:p>
            <a:r>
              <a:rPr lang="en-US" dirty="0"/>
              <a:t>For Wed Nov 6</a:t>
            </a:r>
          </a:p>
        </p:txBody>
      </p:sp>
      <p:sp>
        <p:nvSpPr>
          <p:cNvPr id="3" name="Content Placeholder 2">
            <a:extLst>
              <a:ext uri="{FF2B5EF4-FFF2-40B4-BE49-F238E27FC236}">
                <a16:creationId xmlns:a16="http://schemas.microsoft.com/office/drawing/2014/main" id="{52AE30D9-94FD-B997-A817-033EECD6F4C8}"/>
              </a:ext>
            </a:extLst>
          </p:cNvPr>
          <p:cNvSpPr>
            <a:spLocks noGrp="1"/>
          </p:cNvSpPr>
          <p:nvPr>
            <p:ph idx="1"/>
          </p:nvPr>
        </p:nvSpPr>
        <p:spPr/>
        <p:txBody>
          <a:bodyPr>
            <a:normAutofit/>
          </a:bodyPr>
          <a:lstStyle/>
          <a:p>
            <a:r>
              <a:rPr lang="en-US" dirty="0"/>
              <a:t>Read Stephens et al. (2009)</a:t>
            </a:r>
          </a:p>
          <a:p>
            <a:pPr lvl="1"/>
            <a:r>
              <a:rPr lang="en-US" dirty="0"/>
              <a:t>Answer questions on Canvas</a:t>
            </a:r>
          </a:p>
          <a:p>
            <a:endParaRPr lang="en-US" dirty="0"/>
          </a:p>
        </p:txBody>
      </p:sp>
    </p:spTree>
    <p:extLst>
      <p:ext uri="{BB962C8B-B14F-4D97-AF65-F5344CB8AC3E}">
        <p14:creationId xmlns:p14="http://schemas.microsoft.com/office/powerpoint/2010/main" val="32487441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5358</TotalTime>
  <Words>1269</Words>
  <Application>Microsoft Office PowerPoint</Application>
  <PresentationFormat>Widescreen</PresentationFormat>
  <Paragraphs>122</Paragraphs>
  <Slides>24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Arial</vt:lpstr>
      <vt:lpstr>Calibri</vt:lpstr>
      <vt:lpstr>Calibri Light</vt:lpstr>
      <vt:lpstr>inherit</vt:lpstr>
      <vt:lpstr>Lato Extended</vt:lpstr>
      <vt:lpstr>NexusSerif</vt:lpstr>
      <vt:lpstr>nyt-franklin</vt:lpstr>
      <vt:lpstr>Office Theme</vt:lpstr>
      <vt:lpstr>205 Nov 4, Class 17</vt:lpstr>
      <vt:lpstr>Polling data</vt:lpstr>
      <vt:lpstr>Poll Methodology</vt:lpstr>
      <vt:lpstr>PowerPoint Presentation</vt:lpstr>
      <vt:lpstr>PowerPoint Presentation</vt:lpstr>
      <vt:lpstr>Polling challenges</vt:lpstr>
      <vt:lpstr>PowerPoint Presentation</vt:lpstr>
      <vt:lpstr>PowerPoint Presentation</vt:lpstr>
      <vt:lpstr>IAT</vt:lpstr>
      <vt:lpstr>IAT Design</vt:lpstr>
      <vt:lpstr>Non-experimental research</vt:lpstr>
      <vt:lpstr>Additional questions</vt:lpstr>
      <vt:lpstr>Surveys &amp; Instrument Design</vt:lpstr>
      <vt:lpstr>Survey research</vt:lpstr>
      <vt:lpstr>Bias</vt:lpstr>
      <vt:lpstr>PowerPoint Presentation</vt:lpstr>
      <vt:lpstr>PowerPoint Presentation</vt:lpstr>
      <vt:lpstr>Instrument development</vt:lpstr>
      <vt:lpstr>Writing Effective Questions</vt:lpstr>
      <vt:lpstr>How Happy Are You?</vt:lpstr>
      <vt:lpstr>OHQ online survey</vt:lpstr>
      <vt:lpstr>Oxford Happiness Questionnaire</vt:lpstr>
      <vt:lpstr>Using an existing scale</vt:lpstr>
      <vt:lpstr>For Wed Nov 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205 Nov 4, Class 19</dc:title>
  <dc:creator>Paul Reber</dc:creator>
  <cp:lastModifiedBy>Paul Reber</cp:lastModifiedBy>
  <cp:revision>22</cp:revision>
  <cp:lastPrinted>2024-11-04T13:46:52Z</cp:lastPrinted>
  <dcterms:created xsi:type="dcterms:W3CDTF">2022-11-02T13:45:19Z</dcterms:created>
  <dcterms:modified xsi:type="dcterms:W3CDTF">2024-11-05T17:03:26Z</dcterms:modified>
</cp:coreProperties>
</file>