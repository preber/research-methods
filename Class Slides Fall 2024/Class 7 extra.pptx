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50" r:id="rId3"/>
    <p:sldId id="375" r:id="rId4"/>
    <p:sldId id="351" r:id="rId5"/>
    <p:sldId id="277" r:id="rId6"/>
    <p:sldId id="361" r:id="rId7"/>
    <p:sldId id="341" r:id="rId8"/>
    <p:sldId id="342" r:id="rId9"/>
    <p:sldId id="362" r:id="rId10"/>
    <p:sldId id="352" r:id="rId11"/>
    <p:sldId id="354" r:id="rId12"/>
    <p:sldId id="266" r:id="rId13"/>
    <p:sldId id="258" r:id="rId14"/>
    <p:sldId id="257" r:id="rId15"/>
    <p:sldId id="272" r:id="rId16"/>
    <p:sldId id="273" r:id="rId17"/>
    <p:sldId id="275" r:id="rId18"/>
    <p:sldId id="276" r:id="rId19"/>
    <p:sldId id="274" r:id="rId20"/>
    <p:sldId id="278" r:id="rId21"/>
    <p:sldId id="261" r:id="rId22"/>
    <p:sldId id="326" r:id="rId23"/>
    <p:sldId id="327" r:id="rId24"/>
    <p:sldId id="328" r:id="rId25"/>
    <p:sldId id="329" r:id="rId26"/>
    <p:sldId id="330" r:id="rId27"/>
    <p:sldId id="332" r:id="rId28"/>
    <p:sldId id="331" r:id="rId29"/>
    <p:sldId id="363" r:id="rId30"/>
    <p:sldId id="335" r:id="rId31"/>
    <p:sldId id="337" r:id="rId32"/>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64" d="100"/>
          <a:sy n="64" d="100"/>
        </p:scale>
        <p:origin x="5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A7BC-44C7-93C2-5B8613053864}"/>
            </c:ext>
          </c:extLst>
        </c:ser>
        <c:dLbls>
          <c:showLegendKey val="0"/>
          <c:showVal val="0"/>
          <c:showCatName val="0"/>
          <c:showSerName val="0"/>
          <c:showPercent val="0"/>
          <c:showBubbleSize val="0"/>
        </c:dLbls>
        <c:gapWidth val="150"/>
        <c:axId val="160963200"/>
        <c:axId val="101609856"/>
      </c:barChart>
      <c:catAx>
        <c:axId val="160963200"/>
        <c:scaling>
          <c:orientation val="minMax"/>
        </c:scaling>
        <c:delete val="0"/>
        <c:axPos val="b"/>
        <c:numFmt formatCode="General" sourceLinked="0"/>
        <c:majorTickMark val="out"/>
        <c:minorTickMark val="none"/>
        <c:tickLblPos val="nextTo"/>
        <c:crossAx val="101609856"/>
        <c:crosses val="autoZero"/>
        <c:auto val="1"/>
        <c:lblAlgn val="ctr"/>
        <c:lblOffset val="100"/>
        <c:noMultiLvlLbl val="0"/>
      </c:catAx>
      <c:valAx>
        <c:axId val="101609856"/>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60963200"/>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3618-435A-9E31-09935AE46CC6}"/>
            </c:ext>
          </c:extLst>
        </c:ser>
        <c:dLbls>
          <c:showLegendKey val="0"/>
          <c:showVal val="0"/>
          <c:showCatName val="0"/>
          <c:showSerName val="0"/>
          <c:showPercent val="0"/>
          <c:showBubbleSize val="0"/>
        </c:dLbls>
        <c:gapWidth val="150"/>
        <c:axId val="101635584"/>
        <c:axId val="101637120"/>
      </c:barChart>
      <c:catAx>
        <c:axId val="101635584"/>
        <c:scaling>
          <c:orientation val="minMax"/>
        </c:scaling>
        <c:delete val="0"/>
        <c:axPos val="b"/>
        <c:numFmt formatCode="General" sourceLinked="0"/>
        <c:majorTickMark val="out"/>
        <c:minorTickMark val="none"/>
        <c:tickLblPos val="nextTo"/>
        <c:crossAx val="101637120"/>
        <c:crosses val="autoZero"/>
        <c:auto val="1"/>
        <c:lblAlgn val="ctr"/>
        <c:lblOffset val="100"/>
        <c:noMultiLvlLbl val="0"/>
      </c:catAx>
      <c:valAx>
        <c:axId val="101637120"/>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01635584"/>
        <c:crosses val="autoZero"/>
        <c:crossBetween val="between"/>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FA1B9F50-FE6C-4F6B-8908-CB1C4B189899}" type="datetimeFigureOut">
              <a:rPr lang="en-US" smtClean="0"/>
              <a:t>10/9/2024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723FB862-2C19-4D90-A20F-41A591A9F1C3}" type="slidenum">
              <a:rPr lang="en-US" smtClean="0"/>
              <a:t>‹#›</a:t>
            </a:fld>
            <a:endParaRPr lang="en-US"/>
          </a:p>
        </p:txBody>
      </p:sp>
    </p:spTree>
    <p:extLst>
      <p:ext uri="{BB962C8B-B14F-4D97-AF65-F5344CB8AC3E}">
        <p14:creationId xmlns:p14="http://schemas.microsoft.com/office/powerpoint/2010/main" val="369745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8</a:t>
            </a:fld>
            <a:endParaRPr lang="en-US"/>
          </a:p>
        </p:txBody>
      </p:sp>
    </p:spTree>
    <p:extLst>
      <p:ext uri="{BB962C8B-B14F-4D97-AF65-F5344CB8AC3E}">
        <p14:creationId xmlns:p14="http://schemas.microsoft.com/office/powerpoint/2010/main" val="3026861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50D19C12-4DFF-43B1-B212-EEBFA616618C}" type="slidenum">
              <a:rPr lang="en-US" smtClean="0"/>
              <a:pPr/>
              <a:t>12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14270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A3B38E-DA85-40EC-A8F3-39351D205A9B}" type="slidenum">
              <a:rPr lang="en-US"/>
              <a:pPr/>
              <a:t>13</a:t>
            </a:fld>
            <a:endParaRPr lang="en-US"/>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7C02E2-1C9D-4ECD-B5C6-9D16C46ADADA}" type="slidenum">
              <a:rPr lang="en-US"/>
              <a:pPr/>
              <a:t>14</a:t>
            </a:fld>
            <a:endParaRPr lang="en-US"/>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65545" indent="-294440" eaLnBrk="0" hangingPunct="0">
              <a:defRPr>
                <a:solidFill>
                  <a:schemeClr val="tx1"/>
                </a:solidFill>
                <a:latin typeface="Arial" charset="0"/>
                <a:cs typeface="Arial" charset="0"/>
              </a:defRPr>
            </a:lvl2pPr>
            <a:lvl3pPr marL="1177762" indent="-235552" eaLnBrk="0" hangingPunct="0">
              <a:defRPr>
                <a:solidFill>
                  <a:schemeClr val="tx1"/>
                </a:solidFill>
                <a:latin typeface="Arial" charset="0"/>
                <a:cs typeface="Arial" charset="0"/>
              </a:defRPr>
            </a:lvl3pPr>
            <a:lvl4pPr marL="1648867" indent="-235552" eaLnBrk="0" hangingPunct="0">
              <a:defRPr>
                <a:solidFill>
                  <a:schemeClr val="tx1"/>
                </a:solidFill>
                <a:latin typeface="Arial" charset="0"/>
                <a:cs typeface="Arial" charset="0"/>
              </a:defRPr>
            </a:lvl4pPr>
            <a:lvl5pPr marL="2119972" indent="-235552" eaLnBrk="0" hangingPunct="0">
              <a:defRPr>
                <a:solidFill>
                  <a:schemeClr val="tx1"/>
                </a:solidFill>
                <a:latin typeface="Arial" charset="0"/>
                <a:cs typeface="Arial" charset="0"/>
              </a:defRPr>
            </a:lvl5pPr>
            <a:lvl6pPr marL="2591076" indent="-235552" eaLnBrk="0" fontAlgn="base" hangingPunct="0">
              <a:spcBef>
                <a:spcPct val="0"/>
              </a:spcBef>
              <a:spcAft>
                <a:spcPct val="0"/>
              </a:spcAft>
              <a:defRPr>
                <a:solidFill>
                  <a:schemeClr val="tx1"/>
                </a:solidFill>
                <a:latin typeface="Arial" charset="0"/>
                <a:cs typeface="Arial" charset="0"/>
              </a:defRPr>
            </a:lvl6pPr>
            <a:lvl7pPr marL="3062181" indent="-235552" eaLnBrk="0" fontAlgn="base" hangingPunct="0">
              <a:spcBef>
                <a:spcPct val="0"/>
              </a:spcBef>
              <a:spcAft>
                <a:spcPct val="0"/>
              </a:spcAft>
              <a:defRPr>
                <a:solidFill>
                  <a:schemeClr val="tx1"/>
                </a:solidFill>
                <a:latin typeface="Arial" charset="0"/>
                <a:cs typeface="Arial" charset="0"/>
              </a:defRPr>
            </a:lvl7pPr>
            <a:lvl8pPr marL="3533285" indent="-235552" eaLnBrk="0" fontAlgn="base" hangingPunct="0">
              <a:spcBef>
                <a:spcPct val="0"/>
              </a:spcBef>
              <a:spcAft>
                <a:spcPct val="0"/>
              </a:spcAft>
              <a:defRPr>
                <a:solidFill>
                  <a:schemeClr val="tx1"/>
                </a:solidFill>
                <a:latin typeface="Arial" charset="0"/>
                <a:cs typeface="Arial" charset="0"/>
              </a:defRPr>
            </a:lvl8pPr>
            <a:lvl9pPr marL="4004390" indent="-235552" eaLnBrk="0" fontAlgn="base" hangingPunct="0">
              <a:spcBef>
                <a:spcPct val="0"/>
              </a:spcBef>
              <a:spcAft>
                <a:spcPct val="0"/>
              </a:spcAft>
              <a:defRPr>
                <a:solidFill>
                  <a:schemeClr val="tx1"/>
                </a:solidFill>
                <a:latin typeface="Arial" charset="0"/>
                <a:cs typeface="Arial" charset="0"/>
              </a:defRPr>
            </a:lvl9pPr>
          </a:lstStyle>
          <a:p>
            <a:pPr eaLnBrk="1" hangingPunct="1"/>
            <a:fld id="{8C6454AF-A3F4-4654-85C8-8D53AD94A576}" type="slidenum">
              <a:rPr lang="en-US" smtClean="0"/>
              <a:pPr eaLnBrk="1" hangingPunct="1"/>
              <a:t>21</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use of google scholar</a:t>
            </a:r>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26</a:t>
            </a:fld>
            <a:endParaRPr lang="en-US"/>
          </a:p>
        </p:txBody>
      </p:sp>
    </p:spTree>
    <p:extLst>
      <p:ext uri="{BB962C8B-B14F-4D97-AF65-F5344CB8AC3E}">
        <p14:creationId xmlns:p14="http://schemas.microsoft.com/office/powerpoint/2010/main" val="327471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4404-455B-3AFB-F7E7-4077A71DE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29FA67-360C-CFE6-7A85-C9F6880EF1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F04868-E205-21F6-6D31-EBD8705EC9F8}"/>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8DBA91E1-B147-E3C1-2020-CD23CC3209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11878-A750-930C-230F-D6AFAD269310}"/>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49342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A168-D3AC-B5C9-7BEA-98DCEF03DB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82CAF7-8907-28D1-86AE-6D1CB5FDA9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4C2DF4-3F95-2EFB-06B6-24CF94F9E70A}"/>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7289B7D9-270B-FEF1-563A-362CAA854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EB5D2E-AD32-C129-18DA-8D44C85F6C82}"/>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850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BD32E-248E-9135-D590-45D39685DE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9FCC9D-68F2-7435-1B53-A88DC6B409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FBCB92-D498-A989-7574-26F07FD5ECB6}"/>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9C9CAAB1-738E-F38D-7BB9-0F3C86698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388C3-1F18-62BD-AA78-E415833DBD0C}"/>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4161179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75819-069E-986F-7311-6C7E27EF14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E6CC1D-9D9C-E988-54C2-A35570DC9B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D08F3C-3C72-2F55-D7C4-25B8909825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D9533-7402-5875-1E3E-C1EE10E1AFF0}"/>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C010ABAB-6FEF-C17A-6529-4453ADC493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A6F33-157B-89D6-5FFC-BE8C6DDA34DA}"/>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76969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1FC4-552A-B422-8F53-A81C4159CA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4343C-0467-12FE-A8EA-B3C74B643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2E432F-0C1D-A892-6450-843DEC912F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606365-8AB8-8F5D-40B0-F51B6BDB7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BD99E-F07E-F4CD-5AC1-276573B1CD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B97E1E-0B37-92BA-EF67-A13E2EB70B5B}"/>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8" name="Footer Placeholder 7">
            <a:extLst>
              <a:ext uri="{FF2B5EF4-FFF2-40B4-BE49-F238E27FC236}">
                <a16:creationId xmlns:a16="http://schemas.microsoft.com/office/drawing/2014/main" id="{86C9D03C-6678-9A13-1031-1C3380A35D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466691-D63B-4F3E-536D-89D42492786F}"/>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687766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2C1D4-B3A0-473D-A3C2-BE33F103A8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F57102-3CBB-CD93-52CB-EBDE818E951A}"/>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4" name="Footer Placeholder 3">
            <a:extLst>
              <a:ext uri="{FF2B5EF4-FFF2-40B4-BE49-F238E27FC236}">
                <a16:creationId xmlns:a16="http://schemas.microsoft.com/office/drawing/2014/main" id="{4CFDEC80-62AE-7ABA-0394-945873F5F8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B7A71E-45DF-7A0E-57C7-A99612D623F4}"/>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50849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662AEA-600F-9C6C-CA3E-C454E1D33BD2}"/>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3" name="Footer Placeholder 2">
            <a:extLst>
              <a:ext uri="{FF2B5EF4-FFF2-40B4-BE49-F238E27FC236}">
                <a16:creationId xmlns:a16="http://schemas.microsoft.com/office/drawing/2014/main" id="{C10838F0-80E5-5F62-5BA7-6F3223FC52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028A32-11E1-45AE-0DCB-2A9BC779349B}"/>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3961499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897B5-D9CE-4542-08D1-0D169DF8D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E52541-542D-EE04-C37C-0E6A14E6E9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D289D6-9FC6-2B4B-F096-7853FA658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C7BFD3-0359-36DA-EF78-FB4B13694712}"/>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3DA64BF3-CECD-8BB1-F583-96A8EDD97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968674-B153-D246-2410-5A75F08BDBA6}"/>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51239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4BCC-13C8-4EFC-CBB2-0BE0B01542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E56876-9844-EEEB-0B1A-9EB471F57C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4E2C08-54A6-C267-0E7C-34597F6E5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D2A38-A060-0027-8333-EBA71DA5E617}"/>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0531EF18-0C7C-4D9B-248D-57AFD6BD6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0CCD6E-9ADE-E8F9-0D6D-36B597422657}"/>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3659061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6A87-9BF7-5872-3B03-1710DAB953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77E780-714A-D2E6-B32D-F7A968861C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A05D1-5486-9758-9F9E-3A3B87B2146B}"/>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AE3299AC-D46D-ADD4-2517-6603EF328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EA093-B404-2BD3-40D7-E0D1BEDFD489}"/>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62955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23276-7D47-2530-B135-55446E0E7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B5456C-4942-AE15-3D25-7069ABB5B8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223E3-812C-6A96-7FB8-BE59226C59CF}"/>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35D7A666-0475-C809-92DF-11734C9A3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49530-BCC4-22C9-8466-5C7467F25811}"/>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118211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A1CCB2-B9C2-717B-DC2D-F173D8E8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84DD10-EDE4-99B3-7318-BE68A521A6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F57CF-F2AF-E169-44D5-9E55C0C63F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427EBFA2-66FC-6349-7E87-6A24A6B6FF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EACB62-7C27-4ED3-400A-38F2043BB3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0A354-952A-4A1E-AE07-A33C589E3637}" type="slidenum">
              <a:rPr lang="en-US" smtClean="0"/>
              <a:t>‹#›</a:t>
            </a:fld>
            <a:endParaRPr lang="en-US"/>
          </a:p>
        </p:txBody>
      </p:sp>
    </p:spTree>
    <p:extLst>
      <p:ext uri="{BB962C8B-B14F-4D97-AF65-F5344CB8AC3E}">
        <p14:creationId xmlns:p14="http://schemas.microsoft.com/office/powerpoint/2010/main" val="649967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D48AE8-E91C-5FB0-6FB7-8E6DA7281F71}"/>
              </a:ext>
            </a:extLst>
          </p:cNvPr>
          <p:cNvSpPr>
            <a:spLocks noGrp="1"/>
          </p:cNvSpPr>
          <p:nvPr>
            <p:ph type="title"/>
          </p:nvPr>
        </p:nvSpPr>
        <p:spPr/>
        <p:txBody>
          <a:bodyPr/>
          <a:lstStyle/>
          <a:p>
            <a:r>
              <a:rPr lang="en-US" dirty="0"/>
              <a:t>205 Oct 9, Class 7</a:t>
            </a:r>
          </a:p>
        </p:txBody>
      </p:sp>
      <p:sp>
        <p:nvSpPr>
          <p:cNvPr id="5" name="Content Placeholder 4">
            <a:extLst>
              <a:ext uri="{FF2B5EF4-FFF2-40B4-BE49-F238E27FC236}">
                <a16:creationId xmlns:a16="http://schemas.microsoft.com/office/drawing/2014/main" id="{C81E5570-3FF8-05AD-E6A8-7B049A9FBEEF}"/>
              </a:ext>
            </a:extLst>
          </p:cNvPr>
          <p:cNvSpPr>
            <a:spLocks noGrp="1"/>
          </p:cNvSpPr>
          <p:nvPr>
            <p:ph idx="1"/>
          </p:nvPr>
        </p:nvSpPr>
        <p:spPr/>
        <p:txBody>
          <a:bodyPr/>
          <a:lstStyle/>
          <a:p>
            <a:r>
              <a:rPr lang="en-US" dirty="0"/>
              <a:t>Gino &amp; </a:t>
            </a:r>
            <a:r>
              <a:rPr lang="en-US" dirty="0" err="1"/>
              <a:t>Wiltermuth</a:t>
            </a:r>
            <a:r>
              <a:rPr lang="en-US" dirty="0"/>
              <a:t> (2014)</a:t>
            </a:r>
          </a:p>
          <a:p>
            <a:endParaRPr lang="en-US" dirty="0"/>
          </a:p>
          <a:p>
            <a:r>
              <a:rPr lang="en-US" dirty="0"/>
              <a:t>Chapter 7: Within-participant designs</a:t>
            </a:r>
          </a:p>
          <a:p>
            <a:pPr lvl="1"/>
            <a:r>
              <a:rPr lang="en-US" dirty="0"/>
              <a:t>History effects as an extraneous variable</a:t>
            </a:r>
          </a:p>
        </p:txBody>
      </p:sp>
    </p:spTree>
    <p:extLst>
      <p:ext uri="{BB962C8B-B14F-4D97-AF65-F5344CB8AC3E}">
        <p14:creationId xmlns:p14="http://schemas.microsoft.com/office/powerpoint/2010/main" val="81216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4807-5DB0-4850-86C9-01ED3BE228F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72EDAA-BD18-477C-8555-E041126D5068}"/>
              </a:ext>
            </a:extLst>
          </p:cNvPr>
          <p:cNvPicPr>
            <a:picLocks noGrp="1" noChangeAspect="1"/>
          </p:cNvPicPr>
          <p:nvPr>
            <p:ph idx="1"/>
          </p:nvPr>
        </p:nvPicPr>
        <p:blipFill>
          <a:blip r:embed="rId2"/>
          <a:stretch>
            <a:fillRect/>
          </a:stretch>
        </p:blipFill>
        <p:spPr>
          <a:xfrm>
            <a:off x="1503218" y="365125"/>
            <a:ext cx="9457706" cy="5657506"/>
          </a:xfrm>
        </p:spPr>
      </p:pic>
    </p:spTree>
    <p:extLst>
      <p:ext uri="{BB962C8B-B14F-4D97-AF65-F5344CB8AC3E}">
        <p14:creationId xmlns:p14="http://schemas.microsoft.com/office/powerpoint/2010/main" val="628076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9830-3CF7-05D5-B38C-359F7E9601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7447A1-F5E7-9936-0EAF-F92B3322052B}"/>
              </a:ext>
            </a:extLst>
          </p:cNvPr>
          <p:cNvSpPr>
            <a:spLocks noGrp="1"/>
          </p:cNvSpPr>
          <p:nvPr>
            <p:ph idx="1"/>
          </p:nvPr>
        </p:nvSpPr>
        <p:spPr/>
        <p:txBody>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Q1. Across the first three studies, what construct does the independent variable aim to capture?</a:t>
            </a:r>
          </a:p>
          <a:p>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2800" dirty="0">
                <a:effectLst/>
                <a:latin typeface="Calibri" panose="020F0502020204030204" pitchFamily="34" charset="0"/>
                <a:ea typeface="Calibri" panose="020F0502020204030204" pitchFamily="34" charset="0"/>
                <a:cs typeface="Times New Roman" panose="02020603050405020304" pitchFamily="18" charset="0"/>
              </a:rPr>
              <a:t>Q3. What is the common operational definition of creativity used as the dependent variable across the first three experiments?</a:t>
            </a:r>
          </a:p>
          <a:p>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3499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A7F1-D33C-B4FF-454B-40CABE1DB9F0}"/>
              </a:ext>
            </a:extLst>
          </p:cNvPr>
          <p:cNvSpPr>
            <a:spLocks noGrp="1"/>
          </p:cNvSpPr>
          <p:nvPr>
            <p:ph type="title"/>
          </p:nvPr>
        </p:nvSpPr>
        <p:spPr/>
        <p:txBody>
          <a:bodyPr/>
          <a:lstStyle/>
          <a:p>
            <a:r>
              <a:rPr lang="en-US" dirty="0"/>
              <a:t>Operational definitions</a:t>
            </a:r>
          </a:p>
        </p:txBody>
      </p:sp>
      <p:sp>
        <p:nvSpPr>
          <p:cNvPr id="3" name="Content Placeholder 2">
            <a:extLst>
              <a:ext uri="{FF2B5EF4-FFF2-40B4-BE49-F238E27FC236}">
                <a16:creationId xmlns:a16="http://schemas.microsoft.com/office/drawing/2014/main" id="{F8DE2A91-4D89-FC19-D00D-88EEF9FCEA8F}"/>
              </a:ext>
            </a:extLst>
          </p:cNvPr>
          <p:cNvSpPr>
            <a:spLocks noGrp="1"/>
          </p:cNvSpPr>
          <p:nvPr>
            <p:ph idx="1"/>
          </p:nvPr>
        </p:nvSpPr>
        <p:spPr/>
        <p:txBody>
          <a:bodyPr/>
          <a:lstStyle/>
          <a:p>
            <a:r>
              <a:rPr lang="en-US" dirty="0"/>
              <a:t>Creativity</a:t>
            </a:r>
          </a:p>
          <a:p>
            <a:pPr lvl="1"/>
            <a:r>
              <a:rPr lang="en-US" dirty="0"/>
              <a:t>Remote Associates Test (RAT)</a:t>
            </a:r>
          </a:p>
          <a:p>
            <a:pPr lvl="1"/>
            <a:r>
              <a:rPr lang="en-US" dirty="0"/>
              <a:t>What is the common word that links</a:t>
            </a:r>
          </a:p>
          <a:p>
            <a:pPr lvl="2"/>
            <a:r>
              <a:rPr lang="en-US" dirty="0"/>
              <a:t>Sore, Shoulder, Sweat</a:t>
            </a:r>
          </a:p>
          <a:p>
            <a:pPr lvl="2"/>
            <a:r>
              <a:rPr lang="en-US" dirty="0"/>
              <a:t>Opera, Hand, Dish</a:t>
            </a:r>
          </a:p>
          <a:p>
            <a:pPr lvl="2"/>
            <a:r>
              <a:rPr lang="en-US" dirty="0"/>
              <a:t>Piece, Mind, Dating</a:t>
            </a:r>
          </a:p>
          <a:p>
            <a:pPr lvl="2"/>
            <a:endParaRPr lang="en-US" dirty="0"/>
          </a:p>
          <a:p>
            <a:r>
              <a:rPr lang="en-US" dirty="0"/>
              <a:t>Dishonesty</a:t>
            </a:r>
          </a:p>
          <a:p>
            <a:pPr lvl="1"/>
            <a:r>
              <a:rPr lang="en-US" dirty="0"/>
              <a:t>Experimentally controllable (or measurable) cheating or lying</a:t>
            </a:r>
          </a:p>
          <a:p>
            <a:endParaRPr lang="en-US" dirty="0"/>
          </a:p>
        </p:txBody>
      </p:sp>
    </p:spTree>
    <p:extLst>
      <p:ext uri="{BB962C8B-B14F-4D97-AF65-F5344CB8AC3E}">
        <p14:creationId xmlns:p14="http://schemas.microsoft.com/office/powerpoint/2010/main" val="34832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1B7D-4B00-29C8-7C04-C52C66680FBF}"/>
              </a:ext>
            </a:extLst>
          </p:cNvPr>
          <p:cNvSpPr>
            <a:spLocks noGrp="1"/>
          </p:cNvSpPr>
          <p:nvPr>
            <p:ph type="title"/>
          </p:nvPr>
        </p:nvSpPr>
        <p:spPr/>
        <p:txBody>
          <a:bodyPr/>
          <a:lstStyle/>
          <a:p>
            <a:r>
              <a:rPr lang="en-US" dirty="0"/>
              <a:t>Experiment 1</a:t>
            </a:r>
          </a:p>
        </p:txBody>
      </p:sp>
      <p:sp>
        <p:nvSpPr>
          <p:cNvPr id="4" name="Content Placeholder 3">
            <a:extLst>
              <a:ext uri="{FF2B5EF4-FFF2-40B4-BE49-F238E27FC236}">
                <a16:creationId xmlns:a16="http://schemas.microsoft.com/office/drawing/2014/main" id="{4421224F-E152-3602-A847-4E0F8D9802E5}"/>
              </a:ext>
            </a:extLst>
          </p:cNvPr>
          <p:cNvSpPr>
            <a:spLocks noGrp="1"/>
          </p:cNvSpPr>
          <p:nvPr>
            <p:ph sz="half" idx="1"/>
          </p:nvPr>
        </p:nvSpPr>
        <p:spPr/>
        <p:txBody>
          <a:bodyPr/>
          <a:lstStyle/>
          <a:p>
            <a:r>
              <a:rPr lang="en-US" dirty="0"/>
              <a:t>Procedure</a:t>
            </a:r>
          </a:p>
          <a:p>
            <a:pPr lvl="1"/>
            <a:r>
              <a:rPr lang="en-US" dirty="0"/>
              <a:t>Dunker candle problem</a:t>
            </a:r>
          </a:p>
          <a:p>
            <a:pPr lvl="1"/>
            <a:r>
              <a:rPr lang="en-US" dirty="0"/>
              <a:t>Filler/cheatable task</a:t>
            </a:r>
          </a:p>
          <a:p>
            <a:pPr lvl="2"/>
            <a:r>
              <a:rPr lang="en-US" dirty="0"/>
              <a:t>10 matrices</a:t>
            </a:r>
          </a:p>
          <a:p>
            <a:pPr lvl="2"/>
            <a:r>
              <a:rPr lang="en-US" dirty="0"/>
              <a:t>Self-reported performance, paid</a:t>
            </a:r>
          </a:p>
          <a:p>
            <a:pPr lvl="1"/>
            <a:r>
              <a:rPr lang="en-US" dirty="0"/>
              <a:t>RAT performance</a:t>
            </a:r>
          </a:p>
          <a:p>
            <a:r>
              <a:rPr lang="en-US" dirty="0"/>
              <a:t>Results</a:t>
            </a:r>
          </a:p>
          <a:p>
            <a:pPr lvl="1"/>
            <a:r>
              <a:rPr lang="en-US" dirty="0"/>
              <a:t>Cheaters performed better on the RAT test</a:t>
            </a:r>
          </a:p>
          <a:p>
            <a:pPr lvl="1"/>
            <a:r>
              <a:rPr lang="en-US" dirty="0"/>
              <a:t>No random assignment to the cheating condition here</a:t>
            </a:r>
          </a:p>
        </p:txBody>
      </p:sp>
      <p:pic>
        <p:nvPicPr>
          <p:cNvPr id="7" name="Content Placeholder 6">
            <a:extLst>
              <a:ext uri="{FF2B5EF4-FFF2-40B4-BE49-F238E27FC236}">
                <a16:creationId xmlns:a16="http://schemas.microsoft.com/office/drawing/2014/main" id="{C1761D21-8644-36C2-8A67-39AEB691D12B}"/>
              </a:ext>
            </a:extLst>
          </p:cNvPr>
          <p:cNvPicPr>
            <a:picLocks noGrp="1" noChangeAspect="1"/>
          </p:cNvPicPr>
          <p:nvPr>
            <p:ph sz="half" idx="2"/>
          </p:nvPr>
        </p:nvPicPr>
        <p:blipFill>
          <a:blip r:embed="rId2"/>
          <a:stretch>
            <a:fillRect/>
          </a:stretch>
        </p:blipFill>
        <p:spPr>
          <a:xfrm>
            <a:off x="6601574" y="1825625"/>
            <a:ext cx="4322851" cy="4351338"/>
          </a:xfrm>
        </p:spPr>
      </p:pic>
    </p:spTree>
    <p:extLst>
      <p:ext uri="{BB962C8B-B14F-4D97-AF65-F5344CB8AC3E}">
        <p14:creationId xmlns:p14="http://schemas.microsoft.com/office/powerpoint/2010/main" val="413993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C49F-BE14-B8B2-F6EC-D26934A738F4}"/>
              </a:ext>
            </a:extLst>
          </p:cNvPr>
          <p:cNvSpPr>
            <a:spLocks noGrp="1"/>
          </p:cNvSpPr>
          <p:nvPr>
            <p:ph type="title"/>
          </p:nvPr>
        </p:nvSpPr>
        <p:spPr/>
        <p:txBody>
          <a:bodyPr/>
          <a:lstStyle/>
          <a:p>
            <a:r>
              <a:rPr lang="en-US" dirty="0"/>
              <a:t>Experiment 2</a:t>
            </a:r>
          </a:p>
        </p:txBody>
      </p:sp>
      <p:pic>
        <p:nvPicPr>
          <p:cNvPr id="6" name="Content Placeholder 5">
            <a:extLst>
              <a:ext uri="{FF2B5EF4-FFF2-40B4-BE49-F238E27FC236}">
                <a16:creationId xmlns:a16="http://schemas.microsoft.com/office/drawing/2014/main" id="{B0E94F48-F6C2-113E-1FE9-7CFBEAEFCF7D}"/>
              </a:ext>
            </a:extLst>
          </p:cNvPr>
          <p:cNvPicPr>
            <a:picLocks noGrp="1" noChangeAspect="1"/>
          </p:cNvPicPr>
          <p:nvPr>
            <p:ph sz="half" idx="1"/>
          </p:nvPr>
        </p:nvPicPr>
        <p:blipFill>
          <a:blip r:embed="rId2"/>
          <a:stretch>
            <a:fillRect/>
          </a:stretch>
        </p:blipFill>
        <p:spPr>
          <a:xfrm>
            <a:off x="838200" y="1825625"/>
            <a:ext cx="5181600" cy="2314832"/>
          </a:xfrm>
        </p:spPr>
      </p:pic>
      <p:sp>
        <p:nvSpPr>
          <p:cNvPr id="4" name="Content Placeholder 3">
            <a:extLst>
              <a:ext uri="{FF2B5EF4-FFF2-40B4-BE49-F238E27FC236}">
                <a16:creationId xmlns:a16="http://schemas.microsoft.com/office/drawing/2014/main" id="{DD7F9912-7A00-D0F9-0758-E904418754A6}"/>
              </a:ext>
            </a:extLst>
          </p:cNvPr>
          <p:cNvSpPr>
            <a:spLocks noGrp="1"/>
          </p:cNvSpPr>
          <p:nvPr>
            <p:ph sz="half" idx="2"/>
          </p:nvPr>
        </p:nvSpPr>
        <p:spPr>
          <a:xfrm>
            <a:off x="6172200" y="1825625"/>
            <a:ext cx="5181600" cy="4351338"/>
          </a:xfrm>
        </p:spPr>
        <p:txBody>
          <a:bodyPr/>
          <a:lstStyle/>
          <a:p>
            <a:r>
              <a:rPr lang="en-US" dirty="0"/>
              <a:t>How do you experimentally control cheating to be able to randomly assign participants to the “cheating” and control conditions?</a:t>
            </a:r>
          </a:p>
          <a:p>
            <a:pPr lvl="1"/>
            <a:r>
              <a:rPr lang="en-US" dirty="0"/>
              <a:t>Operational definition of this IV</a:t>
            </a:r>
          </a:p>
        </p:txBody>
      </p:sp>
    </p:spTree>
    <p:extLst>
      <p:ext uri="{BB962C8B-B14F-4D97-AF65-F5344CB8AC3E}">
        <p14:creationId xmlns:p14="http://schemas.microsoft.com/office/powerpoint/2010/main" val="3925862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529F-1CDC-46FE-9D99-90BDB442FE3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16602EC-731D-4668-B615-218C30D63CA2}"/>
              </a:ext>
            </a:extLst>
          </p:cNvPr>
          <p:cNvPicPr>
            <a:picLocks noGrp="1" noChangeAspect="1"/>
          </p:cNvPicPr>
          <p:nvPr>
            <p:ph idx="1"/>
          </p:nvPr>
        </p:nvPicPr>
        <p:blipFill>
          <a:blip r:embed="rId2"/>
          <a:stretch>
            <a:fillRect/>
          </a:stretch>
        </p:blipFill>
        <p:spPr>
          <a:xfrm>
            <a:off x="3821108" y="442120"/>
            <a:ext cx="4549784" cy="5973763"/>
          </a:xfrm>
          <a:prstGeom prst="rect">
            <a:avLst/>
          </a:prstGeom>
        </p:spPr>
      </p:pic>
      <p:cxnSp>
        <p:nvCxnSpPr>
          <p:cNvPr id="6" name="Straight Arrow Connector 5">
            <a:extLst>
              <a:ext uri="{FF2B5EF4-FFF2-40B4-BE49-F238E27FC236}">
                <a16:creationId xmlns:a16="http://schemas.microsoft.com/office/drawing/2014/main" id="{4763B7A4-D46F-450F-AD96-AEEA02CA8FE4}"/>
              </a:ext>
            </a:extLst>
          </p:cNvPr>
          <p:cNvCxnSpPr/>
          <p:nvPr/>
        </p:nvCxnSpPr>
        <p:spPr>
          <a:xfrm flipH="1">
            <a:off x="8370892" y="3230960"/>
            <a:ext cx="1676400" cy="6858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81D0917-F725-40D6-A7CA-5363AF959010}"/>
              </a:ext>
            </a:extLst>
          </p:cNvPr>
          <p:cNvCxnSpPr>
            <a:cxnSpLocks/>
          </p:cNvCxnSpPr>
          <p:nvPr/>
        </p:nvCxnSpPr>
        <p:spPr>
          <a:xfrm>
            <a:off x="2144708" y="5638800"/>
            <a:ext cx="1600200"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B7335F-2AFD-4DE2-8356-DDF14B5E2F6C}"/>
              </a:ext>
            </a:extLst>
          </p:cNvPr>
          <p:cNvSpPr txBox="1"/>
          <p:nvPr/>
        </p:nvSpPr>
        <p:spPr>
          <a:xfrm>
            <a:off x="9753600" y="2895600"/>
            <a:ext cx="373820" cy="369332"/>
          </a:xfrm>
          <a:prstGeom prst="rect">
            <a:avLst/>
          </a:prstGeom>
          <a:noFill/>
        </p:spPr>
        <p:txBody>
          <a:bodyPr wrap="none" rtlCol="0">
            <a:spAutoFit/>
          </a:bodyPr>
          <a:lstStyle/>
          <a:p>
            <a:r>
              <a:rPr lang="en-US" dirty="0"/>
              <a:t>IV</a:t>
            </a:r>
          </a:p>
        </p:txBody>
      </p:sp>
      <p:sp>
        <p:nvSpPr>
          <p:cNvPr id="11" name="TextBox 10">
            <a:extLst>
              <a:ext uri="{FF2B5EF4-FFF2-40B4-BE49-F238E27FC236}">
                <a16:creationId xmlns:a16="http://schemas.microsoft.com/office/drawing/2014/main" id="{1965172A-94EE-4EB6-BAF8-B313E85EF552}"/>
              </a:ext>
            </a:extLst>
          </p:cNvPr>
          <p:cNvSpPr txBox="1"/>
          <p:nvPr/>
        </p:nvSpPr>
        <p:spPr>
          <a:xfrm>
            <a:off x="1943372" y="5251075"/>
            <a:ext cx="456087" cy="369332"/>
          </a:xfrm>
          <a:prstGeom prst="rect">
            <a:avLst/>
          </a:prstGeom>
          <a:noFill/>
        </p:spPr>
        <p:txBody>
          <a:bodyPr wrap="none" rtlCol="0">
            <a:spAutoFit/>
          </a:bodyPr>
          <a:lstStyle/>
          <a:p>
            <a:r>
              <a:rPr lang="en-US" dirty="0"/>
              <a:t>DV</a:t>
            </a:r>
          </a:p>
        </p:txBody>
      </p:sp>
    </p:spTree>
    <p:extLst>
      <p:ext uri="{BB962C8B-B14F-4D97-AF65-F5344CB8AC3E}">
        <p14:creationId xmlns:p14="http://schemas.microsoft.com/office/powerpoint/2010/main" val="148056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82589-DF89-4F7A-B70A-36FE5FE7BD50}"/>
              </a:ext>
            </a:extLst>
          </p:cNvPr>
          <p:cNvPicPr>
            <a:picLocks noChangeAspect="1"/>
          </p:cNvPicPr>
          <p:nvPr/>
        </p:nvPicPr>
        <p:blipFill>
          <a:blip r:embed="rId3"/>
          <a:stretch>
            <a:fillRect/>
          </a:stretch>
        </p:blipFill>
        <p:spPr>
          <a:xfrm>
            <a:off x="2819401" y="1214890"/>
            <a:ext cx="5407809" cy="4164013"/>
          </a:xfrm>
          <a:prstGeom prst="rect">
            <a:avLst/>
          </a:prstGeom>
        </p:spPr>
      </p:pic>
      <p:sp>
        <p:nvSpPr>
          <p:cNvPr id="5" name="TextBox 4">
            <a:extLst>
              <a:ext uri="{FF2B5EF4-FFF2-40B4-BE49-F238E27FC236}">
                <a16:creationId xmlns:a16="http://schemas.microsoft.com/office/drawing/2014/main" id="{D30EE7D4-2C64-4856-BD01-B70BCB2B6F68}"/>
              </a:ext>
            </a:extLst>
          </p:cNvPr>
          <p:cNvSpPr txBox="1"/>
          <p:nvPr/>
        </p:nvSpPr>
        <p:spPr>
          <a:xfrm>
            <a:off x="8534400" y="3136079"/>
            <a:ext cx="2133600" cy="1754326"/>
          </a:xfrm>
          <a:prstGeom prst="rect">
            <a:avLst/>
          </a:prstGeom>
          <a:noFill/>
        </p:spPr>
        <p:txBody>
          <a:bodyPr wrap="square" rtlCol="0">
            <a:spAutoFit/>
          </a:bodyPr>
          <a:lstStyle/>
          <a:p>
            <a:r>
              <a:rPr lang="en-US" dirty="0"/>
              <a:t>Effect size:</a:t>
            </a:r>
          </a:p>
          <a:p>
            <a:pPr lvl="1"/>
            <a:r>
              <a:rPr lang="en-US" dirty="0"/>
              <a:t>6.20 vs 4.65 problems solved</a:t>
            </a:r>
          </a:p>
          <a:p>
            <a:pPr lvl="1"/>
            <a:endParaRPr lang="en-US" dirty="0"/>
          </a:p>
          <a:p>
            <a:pPr lvl="1"/>
            <a:r>
              <a:rPr lang="en-US" dirty="0"/>
              <a:t>= 1.55 more</a:t>
            </a:r>
          </a:p>
        </p:txBody>
      </p:sp>
      <p:cxnSp>
        <p:nvCxnSpPr>
          <p:cNvPr id="6" name="Straight Arrow Connector 5">
            <a:extLst>
              <a:ext uri="{FF2B5EF4-FFF2-40B4-BE49-F238E27FC236}">
                <a16:creationId xmlns:a16="http://schemas.microsoft.com/office/drawing/2014/main" id="{51E4D346-7A24-4997-A3DF-360C389130C5}"/>
              </a:ext>
            </a:extLst>
          </p:cNvPr>
          <p:cNvCxnSpPr>
            <a:cxnSpLocks/>
          </p:cNvCxnSpPr>
          <p:nvPr/>
        </p:nvCxnSpPr>
        <p:spPr>
          <a:xfrm flipV="1">
            <a:off x="2819400" y="3447395"/>
            <a:ext cx="1280488" cy="20110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DDBF528-7FFA-4C75-B305-2CE01A708A3E}"/>
              </a:ext>
            </a:extLst>
          </p:cNvPr>
          <p:cNvCxnSpPr>
            <a:cxnSpLocks/>
          </p:cNvCxnSpPr>
          <p:nvPr/>
        </p:nvCxnSpPr>
        <p:spPr>
          <a:xfrm flipH="1">
            <a:off x="8092114" y="2618679"/>
            <a:ext cx="1844329" cy="2384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11C3B9-A38C-4346-80C6-0BBB354FB62E}"/>
              </a:ext>
            </a:extLst>
          </p:cNvPr>
          <p:cNvSpPr txBox="1"/>
          <p:nvPr/>
        </p:nvSpPr>
        <p:spPr>
          <a:xfrm>
            <a:off x="1905000" y="5458445"/>
            <a:ext cx="2931444" cy="369332"/>
          </a:xfrm>
          <a:prstGeom prst="rect">
            <a:avLst/>
          </a:prstGeom>
          <a:noFill/>
        </p:spPr>
        <p:txBody>
          <a:bodyPr wrap="none" rtlCol="0">
            <a:spAutoFit/>
          </a:bodyPr>
          <a:lstStyle/>
          <a:p>
            <a:r>
              <a:rPr lang="en-US" dirty="0"/>
              <a:t>2 independent samples t-test</a:t>
            </a:r>
          </a:p>
        </p:txBody>
      </p:sp>
    </p:spTree>
    <p:extLst>
      <p:ext uri="{BB962C8B-B14F-4D97-AF65-F5344CB8AC3E}">
        <p14:creationId xmlns:p14="http://schemas.microsoft.com/office/powerpoint/2010/main" val="4198122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AD23-8893-CBEE-8F52-E886EBA3933B}"/>
              </a:ext>
            </a:extLst>
          </p:cNvPr>
          <p:cNvSpPr>
            <a:spLocks noGrp="1"/>
          </p:cNvSpPr>
          <p:nvPr>
            <p:ph type="title"/>
          </p:nvPr>
        </p:nvSpPr>
        <p:spPr/>
        <p:txBody>
          <a:bodyPr/>
          <a:lstStyle/>
          <a:p>
            <a:r>
              <a:rPr lang="en-US" dirty="0"/>
              <a:t>Gino &amp; </a:t>
            </a:r>
            <a:r>
              <a:rPr lang="en-US" dirty="0" err="1"/>
              <a:t>Wiltermuth</a:t>
            </a:r>
            <a:r>
              <a:rPr lang="en-US" dirty="0"/>
              <a:t> (2014)</a:t>
            </a:r>
          </a:p>
        </p:txBody>
      </p:sp>
      <p:sp>
        <p:nvSpPr>
          <p:cNvPr id="3" name="Content Placeholder 2">
            <a:extLst>
              <a:ext uri="{FF2B5EF4-FFF2-40B4-BE49-F238E27FC236}">
                <a16:creationId xmlns:a16="http://schemas.microsoft.com/office/drawing/2014/main" id="{6AC405B1-D064-4579-07EA-6E76C0DF4DAB}"/>
              </a:ext>
            </a:extLst>
          </p:cNvPr>
          <p:cNvSpPr>
            <a:spLocks noGrp="1"/>
          </p:cNvSpPr>
          <p:nvPr>
            <p:ph idx="1"/>
          </p:nvPr>
        </p:nvSpPr>
        <p:spPr/>
        <p:txBody>
          <a:bodyPr/>
          <a:lstStyle/>
          <a:p>
            <a:r>
              <a:rPr lang="en-US" sz="2400" dirty="0">
                <a:solidFill>
                  <a:srgbClr val="2D3B45"/>
                </a:solidFill>
                <a:effectLst/>
                <a:latin typeface="Lato" panose="020F0502020204030203" pitchFamily="34" charset="0"/>
                <a:ea typeface="Times New Roman" panose="02020603050405020304" pitchFamily="18" charset="0"/>
              </a:rPr>
              <a:t>In Experiment 3, what is the IV changed to and why? </a:t>
            </a:r>
            <a:endParaRPr lang="en-US" dirty="0"/>
          </a:p>
        </p:txBody>
      </p:sp>
      <p:pic>
        <p:nvPicPr>
          <p:cNvPr id="4" name="Picture 3">
            <a:extLst>
              <a:ext uri="{FF2B5EF4-FFF2-40B4-BE49-F238E27FC236}">
                <a16:creationId xmlns:a16="http://schemas.microsoft.com/office/drawing/2014/main" id="{6226A945-8D36-BCC6-2EE9-D0023A5B75E4}"/>
              </a:ext>
            </a:extLst>
          </p:cNvPr>
          <p:cNvPicPr>
            <a:picLocks noChangeAspect="1"/>
          </p:cNvPicPr>
          <p:nvPr/>
        </p:nvPicPr>
        <p:blipFill>
          <a:blip r:embed="rId2"/>
          <a:stretch>
            <a:fillRect/>
          </a:stretch>
        </p:blipFill>
        <p:spPr>
          <a:xfrm>
            <a:off x="2990617" y="2685411"/>
            <a:ext cx="4077089" cy="2973392"/>
          </a:xfrm>
          <a:prstGeom prst="rect">
            <a:avLst/>
          </a:prstGeom>
        </p:spPr>
      </p:pic>
      <p:pic>
        <p:nvPicPr>
          <p:cNvPr id="5" name="Picture 4">
            <a:extLst>
              <a:ext uri="{FF2B5EF4-FFF2-40B4-BE49-F238E27FC236}">
                <a16:creationId xmlns:a16="http://schemas.microsoft.com/office/drawing/2014/main" id="{569BFD2A-FFF8-9DB9-9D89-6C53EDDA0F1B}"/>
              </a:ext>
            </a:extLst>
          </p:cNvPr>
          <p:cNvPicPr>
            <a:picLocks noChangeAspect="1"/>
          </p:cNvPicPr>
          <p:nvPr/>
        </p:nvPicPr>
        <p:blipFill>
          <a:blip r:embed="rId3"/>
          <a:stretch>
            <a:fillRect/>
          </a:stretch>
        </p:blipFill>
        <p:spPr>
          <a:xfrm>
            <a:off x="7161399" y="2640425"/>
            <a:ext cx="4192401" cy="4027670"/>
          </a:xfrm>
          <a:prstGeom prst="rect">
            <a:avLst/>
          </a:prstGeom>
        </p:spPr>
      </p:pic>
    </p:spTree>
    <p:extLst>
      <p:ext uri="{BB962C8B-B14F-4D97-AF65-F5344CB8AC3E}">
        <p14:creationId xmlns:p14="http://schemas.microsoft.com/office/powerpoint/2010/main" val="2752445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6EBB-5CCD-425C-BC48-0739544F23A1}"/>
              </a:ext>
            </a:extLst>
          </p:cNvPr>
          <p:cNvSpPr>
            <a:spLocks noGrp="1"/>
          </p:cNvSpPr>
          <p:nvPr>
            <p:ph type="title"/>
          </p:nvPr>
        </p:nvSpPr>
        <p:spPr/>
        <p:txBody>
          <a:bodyPr/>
          <a:lstStyle/>
          <a:p>
            <a:r>
              <a:rPr lang="en-US" dirty="0"/>
              <a:t>Exp 3 Results</a:t>
            </a:r>
          </a:p>
        </p:txBody>
      </p:sp>
      <p:sp>
        <p:nvSpPr>
          <p:cNvPr id="3" name="Content Placeholder 2">
            <a:extLst>
              <a:ext uri="{FF2B5EF4-FFF2-40B4-BE49-F238E27FC236}">
                <a16:creationId xmlns:a16="http://schemas.microsoft.com/office/drawing/2014/main" id="{1B6CA3D3-FB81-4F99-8368-C1264BE27AEC}"/>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Alternate hypothesis for Exp 3?</a:t>
            </a:r>
          </a:p>
          <a:p>
            <a:endParaRPr lang="en-US" dirty="0"/>
          </a:p>
          <a:p>
            <a:r>
              <a:rPr lang="en-US" dirty="0"/>
              <a:t>Ethical questions about this research?</a:t>
            </a:r>
          </a:p>
          <a:p>
            <a:endParaRPr lang="en-US" dirty="0"/>
          </a:p>
        </p:txBody>
      </p:sp>
      <p:pic>
        <p:nvPicPr>
          <p:cNvPr id="5" name="Picture 4">
            <a:extLst>
              <a:ext uri="{FF2B5EF4-FFF2-40B4-BE49-F238E27FC236}">
                <a16:creationId xmlns:a16="http://schemas.microsoft.com/office/drawing/2014/main" id="{36741DFE-DE38-4079-8339-CA5B0B66B0B7}"/>
              </a:ext>
            </a:extLst>
          </p:cNvPr>
          <p:cNvPicPr>
            <a:picLocks noChangeAspect="1"/>
          </p:cNvPicPr>
          <p:nvPr/>
        </p:nvPicPr>
        <p:blipFill>
          <a:blip r:embed="rId2"/>
          <a:stretch>
            <a:fillRect/>
          </a:stretch>
        </p:blipFill>
        <p:spPr>
          <a:xfrm>
            <a:off x="2090738" y="1600201"/>
            <a:ext cx="8010525" cy="1971675"/>
          </a:xfrm>
          <a:prstGeom prst="rect">
            <a:avLst/>
          </a:prstGeom>
        </p:spPr>
      </p:pic>
    </p:spTree>
    <p:extLst>
      <p:ext uri="{BB962C8B-B14F-4D97-AF65-F5344CB8AC3E}">
        <p14:creationId xmlns:p14="http://schemas.microsoft.com/office/powerpoint/2010/main" val="2857920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89CD80-ECD2-32A4-4A57-433E21A363D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314B1870-E958-9E21-FD6F-B94995B62D61}"/>
              </a:ext>
            </a:extLst>
          </p:cNvPr>
          <p:cNvSpPr>
            <a:spLocks noGrp="1"/>
          </p:cNvSpPr>
          <p:nvPr>
            <p:ph sz="half" idx="1"/>
          </p:nvPr>
        </p:nvSpPr>
        <p:spPr/>
        <p:txBody>
          <a:bodyPr/>
          <a:lstStyle/>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From the General Discussion, how do the authors explain the overall set of their findings with respect to the theoretical relationship between dishonesty and creativity via a mechanism?  Give an example of a speculative point made that goes beyond the statement of results.</a:t>
            </a:r>
          </a:p>
          <a:p>
            <a:endParaRPr lang="en-US" dirty="0"/>
          </a:p>
        </p:txBody>
      </p:sp>
      <p:pic>
        <p:nvPicPr>
          <p:cNvPr id="7" name="Content Placeholder 6">
            <a:extLst>
              <a:ext uri="{FF2B5EF4-FFF2-40B4-BE49-F238E27FC236}">
                <a16:creationId xmlns:a16="http://schemas.microsoft.com/office/drawing/2014/main" id="{641F0D9F-F7F3-F194-D590-27A1DDA4C585}"/>
              </a:ext>
            </a:extLst>
          </p:cNvPr>
          <p:cNvPicPr>
            <a:picLocks noGrp="1" noChangeAspect="1"/>
          </p:cNvPicPr>
          <p:nvPr>
            <p:ph sz="half" idx="2"/>
          </p:nvPr>
        </p:nvPicPr>
        <p:blipFill>
          <a:blip r:embed="rId2"/>
          <a:stretch>
            <a:fillRect/>
          </a:stretch>
        </p:blipFill>
        <p:spPr>
          <a:xfrm>
            <a:off x="6987440" y="1825625"/>
            <a:ext cx="3429200" cy="4351338"/>
          </a:xfrm>
        </p:spPr>
      </p:pic>
      <p:pic>
        <p:nvPicPr>
          <p:cNvPr id="9" name="Picture 8">
            <a:extLst>
              <a:ext uri="{FF2B5EF4-FFF2-40B4-BE49-F238E27FC236}">
                <a16:creationId xmlns:a16="http://schemas.microsoft.com/office/drawing/2014/main" id="{D2FD6CFE-C7B3-7D18-7404-19B4E926B3F1}"/>
              </a:ext>
            </a:extLst>
          </p:cNvPr>
          <p:cNvPicPr>
            <a:picLocks noChangeAspect="1"/>
          </p:cNvPicPr>
          <p:nvPr/>
        </p:nvPicPr>
        <p:blipFill>
          <a:blip r:embed="rId3"/>
          <a:stretch>
            <a:fillRect/>
          </a:stretch>
        </p:blipFill>
        <p:spPr>
          <a:xfrm>
            <a:off x="6987440" y="6081963"/>
            <a:ext cx="3429200" cy="523671"/>
          </a:xfrm>
          <a:prstGeom prst="rect">
            <a:avLst/>
          </a:prstGeom>
        </p:spPr>
      </p:pic>
    </p:spTree>
    <p:extLst>
      <p:ext uri="{BB962C8B-B14F-4D97-AF65-F5344CB8AC3E}">
        <p14:creationId xmlns:p14="http://schemas.microsoft.com/office/powerpoint/2010/main" val="325588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961901" y="716189"/>
            <a:ext cx="9547761" cy="5570756"/>
          </a:xfrm>
          <a:prstGeom prst="rect">
            <a:avLst/>
          </a:prstGeom>
          <a:noFill/>
          <a:ln w="9525">
            <a:noFill/>
            <a:miter lim="800000"/>
            <a:headEnd/>
            <a:tailEnd/>
          </a:ln>
        </p:spPr>
        <p:txBody>
          <a:bodyPr wrap="square">
            <a:spAutoFit/>
          </a:bodyPr>
          <a:lstStyle/>
          <a:p>
            <a:pPr>
              <a:spcBef>
                <a:spcPts val="600"/>
              </a:spcBef>
            </a:pPr>
            <a:r>
              <a:rPr lang="en-US" sz="2400" dirty="0">
                <a:latin typeface="Times New Roman" pitchFamily="18" charset="0"/>
                <a:cs typeface="Times New Roman" pitchFamily="18" charset="0"/>
              </a:rPr>
              <a:t>In an effort to determine the effects of the drug chlorpromazine on the cognitive performance of schizophrenics, two clinical investigators randomly selected 20 acute schizophrenics from a mental hospital population.</a:t>
            </a:r>
          </a:p>
          <a:p>
            <a:pPr>
              <a:spcBef>
                <a:spcPts val="600"/>
              </a:spcBef>
            </a:pPr>
            <a:r>
              <a:rPr lang="en-US" sz="2400" dirty="0">
                <a:latin typeface="Times New Roman" pitchFamily="18" charset="0"/>
                <a:cs typeface="Times New Roman" pitchFamily="18" charset="0"/>
              </a:rPr>
              <a:t>The patients were asked to order several stimuli along some dimension, such as ordering eight stimuli by weight.  </a:t>
            </a:r>
          </a:p>
          <a:p>
            <a:pPr>
              <a:spcBef>
                <a:spcPts val="600"/>
              </a:spcBef>
            </a:pPr>
            <a:r>
              <a:rPr lang="en-US" sz="2400" dirty="0">
                <a:latin typeface="Times New Roman" pitchFamily="18" charset="0"/>
                <a:cs typeface="Times New Roman" pitchFamily="18" charset="0"/>
              </a:rPr>
              <a:t>There were several tasks of this sort.  </a:t>
            </a:r>
          </a:p>
          <a:p>
            <a:pPr>
              <a:spcBef>
                <a:spcPts val="600"/>
              </a:spcBef>
            </a:pPr>
            <a:r>
              <a:rPr lang="en-US" sz="2400" dirty="0">
                <a:latin typeface="Times New Roman" pitchFamily="18" charset="0"/>
                <a:cs typeface="Times New Roman" pitchFamily="18" charset="0"/>
              </a:rPr>
              <a:t>The investigators used a within-participant design in which all participants first performed the tasks after being injected with a saline solution (placebo) and then performed the tasks again several hours later after being injected with chlorpromazine.  </a:t>
            </a:r>
          </a:p>
          <a:p>
            <a:pPr>
              <a:spcBef>
                <a:spcPts val="600"/>
              </a:spcBef>
            </a:pPr>
            <a:r>
              <a:rPr lang="en-US" sz="2400" dirty="0">
                <a:latin typeface="Times New Roman" pitchFamily="18" charset="0"/>
                <a:cs typeface="Times New Roman" pitchFamily="18" charset="0"/>
              </a:rPr>
              <a:t>The results indicated that fewer errors were made in the chlorpromazine treatment, which suggested to the investigators that the drug facilitates more adequate cognitive functioning in this type of patient.</a:t>
            </a:r>
            <a:r>
              <a:rPr lang="en-US" sz="2400" dirty="0">
                <a:latin typeface="Times New Roman" pitchFamily="18" charset="0"/>
              </a:rPr>
              <a:t> </a:t>
            </a:r>
          </a:p>
        </p:txBody>
      </p:sp>
    </p:spTree>
    <p:extLst>
      <p:ext uri="{BB962C8B-B14F-4D97-AF65-F5344CB8AC3E}">
        <p14:creationId xmlns:p14="http://schemas.microsoft.com/office/powerpoint/2010/main" val="241888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en-US"/>
          </a:p>
        </p:txBody>
      </p:sp>
      <p:sp>
        <p:nvSpPr>
          <p:cNvPr id="9219" name="Rectangle 3"/>
          <p:cNvSpPr>
            <a:spLocks noGrp="1" noChangeArrowheads="1"/>
          </p:cNvSpPr>
          <p:nvPr>
            <p:ph type="body" idx="1"/>
          </p:nvPr>
        </p:nvSpPr>
        <p:spPr/>
        <p:txBody>
          <a:bodyPr/>
          <a:lstStyle/>
          <a:p>
            <a:pPr>
              <a:lnSpc>
                <a:spcPct val="90000"/>
              </a:lnSpc>
            </a:pPr>
            <a:r>
              <a:rPr lang="en-US" dirty="0"/>
              <a:t>Jones wondered if infants might begin the social control of facial expressions, including smiles even earlier than 18m.  A laboratory testing situation was set up to observe 10m-old babies with their mothers.  Two conditions were tested.  In one, the mother paid attention to the baby for 6 min; in the other she read a magazine for 6 min.  The baby was videotaped and smiles were later scored by judges who viewed the tapes.  Babies smiled at their mothers more often when their mothers were attentive.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p:txBody>
          <a:bodyPr/>
          <a:lstStyle/>
          <a:p>
            <a:endParaRPr lang="en-US"/>
          </a:p>
        </p:txBody>
      </p:sp>
      <p:graphicFrame>
        <p:nvGraphicFramePr>
          <p:cNvPr id="6194" name="Group 50"/>
          <p:cNvGraphicFramePr>
            <a:graphicFrameLocks noGrp="1"/>
          </p:cNvGraphicFramePr>
          <p:nvPr>
            <p:ph sz="half" idx="2"/>
          </p:nvPr>
        </p:nvGraphicFramePr>
        <p:xfrm>
          <a:off x="2057400" y="1600200"/>
          <a:ext cx="8153400" cy="4991038"/>
        </p:xfrm>
        <a:graphic>
          <a:graphicData uri="http://schemas.openxmlformats.org/drawingml/2006/table">
            <a:tbl>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watching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reading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JF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KM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GB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Avg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8.8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6.2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Two-sample t-test assuming equal variances, t(8)=0.69, p&gt;0.65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Paired t-test, t(4)=2.83, p&lt; .05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E5530A-D97C-6C44-2A09-00FE88C813CB}"/>
              </a:ext>
            </a:extLst>
          </p:cNvPr>
          <p:cNvSpPr>
            <a:spLocks noGrp="1"/>
          </p:cNvSpPr>
          <p:nvPr>
            <p:ph type="title"/>
          </p:nvPr>
        </p:nvSpPr>
        <p:spPr/>
        <p:txBody>
          <a:bodyPr/>
          <a:lstStyle/>
          <a:p>
            <a:r>
              <a:rPr lang="en-US" dirty="0"/>
              <a:t>Within-participants design</a:t>
            </a:r>
          </a:p>
        </p:txBody>
      </p:sp>
      <p:sp>
        <p:nvSpPr>
          <p:cNvPr id="6" name="Content Placeholder 5">
            <a:extLst>
              <a:ext uri="{FF2B5EF4-FFF2-40B4-BE49-F238E27FC236}">
                <a16:creationId xmlns:a16="http://schemas.microsoft.com/office/drawing/2014/main" id="{AEBDF586-82B8-8316-385A-7FDE88DC5881}"/>
              </a:ext>
            </a:extLst>
          </p:cNvPr>
          <p:cNvSpPr>
            <a:spLocks noGrp="1"/>
          </p:cNvSpPr>
          <p:nvPr>
            <p:ph idx="1"/>
          </p:nvPr>
        </p:nvSpPr>
        <p:spPr/>
        <p:txBody>
          <a:bodyPr/>
          <a:lstStyle/>
          <a:p>
            <a:r>
              <a:rPr lang="en-US" dirty="0"/>
              <a:t>Generally better</a:t>
            </a:r>
          </a:p>
          <a:p>
            <a:pPr lvl="1"/>
            <a:r>
              <a:rPr lang="en-US" dirty="0"/>
              <a:t>Except when it’s not</a:t>
            </a:r>
          </a:p>
          <a:p>
            <a:r>
              <a:rPr lang="en-US" dirty="0"/>
              <a:t>Advantages</a:t>
            </a:r>
          </a:p>
          <a:p>
            <a:pPr lvl="1"/>
            <a:r>
              <a:rPr lang="en-US" dirty="0"/>
              <a:t>Highly efficient.  Each participant provides data in all conditions so accumulating data collection towards the planned number of participants is more rapid.</a:t>
            </a:r>
          </a:p>
          <a:p>
            <a:pPr lvl="1"/>
            <a:r>
              <a:rPr lang="en-US" dirty="0"/>
              <a:t>Perfect control of participant variables.  Since all participants provided data on all conditions, the conditions are exactly matched for all extraneous variables related to the participants on the task, e.g., motivation, attention, ability.</a:t>
            </a:r>
          </a:p>
          <a:p>
            <a:endParaRPr lang="en-US" dirty="0"/>
          </a:p>
        </p:txBody>
      </p:sp>
    </p:spTree>
    <p:extLst>
      <p:ext uri="{BB962C8B-B14F-4D97-AF65-F5344CB8AC3E}">
        <p14:creationId xmlns:p14="http://schemas.microsoft.com/office/powerpoint/2010/main" val="1016171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C3EF-58AA-9A7F-B843-9F4ED42F987D}"/>
              </a:ext>
            </a:extLst>
          </p:cNvPr>
          <p:cNvSpPr>
            <a:spLocks noGrp="1"/>
          </p:cNvSpPr>
          <p:nvPr>
            <p:ph type="title"/>
          </p:nvPr>
        </p:nvSpPr>
        <p:spPr/>
        <p:txBody>
          <a:bodyPr/>
          <a:lstStyle/>
          <a:p>
            <a:r>
              <a:rPr lang="en-US" dirty="0"/>
              <a:t>Within-participant design concerns</a:t>
            </a:r>
          </a:p>
        </p:txBody>
      </p:sp>
      <p:sp>
        <p:nvSpPr>
          <p:cNvPr id="3" name="Content Placeholder 2">
            <a:extLst>
              <a:ext uri="{FF2B5EF4-FFF2-40B4-BE49-F238E27FC236}">
                <a16:creationId xmlns:a16="http://schemas.microsoft.com/office/drawing/2014/main" id="{3FD0B176-7A01-7C6E-79BD-21CAA5D1B990}"/>
              </a:ext>
            </a:extLst>
          </p:cNvPr>
          <p:cNvSpPr>
            <a:spLocks noGrp="1"/>
          </p:cNvSpPr>
          <p:nvPr>
            <p:ph idx="1"/>
          </p:nvPr>
        </p:nvSpPr>
        <p:spPr/>
        <p:txBody>
          <a:bodyPr/>
          <a:lstStyle/>
          <a:p>
            <a:r>
              <a:rPr lang="en-US" dirty="0"/>
              <a:t>History effects: carryover, learning, fatigue</a:t>
            </a:r>
          </a:p>
          <a:p>
            <a:pPr lvl="1"/>
            <a:r>
              <a:rPr lang="en-US" dirty="0"/>
              <a:t>Counterbalance order across participants</a:t>
            </a:r>
          </a:p>
          <a:p>
            <a:pPr lvl="1"/>
            <a:r>
              <a:rPr lang="en-US" dirty="0"/>
              <a:t>Be aware when this doesn’t work</a:t>
            </a:r>
          </a:p>
          <a:p>
            <a:pPr lvl="2"/>
            <a:r>
              <a:rPr lang="en-US" dirty="0"/>
              <a:t>Can require a factorial analysis (Chapters 9-11)</a:t>
            </a:r>
          </a:p>
          <a:p>
            <a:pPr lvl="2"/>
            <a:endParaRPr lang="en-US" dirty="0"/>
          </a:p>
          <a:p>
            <a:r>
              <a:rPr lang="en-US" dirty="0"/>
              <a:t>Participants aware of all IV levels</a:t>
            </a:r>
          </a:p>
          <a:p>
            <a:pPr lvl="1"/>
            <a:r>
              <a:rPr lang="en-US" dirty="0"/>
              <a:t>Might be aware of the experimental hypothesis</a:t>
            </a:r>
          </a:p>
          <a:p>
            <a:pPr lvl="1"/>
            <a:r>
              <a:rPr lang="en-US" dirty="0"/>
              <a:t>Might therefore be biased in responding</a:t>
            </a:r>
          </a:p>
        </p:txBody>
      </p:sp>
    </p:spTree>
    <p:extLst>
      <p:ext uri="{BB962C8B-B14F-4D97-AF65-F5344CB8AC3E}">
        <p14:creationId xmlns:p14="http://schemas.microsoft.com/office/powerpoint/2010/main" val="900003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F574E5-3F2A-F12C-2975-5AE21DE7135E}"/>
              </a:ext>
            </a:extLst>
          </p:cNvPr>
          <p:cNvSpPr>
            <a:spLocks noGrp="1"/>
          </p:cNvSpPr>
          <p:nvPr>
            <p:ph type="title"/>
          </p:nvPr>
        </p:nvSpPr>
        <p:spPr/>
        <p:txBody>
          <a:bodyPr/>
          <a:lstStyle/>
          <a:p>
            <a:r>
              <a:rPr lang="en-US" dirty="0"/>
              <a:t>Questions</a:t>
            </a:r>
          </a:p>
        </p:txBody>
      </p:sp>
      <p:sp>
        <p:nvSpPr>
          <p:cNvPr id="6" name="Content Placeholder 5">
            <a:extLst>
              <a:ext uri="{FF2B5EF4-FFF2-40B4-BE49-F238E27FC236}">
                <a16:creationId xmlns:a16="http://schemas.microsoft.com/office/drawing/2014/main" id="{A19D7ECB-8CCE-8E1A-AF0D-50B6A493FB0C}"/>
              </a:ext>
            </a:extLst>
          </p:cNvPr>
          <p:cNvSpPr>
            <a:spLocks noGrp="1"/>
          </p:cNvSpPr>
          <p:nvPr>
            <p:ph idx="1"/>
          </p:nvPr>
        </p:nvSpPr>
        <p:spPr/>
        <p:txBody>
          <a:bodyPr/>
          <a:lstStyle/>
          <a:p>
            <a:pPr algn="l"/>
            <a:r>
              <a:rPr lang="en-US" b="0" i="0" dirty="0">
                <a:solidFill>
                  <a:srgbClr val="2D3B45"/>
                </a:solidFill>
                <a:effectLst/>
                <a:latin typeface="Lato Extended"/>
              </a:rPr>
              <a:t>1. Why is it generally impractical to use a within-participants design in studies that have an element of deception (e.g., the implicit bias studies)?</a:t>
            </a:r>
          </a:p>
          <a:p>
            <a:pPr algn="l"/>
            <a:r>
              <a:rPr lang="en-US" b="0" i="0" dirty="0">
                <a:solidFill>
                  <a:srgbClr val="2D3B45"/>
                </a:solidFill>
                <a:effectLst/>
                <a:latin typeface="Lato Extended"/>
              </a:rPr>
              <a:t>2. For a study assessing time to recognize famous faces upside-down, why would a within-participants design be a good idea?  Give two reasons.</a:t>
            </a:r>
          </a:p>
          <a:p>
            <a:pPr algn="l"/>
            <a:r>
              <a:rPr lang="en-US" b="0" i="0" dirty="0">
                <a:solidFill>
                  <a:srgbClr val="2D3B45"/>
                </a:solidFill>
                <a:effectLst/>
                <a:latin typeface="Lato Extended"/>
              </a:rPr>
              <a:t>3. Why are mood manipulation studies difficult to do as a within-participants design?</a:t>
            </a:r>
          </a:p>
          <a:p>
            <a:pPr algn="l"/>
            <a:endParaRPr lang="en-US" dirty="0"/>
          </a:p>
        </p:txBody>
      </p:sp>
    </p:spTree>
    <p:extLst>
      <p:ext uri="{BB962C8B-B14F-4D97-AF65-F5344CB8AC3E}">
        <p14:creationId xmlns:p14="http://schemas.microsoft.com/office/powerpoint/2010/main" val="2715545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1F2A8-CD81-5D9C-EF86-23CF0B9998A4}"/>
              </a:ext>
            </a:extLst>
          </p:cNvPr>
          <p:cNvSpPr>
            <a:spLocks noGrp="1"/>
          </p:cNvSpPr>
          <p:nvPr>
            <p:ph type="title"/>
          </p:nvPr>
        </p:nvSpPr>
        <p:spPr/>
        <p:txBody>
          <a:bodyPr/>
          <a:lstStyle/>
          <a:p>
            <a:r>
              <a:rPr lang="en-US" dirty="0"/>
              <a:t>For Fri Oct 9</a:t>
            </a:r>
          </a:p>
        </p:txBody>
      </p:sp>
      <p:sp>
        <p:nvSpPr>
          <p:cNvPr id="3" name="Content Placeholder 2">
            <a:extLst>
              <a:ext uri="{FF2B5EF4-FFF2-40B4-BE49-F238E27FC236}">
                <a16:creationId xmlns:a16="http://schemas.microsoft.com/office/drawing/2014/main" id="{A31C2E22-058C-0505-A184-C3DC1A3F7A54}"/>
              </a:ext>
            </a:extLst>
          </p:cNvPr>
          <p:cNvSpPr>
            <a:spLocks noGrp="1"/>
          </p:cNvSpPr>
          <p:nvPr>
            <p:ph idx="1"/>
          </p:nvPr>
        </p:nvSpPr>
        <p:spPr/>
        <p:txBody>
          <a:bodyPr/>
          <a:lstStyle/>
          <a:p>
            <a:r>
              <a:rPr lang="en-US" dirty="0"/>
              <a:t>Chapter 8: Ethics</a:t>
            </a:r>
          </a:p>
          <a:p>
            <a:pPr lvl="1"/>
            <a:r>
              <a:rPr lang="en-US" dirty="0"/>
              <a:t>Assignment questions</a:t>
            </a:r>
          </a:p>
          <a:p>
            <a:pPr lvl="1"/>
            <a:endParaRPr lang="en-US" dirty="0"/>
          </a:p>
          <a:p>
            <a:r>
              <a:rPr lang="en-US" dirty="0"/>
              <a:t>Submit first experiment report by end of day</a:t>
            </a:r>
          </a:p>
          <a:p>
            <a:endParaRPr lang="en-US" dirty="0"/>
          </a:p>
          <a:p>
            <a:r>
              <a:rPr lang="en-US" dirty="0"/>
              <a:t>Monday 10/14: First Midterm</a:t>
            </a:r>
          </a:p>
          <a:p>
            <a:pPr lvl="1"/>
            <a:r>
              <a:rPr lang="en-US" dirty="0"/>
              <a:t>Prior exams are posted to Canvas as study aids</a:t>
            </a:r>
          </a:p>
        </p:txBody>
      </p:sp>
    </p:spTree>
    <p:extLst>
      <p:ext uri="{BB962C8B-B14F-4D97-AF65-F5344CB8AC3E}">
        <p14:creationId xmlns:p14="http://schemas.microsoft.com/office/powerpoint/2010/main" val="710405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APA Report Sections</a:t>
            </a:r>
          </a:p>
        </p:txBody>
      </p:sp>
      <p:sp>
        <p:nvSpPr>
          <p:cNvPr id="10243" name="Rectangle 3"/>
          <p:cNvSpPr>
            <a:spLocks noGrp="1" noChangeArrowheads="1"/>
          </p:cNvSpPr>
          <p:nvPr>
            <p:ph type="body" idx="1"/>
          </p:nvPr>
        </p:nvSpPr>
        <p:spPr/>
        <p:txBody>
          <a:bodyPr>
            <a:normAutofit lnSpcReduction="10000"/>
          </a:bodyPr>
          <a:lstStyle/>
          <a:p>
            <a:pPr eaLnBrk="1" hangingPunct="1">
              <a:lnSpc>
                <a:spcPct val="80000"/>
              </a:lnSpc>
            </a:pPr>
            <a:r>
              <a:rPr lang="en-US" dirty="0"/>
              <a:t>Abstract</a:t>
            </a:r>
          </a:p>
          <a:p>
            <a:pPr lvl="1" eaLnBrk="1" hangingPunct="1">
              <a:lnSpc>
                <a:spcPct val="80000"/>
              </a:lnSpc>
            </a:pPr>
            <a:r>
              <a:rPr lang="en-US" dirty="0"/>
              <a:t>Very concise summary, ~200 words</a:t>
            </a:r>
          </a:p>
          <a:p>
            <a:pPr eaLnBrk="1" hangingPunct="1">
              <a:lnSpc>
                <a:spcPct val="80000"/>
              </a:lnSpc>
            </a:pPr>
            <a:r>
              <a:rPr lang="en-US" dirty="0"/>
              <a:t>Introduction</a:t>
            </a:r>
          </a:p>
          <a:p>
            <a:pPr lvl="1" eaLnBrk="1" hangingPunct="1">
              <a:lnSpc>
                <a:spcPct val="80000"/>
              </a:lnSpc>
            </a:pPr>
            <a:r>
              <a:rPr lang="en-US" dirty="0"/>
              <a:t>Construct, background, hypothesis</a:t>
            </a:r>
          </a:p>
          <a:p>
            <a:pPr eaLnBrk="1" hangingPunct="1">
              <a:lnSpc>
                <a:spcPct val="80000"/>
              </a:lnSpc>
            </a:pPr>
            <a:r>
              <a:rPr lang="en-US" dirty="0"/>
              <a:t>Methods</a:t>
            </a:r>
          </a:p>
          <a:p>
            <a:pPr lvl="1" eaLnBrk="1" hangingPunct="1">
              <a:lnSpc>
                <a:spcPct val="80000"/>
              </a:lnSpc>
            </a:pPr>
            <a:r>
              <a:rPr lang="en-US" dirty="0"/>
              <a:t>Participants, materials, procedure</a:t>
            </a:r>
          </a:p>
          <a:p>
            <a:pPr eaLnBrk="1" hangingPunct="1">
              <a:lnSpc>
                <a:spcPct val="80000"/>
              </a:lnSpc>
            </a:pPr>
            <a:r>
              <a:rPr lang="en-US" dirty="0"/>
              <a:t>Results</a:t>
            </a:r>
          </a:p>
          <a:p>
            <a:pPr lvl="1" eaLnBrk="1" hangingPunct="1">
              <a:lnSpc>
                <a:spcPct val="80000"/>
              </a:lnSpc>
            </a:pPr>
            <a:r>
              <a:rPr lang="en-US" dirty="0"/>
              <a:t>Figure</a:t>
            </a:r>
          </a:p>
          <a:p>
            <a:pPr eaLnBrk="1" hangingPunct="1">
              <a:lnSpc>
                <a:spcPct val="80000"/>
              </a:lnSpc>
            </a:pPr>
            <a:r>
              <a:rPr lang="en-US" dirty="0"/>
              <a:t>Discussion</a:t>
            </a:r>
          </a:p>
          <a:p>
            <a:pPr lvl="1" eaLnBrk="1" hangingPunct="1">
              <a:lnSpc>
                <a:spcPct val="80000"/>
              </a:lnSpc>
            </a:pPr>
            <a:r>
              <a:rPr lang="en-US" dirty="0"/>
              <a:t>Conclusion, interpretation, limitations</a:t>
            </a:r>
          </a:p>
          <a:p>
            <a:pPr eaLnBrk="1" hangingPunct="1">
              <a:lnSpc>
                <a:spcPct val="80000"/>
              </a:lnSpc>
            </a:pPr>
            <a:r>
              <a:rPr lang="en-US" dirty="0"/>
              <a:t>References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237A-F255-4592-8221-15CA355CC938}"/>
              </a:ext>
            </a:extLst>
          </p:cNvPr>
          <p:cNvSpPr>
            <a:spLocks noGrp="1"/>
          </p:cNvSpPr>
          <p:nvPr>
            <p:ph type="title"/>
          </p:nvPr>
        </p:nvSpPr>
        <p:spPr/>
        <p:txBody>
          <a:bodyPr/>
          <a:lstStyle/>
          <a:p>
            <a:r>
              <a:rPr lang="en-US" dirty="0"/>
              <a:t>APA Format: Methods</a:t>
            </a:r>
          </a:p>
        </p:txBody>
      </p:sp>
      <p:sp>
        <p:nvSpPr>
          <p:cNvPr id="3" name="Content Placeholder 2">
            <a:extLst>
              <a:ext uri="{FF2B5EF4-FFF2-40B4-BE49-F238E27FC236}">
                <a16:creationId xmlns:a16="http://schemas.microsoft.com/office/drawing/2014/main" id="{4143DCF7-7607-4442-AA51-DFF2ABB95BC9}"/>
              </a:ext>
            </a:extLst>
          </p:cNvPr>
          <p:cNvSpPr>
            <a:spLocks noGrp="1"/>
          </p:cNvSpPr>
          <p:nvPr>
            <p:ph idx="1"/>
          </p:nvPr>
        </p:nvSpPr>
        <p:spPr/>
        <p:txBody>
          <a:bodyPr/>
          <a:lstStyle/>
          <a:p>
            <a:pPr algn="l"/>
            <a:r>
              <a:rPr lang="en-US" dirty="0">
                <a:solidFill>
                  <a:srgbClr val="2D3B45"/>
                </a:solidFill>
                <a:latin typeface="Lato Extended"/>
              </a:rPr>
              <a:t>Which of the following is the main goal of the methods section of a research report?</a:t>
            </a:r>
          </a:p>
          <a:p>
            <a:pPr lvl="1"/>
            <a:r>
              <a:rPr lang="en-US" dirty="0">
                <a:solidFill>
                  <a:srgbClr val="2D3B45"/>
                </a:solidFill>
                <a:latin typeface="Lato Extended"/>
              </a:rPr>
              <a:t>a. Meticulously articulate how you analyzed the data.</a:t>
            </a:r>
          </a:p>
          <a:p>
            <a:pPr lvl="1"/>
            <a:r>
              <a:rPr lang="en-US" dirty="0">
                <a:solidFill>
                  <a:srgbClr val="2D3B45"/>
                </a:solidFill>
                <a:latin typeface="Lato Extended"/>
              </a:rPr>
              <a:t>b. Provide enough detail to allow an independent researcher to replicate your study.</a:t>
            </a:r>
          </a:p>
          <a:p>
            <a:pPr lvl="1"/>
            <a:r>
              <a:rPr lang="en-US" dirty="0">
                <a:solidFill>
                  <a:srgbClr val="2D3B45"/>
                </a:solidFill>
                <a:latin typeface="Lato Extended"/>
              </a:rPr>
              <a:t>c. Outline the demographic information of your participants so that reviewers can access the generalizability of your research.</a:t>
            </a:r>
          </a:p>
          <a:p>
            <a:pPr lvl="1"/>
            <a:r>
              <a:rPr lang="en-US" dirty="0">
                <a:solidFill>
                  <a:srgbClr val="2D3B45"/>
                </a:solidFill>
                <a:latin typeface="Lato Extended"/>
              </a:rPr>
              <a:t>d. Discuss the procedure you used so that readers can decide for themselves if your protocol is biased.</a:t>
            </a:r>
          </a:p>
          <a:p>
            <a:pPr marL="0" indent="0">
              <a:buNone/>
            </a:pPr>
            <a:endParaRPr lang="en-US" dirty="0"/>
          </a:p>
        </p:txBody>
      </p:sp>
    </p:spTree>
    <p:extLst>
      <p:ext uri="{BB962C8B-B14F-4D97-AF65-F5344CB8AC3E}">
        <p14:creationId xmlns:p14="http://schemas.microsoft.com/office/powerpoint/2010/main" val="2039985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40C15-2283-432F-93E4-01054C37BA58}"/>
              </a:ext>
            </a:extLst>
          </p:cNvPr>
          <p:cNvSpPr>
            <a:spLocks noGrp="1"/>
          </p:cNvSpPr>
          <p:nvPr>
            <p:ph type="title"/>
          </p:nvPr>
        </p:nvSpPr>
        <p:spPr/>
        <p:txBody>
          <a:bodyPr/>
          <a:lstStyle/>
          <a:p>
            <a:r>
              <a:rPr lang="en-US" dirty="0"/>
              <a:t>APA Format: Results</a:t>
            </a:r>
          </a:p>
        </p:txBody>
      </p:sp>
      <p:sp>
        <p:nvSpPr>
          <p:cNvPr id="3" name="Content Placeholder 2">
            <a:extLst>
              <a:ext uri="{FF2B5EF4-FFF2-40B4-BE49-F238E27FC236}">
                <a16:creationId xmlns:a16="http://schemas.microsoft.com/office/drawing/2014/main" id="{9DD541CE-646D-40C1-8278-FC11E15B151B}"/>
              </a:ext>
            </a:extLst>
          </p:cNvPr>
          <p:cNvSpPr>
            <a:spLocks noGrp="1"/>
          </p:cNvSpPr>
          <p:nvPr>
            <p:ph idx="1"/>
          </p:nvPr>
        </p:nvSpPr>
        <p:spPr/>
        <p:txBody>
          <a:bodyPr/>
          <a:lstStyle/>
          <a:p>
            <a:r>
              <a:rPr lang="en-US" dirty="0">
                <a:solidFill>
                  <a:srgbClr val="2D3B45"/>
                </a:solidFill>
                <a:latin typeface="Lato Extended"/>
              </a:rPr>
              <a:t>Which of the following is usually beyond the scope of the results section of a quantitative research report?</a:t>
            </a:r>
          </a:p>
          <a:p>
            <a:pPr lvl="1"/>
            <a:r>
              <a:rPr lang="en-US" dirty="0">
                <a:solidFill>
                  <a:srgbClr val="2D3B45"/>
                </a:solidFill>
                <a:latin typeface="Lato Extended"/>
              </a:rPr>
              <a:t>a. Discussing what statistical techniques were used</a:t>
            </a:r>
          </a:p>
          <a:p>
            <a:pPr lvl="1"/>
            <a:r>
              <a:rPr lang="en-US" dirty="0">
                <a:solidFill>
                  <a:srgbClr val="2D3B45"/>
                </a:solidFill>
                <a:latin typeface="Lato Extended"/>
              </a:rPr>
              <a:t>b. Presenting figures and/or tables to portray the data</a:t>
            </a:r>
          </a:p>
          <a:p>
            <a:pPr lvl="1"/>
            <a:r>
              <a:rPr lang="en-US" dirty="0">
                <a:solidFill>
                  <a:srgbClr val="2D3B45"/>
                </a:solidFill>
                <a:latin typeface="Lato Extended"/>
              </a:rPr>
              <a:t>c. Providing detailed interpretation of the implications based on the data</a:t>
            </a:r>
          </a:p>
          <a:p>
            <a:pPr lvl="1"/>
            <a:r>
              <a:rPr lang="en-US" dirty="0">
                <a:solidFill>
                  <a:srgbClr val="2D3B45"/>
                </a:solidFill>
                <a:latin typeface="Lato Extended"/>
              </a:rPr>
              <a:t>d. Presenting specific statistics that were generated from the data</a:t>
            </a:r>
            <a:endParaRPr lang="en-US" dirty="0"/>
          </a:p>
        </p:txBody>
      </p:sp>
    </p:spTree>
    <p:extLst>
      <p:ext uri="{BB962C8B-B14F-4D97-AF65-F5344CB8AC3E}">
        <p14:creationId xmlns:p14="http://schemas.microsoft.com/office/powerpoint/2010/main" val="4091162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36F9-34B5-4DD8-B815-B9978C465000}"/>
              </a:ext>
            </a:extLst>
          </p:cNvPr>
          <p:cNvSpPr>
            <a:spLocks noGrp="1"/>
          </p:cNvSpPr>
          <p:nvPr>
            <p:ph type="title"/>
          </p:nvPr>
        </p:nvSpPr>
        <p:spPr/>
        <p:txBody>
          <a:bodyPr/>
          <a:lstStyle/>
          <a:p>
            <a:r>
              <a:rPr lang="en-US" dirty="0"/>
              <a:t>APA Format: Discussion</a:t>
            </a:r>
          </a:p>
        </p:txBody>
      </p:sp>
      <p:sp>
        <p:nvSpPr>
          <p:cNvPr id="3" name="Content Placeholder 2">
            <a:extLst>
              <a:ext uri="{FF2B5EF4-FFF2-40B4-BE49-F238E27FC236}">
                <a16:creationId xmlns:a16="http://schemas.microsoft.com/office/drawing/2014/main" id="{1F51EAD1-F80E-42EF-93C3-13FA395A560C}"/>
              </a:ext>
            </a:extLst>
          </p:cNvPr>
          <p:cNvSpPr>
            <a:spLocks noGrp="1"/>
          </p:cNvSpPr>
          <p:nvPr>
            <p:ph idx="1"/>
          </p:nvPr>
        </p:nvSpPr>
        <p:spPr/>
        <p:txBody>
          <a:bodyPr/>
          <a:lstStyle/>
          <a:p>
            <a:r>
              <a:rPr lang="en-US" dirty="0">
                <a:solidFill>
                  <a:srgbClr val="2D3B45"/>
                </a:solidFill>
                <a:latin typeface="Lato Extended"/>
              </a:rPr>
              <a:t>If you state alternative explanations in your discussion, which of the following should you also consider doing?</a:t>
            </a:r>
          </a:p>
          <a:p>
            <a:pPr lvl="1"/>
            <a:r>
              <a:rPr lang="en-US" dirty="0">
                <a:solidFill>
                  <a:srgbClr val="2D3B45"/>
                </a:solidFill>
                <a:latin typeface="Lato Extended"/>
              </a:rPr>
              <a:t>a. Tell readers why the alternative explanation falls short of the primary explanation</a:t>
            </a:r>
          </a:p>
          <a:p>
            <a:pPr lvl="1"/>
            <a:r>
              <a:rPr lang="en-US" dirty="0">
                <a:solidFill>
                  <a:srgbClr val="2D3B45"/>
                </a:solidFill>
                <a:latin typeface="Lato Extended"/>
              </a:rPr>
              <a:t>b. Conduct statistics tests to test them specifically</a:t>
            </a:r>
          </a:p>
          <a:p>
            <a:pPr lvl="1"/>
            <a:r>
              <a:rPr lang="en-US" dirty="0">
                <a:solidFill>
                  <a:srgbClr val="2D3B45"/>
                </a:solidFill>
                <a:latin typeface="Lato Extended"/>
              </a:rPr>
              <a:t>c. Include reviewer opinions of whether they think the alternative explanation is better or worse than the primary explanation</a:t>
            </a:r>
          </a:p>
          <a:p>
            <a:pPr lvl="1"/>
            <a:r>
              <a:rPr lang="en-US" dirty="0">
                <a:solidFill>
                  <a:srgbClr val="2D3B45"/>
                </a:solidFill>
                <a:latin typeface="Lato Extended"/>
              </a:rPr>
              <a:t>d. Present a literature review that would allow readers to conduct a follow-up study based on the alternative explanation</a:t>
            </a:r>
            <a:endParaRPr lang="en-US" dirty="0"/>
          </a:p>
        </p:txBody>
      </p:sp>
    </p:spTree>
    <p:extLst>
      <p:ext uri="{BB962C8B-B14F-4D97-AF65-F5344CB8AC3E}">
        <p14:creationId xmlns:p14="http://schemas.microsoft.com/office/powerpoint/2010/main" val="2657282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1DEE-73EC-42EC-8ACC-2B18F5CEEC19}"/>
              </a:ext>
            </a:extLst>
          </p:cNvPr>
          <p:cNvSpPr>
            <a:spLocks noGrp="1"/>
          </p:cNvSpPr>
          <p:nvPr>
            <p:ph type="title"/>
          </p:nvPr>
        </p:nvSpPr>
        <p:spPr/>
        <p:txBody>
          <a:bodyPr/>
          <a:lstStyle/>
          <a:p>
            <a:r>
              <a:rPr lang="en-US" dirty="0"/>
              <a:t>APA Writing with Style</a:t>
            </a:r>
          </a:p>
        </p:txBody>
      </p:sp>
      <p:sp>
        <p:nvSpPr>
          <p:cNvPr id="3" name="Content Placeholder 2">
            <a:extLst>
              <a:ext uri="{FF2B5EF4-FFF2-40B4-BE49-F238E27FC236}">
                <a16:creationId xmlns:a16="http://schemas.microsoft.com/office/drawing/2014/main" id="{079EA18E-AD6A-4127-BDBE-7DCA7E20BAE8}"/>
              </a:ext>
            </a:extLst>
          </p:cNvPr>
          <p:cNvSpPr>
            <a:spLocks noGrp="1"/>
          </p:cNvSpPr>
          <p:nvPr>
            <p:ph idx="1"/>
          </p:nvPr>
        </p:nvSpPr>
        <p:spPr/>
        <p:txBody>
          <a:bodyPr/>
          <a:lstStyle/>
          <a:p>
            <a:r>
              <a:rPr lang="en-US" dirty="0">
                <a:solidFill>
                  <a:srgbClr val="2D3B45"/>
                </a:solidFill>
                <a:latin typeface="Lato Extended"/>
              </a:rPr>
              <a:t>What is the role played by answering the question “who will you write for” in writing a research report?  How should the answer influence the writing process?</a:t>
            </a:r>
          </a:p>
          <a:p>
            <a:pPr lvl="1"/>
            <a:endParaRPr lang="en-US" dirty="0">
              <a:solidFill>
                <a:srgbClr val="2D3B45"/>
              </a:solidFill>
              <a:latin typeface="Lato Extended"/>
            </a:endParaRPr>
          </a:p>
          <a:p>
            <a:r>
              <a:rPr lang="en-US" b="0" i="0" dirty="0">
                <a:solidFill>
                  <a:srgbClr val="2D3B45"/>
                </a:solidFill>
                <a:effectLst/>
                <a:latin typeface="Lato Extended"/>
              </a:rPr>
              <a:t>Citing previous research</a:t>
            </a:r>
          </a:p>
          <a:p>
            <a:pPr lvl="1"/>
            <a:r>
              <a:rPr lang="en-US" dirty="0">
                <a:solidFill>
                  <a:srgbClr val="2D3B45"/>
                </a:solidFill>
                <a:latin typeface="Lato Extended"/>
              </a:rPr>
              <a:t>Craik &amp; Tulving (1972) proposed that better memory would research from more semantic engagement with the material being studied and termed this “deeper” processing.</a:t>
            </a:r>
            <a:endParaRPr lang="en-US" b="0" i="0" dirty="0">
              <a:solidFill>
                <a:srgbClr val="2D3B45"/>
              </a:solidFill>
              <a:effectLst/>
              <a:latin typeface="Lato Extended"/>
            </a:endParaRPr>
          </a:p>
          <a:p>
            <a:endParaRPr lang="en-US" dirty="0"/>
          </a:p>
        </p:txBody>
      </p:sp>
    </p:spTree>
    <p:extLst>
      <p:ext uri="{BB962C8B-B14F-4D97-AF65-F5344CB8AC3E}">
        <p14:creationId xmlns:p14="http://schemas.microsoft.com/office/powerpoint/2010/main" val="3408920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8C2B-BA5B-4F5F-A266-72BA398B2B4A}"/>
              </a:ext>
            </a:extLst>
          </p:cNvPr>
          <p:cNvSpPr>
            <a:spLocks noGrp="1"/>
          </p:cNvSpPr>
          <p:nvPr>
            <p:ph type="title"/>
          </p:nvPr>
        </p:nvSpPr>
        <p:spPr/>
        <p:txBody>
          <a:bodyPr/>
          <a:lstStyle/>
          <a:p>
            <a:r>
              <a:rPr lang="en-US" dirty="0"/>
              <a:t>Background literature</a:t>
            </a:r>
          </a:p>
        </p:txBody>
      </p:sp>
      <p:sp>
        <p:nvSpPr>
          <p:cNvPr id="3" name="Content Placeholder 2">
            <a:extLst>
              <a:ext uri="{FF2B5EF4-FFF2-40B4-BE49-F238E27FC236}">
                <a16:creationId xmlns:a16="http://schemas.microsoft.com/office/drawing/2014/main" id="{961E0421-28C0-42A9-938F-5EA1ACA38CA6}"/>
              </a:ext>
            </a:extLst>
          </p:cNvPr>
          <p:cNvSpPr>
            <a:spLocks noGrp="1"/>
          </p:cNvSpPr>
          <p:nvPr>
            <p:ph idx="1"/>
          </p:nvPr>
        </p:nvSpPr>
        <p:spPr/>
        <p:txBody>
          <a:bodyPr/>
          <a:lstStyle/>
          <a:p>
            <a:r>
              <a:rPr lang="en-US" dirty="0"/>
              <a:t>APA format for the References section</a:t>
            </a:r>
          </a:p>
          <a:p>
            <a:pPr lvl="1"/>
            <a:r>
              <a:rPr lang="en-US" sz="2400" dirty="0">
                <a:solidFill>
                  <a:srgbClr val="222222"/>
                </a:solidFill>
                <a:latin typeface="Arial" panose="020B0604020202020204" pitchFamily="34" charset="0"/>
              </a:rPr>
              <a:t>Craik, F. I. M., &amp; Lockhart, R. S. (1972). Levels of processing: A framework for memory research. </a:t>
            </a:r>
            <a:r>
              <a:rPr lang="en-US" sz="2400" i="1" dirty="0">
                <a:solidFill>
                  <a:srgbClr val="222222"/>
                </a:solidFill>
                <a:latin typeface="Arial" panose="020B0604020202020204" pitchFamily="34" charset="0"/>
              </a:rPr>
              <a:t>Journal of verbal learning and verbal behavior</a:t>
            </a:r>
            <a:r>
              <a:rPr lang="en-US" sz="2400" dirty="0">
                <a:solidFill>
                  <a:srgbClr val="222222"/>
                </a:solidFill>
                <a:latin typeface="Arial" panose="020B0604020202020204" pitchFamily="34" charset="0"/>
              </a:rPr>
              <a:t>, </a:t>
            </a:r>
            <a:r>
              <a:rPr lang="en-US" sz="2400" i="1" dirty="0">
                <a:solidFill>
                  <a:srgbClr val="222222"/>
                </a:solidFill>
                <a:latin typeface="Arial" panose="020B0604020202020204" pitchFamily="34" charset="0"/>
              </a:rPr>
              <a:t>11</a:t>
            </a:r>
            <a:r>
              <a:rPr lang="en-US" sz="2400" dirty="0">
                <a:solidFill>
                  <a:srgbClr val="222222"/>
                </a:solidFill>
                <a:latin typeface="Arial" panose="020B0604020202020204" pitchFamily="34" charset="0"/>
              </a:rPr>
              <a:t>(6), 671-684.</a:t>
            </a:r>
          </a:p>
          <a:p>
            <a:pPr lvl="1"/>
            <a:r>
              <a:rPr lang="en-US" sz="2400" dirty="0">
                <a:solidFill>
                  <a:srgbClr val="222222"/>
                </a:solidFill>
                <a:latin typeface="Arial" panose="020B0604020202020204" pitchFamily="34" charset="0"/>
              </a:rPr>
              <a:t>Craik, F. I. M., &amp; Tulving, E. (1975). Depth of processing and the retention of words in episodic memory. </a:t>
            </a:r>
            <a:r>
              <a:rPr lang="en-US" sz="2400" i="1" dirty="0">
                <a:solidFill>
                  <a:srgbClr val="222222"/>
                </a:solidFill>
                <a:latin typeface="Arial" panose="020B0604020202020204" pitchFamily="34" charset="0"/>
              </a:rPr>
              <a:t>Journal of experimental Psychology: general</a:t>
            </a:r>
            <a:r>
              <a:rPr lang="en-US" sz="2400" dirty="0">
                <a:solidFill>
                  <a:srgbClr val="222222"/>
                </a:solidFill>
                <a:latin typeface="Arial" panose="020B0604020202020204" pitchFamily="34" charset="0"/>
              </a:rPr>
              <a:t>, </a:t>
            </a:r>
            <a:r>
              <a:rPr lang="en-US" sz="2400" i="1" dirty="0">
                <a:solidFill>
                  <a:srgbClr val="222222"/>
                </a:solidFill>
                <a:latin typeface="Arial" panose="020B0604020202020204" pitchFamily="34" charset="0"/>
              </a:rPr>
              <a:t>104</a:t>
            </a:r>
            <a:r>
              <a:rPr lang="en-US" sz="2400" dirty="0">
                <a:solidFill>
                  <a:srgbClr val="222222"/>
                </a:solidFill>
                <a:latin typeface="Arial" panose="020B0604020202020204" pitchFamily="34" charset="0"/>
              </a:rPr>
              <a:t>(3), 268.</a:t>
            </a:r>
          </a:p>
          <a:p>
            <a:pPr lvl="1"/>
            <a:endParaRPr lang="en-US" dirty="0"/>
          </a:p>
          <a:p>
            <a:pPr lvl="1"/>
            <a:endParaRPr lang="en-US" dirty="0"/>
          </a:p>
        </p:txBody>
      </p:sp>
    </p:spTree>
    <p:extLst>
      <p:ext uri="{BB962C8B-B14F-4D97-AF65-F5344CB8AC3E}">
        <p14:creationId xmlns:p14="http://schemas.microsoft.com/office/powerpoint/2010/main" val="659523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DC33-78A1-4865-83C2-BF38C9DE1F1D}"/>
              </a:ext>
            </a:extLst>
          </p:cNvPr>
          <p:cNvSpPr>
            <a:spLocks noGrp="1"/>
          </p:cNvSpPr>
          <p:nvPr>
            <p:ph type="title"/>
          </p:nvPr>
        </p:nvSpPr>
        <p:spPr/>
        <p:txBody>
          <a:bodyPr/>
          <a:lstStyle/>
          <a:p>
            <a:r>
              <a:rPr lang="en-US" dirty="0"/>
              <a:t>Theory: “Deep” Encoding</a:t>
            </a:r>
          </a:p>
        </p:txBody>
      </p:sp>
      <p:sp>
        <p:nvSpPr>
          <p:cNvPr id="3" name="Content Placeholder 2">
            <a:extLst>
              <a:ext uri="{FF2B5EF4-FFF2-40B4-BE49-F238E27FC236}">
                <a16:creationId xmlns:a16="http://schemas.microsoft.com/office/drawing/2014/main" id="{F21CE555-A17C-49DC-9B43-DE4B133F59E6}"/>
              </a:ext>
            </a:extLst>
          </p:cNvPr>
          <p:cNvSpPr>
            <a:spLocks noGrp="1"/>
          </p:cNvSpPr>
          <p:nvPr>
            <p:ph idx="1"/>
          </p:nvPr>
        </p:nvSpPr>
        <p:spPr/>
        <p:txBody>
          <a:bodyPr/>
          <a:lstStyle/>
          <a:p>
            <a:r>
              <a:rPr lang="en-US" dirty="0"/>
              <a:t>Hypothesis</a:t>
            </a:r>
          </a:p>
          <a:p>
            <a:pPr lvl="1"/>
            <a:r>
              <a:rPr lang="en-US" dirty="0"/>
              <a:t>What is it?</a:t>
            </a:r>
          </a:p>
          <a:p>
            <a:pPr lvl="1"/>
            <a:r>
              <a:rPr lang="en-US" dirty="0"/>
              <a:t>What isn’t it?</a:t>
            </a:r>
          </a:p>
          <a:p>
            <a:r>
              <a:rPr lang="en-US" dirty="0"/>
              <a:t>Mechanism </a:t>
            </a:r>
          </a:p>
          <a:p>
            <a:pPr lvl="1"/>
            <a:r>
              <a:rPr lang="en-US" dirty="0"/>
              <a:t>Inferred</a:t>
            </a:r>
          </a:p>
          <a:p>
            <a:r>
              <a:rPr lang="en-US" dirty="0"/>
              <a:t>Specific Procedures</a:t>
            </a:r>
          </a:p>
          <a:p>
            <a:pPr lvl="1"/>
            <a:r>
              <a:rPr lang="en-US" dirty="0"/>
              <a:t>Used in studies to test</a:t>
            </a:r>
          </a:p>
          <a:p>
            <a:pPr lvl="1"/>
            <a:r>
              <a:rPr lang="en-US" dirty="0"/>
              <a:t>Combination of testing operational definitions and underlying theory</a:t>
            </a:r>
          </a:p>
          <a:p>
            <a:pPr lvl="1"/>
            <a:r>
              <a:rPr lang="en-US" dirty="0"/>
              <a:t>What if our study hadn’t worked?</a:t>
            </a:r>
          </a:p>
          <a:p>
            <a:endParaRPr lang="en-US" b="1" dirty="0"/>
          </a:p>
        </p:txBody>
      </p:sp>
    </p:spTree>
    <p:extLst>
      <p:ext uri="{BB962C8B-B14F-4D97-AF65-F5344CB8AC3E}">
        <p14:creationId xmlns:p14="http://schemas.microsoft.com/office/powerpoint/2010/main" val="1852085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AE54-AB01-4304-8C7F-B4F517A765E0}"/>
              </a:ext>
            </a:extLst>
          </p:cNvPr>
          <p:cNvSpPr>
            <a:spLocks noGrp="1"/>
          </p:cNvSpPr>
          <p:nvPr>
            <p:ph type="title"/>
          </p:nvPr>
        </p:nvSpPr>
        <p:spPr/>
        <p:txBody>
          <a:bodyPr/>
          <a:lstStyle/>
          <a:p>
            <a:r>
              <a:rPr lang="en-US" dirty="0"/>
              <a:t>Research Context</a:t>
            </a:r>
          </a:p>
        </p:txBody>
      </p:sp>
      <p:sp>
        <p:nvSpPr>
          <p:cNvPr id="3" name="Content Placeholder 2">
            <a:extLst>
              <a:ext uri="{FF2B5EF4-FFF2-40B4-BE49-F238E27FC236}">
                <a16:creationId xmlns:a16="http://schemas.microsoft.com/office/drawing/2014/main" id="{74D2B576-9DBE-422D-B4A0-EB63A5E88C6B}"/>
              </a:ext>
            </a:extLst>
          </p:cNvPr>
          <p:cNvSpPr>
            <a:spLocks noGrp="1"/>
          </p:cNvSpPr>
          <p:nvPr>
            <p:ph idx="1"/>
          </p:nvPr>
        </p:nvSpPr>
        <p:spPr/>
        <p:txBody>
          <a:bodyPr/>
          <a:lstStyle/>
          <a:p>
            <a:r>
              <a:rPr lang="en-US" dirty="0"/>
              <a:t>Building on existing work</a:t>
            </a:r>
          </a:p>
          <a:p>
            <a:pPr lvl="1"/>
            <a:r>
              <a:rPr lang="en-US" dirty="0"/>
              <a:t>Strengthens confidence in conclusions</a:t>
            </a:r>
          </a:p>
          <a:p>
            <a:pPr lvl="1"/>
            <a:r>
              <a:rPr lang="en-US" dirty="0"/>
              <a:t>Very briefly review theory/mechanism</a:t>
            </a:r>
          </a:p>
          <a:p>
            <a:pPr lvl="1"/>
            <a:endParaRPr lang="en-US" dirty="0"/>
          </a:p>
          <a:p>
            <a:r>
              <a:rPr lang="en-US" dirty="0"/>
              <a:t>Adding something new</a:t>
            </a:r>
          </a:p>
          <a:p>
            <a:pPr lvl="1"/>
            <a:r>
              <a:rPr lang="en-US" dirty="0"/>
              <a:t>What is new about our study?</a:t>
            </a:r>
          </a:p>
          <a:p>
            <a:pPr lvl="1"/>
            <a:r>
              <a:rPr lang="en-US" dirty="0"/>
              <a:t>Motivate the current study to add to prior work</a:t>
            </a:r>
          </a:p>
          <a:p>
            <a:pPr lvl="1"/>
            <a:endParaRPr lang="en-US" dirty="0"/>
          </a:p>
          <a:p>
            <a:endParaRPr lang="en-US" dirty="0"/>
          </a:p>
          <a:p>
            <a:endParaRPr lang="en-US" dirty="0"/>
          </a:p>
        </p:txBody>
      </p:sp>
    </p:spTree>
    <p:extLst>
      <p:ext uri="{BB962C8B-B14F-4D97-AF65-F5344CB8AC3E}">
        <p14:creationId xmlns:p14="http://schemas.microsoft.com/office/powerpoint/2010/main" val="3608768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8C430-C521-F269-5711-20F2594355C2}"/>
              </a:ext>
            </a:extLst>
          </p:cNvPr>
          <p:cNvSpPr>
            <a:spLocks noGrp="1"/>
          </p:cNvSpPr>
          <p:nvPr>
            <p:ph type="title"/>
          </p:nvPr>
        </p:nvSpPr>
        <p:spPr/>
        <p:txBody>
          <a:bodyPr/>
          <a:lstStyle/>
          <a:p>
            <a:r>
              <a:rPr lang="en-US" dirty="0"/>
              <a:t>Experiment 1 Methods information</a:t>
            </a:r>
          </a:p>
        </p:txBody>
      </p:sp>
      <p:sp>
        <p:nvSpPr>
          <p:cNvPr id="3" name="Content Placeholder 2">
            <a:extLst>
              <a:ext uri="{FF2B5EF4-FFF2-40B4-BE49-F238E27FC236}">
                <a16:creationId xmlns:a16="http://schemas.microsoft.com/office/drawing/2014/main" id="{13A4C378-1140-4C2B-CE55-92AD5727448E}"/>
              </a:ext>
            </a:extLst>
          </p:cNvPr>
          <p:cNvSpPr>
            <a:spLocks noGrp="1"/>
          </p:cNvSpPr>
          <p:nvPr>
            <p:ph idx="1"/>
          </p:nvPr>
        </p:nvSpPr>
        <p:spPr/>
        <p:txBody>
          <a:bodyPr>
            <a:normAutofit fontScale="77500" lnSpcReduction="20000"/>
          </a:bodyPr>
          <a:lstStyle/>
          <a:p>
            <a:r>
              <a:rPr lang="en-US" dirty="0"/>
              <a:t>Participants</a:t>
            </a:r>
          </a:p>
          <a:p>
            <a:pPr lvl="1"/>
            <a:r>
              <a:rPr lang="en-US" dirty="0"/>
              <a:t>38 students from Research Methods classes</a:t>
            </a:r>
          </a:p>
          <a:p>
            <a:endParaRPr lang="en-US" dirty="0"/>
          </a:p>
          <a:p>
            <a:r>
              <a:rPr lang="en-US" dirty="0"/>
              <a:t>Materials</a:t>
            </a:r>
          </a:p>
          <a:p>
            <a:pPr lvl="1"/>
            <a:r>
              <a:rPr lang="en-US" sz="2800" dirty="0"/>
              <a:t>A set of 60 words was used for the study and test stimuli.  Words were selected to have a written frequency of 30-80 per million and to be 5-8 letters in length.</a:t>
            </a:r>
          </a:p>
          <a:p>
            <a:pPr lvl="1"/>
            <a:endParaRPr lang="en-US" dirty="0"/>
          </a:p>
          <a:p>
            <a:r>
              <a:rPr lang="en-US" dirty="0"/>
              <a:t>Procedure</a:t>
            </a:r>
          </a:p>
          <a:p>
            <a:pPr lvl="1"/>
            <a:r>
              <a:rPr lang="en-US" dirty="0"/>
              <a:t>4s time per word to rate (automatic advance)</a:t>
            </a:r>
          </a:p>
          <a:p>
            <a:pPr lvl="2"/>
            <a:r>
              <a:rPr lang="en-US" dirty="0"/>
              <a:t>“For each word, rate how much you like the word on a 1 to 5 scale. 5 means you like the word very much and 1 means you dislike the word very much. Indicate your rating with keyboard or mouse.”</a:t>
            </a:r>
          </a:p>
          <a:p>
            <a:pPr lvl="2"/>
            <a:r>
              <a:rPr lang="en-US" dirty="0"/>
              <a:t>“For each word, count the number of vowels in each word. Enter the number with keyboard or mouse"</a:t>
            </a:r>
          </a:p>
          <a:p>
            <a:pPr lvl="1"/>
            <a:r>
              <a:rPr lang="en-US" dirty="0"/>
              <a:t>3m delay period completing trivia questions</a:t>
            </a:r>
          </a:p>
          <a:p>
            <a:pPr lvl="1"/>
            <a:r>
              <a:rPr lang="en-US" dirty="0"/>
              <a:t>60 item post-test, 30 old, 30 new</a:t>
            </a:r>
          </a:p>
          <a:p>
            <a:endParaRPr lang="en-US" dirty="0"/>
          </a:p>
        </p:txBody>
      </p:sp>
    </p:spTree>
    <p:extLst>
      <p:ext uri="{BB962C8B-B14F-4D97-AF65-F5344CB8AC3E}">
        <p14:creationId xmlns:p14="http://schemas.microsoft.com/office/powerpoint/2010/main" val="1879103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39C2-8D3D-4CEF-A0F5-3DF29842C55E}"/>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69FD84FA-E4AA-4AE3-8E94-BB6DE2F672CA}"/>
              </a:ext>
            </a:extLst>
          </p:cNvPr>
          <p:cNvSpPr>
            <a:spLocks noGrp="1"/>
          </p:cNvSpPr>
          <p:nvPr>
            <p:ph idx="1"/>
          </p:nvPr>
        </p:nvSpPr>
        <p:spPr/>
        <p:txBody>
          <a:bodyPr/>
          <a:lstStyle/>
          <a:p>
            <a:r>
              <a:rPr lang="en-US" dirty="0"/>
              <a:t>Include all of:</a:t>
            </a:r>
          </a:p>
          <a:p>
            <a:pPr lvl="1"/>
            <a:r>
              <a:rPr lang="en-US" dirty="0"/>
              <a:t>Descriptive statistics: mean, SD, SE</a:t>
            </a:r>
          </a:p>
          <a:p>
            <a:pPr lvl="1"/>
            <a:r>
              <a:rPr lang="en-US" dirty="0"/>
              <a:t>Inferential statistics: t-test in APA format</a:t>
            </a:r>
          </a:p>
          <a:p>
            <a:pPr lvl="1"/>
            <a:r>
              <a:rPr lang="en-US" dirty="0"/>
              <a:t>Figure &amp; caption</a:t>
            </a:r>
          </a:p>
          <a:p>
            <a:pPr lvl="1"/>
            <a:endParaRPr lang="en-US" dirty="0"/>
          </a:p>
          <a:p>
            <a:r>
              <a:rPr lang="en-US" dirty="0"/>
              <a:t>As discussed in class, will be very compact</a:t>
            </a:r>
          </a:p>
        </p:txBody>
      </p:sp>
    </p:spTree>
    <p:extLst>
      <p:ext uri="{BB962C8B-B14F-4D97-AF65-F5344CB8AC3E}">
        <p14:creationId xmlns:p14="http://schemas.microsoft.com/office/powerpoint/2010/main" val="1320290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E510-5E66-C60F-A70A-DE89CF02FBD9}"/>
              </a:ext>
            </a:extLst>
          </p:cNvPr>
          <p:cNvSpPr>
            <a:spLocks noGrp="1"/>
          </p:cNvSpPr>
          <p:nvPr>
            <p:ph type="title"/>
          </p:nvPr>
        </p:nvSpPr>
        <p:spPr/>
        <p:txBody>
          <a:bodyPr/>
          <a:lstStyle/>
          <a:p>
            <a:r>
              <a:rPr lang="en-US" dirty="0"/>
              <a:t>First writeup</a:t>
            </a:r>
          </a:p>
        </p:txBody>
      </p:sp>
      <p:sp>
        <p:nvSpPr>
          <p:cNvPr id="3" name="Content Placeholder 2">
            <a:extLst>
              <a:ext uri="{FF2B5EF4-FFF2-40B4-BE49-F238E27FC236}">
                <a16:creationId xmlns:a16="http://schemas.microsoft.com/office/drawing/2014/main" id="{C083FC1E-CB4A-4CE9-74C8-0371F595854A}"/>
              </a:ext>
            </a:extLst>
          </p:cNvPr>
          <p:cNvSpPr>
            <a:spLocks noGrp="1"/>
          </p:cNvSpPr>
          <p:nvPr>
            <p:ph idx="1"/>
          </p:nvPr>
        </p:nvSpPr>
        <p:spPr/>
        <p:txBody>
          <a:bodyPr/>
          <a:lstStyle/>
          <a:p>
            <a:r>
              <a:rPr lang="en-US" dirty="0"/>
              <a:t>Include title page, abstract</a:t>
            </a:r>
          </a:p>
          <a:p>
            <a:r>
              <a:rPr lang="en-US" dirty="0"/>
              <a:t>Introduction: 1-2 paragraphs citing prior work, noting what is new about this study</a:t>
            </a:r>
          </a:p>
          <a:p>
            <a:r>
              <a:rPr lang="en-US" dirty="0"/>
              <a:t>Methods: full detail</a:t>
            </a:r>
          </a:p>
          <a:p>
            <a:r>
              <a:rPr lang="en-US" dirty="0"/>
              <a:t>Results: full detail including Figure and caption</a:t>
            </a:r>
          </a:p>
          <a:p>
            <a:r>
              <a:rPr lang="en-US" dirty="0"/>
              <a:t>Discussion: 1-2 paragraphs summarizing conclusion, note limitations</a:t>
            </a:r>
          </a:p>
          <a:p>
            <a:pPr lvl="1"/>
            <a:r>
              <a:rPr lang="en-US" dirty="0"/>
              <a:t>Finish on strong positive statement!</a:t>
            </a:r>
          </a:p>
          <a:p>
            <a:r>
              <a:rPr lang="en-US" dirty="0"/>
              <a:t>References: </a:t>
            </a:r>
          </a:p>
        </p:txBody>
      </p:sp>
    </p:spTree>
    <p:extLst>
      <p:ext uri="{BB962C8B-B14F-4D97-AF65-F5344CB8AC3E}">
        <p14:creationId xmlns:p14="http://schemas.microsoft.com/office/powerpoint/2010/main" val="10674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4340</TotalTime>
  <Words>1513</Words>
  <Application>Microsoft Office PowerPoint</Application>
  <PresentationFormat>Widescreen</PresentationFormat>
  <Paragraphs>204</Paragraphs>
  <Slides>31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Lato</vt:lpstr>
      <vt:lpstr>Lato Extended</vt:lpstr>
      <vt:lpstr>Times New Roman</vt:lpstr>
      <vt:lpstr>Office Theme</vt:lpstr>
      <vt:lpstr>205 Oct 9, Class 7</vt:lpstr>
      <vt:lpstr>PowerPoint Presentation</vt:lpstr>
      <vt:lpstr>PowerPoint Presentation</vt:lpstr>
      <vt:lpstr>Operational definitions</vt:lpstr>
      <vt:lpstr>Experiment 1</vt:lpstr>
      <vt:lpstr>Experiment 2</vt:lpstr>
      <vt:lpstr>PowerPoint Presentation</vt:lpstr>
      <vt:lpstr>PowerPoint Presentation</vt:lpstr>
      <vt:lpstr>Gino &amp; Wiltermuth (2014)</vt:lpstr>
      <vt:lpstr>Exp 3 Results</vt:lpstr>
      <vt:lpstr>Conclusions</vt:lpstr>
      <vt:lpstr>PowerPoint Presentation</vt:lpstr>
      <vt:lpstr>PowerPoint Presentation</vt:lpstr>
      <vt:lpstr>PowerPoint Presentation</vt:lpstr>
      <vt:lpstr>Smiling</vt:lpstr>
      <vt:lpstr>Smiling</vt:lpstr>
      <vt:lpstr>Within-participants design</vt:lpstr>
      <vt:lpstr>Within-participant design concerns</vt:lpstr>
      <vt:lpstr>Questions</vt:lpstr>
      <vt:lpstr>For Fri Oct 9</vt:lpstr>
      <vt:lpstr>APA Report Sections</vt:lpstr>
      <vt:lpstr>APA Format: Methods</vt:lpstr>
      <vt:lpstr>APA Format: Results</vt:lpstr>
      <vt:lpstr>APA Format: Discussion</vt:lpstr>
      <vt:lpstr>APA Writing with Style</vt:lpstr>
      <vt:lpstr>Background literature</vt:lpstr>
      <vt:lpstr>Theory: “Deep” Encoding</vt:lpstr>
      <vt:lpstr>Research Context</vt:lpstr>
      <vt:lpstr>Experiment 1 Methods information</vt:lpstr>
      <vt:lpstr>Results</vt:lpstr>
      <vt:lpstr>First writeup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7, Class 8</dc:title>
  <dc:creator>Paul Reber</dc:creator>
  <cp:lastModifiedBy>Paul J Reber</cp:lastModifiedBy>
  <cp:revision>19</cp:revision>
  <cp:lastPrinted>2024-01-19T02:07:29Z</cp:lastPrinted>
  <dcterms:created xsi:type="dcterms:W3CDTF">2022-10-06T20:09:56Z</dcterms:created>
  <dcterms:modified xsi:type="dcterms:W3CDTF">2024-10-09T18:56:03Z</dcterms:modified>
</cp:coreProperties>
</file>