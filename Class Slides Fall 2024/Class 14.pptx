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337" r:id="rId3"/>
    <p:sldId id="338" r:id="rId4"/>
    <p:sldId id="339" r:id="rId5"/>
    <p:sldId id="340" r:id="rId6"/>
    <p:sldId id="341" r:id="rId7"/>
    <p:sldId id="342" r:id="rId8"/>
    <p:sldId id="265" r:id="rId9"/>
    <p:sldId id="335" r:id="rId10"/>
    <p:sldId id="334" r:id="rId11"/>
    <p:sldId id="343" r:id="rId12"/>
    <p:sldId id="344" r:id="rId13"/>
    <p:sldId id="336" r:id="rId14"/>
    <p:sldId id="264" r:id="rId15"/>
    <p:sldId id="266" r:id="rId16"/>
    <p:sldId id="269" r:id="rId17"/>
    <p:sldId id="261" r:id="rId18"/>
    <p:sldId id="258" r:id="rId19"/>
    <p:sldId id="326" r:id="rId20"/>
    <p:sldId id="327" r:id="rId21"/>
    <p:sldId id="328" r:id="rId22"/>
    <p:sldId id="329" r:id="rId23"/>
    <p:sldId id="331" r:id="rId24"/>
    <p:sldId id="257" r:id="rId25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8D1EE6-C5F8-4384-9F83-302F090B398B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871B-241D-4C1C-ABB5-227DA7CEE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06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65545" indent="-29444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77762" indent="-2355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48867" indent="-2355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119972" indent="-235552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91076" indent="-2355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3062181" indent="-2355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533285" indent="-2355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4004390" indent="-235552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8C6454AF-A3F4-4654-85C8-8D53AD94A576}" type="slidenum">
              <a:rPr lang="en-US" smtClean="0"/>
              <a:pPr eaLnBrk="1" hangingPunct="1"/>
              <a:t>17</a:t>
            </a:fld>
            <a:endParaRPr lang="en-US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BF190-A0A4-C928-2759-69C776260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7B82FB-D28C-FCE9-1AC2-A50A11981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AF602-B1C6-6BC0-6DBC-0916E0CB7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02000-2437-4124-A50E-6426CFF0B9D2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C78E3-594D-B2B0-05F8-C715AD409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6A9BC2-3AC8-02A4-F3E4-442E8A8D2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3D898-074C-4FFE-B4AB-124964C0E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11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95D78-789D-57F6-592C-EE11F095D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60B31-9C83-829D-9475-C928389AF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7E6E0-75DB-C1A6-C69F-D3429ABE8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02000-2437-4124-A50E-6426CFF0B9D2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F7C84-A512-E5CA-CD42-54451E913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AD3E8-5DDE-D2F3-28E6-5B9B20708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3D898-074C-4FFE-B4AB-124964C0E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766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5C8D5-1EBF-943E-7523-2E144E2FE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FC4BC-1425-12AE-2DE7-BDFC0BC91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C143D-35A1-EAC6-7752-A0B9B811D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02000-2437-4124-A50E-6426CFF0B9D2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2507E-BBDA-B2DA-3045-4553DEF6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3944B-514A-24A4-9957-11998BC1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3D898-074C-4FFE-B4AB-124964C0E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790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40333-9DF0-9F70-AAC5-AFDB745CB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FDE09-9B03-3517-F48C-D773D2DD0B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15C70-486B-6951-BC4E-84469A869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86F893-B7B1-F1D8-788D-51866F5A6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02000-2437-4124-A50E-6426CFF0B9D2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612CD-A81B-E7EB-88BE-1CD24B806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2BF68-B3CB-FB88-5B6E-1912287F4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3D898-074C-4FFE-B4AB-124964C0E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482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0B0D9-A1D4-E67F-FCB9-ADB24E870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12C25-21D4-0A87-EEE5-F0F933CA7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7BBD6-3840-5B7A-7FD7-6F037A9E39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800DDB-1023-6ACC-8AFA-8CAEE962A2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BAE9A8-98E5-5ED3-8F65-DE21BB849C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D3B17C-35AB-73F9-EF51-FBC6CBC9B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02000-2437-4124-A50E-6426CFF0B9D2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08CE5-7AFF-5442-5910-683AB4F2B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0B8807-9E35-E76A-3BA0-B22B7F080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3D898-074C-4FFE-B4AB-124964C0E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898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8A9C4-0B10-EB03-6747-3E47A286E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94FD5F-C2F6-E191-23DA-85168221E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02000-2437-4124-A50E-6426CFF0B9D2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2E5044-68F6-93AC-D316-6E3467C74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3E9740-D3C4-258D-051D-B553BC4B7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3D898-074C-4FFE-B4AB-124964C0E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496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34C075-173D-CCDE-4B47-273E2278F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02000-2437-4124-A50E-6426CFF0B9D2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36660F-E4C5-8D05-157C-B05F6AC23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ECFB5-3BC3-7CD9-AC73-CFB635591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3D898-074C-4FFE-B4AB-124964C0E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909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D9383-CDF7-2DB0-818F-AC4D19C53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19427-8379-C474-07F5-309D652A8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01D88A-D115-2B06-34BA-C1343BFB42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01DD2-2D9D-33FB-088E-10EC2E3F7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02000-2437-4124-A50E-6426CFF0B9D2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681137-A9BD-B429-4E09-39FAA5C7C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F165C5-262B-0AA9-307A-0CBEB6775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3D898-074C-4FFE-B4AB-124964C0E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951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029D7-00F5-9B1A-AC93-F4BD71D8D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368E00-A309-43FA-212E-35E99489A9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A68636-8DB0-DD78-993E-4A18B69742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544BA-B30C-08E1-D4F1-8DEFBBE6C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02000-2437-4124-A50E-6426CFF0B9D2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B2C67F-C458-6300-DFAC-36BA9832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DA07F7-365E-4891-727A-E5C2A685A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3D898-074C-4FFE-B4AB-124964C0E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151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3AB65-9311-5458-578B-C1D49FBA9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C6756F-1308-617C-A5C0-984A8AD64B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3862E-954D-4DD0-11FF-728721038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02000-2437-4124-A50E-6426CFF0B9D2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BF523-9AAE-7041-5FC9-A02180A29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4FF77-7CD3-7BDF-7077-5071911DA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3D898-074C-4FFE-B4AB-124964C0E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191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7A4F03-FC43-18C0-1F86-A645E5B7C5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F3831B-89DC-58FC-727D-6AAD9497B9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F6596-85F7-5A4D-2ABF-2C9629422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02000-2437-4124-A50E-6426CFF0B9D2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67D60-6744-2569-42E9-E3053FF8E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CA74E-CB6C-A67B-1A59-73CBEFC0D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3D898-074C-4FFE-B4AB-124964C0E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5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9EF9E8-0976-8746-500A-3A9EDC301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62C19-532B-D5C7-D90B-CEF68EF70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B42F6-67F4-F05C-D2D0-A9CBE7C06F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02000-2437-4124-A50E-6426CFF0B9D2}" type="datetimeFigureOut">
              <a:rPr lang="en-US" smtClean="0"/>
              <a:t>11/5/2024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527B3-4FCB-5C0A-11DB-02425EEA4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CCF8E-8834-7990-8EF3-71B8F0FCB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3D898-074C-4FFE-B4AB-124964C0E7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4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485331-D61B-0689-C51E-A84CAF4ED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205 Oct 28, Class 14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41832B-55CE-80F0-D10A-D4CECC72A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Experiment 2 additional background</a:t>
            </a:r>
          </a:p>
          <a:p>
            <a:pPr lvl="1"/>
            <a:r>
              <a:rPr lang="en-US" dirty="0"/>
              <a:t>Baddeley &amp; Hitch (2017)</a:t>
            </a:r>
          </a:p>
          <a:p>
            <a:pPr lvl="1"/>
            <a:r>
              <a:rPr lang="en-US" dirty="0"/>
              <a:t>Ovalle-</a:t>
            </a:r>
            <a:r>
              <a:rPr lang="en-US" dirty="0" err="1"/>
              <a:t>Fresa</a:t>
            </a:r>
            <a:r>
              <a:rPr lang="en-US" dirty="0"/>
              <a:t>, Uslu &amp; </a:t>
            </a:r>
            <a:r>
              <a:rPr lang="en-US" dirty="0" err="1"/>
              <a:t>Rothen</a:t>
            </a:r>
            <a:r>
              <a:rPr lang="en-US" dirty="0"/>
              <a:t> (2021)</a:t>
            </a:r>
          </a:p>
          <a:p>
            <a:pPr lvl="1"/>
            <a:r>
              <a:rPr lang="en-US" dirty="0"/>
              <a:t>Modern rigor practices</a:t>
            </a:r>
          </a:p>
          <a:p>
            <a:endParaRPr lang="en-US" dirty="0"/>
          </a:p>
          <a:p>
            <a:r>
              <a:rPr lang="en-US" dirty="0"/>
              <a:t>APA format and Scientific writing</a:t>
            </a:r>
          </a:p>
          <a:p>
            <a:pPr lvl="1"/>
            <a:r>
              <a:rPr lang="en-US" dirty="0"/>
              <a:t>Introduction: framing the question</a:t>
            </a:r>
          </a:p>
          <a:p>
            <a:pPr lvl="1"/>
            <a:r>
              <a:rPr lang="en-US" dirty="0"/>
              <a:t>Discussion: drawing inferences</a:t>
            </a:r>
          </a:p>
        </p:txBody>
      </p:sp>
    </p:spTree>
    <p:extLst>
      <p:ext uri="{BB962C8B-B14F-4D97-AF65-F5344CB8AC3E}">
        <p14:creationId xmlns:p14="http://schemas.microsoft.com/office/powerpoint/2010/main" val="4084780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13D64-3003-D86A-77B6-33439D83B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EBF16-9F21-440A-3E87-1E66D2579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3C2C26-A921-02A4-6D7F-840BC48AA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562" y="596285"/>
            <a:ext cx="6175303" cy="478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137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643F-20E7-0D98-0BEE-6AD83B355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7182A-D177-0AE7-5CC2-6DDF049CC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F7A995-F986-453E-8E44-1F41F3A0F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350" y="681037"/>
            <a:ext cx="4467225" cy="31718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96B076-D1D0-DDEE-4DB5-D07BB3BAD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02379"/>
            <a:ext cx="4410075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605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C19B3-8A06-CCDD-CD22-A4625B49F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C31E8-A4F4-7F44-5336-8ECE62710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BAA4DC-3240-6A77-B626-C9959F8FF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712" y="976312"/>
            <a:ext cx="7648575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080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C0461-7BC3-B21C-7924-D6152C066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4943A-7AE9-3638-5705-F7BC3F586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28E513-CCFA-7054-B82F-CB83640FF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622" y="365125"/>
            <a:ext cx="10417178" cy="5889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801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ABDA7-BCBD-3A08-2AA7-06CD2DE71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6C8AA-FAC1-5027-5A6A-17D0540A8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54AD1F-AFE7-D5CF-6CB6-81E524BBC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921" y="365125"/>
            <a:ext cx="3542339" cy="2743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F1DD17B-8C4A-00B7-D77C-E73710388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309" y="365125"/>
            <a:ext cx="3634154" cy="274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FA6D72-B485-EA00-45FB-131F12A85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5644" y="3518029"/>
            <a:ext cx="3602892" cy="2743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EE7890-1C63-171B-05A8-8F44E84933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4801" y="3518029"/>
            <a:ext cx="355317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134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38A0A-C4D6-080E-8D04-84997633D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7A0EF-3B8A-6EFE-EBC4-4B828AAC5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2824" y="1825625"/>
            <a:ext cx="3990975" cy="4351338"/>
          </a:xfrm>
        </p:spPr>
        <p:txBody>
          <a:bodyPr/>
          <a:lstStyle/>
          <a:p>
            <a:r>
              <a:rPr lang="en-US" dirty="0"/>
              <a:t>Using effect size estimates to view data across different studies</a:t>
            </a:r>
          </a:p>
          <a:p>
            <a:pPr lvl="1"/>
            <a:r>
              <a:rPr lang="en-US" dirty="0"/>
              <a:t>Meta-analysis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Cohen’s d effect sizes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AA68A-A8E9-C5A5-882C-2A88F1ED4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61988"/>
            <a:ext cx="6524625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822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FF04F-91AF-0D78-9297-AA47EBA6C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size statistics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86860C-EE0E-CD14-8E5B-A75D7B510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Cohen’s 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7C4AAD-7D5E-A311-D41E-D22F5745B9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Difference in means divided by the standard deviation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637778-0BE7-8AE9-F224-A501B406B8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Generalized Eta-squared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EE0D2AA-83EC-61B0-AFAB-876321B476FF}"/>
              </a:ext>
            </a:extLst>
          </p:cNvPr>
          <p:cNvGraphicFramePr>
            <a:graphicFrameLocks noGrp="1"/>
          </p:cNvGraphicFramePr>
          <p:nvPr/>
        </p:nvGraphicFramePr>
        <p:xfrm>
          <a:off x="1826185" y="4166798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47452664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5867724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95379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Effect Magnitude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Cohen’s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Generalized eta-squared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12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001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627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126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Very 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347829"/>
                  </a:ext>
                </a:extLst>
              </a:tr>
            </a:tbl>
          </a:graphicData>
        </a:graphic>
      </p:graphicFrame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3D61ED01-0B2A-5491-2E37-5D3BA42F21C3}"/>
              </a:ext>
            </a:extLst>
          </p:cNvPr>
          <p:cNvSpPr txBox="1">
            <a:spLocks/>
          </p:cNvSpPr>
          <p:nvPr/>
        </p:nvSpPr>
        <p:spPr>
          <a:xfrm>
            <a:off x="6096000" y="2505075"/>
            <a:ext cx="5157787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Estimated proportion of variance due to each factor and interaction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213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4991E-9DA0-E0BC-B6FA-EB0757807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73906-2152-7ED6-0B8E-4E3EE9B08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C18970-0DBB-0076-AE9B-391117CDB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387" y="278528"/>
            <a:ext cx="7515225" cy="614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180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0C6F6-E7DB-0A69-1BEE-0A258AA22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LOP with visual objects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AD358-9153-C41E-A72C-C7494810C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Deep: yes/no pleasant</a:t>
            </a:r>
          </a:p>
          <a:p>
            <a:r>
              <a:rPr lang="en-US" dirty="0"/>
              <a:t>Shallow: yes/no contains straight line</a:t>
            </a:r>
          </a:p>
          <a:p>
            <a:endParaRPr lang="en-US" dirty="0"/>
          </a:p>
          <a:p>
            <a:r>
              <a:rPr lang="en-US" dirty="0"/>
              <a:t>Exp1: Instructed to try to memorize</a:t>
            </a:r>
            <a:br>
              <a:rPr lang="en-US" dirty="0"/>
            </a:br>
            <a:r>
              <a:rPr lang="en-US" dirty="0"/>
              <a:t>object-color pairings</a:t>
            </a:r>
          </a:p>
          <a:p>
            <a:endParaRPr lang="en-US" dirty="0"/>
          </a:p>
          <a:p>
            <a:r>
              <a:rPr lang="en-US" dirty="0"/>
              <a:t>Exp2: Abstract images and color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21F6F3-86F9-2D8E-F909-C4A5D9E66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075" y="857794"/>
            <a:ext cx="4276725" cy="2733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8967F7-654A-A963-4AF7-9D2995751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725" y="3759200"/>
            <a:ext cx="4029075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680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A4FFA-1D4B-D020-48C6-44E97DCDC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Recognition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522DC-0E00-ED06-ABFE-26AAB40AE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Four choices</a:t>
            </a:r>
          </a:p>
          <a:p>
            <a:r>
              <a:rPr lang="en-US" dirty="0"/>
              <a:t>Studied object and 3 “lures”</a:t>
            </a:r>
          </a:p>
          <a:p>
            <a:pPr lvl="1"/>
            <a:r>
              <a:rPr lang="en-US" dirty="0"/>
              <a:t>Same color or</a:t>
            </a:r>
          </a:p>
          <a:p>
            <a:pPr lvl="1"/>
            <a:r>
              <a:rPr lang="en-US" dirty="0"/>
              <a:t>Same shape</a:t>
            </a:r>
          </a:p>
          <a:p>
            <a:pPr lvl="1"/>
            <a:endParaRPr lang="en-US" dirty="0"/>
          </a:p>
          <a:p>
            <a:r>
              <a:rPr lang="en-US" dirty="0"/>
              <a:t>2x3 within-participant design</a:t>
            </a:r>
          </a:p>
          <a:p>
            <a:pPr lvl="1"/>
            <a:r>
              <a:rPr lang="en-US" dirty="0"/>
              <a:t>Everybody does both kinds of study</a:t>
            </a:r>
          </a:p>
          <a:p>
            <a:pPr lvl="1"/>
            <a:r>
              <a:rPr lang="en-US" dirty="0"/>
              <a:t>All three tests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FE749E-5C7D-F05E-592D-9D21C16E7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154" y="1025328"/>
            <a:ext cx="4528646" cy="52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469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D93DF-1B39-B629-4CBB-FE93A8AD5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69CB9-5AE0-B325-809C-4DF6E7076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Violin plots</a:t>
            </a:r>
          </a:p>
          <a:p>
            <a:pPr lvl="1"/>
            <a:r>
              <a:rPr lang="en-US" dirty="0"/>
              <a:t>Distribution of data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Deep &gt; Shallow</a:t>
            </a:r>
            <a:br>
              <a:rPr lang="en-US" dirty="0"/>
            </a:br>
            <a:r>
              <a:rPr lang="en-US" dirty="0"/>
              <a:t>in both studies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775502-C63C-6748-2FEA-0EE79F201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693" y="752321"/>
            <a:ext cx="7134225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884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96B95-CD4E-0E17-AA64-A3CFFBC01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Modern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410B8-75B2-FA51-D906-CB4368DA0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634169-25A6-2E35-7055-83A688298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85" y="1817636"/>
            <a:ext cx="3629025" cy="4124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FE53FD-54D5-43C7-FB34-EBF44AFED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4546" y="1000125"/>
            <a:ext cx="3667125" cy="1381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5A04E1-649F-2D62-A4D9-DB63C37C3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3596" y="2397074"/>
            <a:ext cx="3648075" cy="37242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5BEE6C-A5E0-DEAC-0272-ECB1FD9FBD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329" y="1825625"/>
            <a:ext cx="3667125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194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F238D-5906-A686-E36B-A0F108911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Reproducibility of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32C48-8821-AC4D-6497-CB5ABA908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Concern: some well-known psychological science studies were found to “not replicate”</a:t>
            </a:r>
          </a:p>
          <a:p>
            <a:r>
              <a:rPr lang="en-US" dirty="0"/>
              <a:t>Good consequences: more attention is being paid to statistical inference</a:t>
            </a:r>
          </a:p>
          <a:p>
            <a:pPr lvl="1"/>
            <a:r>
              <a:rPr lang="en-US" dirty="0"/>
              <a:t>Reduce focus on p-value, more on effect size and inference</a:t>
            </a:r>
          </a:p>
          <a:p>
            <a:pPr lvl="1"/>
            <a:r>
              <a:rPr lang="en-US" dirty="0"/>
              <a:t>Replicating findings helps extend theory</a:t>
            </a:r>
          </a:p>
          <a:p>
            <a:r>
              <a:rPr lang="en-US" dirty="0"/>
              <a:t>Bad consequences: increased distrust of science</a:t>
            </a:r>
          </a:p>
          <a:p>
            <a:pPr lvl="1"/>
            <a:r>
              <a:rPr lang="en-US" dirty="0"/>
              <a:t>Some ways to increase rigor will lead to less overall science</a:t>
            </a:r>
          </a:p>
          <a:p>
            <a:pPr lvl="1"/>
            <a:r>
              <a:rPr lang="en-US" dirty="0"/>
              <a:t>Exposing gaps in statistical understanding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9366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E6036-FC76-2F68-852B-300B8A920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1D165-038B-D5FB-1296-6DB9F906B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many participants do I need for my experiment to work?</a:t>
            </a:r>
          </a:p>
          <a:p>
            <a:pPr lvl="1"/>
            <a:r>
              <a:rPr lang="en-US" dirty="0"/>
              <a:t>Practical/convenience sampling: how many do you have?</a:t>
            </a:r>
          </a:p>
          <a:p>
            <a:pPr lvl="1"/>
            <a:r>
              <a:rPr lang="en-US" dirty="0"/>
              <a:t>RCT: precisely estimated samples in advance</a:t>
            </a:r>
          </a:p>
          <a:p>
            <a:pPr lvl="1"/>
            <a:endParaRPr lang="en-US" dirty="0"/>
          </a:p>
          <a:p>
            <a:r>
              <a:rPr lang="en-US" dirty="0"/>
              <a:t>Probability of a statistically reliable result</a:t>
            </a:r>
          </a:p>
          <a:p>
            <a:pPr lvl="1"/>
            <a:r>
              <a:rPr lang="en-US" dirty="0"/>
              <a:t>P = f(effect size, n)</a:t>
            </a:r>
          </a:p>
          <a:p>
            <a:pPr lvl="1"/>
            <a:endParaRPr lang="en-US" dirty="0"/>
          </a:p>
          <a:p>
            <a:r>
              <a:rPr lang="en-US" dirty="0"/>
              <a:t>Common targets</a:t>
            </a:r>
          </a:p>
          <a:p>
            <a:pPr lvl="1"/>
            <a:r>
              <a:rPr lang="en-US" dirty="0"/>
              <a:t>80% power = 80% probability of seeing p&lt;.05 assuming the IV has an effect</a:t>
            </a:r>
          </a:p>
          <a:p>
            <a:pPr lvl="1"/>
            <a:r>
              <a:rPr lang="en-US" dirty="0"/>
              <a:t>Note that 20% of true findings still do not “replicate”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406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31BB-7DF4-5301-047E-482018206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040E0-A882-B47E-3630-39B04C9CB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all data publicly available</a:t>
            </a:r>
          </a:p>
          <a:p>
            <a:pPr lvl="1"/>
            <a:r>
              <a:rPr lang="en-US" dirty="0"/>
              <a:t>De-identified</a:t>
            </a:r>
          </a:p>
          <a:p>
            <a:pPr lvl="1"/>
            <a:r>
              <a:rPr lang="en-US" dirty="0"/>
              <a:t>Ideally pre-analysis, pre-exclusion</a:t>
            </a:r>
          </a:p>
          <a:p>
            <a:r>
              <a:rPr lang="en-US" dirty="0"/>
              <a:t>Make detailed methods available</a:t>
            </a:r>
          </a:p>
          <a:p>
            <a:pPr lvl="1"/>
            <a:r>
              <a:rPr lang="en-US" dirty="0"/>
              <a:t>Supplemental Materials</a:t>
            </a:r>
          </a:p>
          <a:p>
            <a:pPr lvl="1"/>
            <a:r>
              <a:rPr lang="en-US" dirty="0"/>
              <a:t>Analysis scripts</a:t>
            </a:r>
          </a:p>
          <a:p>
            <a:r>
              <a:rPr lang="en-US" dirty="0"/>
              <a:t>Experiment pre-registration</a:t>
            </a:r>
          </a:p>
          <a:p>
            <a:pPr lvl="1"/>
            <a:r>
              <a:rPr lang="en-US" dirty="0"/>
              <a:t>Semi-publicly post experiment design details before starting</a:t>
            </a:r>
          </a:p>
          <a:p>
            <a:pPr lvl="1"/>
            <a:r>
              <a:rPr lang="en-US" dirty="0"/>
              <a:t>Requires effect size estimate, detailed analysis plan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6953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APA Report Sections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dirty="0"/>
              <a:t>Abstract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Very concise summary, ~200 words</a:t>
            </a:r>
          </a:p>
          <a:p>
            <a:pPr eaLnBrk="1" hangingPunct="1">
              <a:lnSpc>
                <a:spcPct val="80000"/>
              </a:lnSpc>
            </a:pPr>
            <a:r>
              <a:rPr lang="en-US" dirty="0"/>
              <a:t>Introduction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Construct, background, hypothesis</a:t>
            </a:r>
          </a:p>
          <a:p>
            <a:pPr eaLnBrk="1" hangingPunct="1">
              <a:lnSpc>
                <a:spcPct val="80000"/>
              </a:lnSpc>
            </a:pPr>
            <a:r>
              <a:rPr lang="en-US" dirty="0"/>
              <a:t>Methods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Participants, materials, procedure</a:t>
            </a:r>
          </a:p>
          <a:p>
            <a:pPr eaLnBrk="1" hangingPunct="1">
              <a:lnSpc>
                <a:spcPct val="80000"/>
              </a:lnSpc>
            </a:pPr>
            <a:r>
              <a:rPr lang="en-US" dirty="0"/>
              <a:t>Results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Figure</a:t>
            </a:r>
          </a:p>
          <a:p>
            <a:pPr eaLnBrk="1" hangingPunct="1">
              <a:lnSpc>
                <a:spcPct val="80000"/>
              </a:lnSpc>
            </a:pPr>
            <a:r>
              <a:rPr lang="en-US" dirty="0"/>
              <a:t>Discussion</a:t>
            </a:r>
          </a:p>
          <a:p>
            <a:pPr lvl="1" eaLnBrk="1" hangingPunct="1">
              <a:lnSpc>
                <a:spcPct val="80000"/>
              </a:lnSpc>
            </a:pPr>
            <a:r>
              <a:rPr lang="en-US" dirty="0"/>
              <a:t>Conclusion, interpretation, limitations</a:t>
            </a:r>
          </a:p>
          <a:p>
            <a:pPr eaLnBrk="1" hangingPunct="1">
              <a:lnSpc>
                <a:spcPct val="80000"/>
              </a:lnSpc>
            </a:pPr>
            <a:r>
              <a:rPr lang="en-US" dirty="0"/>
              <a:t>References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12001-3D27-43D1-4747-AEBEFEC86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Multi-experiment papers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5BE94-62DA-3D1D-D72B-4118AA4B0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Abstract</a:t>
            </a:r>
          </a:p>
          <a:p>
            <a:r>
              <a:rPr lang="en-US" dirty="0"/>
              <a:t>Introduction</a:t>
            </a:r>
          </a:p>
          <a:p>
            <a:r>
              <a:rPr lang="en-US" dirty="0"/>
              <a:t>Experiment 1</a:t>
            </a:r>
          </a:p>
          <a:p>
            <a:pPr lvl="1"/>
            <a:r>
              <a:rPr lang="en-US" dirty="0"/>
              <a:t>Method</a:t>
            </a:r>
          </a:p>
          <a:p>
            <a:pPr lvl="1"/>
            <a:r>
              <a:rPr lang="en-US" dirty="0"/>
              <a:t>Results</a:t>
            </a:r>
          </a:p>
          <a:p>
            <a:pPr lvl="1"/>
            <a:r>
              <a:rPr lang="en-US" dirty="0"/>
              <a:t>Discussion (short, segue)</a:t>
            </a:r>
          </a:p>
          <a:p>
            <a:r>
              <a:rPr lang="en-US" dirty="0"/>
              <a:t>Experiment 2</a:t>
            </a:r>
          </a:p>
          <a:p>
            <a:pPr lvl="1"/>
            <a:r>
              <a:rPr lang="en-US" dirty="0"/>
              <a:t>Method</a:t>
            </a:r>
          </a:p>
          <a:p>
            <a:pPr lvl="1"/>
            <a:r>
              <a:rPr lang="en-US" dirty="0"/>
              <a:t>Results</a:t>
            </a:r>
          </a:p>
          <a:p>
            <a:pPr lvl="1"/>
            <a:r>
              <a:rPr lang="en-US" dirty="0"/>
              <a:t>Discussion (optional)</a:t>
            </a:r>
          </a:p>
          <a:p>
            <a:r>
              <a:rPr lang="en-US" dirty="0"/>
              <a:t>General Discussion</a:t>
            </a:r>
          </a:p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794163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3237A-F255-4592-8221-15CA355CC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 Format: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3DCF7-7607-4442-AA51-DFF2ABB95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2D3B45"/>
                </a:solidFill>
                <a:latin typeface="Lato Extended"/>
              </a:rPr>
              <a:t>Which of the following is the main goal of the methods section of a research report?</a:t>
            </a:r>
          </a:p>
          <a:p>
            <a:pPr lvl="1"/>
            <a:r>
              <a:rPr lang="en-US" dirty="0">
                <a:solidFill>
                  <a:srgbClr val="2D3B45"/>
                </a:solidFill>
                <a:latin typeface="Lato Extended"/>
              </a:rPr>
              <a:t>a. Meticulously articulate how you analyzed the data.</a:t>
            </a:r>
          </a:p>
          <a:p>
            <a:pPr lvl="1"/>
            <a:r>
              <a:rPr lang="en-US" dirty="0">
                <a:solidFill>
                  <a:srgbClr val="2D3B45"/>
                </a:solidFill>
                <a:latin typeface="Lato Extended"/>
              </a:rPr>
              <a:t>b. Provide enough detail to allow an independent researcher to replicate your study.</a:t>
            </a:r>
          </a:p>
          <a:p>
            <a:pPr lvl="1"/>
            <a:r>
              <a:rPr lang="en-US" dirty="0">
                <a:solidFill>
                  <a:srgbClr val="2D3B45"/>
                </a:solidFill>
                <a:latin typeface="Lato Extended"/>
              </a:rPr>
              <a:t>c. Outline the demographic information of your participants so that reviewers can access the generalizability of your research.</a:t>
            </a:r>
          </a:p>
          <a:p>
            <a:pPr lvl="1"/>
            <a:r>
              <a:rPr lang="en-US" dirty="0">
                <a:solidFill>
                  <a:srgbClr val="2D3B45"/>
                </a:solidFill>
                <a:latin typeface="Lato Extended"/>
              </a:rPr>
              <a:t>d. Discuss the procedure you used so that readers can decide for themselves if your protocol is biased.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985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40C15-2283-432F-93E4-01054C37B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 Format: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541CE-646D-40C1-8278-FC11E15B1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D3B45"/>
                </a:solidFill>
                <a:latin typeface="Lato Extended"/>
              </a:rPr>
              <a:t>Which of the following is usually beyond the scope of the results section of a quantitative research report?</a:t>
            </a:r>
          </a:p>
          <a:p>
            <a:pPr lvl="1"/>
            <a:r>
              <a:rPr lang="en-US" dirty="0">
                <a:solidFill>
                  <a:srgbClr val="2D3B45"/>
                </a:solidFill>
                <a:latin typeface="Lato Extended"/>
              </a:rPr>
              <a:t>a. Discussing what statistical techniques were used</a:t>
            </a:r>
          </a:p>
          <a:p>
            <a:pPr lvl="1"/>
            <a:r>
              <a:rPr lang="en-US" dirty="0">
                <a:solidFill>
                  <a:srgbClr val="2D3B45"/>
                </a:solidFill>
                <a:latin typeface="Lato Extended"/>
              </a:rPr>
              <a:t>b. Presenting figures and/or tables to portray the data</a:t>
            </a:r>
          </a:p>
          <a:p>
            <a:pPr lvl="1"/>
            <a:r>
              <a:rPr lang="en-US" dirty="0">
                <a:solidFill>
                  <a:srgbClr val="2D3B45"/>
                </a:solidFill>
                <a:latin typeface="Lato Extended"/>
              </a:rPr>
              <a:t>c. Providing detailed interpretation of the implications based on the data</a:t>
            </a:r>
          </a:p>
          <a:p>
            <a:pPr lvl="1"/>
            <a:r>
              <a:rPr lang="en-US" dirty="0">
                <a:solidFill>
                  <a:srgbClr val="2D3B45"/>
                </a:solidFill>
                <a:latin typeface="Lato Extended"/>
              </a:rPr>
              <a:t>d. Presenting specific statistics that were generated from the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1625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B36F9-34B5-4DD8-B815-B9978C465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 Format: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1EAD1-F80E-42EF-93C3-13FA395A5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D3B45"/>
                </a:solidFill>
                <a:latin typeface="Lato Extended"/>
              </a:rPr>
              <a:t>If you state alternative explanations in your discussion, which of the following should you also consider doing?</a:t>
            </a:r>
          </a:p>
          <a:p>
            <a:pPr lvl="1"/>
            <a:r>
              <a:rPr lang="en-US" dirty="0">
                <a:solidFill>
                  <a:srgbClr val="2D3B45"/>
                </a:solidFill>
                <a:latin typeface="Lato Extended"/>
              </a:rPr>
              <a:t>a. Tell readers why the alternative explanation falls short of the primary explanation</a:t>
            </a:r>
          </a:p>
          <a:p>
            <a:pPr lvl="1"/>
            <a:r>
              <a:rPr lang="en-US" dirty="0">
                <a:solidFill>
                  <a:srgbClr val="2D3B45"/>
                </a:solidFill>
                <a:latin typeface="Lato Extended"/>
              </a:rPr>
              <a:t>b. Conduct statistics tests to test them specifically</a:t>
            </a:r>
          </a:p>
          <a:p>
            <a:pPr lvl="1"/>
            <a:r>
              <a:rPr lang="en-US" dirty="0">
                <a:solidFill>
                  <a:srgbClr val="2D3B45"/>
                </a:solidFill>
                <a:latin typeface="Lato Extended"/>
              </a:rPr>
              <a:t>c. Include reviewer opinions of whether they think the alternative explanation is better or worse than the primary explanation</a:t>
            </a:r>
          </a:p>
          <a:p>
            <a:pPr lvl="1"/>
            <a:r>
              <a:rPr lang="en-US" dirty="0">
                <a:solidFill>
                  <a:srgbClr val="2D3B45"/>
                </a:solidFill>
                <a:latin typeface="Lato Extended"/>
              </a:rPr>
              <a:t>d. Present a literature review that would allow readers to conduct a follow-up study based on the alternative explanation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2825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41DEE-73EC-42EC-8ACC-2B18F5CEE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 Writing with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EA18E-AD6A-4127-BDBE-7DCA7E20B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D3B45"/>
                </a:solidFill>
                <a:latin typeface="Lato Extended"/>
              </a:rPr>
              <a:t>What is the role played by answering the question “who will you write for” in writing a research report?  How should the answer influence the writing process?</a:t>
            </a:r>
          </a:p>
          <a:p>
            <a:pPr lvl="1"/>
            <a:endParaRPr lang="en-US" dirty="0">
              <a:solidFill>
                <a:srgbClr val="2D3B45"/>
              </a:solidFill>
              <a:latin typeface="Lato Extended"/>
            </a:endParaRPr>
          </a:p>
          <a:p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Citing previous research</a:t>
            </a:r>
          </a:p>
          <a:p>
            <a:pPr lvl="1"/>
            <a:r>
              <a:rPr lang="en-US" dirty="0">
                <a:solidFill>
                  <a:srgbClr val="2D3B45"/>
                </a:solidFill>
                <a:latin typeface="Lato Extended"/>
              </a:rPr>
              <a:t>Craik &amp; Tulving (1972) proposed that better memory would research from more semantic engagement with the material being studied and termed this “deeper” processing.</a:t>
            </a:r>
            <a:endParaRPr lang="en-US" b="0" i="0" dirty="0">
              <a:solidFill>
                <a:srgbClr val="2D3B45"/>
              </a:solidFill>
              <a:effectLst/>
              <a:latin typeface="Lato Extended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920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1AE54-AB01-4304-8C7F-B4F517A76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2B576-9DBE-422D-B4A0-EB63A5E88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Building on existing work</a:t>
            </a:r>
          </a:p>
          <a:p>
            <a:pPr lvl="1"/>
            <a:r>
              <a:rPr lang="en-US" dirty="0"/>
              <a:t>Strengthens confidence in conclusions</a:t>
            </a:r>
          </a:p>
          <a:p>
            <a:pPr lvl="1"/>
            <a:r>
              <a:rPr lang="en-US" dirty="0"/>
              <a:t>Very briefly review theory/mechanism</a:t>
            </a:r>
          </a:p>
          <a:p>
            <a:pPr lvl="1"/>
            <a:endParaRPr lang="en-US" dirty="0"/>
          </a:p>
          <a:p>
            <a:r>
              <a:rPr lang="en-US" dirty="0"/>
              <a:t>Adding something new</a:t>
            </a:r>
          </a:p>
          <a:p>
            <a:pPr lvl="1"/>
            <a:r>
              <a:rPr lang="en-US" dirty="0"/>
              <a:t>What is new about our study?</a:t>
            </a:r>
          </a:p>
          <a:p>
            <a:pPr lvl="1"/>
            <a:r>
              <a:rPr lang="en-US" dirty="0"/>
              <a:t>Motivate the current study to add to prior work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7681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A01D1-A403-8EDE-0295-E1929E74A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Wed 10/30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59B7A-7D14-1519-E54B-AF8AACDAD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Experiment 2 analysis</a:t>
            </a:r>
          </a:p>
          <a:p>
            <a:r>
              <a:rPr lang="en-US" sz="3200" dirty="0"/>
              <a:t>Exam review</a:t>
            </a:r>
          </a:p>
          <a:p>
            <a:endParaRPr lang="en-US" sz="3200" dirty="0"/>
          </a:p>
          <a:p>
            <a:r>
              <a:rPr lang="en-US" sz="3200" dirty="0"/>
              <a:t>Chapter 13, Developing a Research Proposal</a:t>
            </a:r>
          </a:p>
          <a:p>
            <a:pPr lvl="1"/>
            <a:r>
              <a:rPr lang="en-US" sz="2800" dirty="0"/>
              <a:t>Finding background reference that might be a good starting point for your final project</a:t>
            </a:r>
          </a:p>
          <a:p>
            <a:pPr lvl="1"/>
            <a:r>
              <a:rPr lang="en-US" sz="2800" dirty="0"/>
              <a:t>Use this paper as a writing example to look at style of writing the Introduction and Discussion</a:t>
            </a:r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10278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806</Words>
  <Application>Microsoft Office PowerPoint</Application>
  <PresentationFormat>Widescreen</PresentationFormat>
  <Paragraphs>160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Calibri</vt:lpstr>
      <vt:lpstr>Calibri Light</vt:lpstr>
      <vt:lpstr>Lato Extended</vt:lpstr>
      <vt:lpstr>Office Theme</vt:lpstr>
      <vt:lpstr>205 Oct 28, Class 14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Effect size statistics</vt:lpstr>
      <vt:lpstr>PowerPoint Presentation</vt:lpstr>
      <vt:lpstr>LOP with visual objects</vt:lpstr>
      <vt:lpstr>Recognition Memory</vt:lpstr>
      <vt:lpstr>Effects</vt:lpstr>
      <vt:lpstr>Modern reporting</vt:lpstr>
      <vt:lpstr>Reproducibility of results</vt:lpstr>
      <vt:lpstr>Power analysis</vt:lpstr>
      <vt:lpstr>Open Practices</vt:lpstr>
      <vt:lpstr>APA Report Sections</vt:lpstr>
      <vt:lpstr>Multi-experiment papers</vt:lpstr>
      <vt:lpstr>APA Format: Methods</vt:lpstr>
      <vt:lpstr>APA Format: Results</vt:lpstr>
      <vt:lpstr>APA Format: Discussion</vt:lpstr>
      <vt:lpstr>APA Writing with Style</vt:lpstr>
      <vt:lpstr>Research Context</vt:lpstr>
      <vt:lpstr>For Wed 10/30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205 Oct 26, Class 16</dc:title>
  <dc:creator>Paul Reber</dc:creator>
  <cp:lastModifiedBy>Paul Reber</cp:lastModifiedBy>
  <cp:revision>20</cp:revision>
  <cp:lastPrinted>2024-02-07T14:58:37Z</cp:lastPrinted>
  <dcterms:created xsi:type="dcterms:W3CDTF">2022-10-24T16:48:11Z</dcterms:created>
  <dcterms:modified xsi:type="dcterms:W3CDTF">2024-11-05T17:02:07Z</dcterms:modified>
</cp:coreProperties>
</file>