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89" r:id="rId3"/>
    <p:sldId id="290" r:id="rId4"/>
    <p:sldId id="291" r:id="rId5"/>
    <p:sldId id="281" r:id="rId6"/>
    <p:sldId id="823" r:id="rId7"/>
    <p:sldId id="824" r:id="rId8"/>
    <p:sldId id="813" r:id="rId9"/>
    <p:sldId id="276" r:id="rId10"/>
    <p:sldId id="814" r:id="rId11"/>
    <p:sldId id="811" r:id="rId12"/>
    <p:sldId id="283" r:id="rId13"/>
    <p:sldId id="428" r:id="rId14"/>
    <p:sldId id="825" r:id="rId15"/>
    <p:sldId id="258" r:id="rId16"/>
  </p:sldIdLst>
  <p:sldSz cx="12192000" cy="6858000"/>
  <p:notesSz cx="7102475" cy="93884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85" autoAdjust="0"/>
    <p:restoredTop sz="94660"/>
  </p:normalViewPr>
  <p:slideViewPr>
    <p:cSldViewPr snapToGrid="0">
      <p:cViewPr varScale="1">
        <p:scale>
          <a:sx n="97" d="100"/>
          <a:sy n="97" d="100"/>
        </p:scale>
        <p:origin x="12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471054"/>
          </a:xfrm>
          <a:prstGeom prst="rect">
            <a:avLst/>
          </a:prstGeom>
        </p:spPr>
        <p:txBody>
          <a:bodyPr vert="horz" lIns="94229" tIns="47114" rIns="94229" bIns="47114" rtlCol="0"/>
          <a:lstStyle>
            <a:lvl1pPr algn="r">
              <a:defRPr sz="1200"/>
            </a:lvl1pPr>
          </a:lstStyle>
          <a:p>
            <a:fld id="{09C14E7C-EF71-4C55-B9EC-1D241E958A93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35013" y="1173163"/>
            <a:ext cx="5632450" cy="31686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229" tIns="47114" rIns="94229" bIns="47114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10248" y="4518204"/>
            <a:ext cx="5681980" cy="3696712"/>
          </a:xfrm>
          <a:prstGeom prst="rect">
            <a:avLst/>
          </a:prstGeom>
        </p:spPr>
        <p:txBody>
          <a:bodyPr vert="horz" lIns="94229" tIns="47114" rIns="94229" bIns="47114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023092" y="8917422"/>
            <a:ext cx="3077739" cy="471053"/>
          </a:xfrm>
          <a:prstGeom prst="rect">
            <a:avLst/>
          </a:prstGeom>
        </p:spPr>
        <p:txBody>
          <a:bodyPr vert="horz" lIns="94229" tIns="47114" rIns="94229" bIns="47114" rtlCol="0" anchor="b"/>
          <a:lstStyle>
            <a:lvl1pPr algn="r">
              <a:defRPr sz="1200"/>
            </a:lvl1pPr>
          </a:lstStyle>
          <a:p>
            <a:fld id="{F0950674-8807-423F-97D8-C19F9A0B48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71938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AFD6E0-EC80-5440-8B24-79A9B758C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>
            <a:extLst>
              <a:ext uri="{FF2B5EF4-FFF2-40B4-BE49-F238E27FC236}">
                <a16:creationId xmlns:a16="http://schemas.microsoft.com/office/drawing/2014/main" id="{18BE6434-BA66-4625-B724-ABEA2B0859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4C39B0F8-DE4F-4332-A049-AA9BC2D32F97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/>
          </a:p>
        </p:txBody>
      </p:sp>
      <p:sp>
        <p:nvSpPr>
          <p:cNvPr id="19459" name="Rectangle 2">
            <a:extLst>
              <a:ext uri="{FF2B5EF4-FFF2-40B4-BE49-F238E27FC236}">
                <a16:creationId xmlns:a16="http://schemas.microsoft.com/office/drawing/2014/main" id="{7A776D19-8E80-01FA-69D9-763E29B9E3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60" name="Rectangle 3">
            <a:extLst>
              <a:ext uri="{FF2B5EF4-FFF2-40B4-BE49-F238E27FC236}">
                <a16:creationId xmlns:a16="http://schemas.microsoft.com/office/drawing/2014/main" id="{AA781B3A-A6DA-A51E-B7C5-DF85F9C0AD2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86789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5B0BF-A419-1C54-24DB-A460625971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3C28AC07-C43E-0C96-9AB5-008FBC6ABC1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83FF85F2-14E9-437D-8D60-16EFB84F323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3</a:t>
            </a:fld>
            <a:endParaRPr 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79F14B2-D1E0-4344-07EE-64D44243995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3A159452-5CE4-D585-EF1A-B0D8BAF5848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01132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520681-1867-DB06-E26B-EF60D5B0DC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>
            <a:extLst>
              <a:ext uri="{FF2B5EF4-FFF2-40B4-BE49-F238E27FC236}">
                <a16:creationId xmlns:a16="http://schemas.microsoft.com/office/drawing/2014/main" id="{648DBB4B-5400-C6B7-09C0-B821323C0B1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E84C18D7-E0B3-43D9-9B9E-4E92376361CB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4</a:t>
            </a:fld>
            <a:endParaRPr lang="en-US"/>
          </a:p>
        </p:txBody>
      </p:sp>
      <p:sp>
        <p:nvSpPr>
          <p:cNvPr id="21507" name="Rectangle 2">
            <a:extLst>
              <a:ext uri="{FF2B5EF4-FFF2-40B4-BE49-F238E27FC236}">
                <a16:creationId xmlns:a16="http://schemas.microsoft.com/office/drawing/2014/main" id="{923B9098-F8F8-0A54-A461-F90623352EB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1508" name="Rectangle 3">
            <a:extLst>
              <a:ext uri="{FF2B5EF4-FFF2-40B4-BE49-F238E27FC236}">
                <a16:creationId xmlns:a16="http://schemas.microsoft.com/office/drawing/2014/main" id="{37857856-606F-299F-88BF-E659F058827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181827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501C3F-E2EA-7B13-E854-88A15085B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DD4ED029-E01E-5CD0-8193-554DF3D2AE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A3EEBEC8-B6E7-4970-BFDC-E5CBEF429749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5</a:t>
            </a:fld>
            <a:endParaRPr 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4C28E879-9433-0ABB-23CB-0B170449BE7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8B07A22A-FE6D-83D8-60E1-A418622CBF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253987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4E1C22-423C-F95D-9E4D-C2073A7EDA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ED840933-9D6A-1C57-8C11-CF567FA6FC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603558D8-15F3-4A47-8F3A-8638566C761C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9</a:t>
            </a:fld>
            <a:endParaRPr 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472BCF50-6605-55E0-00E4-5F12B708BD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8AF0C3ED-633E-C97D-4BB0-6B1B161A2C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98249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77B6A6-920C-53C1-C423-ABD32B3554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F0C170-C8A8-B7ED-B9E7-2FFE439525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2C07A2-1951-EE49-9FF5-359F35AF9C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0864C9-B292-43E4-3B08-2ED446721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93E777-C303-35BA-925D-BF5A17FD3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0950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EAF8B3-6A46-DB77-35C1-311E6EA060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21D463-4D37-FF9B-6106-A023C83423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B0582B-4764-49C1-D8C5-49A7F9040B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3BADA-B111-03C5-9147-00C6A197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27C140-7F39-9028-02DB-F3B006C059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16558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959F0A-7A65-AB2E-18F8-84FE9FE915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FC5C540-26B1-BE31-E485-4C4A1B6E2C8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4D7DEC-571B-91AC-5BE1-50118A73B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6DBCD82-44E1-043B-E808-D4593EEFC6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54D20FC-1E5F-D0B7-549F-C96200E5BD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073376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349EA-F0B0-BE51-9C4C-F5B98DC797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5EAE6B-6B9C-99EF-3F32-4CE93E4BBC9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9CCB7-122D-F4FC-E833-D8278BADEA2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0EFD1A-0FDC-BD79-F971-1DA87746E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BD520D-B9AC-F5F0-27AF-E793FC028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D4C4BD4-6FF0-F3DD-6F89-1B4BCFE3ED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7576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B9FD52-B39B-DE13-D63D-814B91ADE8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81A102E-6479-51A7-490E-00E22FB678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CDF626-67DE-551C-5A4F-D4C5B14655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636A2E1-D84A-C37F-0A70-5BA60B5FDF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11732C4-AC46-223B-B3A6-5D027DBCABE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48EDCFF-0C3B-A075-625D-9B2AC81450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0A4357-96BD-8245-D277-BDC11A7BD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3CBF3D-8AFD-EC9A-D3B5-407029179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5020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7240C8-2C00-D642-39FF-B669DC424A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F914E8-386C-49C2-3598-5734CC0B12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815396-C079-9071-36C4-8EADC48437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A18D4E-597F-E93B-9410-18296383CB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063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9239017-4285-2FAD-32BA-60D4DB639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409C940-4098-41C2-0702-162AD6C8CB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6824CE-0D7B-6C92-78A7-9BDEE22F3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57782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D95816-E115-4235-755B-1B05D1787A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453DD9-4439-56F6-A9AC-3EB9427F71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D3668E-87A2-4DB2-ECEC-6F541BC26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C2B2DB7-D858-DF77-84AD-B4BFD109F6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EB2E66-4F78-1DF7-F9FD-FFB9623F1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724D52-D80E-4501-9B92-C56127E51E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8677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F4960-7376-B3F6-27B0-2E150258F3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79B3344-7392-116D-A84B-8B3BB2A46C3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307BD-1594-FCBE-02EA-6064B2F681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4D1EF-805A-58AC-BA53-52133CBAD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DFC8C6-CBBC-9853-31B8-5B1DAC8789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C054AD-3369-EDC4-B37D-DD546A1278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5012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5A6B9B-B4D6-DB2A-445F-33F7CD30A7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0038ABA-C5FD-236E-9D24-662224C89B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C2B814-4B80-C80C-4720-E255F78C8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2498F8-0AC1-7CE2-84CE-DE1196B72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B67319-D82E-241E-CB73-D88F60F241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427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BFEF510-7AD9-81CF-F0AF-220A545CA6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D3A76B-0883-FFF7-9979-F68C51CF7A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CCA1A3-C34A-E941-024F-9AE66F3B5C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52CEFB-AAA2-11BF-E63F-4E84067CD4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719F2A-EF3A-3645-B21D-5078CE9E9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03522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>
  <p:cSld name="Title and Content ov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10972800" cy="21859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3938589"/>
            <a:ext cx="10972800" cy="21875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09600" y="6245225"/>
            <a:ext cx="28448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165600" y="6245225"/>
            <a:ext cx="38608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737600" y="6245225"/>
            <a:ext cx="2844800" cy="47625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9B0AE8B-FB0A-49C5-92F1-9DF51FC22C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75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9BF7F54-6692-09C0-65E5-CC1A73AC80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593C7-CCF5-1572-1C20-EC22923552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2F2226-A5B7-90A9-4BC0-3F6A849A5AD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6296303-98FD-456D-A8A2-CA41DFD59786}" type="datetimeFigureOut">
              <a:rPr lang="en-US" smtClean="0"/>
              <a:t>11/14/2024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C6E240-CE97-D8E7-10B2-44C98689EA3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5D720-9960-04B7-E4B9-9C210C3736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08FCCD-4543-48D5-A2F8-2018F0884B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5672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410D22D-4012-122A-57A6-5A9354DE2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205, Nov 15, Class 22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7691E6-15B9-9344-29A6-743760A131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Applied Research</a:t>
            </a:r>
          </a:p>
          <a:p>
            <a:pPr lvl="1"/>
            <a:r>
              <a:rPr lang="en-US" dirty="0"/>
              <a:t>Quasi-experimental studies: Field, Intervention, Translational research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28256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C37A18-331F-101C-EDA2-3ABA4CB2C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7949F0A-0EB9-070B-41AA-687C308577A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sz="4000"/>
              <a:t>A Science Fair’s Teachable Moment </a:t>
            </a:r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3D8AF5E4-B952-95FB-9E39-99F115D7C2B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dirty="0"/>
              <a:t>A science fair project done by an 8yo girl, “Does Skin Color Make a Difference?” (Boulder, Colorado)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2001 school science fair</a:t>
            </a:r>
          </a:p>
          <a:p>
            <a:pPr lvl="1">
              <a:lnSpc>
                <a:spcPct val="90000"/>
              </a:lnSpc>
            </a:pPr>
            <a:r>
              <a:rPr lang="en-US" dirty="0"/>
              <a:t>School board panicked and censored the results for fear of “insensitivity”</a:t>
            </a:r>
          </a:p>
          <a:p>
            <a:pPr>
              <a:lnSpc>
                <a:spcPct val="90000"/>
              </a:lnSpc>
            </a:pPr>
            <a:r>
              <a:rPr lang="en-US" dirty="0"/>
              <a:t>Design: Two Barbie dolls, one white and one black.  One Barbie is wearing a lavender (preferred) dress.  The question is “which doll do you prefer?”</a:t>
            </a:r>
          </a:p>
          <a:p>
            <a:pPr>
              <a:lnSpc>
                <a:spcPct val="90000"/>
              </a:lnSpc>
            </a:pPr>
            <a:r>
              <a:rPr lang="en-US" dirty="0"/>
              <a:t>30 adults and children were asked.  Adults consistently preferred the lavender dress (e.g., 27 of 30 times).  </a:t>
            </a:r>
          </a:p>
          <a:p>
            <a:pPr>
              <a:lnSpc>
                <a:spcPct val="90000"/>
              </a:lnSpc>
            </a:pPr>
            <a:r>
              <a:rPr lang="en-US" dirty="0"/>
              <a:t>Among children, only 6 picked the lavender dress if the Black Barbie wore the dress.</a:t>
            </a:r>
          </a:p>
        </p:txBody>
      </p:sp>
    </p:spTree>
    <p:extLst>
      <p:ext uri="{BB962C8B-B14F-4D97-AF65-F5344CB8AC3E}">
        <p14:creationId xmlns:p14="http://schemas.microsoft.com/office/powerpoint/2010/main" val="40642074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CBDA65-FE5F-CA55-6CB1-0AB8FB5B2D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68">
            <a:extLst>
              <a:ext uri="{FF2B5EF4-FFF2-40B4-BE49-F238E27FC236}">
                <a16:creationId xmlns:a16="http://schemas.microsoft.com/office/drawing/2014/main" id="{B6F562AD-FE84-4345-68D8-8007D5112B2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Adults’ preference</a:t>
            </a:r>
          </a:p>
        </p:txBody>
      </p:sp>
      <p:graphicFrame>
        <p:nvGraphicFramePr>
          <p:cNvPr id="4163" name="Group 67">
            <a:extLst>
              <a:ext uri="{FF2B5EF4-FFF2-40B4-BE49-F238E27FC236}">
                <a16:creationId xmlns:a16="http://schemas.microsoft.com/office/drawing/2014/main" id="{BAA97342-7E84-7598-AA3C-011191E7550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1221180" y="1661160"/>
          <a:ext cx="8229600" cy="2407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8788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Adults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Lavender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Other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Black-Lavender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(.867)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(.133)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63600">
                <a:tc>
                  <a:txBody>
                    <a:bodyPr/>
                    <a:lstStyle/>
                    <a:p>
                      <a:pPr marL="342900" marR="0" lvl="0" indent="-34290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White-Lavender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14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(.933)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(.067)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189" name="Rectangle 69">
            <a:extLst>
              <a:ext uri="{FF2B5EF4-FFF2-40B4-BE49-F238E27FC236}">
                <a16:creationId xmlns:a16="http://schemas.microsoft.com/office/drawing/2014/main" id="{99712D1B-6F66-08CC-F615-B416C473FE69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4607626"/>
            <a:ext cx="10972800" cy="1518538"/>
          </a:xfrm>
        </p:spPr>
        <p:txBody>
          <a:bodyPr/>
          <a:lstStyle/>
          <a:p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&lt;1.00, p&gt;0.50</a:t>
            </a:r>
          </a:p>
        </p:txBody>
      </p:sp>
    </p:spTree>
    <p:extLst>
      <p:ext uri="{BB962C8B-B14F-4D97-AF65-F5344CB8AC3E}">
        <p14:creationId xmlns:p14="http://schemas.microsoft.com/office/powerpoint/2010/main" val="92033460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924F36-E62A-DA68-712D-7144B88E8F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4">
            <a:extLst>
              <a:ext uri="{FF2B5EF4-FFF2-40B4-BE49-F238E27FC236}">
                <a16:creationId xmlns:a16="http://schemas.microsoft.com/office/drawing/2014/main" id="{9C456B5B-1267-93DF-BF42-226E7A49873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Children’s preference</a:t>
            </a:r>
          </a:p>
        </p:txBody>
      </p:sp>
      <p:sp>
        <p:nvSpPr>
          <p:cNvPr id="8195" name="Rectangle 6">
            <a:extLst>
              <a:ext uri="{FF2B5EF4-FFF2-40B4-BE49-F238E27FC236}">
                <a16:creationId xmlns:a16="http://schemas.microsoft.com/office/drawing/2014/main" id="{3B06DC57-EE1E-D390-7C6D-B8074208F34F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609600" y="4441371"/>
            <a:ext cx="10972800" cy="1684793"/>
          </a:xfrm>
        </p:spPr>
        <p:txBody>
          <a:bodyPr/>
          <a:lstStyle/>
          <a:p>
            <a:pPr>
              <a:lnSpc>
                <a:spcPct val="80000"/>
              </a:lnSpc>
            </a:pPr>
            <a:r>
              <a:rPr lang="en-US" sz="2400" dirty="0"/>
              <a:t>Average rate choosing the Lavender dress is 21/30 = 0.70</a:t>
            </a:r>
          </a:p>
          <a:p>
            <a:pPr lvl="1">
              <a:lnSpc>
                <a:spcPct val="80000"/>
              </a:lnSpc>
            </a:pPr>
            <a:r>
              <a:rPr lang="en-US" sz="2000" dirty="0"/>
              <a:t>Expected value (null hypothesis) = 10.5 Lavender, 4.5 Other</a:t>
            </a:r>
          </a:p>
          <a:p>
            <a:pPr>
              <a:lnSpc>
                <a:spcPct val="80000"/>
              </a:lnSpc>
            </a:pPr>
            <a:r>
              <a:rPr lang="en-US" sz="2400" dirty="0"/>
              <a:t>X</a:t>
            </a:r>
            <a:r>
              <a:rPr lang="en-US" sz="2400" baseline="30000" dirty="0"/>
              <a:t>2</a:t>
            </a:r>
            <a:r>
              <a:rPr lang="en-US" sz="2400" dirty="0"/>
              <a:t>=12.86, p&lt;0.001</a:t>
            </a:r>
          </a:p>
        </p:txBody>
      </p:sp>
      <p:graphicFrame>
        <p:nvGraphicFramePr>
          <p:cNvPr id="8255" name="Group 63">
            <a:extLst>
              <a:ext uri="{FF2B5EF4-FFF2-40B4-BE49-F238E27FC236}">
                <a16:creationId xmlns:a16="http://schemas.microsoft.com/office/drawing/2014/main" id="{C26BC1E3-1B6E-DD82-DE91-0561C6305927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936172" y="1766455"/>
          <a:ext cx="8229600" cy="240792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857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Children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Lavender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Other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509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Black-Lavender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(.40)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(.60)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93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White-Lavender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15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(1.0)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0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(.00)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4062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F11797-FCBD-BF3D-E721-CC3C914E8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EF52E9BD-7939-9BB5-E658-9146678A690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 rtlCol="0">
            <a:normAutofit/>
          </a:bodyPr>
          <a:lstStyle/>
          <a:p>
            <a:pPr>
              <a:defRPr/>
            </a:pPr>
            <a:r>
              <a:rPr lang="en-US" sz="4000"/>
              <a:t>Do Adults and Children react differently?</a:t>
            </a:r>
          </a:p>
        </p:txBody>
      </p:sp>
      <p:sp>
        <p:nvSpPr>
          <p:cNvPr id="9219" name="Rectangle 5">
            <a:extLst>
              <a:ext uri="{FF2B5EF4-FFF2-40B4-BE49-F238E27FC236}">
                <a16:creationId xmlns:a16="http://schemas.microsoft.com/office/drawing/2014/main" id="{B8242CC1-6E9D-E061-1243-B0BC2279A461}"/>
              </a:ext>
            </a:extLst>
          </p:cNvPr>
          <p:cNvSpPr>
            <a:spLocks noGrp="1" noChangeArrowheads="1"/>
          </p:cNvSpPr>
          <p:nvPr>
            <p:ph type="body" sz="half" idx="2"/>
          </p:nvPr>
        </p:nvSpPr>
        <p:spPr>
          <a:xfrm>
            <a:off x="983673" y="5064310"/>
            <a:ext cx="8229600" cy="990602"/>
          </a:xfrm>
        </p:spPr>
        <p:txBody>
          <a:bodyPr/>
          <a:lstStyle/>
          <a:p>
            <a:r>
              <a:rPr lang="en-US" dirty="0"/>
              <a:t>X</a:t>
            </a:r>
            <a:r>
              <a:rPr lang="en-US" baseline="30000" dirty="0"/>
              <a:t>2</a:t>
            </a:r>
            <a:r>
              <a:rPr lang="en-US" dirty="0"/>
              <a:t>=7.02, p&lt;0.01 </a:t>
            </a:r>
          </a:p>
        </p:txBody>
      </p:sp>
      <p:graphicFrame>
        <p:nvGraphicFramePr>
          <p:cNvPr id="10323" name="Group 83">
            <a:extLst>
              <a:ext uri="{FF2B5EF4-FFF2-40B4-BE49-F238E27FC236}">
                <a16:creationId xmlns:a16="http://schemas.microsoft.com/office/drawing/2014/main" id="{DA34036B-E1D5-97FC-241E-06820203FCB4}"/>
              </a:ext>
            </a:extLst>
          </p:cNvPr>
          <p:cNvGraphicFramePr>
            <a:graphicFrameLocks noGrp="1"/>
          </p:cNvGraphicFramePr>
          <p:nvPr>
            <p:ph sz="half" idx="1"/>
          </p:nvPr>
        </p:nvGraphicFramePr>
        <p:xfrm>
          <a:off x="841169" y="1417638"/>
          <a:ext cx="8229600" cy="3352800"/>
        </p:xfrm>
        <a:graphic>
          <a:graphicData uri="http://schemas.openxmlformats.org/drawingml/2006/table">
            <a:tbl>
              <a:tblPr/>
              <a:tblGrid>
                <a:gridCol w="2809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098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0986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6713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Lavender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Other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Adults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13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(.867)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2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(.133)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30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Children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6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(.40)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9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(.60)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4675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Total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19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(.633)</a:t>
                      </a:r>
                      <a:endParaRPr kumimoji="0" lang="en-US" sz="28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11</a:t>
                      </a:r>
                    </a:p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cs typeface="Times New Roman" pitchFamily="18" charset="0"/>
                        </a:rPr>
                        <a:t>(.367)</a:t>
                      </a:r>
                      <a:endParaRPr kumimoji="0" lang="en-US" sz="2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01902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898E75-48DA-5529-BC45-2A2315BB5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Quasi-Experimental Research Methods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E3CBA4-F59E-AF14-6D9F-D5CCF428F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Mix of experimental and non-experimental methods</a:t>
            </a:r>
          </a:p>
          <a:p>
            <a:pPr lvl="1"/>
            <a:r>
              <a:rPr lang="en-US" dirty="0"/>
              <a:t>Requires at least one controlled independent variable</a:t>
            </a:r>
          </a:p>
          <a:p>
            <a:pPr lvl="1"/>
            <a:endParaRPr lang="en-US" dirty="0"/>
          </a:p>
          <a:p>
            <a:r>
              <a:rPr lang="en-US" dirty="0"/>
              <a:t>Field Research</a:t>
            </a:r>
          </a:p>
          <a:p>
            <a:pPr lvl="1"/>
            <a:r>
              <a:rPr lang="en-US" dirty="0"/>
              <a:t>Experimentation in the real world, outside of laboratory control</a:t>
            </a:r>
          </a:p>
          <a:p>
            <a:r>
              <a:rPr lang="en-US" dirty="0"/>
              <a:t>Intervention Research</a:t>
            </a:r>
          </a:p>
          <a:p>
            <a:pPr lvl="1"/>
            <a:r>
              <a:rPr lang="en-US" dirty="0"/>
              <a:t>Testing out something that may help people</a:t>
            </a:r>
          </a:p>
          <a:p>
            <a:r>
              <a:rPr lang="en-US" dirty="0"/>
              <a:t>Translational Research</a:t>
            </a:r>
          </a:p>
          <a:p>
            <a:pPr lvl="1"/>
            <a:r>
              <a:rPr lang="en-US" dirty="0"/>
              <a:t>Bringing basic science results to application</a:t>
            </a:r>
          </a:p>
        </p:txBody>
      </p:sp>
    </p:spTree>
    <p:extLst>
      <p:ext uri="{BB962C8B-B14F-4D97-AF65-F5344CB8AC3E}">
        <p14:creationId xmlns:p14="http://schemas.microsoft.com/office/powerpoint/2010/main" val="265413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A15462-C164-1DF4-F7ED-F64DB45DA7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Intervention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D603C9-87D5-ECEE-4427-277BFEF83D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Question.  Suppose a company comes to you with a new mobile phone application aimed at encouraging healthier living by improving eating habits for users.  How would you design a study to measure the effectiveness of the app?  Outline the IV and DV you might use for a study and a plausible procedure for carrying out a study that will be funded by the company who made the new application.</a:t>
            </a:r>
          </a:p>
          <a:p>
            <a:pPr algn="l">
              <a:spcBef>
                <a:spcPts val="900"/>
              </a:spcBef>
              <a:spcAft>
                <a:spcPts val="900"/>
              </a:spcAft>
            </a:pPr>
            <a:r>
              <a:rPr lang="en-US" b="0" i="0" dirty="0">
                <a:solidFill>
                  <a:srgbClr val="2D3B45"/>
                </a:solidFill>
                <a:effectLst/>
                <a:latin typeface="Lato Extended"/>
              </a:rPr>
              <a:t>Identify 3 ethical issues that additionally need to be considered related to ethical treatment of participants and also responsible conduct of research.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712382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1A0376-8412-9804-DF3B-00D7C9B62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Training intervention with Military personnel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B74437-F3E7-B1DB-C562-C1C12F2648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memory theory be used to accelerate training?</a:t>
            </a:r>
          </a:p>
          <a:p>
            <a:pPr lvl="1"/>
            <a:r>
              <a:rPr lang="en-US" dirty="0"/>
              <a:t>Intervention to speed learning</a:t>
            </a:r>
          </a:p>
          <a:p>
            <a:pPr lvl="1"/>
            <a:endParaRPr lang="en-US" dirty="0"/>
          </a:p>
          <a:p>
            <a:r>
              <a:rPr lang="en-US" dirty="0"/>
              <a:t>Targeted skill training</a:t>
            </a:r>
          </a:p>
          <a:p>
            <a:pPr lvl="1"/>
            <a:r>
              <a:rPr lang="en-US" dirty="0"/>
              <a:t>Shorter time course, 4-6 weeks</a:t>
            </a:r>
          </a:p>
          <a:p>
            <a:pPr lvl="1"/>
            <a:r>
              <a:rPr lang="en-US" dirty="0"/>
              <a:t>Large numbers of students, all getting identical content</a:t>
            </a:r>
          </a:p>
          <a:p>
            <a:pPr lvl="1"/>
            <a:endParaRPr lang="en-US" dirty="0"/>
          </a:p>
          <a:p>
            <a:r>
              <a:rPr lang="en-US" dirty="0"/>
              <a:t>Training may improve performance on key skills</a:t>
            </a:r>
          </a:p>
          <a:p>
            <a:pPr lvl="1"/>
            <a:r>
              <a:rPr lang="en-US" dirty="0"/>
              <a:t>How to design this ethically?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618757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65E892-BB63-372A-E9D0-D7832912CA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A1A7BBFE-E824-2DB1-754D-3CD7312D1E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Philosophical Ethical Challenges</a:t>
            </a:r>
          </a:p>
        </p:txBody>
      </p:sp>
      <p:sp>
        <p:nvSpPr>
          <p:cNvPr id="10243" name="Rectangle 3">
            <a:extLst>
              <a:ext uri="{FF2B5EF4-FFF2-40B4-BE49-F238E27FC236}">
                <a16:creationId xmlns:a16="http://schemas.microsoft.com/office/drawing/2014/main" id="{D66E7B74-64B4-EF36-B740-47D817D4F5D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When the experimental treatment is a benefit</a:t>
            </a:r>
          </a:p>
          <a:p>
            <a:pPr lvl="1"/>
            <a:r>
              <a:rPr lang="en-US" dirty="0"/>
              <a:t>Justice would normally mean equal benefits across groups</a:t>
            </a:r>
          </a:p>
          <a:p>
            <a:pPr lvl="1"/>
            <a:r>
              <a:rPr lang="en-US" dirty="0"/>
              <a:t>Intervention research on Monday</a:t>
            </a:r>
          </a:p>
          <a:p>
            <a:r>
              <a:rPr lang="en-US" dirty="0"/>
              <a:t>Coercion versus voluntary participation</a:t>
            </a:r>
          </a:p>
          <a:p>
            <a:pPr lvl="1"/>
            <a:r>
              <a:rPr lang="en-US" dirty="0"/>
              <a:t>Authority figures: supervisors, teachers</a:t>
            </a:r>
          </a:p>
          <a:p>
            <a:pPr lvl="1"/>
            <a:r>
              <a:rPr lang="en-US" dirty="0"/>
              <a:t>Financial rewards: incentivizing risk</a:t>
            </a:r>
          </a:p>
          <a:p>
            <a:r>
              <a:rPr lang="en-US" dirty="0"/>
              <a:t>Vulnerable populations</a:t>
            </a:r>
          </a:p>
          <a:p>
            <a:pPr lvl="1"/>
            <a:r>
              <a:rPr lang="en-US" dirty="0"/>
              <a:t>Children: depend on guardian</a:t>
            </a:r>
          </a:p>
          <a:p>
            <a:pPr lvl="2"/>
            <a:r>
              <a:rPr lang="en-US" dirty="0"/>
              <a:t>Mandatory reporting training for staff</a:t>
            </a:r>
          </a:p>
          <a:p>
            <a:pPr lvl="1"/>
            <a:r>
              <a:rPr lang="en-US" dirty="0"/>
              <a:t>Prisoners: cannot voluntarily consent</a:t>
            </a:r>
          </a:p>
          <a:p>
            <a:pPr lvl="2"/>
            <a:r>
              <a:rPr lang="en-US" dirty="0"/>
              <a:t>Research must be for prisoners’ benefit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8941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8BF34F6-A202-5E53-9E6A-231F740D4C85}"/>
              </a:ext>
            </a:extLst>
          </p:cNvPr>
          <p:cNvSpPr/>
          <p:nvPr/>
        </p:nvSpPr>
        <p:spPr bwMode="auto">
          <a:xfrm>
            <a:off x="6841637" y="2800068"/>
            <a:ext cx="1695172" cy="76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charset="0"/>
              </a:rPr>
              <a:t>No training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CFD65CF-E299-65E8-0BD9-7520D6EB8991}"/>
              </a:ext>
            </a:extLst>
          </p:cNvPr>
          <p:cNvSpPr/>
          <p:nvPr/>
        </p:nvSpPr>
        <p:spPr bwMode="auto">
          <a:xfrm>
            <a:off x="2780742" y="3082262"/>
            <a:ext cx="838200" cy="19812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A3212F7-B92F-D881-E9C6-2DBC7D1B611B}"/>
              </a:ext>
            </a:extLst>
          </p:cNvPr>
          <p:cNvSpPr/>
          <p:nvPr/>
        </p:nvSpPr>
        <p:spPr bwMode="auto">
          <a:xfrm>
            <a:off x="4208669" y="2800068"/>
            <a:ext cx="1695172" cy="762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Intervention Training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778C213-957D-4E2A-0DCB-6B630F932191}"/>
              </a:ext>
            </a:extLst>
          </p:cNvPr>
          <p:cNvSpPr/>
          <p:nvPr/>
        </p:nvSpPr>
        <p:spPr bwMode="auto">
          <a:xfrm>
            <a:off x="4208669" y="4464109"/>
            <a:ext cx="1695172" cy="7620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i="1" dirty="0">
                <a:solidFill>
                  <a:schemeClr val="accent5">
                    <a:lumMod val="60000"/>
                    <a:lumOff val="40000"/>
                  </a:schemeClr>
                </a:solidFill>
                <a:latin typeface="Arial" charset="0"/>
              </a:rPr>
              <a:t>No training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AF4A6F5-F055-936E-4919-AF12FAF965F8}"/>
              </a:ext>
            </a:extLst>
          </p:cNvPr>
          <p:cNvSpPr/>
          <p:nvPr/>
        </p:nvSpPr>
        <p:spPr bwMode="auto">
          <a:xfrm>
            <a:off x="6042446" y="2281472"/>
            <a:ext cx="381000" cy="3397787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Assessment - 1</a:t>
            </a:r>
          </a:p>
        </p:txBody>
      </p:sp>
      <p:sp>
        <p:nvSpPr>
          <p:cNvPr id="9" name="Arrow: Right 8">
            <a:extLst>
              <a:ext uri="{FF2B5EF4-FFF2-40B4-BE49-F238E27FC236}">
                <a16:creationId xmlns:a16="http://schemas.microsoft.com/office/drawing/2014/main" id="{7FD3732D-B217-3BF3-34F2-86CE64932D0D}"/>
              </a:ext>
            </a:extLst>
          </p:cNvPr>
          <p:cNvSpPr/>
          <p:nvPr/>
        </p:nvSpPr>
        <p:spPr bwMode="auto">
          <a:xfrm rot="21088868">
            <a:off x="3765748" y="3217031"/>
            <a:ext cx="381000" cy="26504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3B58AD8F-537F-96FC-7BE4-587F804FBDD8}"/>
              </a:ext>
            </a:extLst>
          </p:cNvPr>
          <p:cNvSpPr/>
          <p:nvPr/>
        </p:nvSpPr>
        <p:spPr bwMode="auto">
          <a:xfrm rot="199713">
            <a:off x="3765748" y="4635633"/>
            <a:ext cx="381000" cy="265043"/>
          </a:xfrm>
          <a:prstGeom prst="right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CF24B6BF-B603-F502-99EC-226B577A3C5A}"/>
              </a:ext>
            </a:extLst>
          </p:cNvPr>
          <p:cNvCxnSpPr>
            <a:cxnSpLocks/>
          </p:cNvCxnSpPr>
          <p:nvPr/>
        </p:nvCxnSpPr>
        <p:spPr bwMode="auto">
          <a:xfrm>
            <a:off x="2548370" y="4072862"/>
            <a:ext cx="1299172" cy="0"/>
          </a:xfrm>
          <a:prstGeom prst="line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A9311D96-9796-D54F-BF55-24E5050A7998}"/>
              </a:ext>
            </a:extLst>
          </p:cNvPr>
          <p:cNvSpPr/>
          <p:nvPr/>
        </p:nvSpPr>
        <p:spPr>
          <a:xfrm>
            <a:off x="3314388" y="2331368"/>
            <a:ext cx="58541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A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6B69BD2-44DB-19DE-4CC5-B101AC151AB2}"/>
              </a:ext>
            </a:extLst>
          </p:cNvPr>
          <p:cNvSpPr/>
          <p:nvPr/>
        </p:nvSpPr>
        <p:spPr>
          <a:xfrm>
            <a:off x="3326409" y="4939999"/>
            <a:ext cx="561372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dirty="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B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474348D-6BAD-C83C-2EF4-EFA40AEB0CAF}"/>
              </a:ext>
            </a:extLst>
          </p:cNvPr>
          <p:cNvSpPr txBox="1"/>
          <p:nvPr/>
        </p:nvSpPr>
        <p:spPr>
          <a:xfrm>
            <a:off x="875970" y="3254698"/>
            <a:ext cx="182880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Random assignment within a single  class, half students to “A” cohort and half to “B” cohort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CC05804-9C5A-0C3C-08DE-9D2A31AA47B6}"/>
              </a:ext>
            </a:extLst>
          </p:cNvPr>
          <p:cNvSpPr/>
          <p:nvPr/>
        </p:nvSpPr>
        <p:spPr bwMode="auto">
          <a:xfrm>
            <a:off x="8709446" y="2266307"/>
            <a:ext cx="381000" cy="337906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Assessment- 2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97CC169F-6ED9-01B5-E1D3-CF66F46F09C0}"/>
              </a:ext>
            </a:extLst>
          </p:cNvPr>
          <p:cNvSpPr txBox="1"/>
          <p:nvPr/>
        </p:nvSpPr>
        <p:spPr>
          <a:xfrm>
            <a:off x="3935678" y="1552673"/>
            <a:ext cx="31717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1: A1 versus B1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6A3BC02-03A2-37D8-E998-A81309CEC372}"/>
              </a:ext>
            </a:extLst>
          </p:cNvPr>
          <p:cNvSpPr txBox="1"/>
          <p:nvPr/>
        </p:nvSpPr>
        <p:spPr>
          <a:xfrm>
            <a:off x="4219321" y="6034433"/>
            <a:ext cx="52705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2: B1 versus B2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611602E-F785-AE9B-2FEE-862149D08A46}"/>
              </a:ext>
            </a:extLst>
          </p:cNvPr>
          <p:cNvSpPr txBox="1"/>
          <p:nvPr/>
        </p:nvSpPr>
        <p:spPr>
          <a:xfrm>
            <a:off x="7212278" y="1552674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Test 3: A1 versus A2</a:t>
            </a:r>
          </a:p>
        </p:txBody>
      </p:sp>
      <p:sp>
        <p:nvSpPr>
          <p:cNvPr id="19" name="Arrow: Up-Down 18">
            <a:extLst>
              <a:ext uri="{FF2B5EF4-FFF2-40B4-BE49-F238E27FC236}">
                <a16:creationId xmlns:a16="http://schemas.microsoft.com/office/drawing/2014/main" id="{283DD5CF-D40D-E42A-6E3C-A26C5D128E5E}"/>
              </a:ext>
            </a:extLst>
          </p:cNvPr>
          <p:cNvSpPr/>
          <p:nvPr/>
        </p:nvSpPr>
        <p:spPr bwMode="auto">
          <a:xfrm>
            <a:off x="6457995" y="3660986"/>
            <a:ext cx="254474" cy="643037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20" name="Arrow: Up-Down 19">
            <a:extLst>
              <a:ext uri="{FF2B5EF4-FFF2-40B4-BE49-F238E27FC236}">
                <a16:creationId xmlns:a16="http://schemas.microsoft.com/office/drawing/2014/main" id="{DD347D55-6018-2044-B04B-0E535165393C}"/>
              </a:ext>
            </a:extLst>
          </p:cNvPr>
          <p:cNvSpPr/>
          <p:nvPr/>
        </p:nvSpPr>
        <p:spPr bwMode="auto">
          <a:xfrm rot="16200000">
            <a:off x="7752486" y="4341978"/>
            <a:ext cx="254474" cy="2421445"/>
          </a:xfrm>
          <a:prstGeom prst="upDownArrow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A7BA40E1-1A24-A549-2D08-8114683CD8CB}"/>
              </a:ext>
            </a:extLst>
          </p:cNvPr>
          <p:cNvSpPr/>
          <p:nvPr/>
        </p:nvSpPr>
        <p:spPr bwMode="auto">
          <a:xfrm>
            <a:off x="6589089" y="3738471"/>
            <a:ext cx="630920" cy="4574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T1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C3562DE-6668-0D09-3100-825C7EBCB51F}"/>
              </a:ext>
            </a:extLst>
          </p:cNvPr>
          <p:cNvSpPr/>
          <p:nvPr/>
        </p:nvSpPr>
        <p:spPr bwMode="auto">
          <a:xfrm>
            <a:off x="7632923" y="5552699"/>
            <a:ext cx="646331" cy="4574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T2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BEB149-68E7-8B3B-708F-51B78DE7196F}"/>
              </a:ext>
            </a:extLst>
          </p:cNvPr>
          <p:cNvSpPr/>
          <p:nvPr/>
        </p:nvSpPr>
        <p:spPr bwMode="auto">
          <a:xfrm>
            <a:off x="6451605" y="2281472"/>
            <a:ext cx="206667" cy="13428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3399"/>
                </a:solidFill>
                <a:latin typeface="Arial" charset="0"/>
              </a:rPr>
              <a:t>A1 Scores, Cohort A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A2F6CD8-FADC-34D1-EAD4-95A3732F78C9}"/>
              </a:ext>
            </a:extLst>
          </p:cNvPr>
          <p:cNvSpPr/>
          <p:nvPr/>
        </p:nvSpPr>
        <p:spPr bwMode="auto">
          <a:xfrm>
            <a:off x="6442891" y="4336436"/>
            <a:ext cx="206667" cy="13428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3399"/>
                </a:solidFill>
                <a:latin typeface="Arial" charset="0"/>
              </a:rPr>
              <a:t>B1 Scores, Cohort B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6427AFDC-CE4F-4561-EA99-F6F1DBAEFB63}"/>
              </a:ext>
            </a:extLst>
          </p:cNvPr>
          <p:cNvSpPr/>
          <p:nvPr/>
        </p:nvSpPr>
        <p:spPr bwMode="auto">
          <a:xfrm>
            <a:off x="9103771" y="2262315"/>
            <a:ext cx="206667" cy="13428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3399"/>
                </a:solidFill>
                <a:latin typeface="Arial" charset="0"/>
              </a:rPr>
              <a:t>A2 Scores, Cohort A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29DEB15-882A-6508-CA7F-5F702ACD4E56}"/>
              </a:ext>
            </a:extLst>
          </p:cNvPr>
          <p:cNvSpPr/>
          <p:nvPr/>
        </p:nvSpPr>
        <p:spPr bwMode="auto">
          <a:xfrm>
            <a:off x="9095057" y="4317279"/>
            <a:ext cx="206667" cy="1342823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vert="vert270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000" b="1" dirty="0">
                <a:solidFill>
                  <a:srgbClr val="003399"/>
                </a:solidFill>
                <a:latin typeface="Arial" charset="0"/>
              </a:rPr>
              <a:t>B2 Scores, Cohort B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E7DA7A58-BA3E-CD70-8CD3-8D6B5528F779}"/>
              </a:ext>
            </a:extLst>
          </p:cNvPr>
          <p:cNvSpPr/>
          <p:nvPr/>
        </p:nvSpPr>
        <p:spPr bwMode="auto">
          <a:xfrm>
            <a:off x="6841637" y="4464109"/>
            <a:ext cx="1695172" cy="76200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Intervention training</a:t>
            </a:r>
          </a:p>
        </p:txBody>
      </p:sp>
      <p:sp>
        <p:nvSpPr>
          <p:cNvPr id="28" name="Arrow: Up-Down 27">
            <a:extLst>
              <a:ext uri="{FF2B5EF4-FFF2-40B4-BE49-F238E27FC236}">
                <a16:creationId xmlns:a16="http://schemas.microsoft.com/office/drawing/2014/main" id="{8F84ABDC-C5BF-0815-1AE7-540FD4428194}"/>
              </a:ext>
            </a:extLst>
          </p:cNvPr>
          <p:cNvSpPr/>
          <p:nvPr/>
        </p:nvSpPr>
        <p:spPr bwMode="auto">
          <a:xfrm rot="16200000">
            <a:off x="7759148" y="1157256"/>
            <a:ext cx="254474" cy="2434770"/>
          </a:xfrm>
          <a:prstGeom prst="upDownArrow">
            <a:avLst/>
          </a:prstGeom>
          <a:solidFill>
            <a:schemeClr val="accent2">
              <a:lumMod val="60000"/>
              <a:lumOff val="40000"/>
            </a:schemeClr>
          </a:solidFill>
          <a:ln>
            <a:headEnd type="none" w="med" len="med"/>
            <a:tailEnd type="none" w="med" len="me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endParaRPr lang="en-US" sz="1600" b="1">
              <a:solidFill>
                <a:srgbClr val="003399"/>
              </a:solidFill>
              <a:latin typeface="Arial" charset="0"/>
            </a:endParaRPr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B0BCE78C-522A-1F74-D598-4A85F0281382}"/>
              </a:ext>
            </a:extLst>
          </p:cNvPr>
          <p:cNvSpPr/>
          <p:nvPr/>
        </p:nvSpPr>
        <p:spPr bwMode="auto">
          <a:xfrm>
            <a:off x="7685309" y="2374640"/>
            <a:ext cx="631089" cy="457448"/>
          </a:xfrm>
          <a:prstGeom prst="ellips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lang="en-US" sz="1600" b="1" dirty="0">
                <a:solidFill>
                  <a:srgbClr val="003399"/>
                </a:solidFill>
                <a:latin typeface="Arial" charset="0"/>
              </a:rPr>
              <a:t>T3</a:t>
            </a:r>
          </a:p>
        </p:txBody>
      </p:sp>
      <p:sp>
        <p:nvSpPr>
          <p:cNvPr id="31" name="Title 30">
            <a:extLst>
              <a:ext uri="{FF2B5EF4-FFF2-40B4-BE49-F238E27FC236}">
                <a16:creationId xmlns:a16="http://schemas.microsoft.com/office/drawing/2014/main" id="{65855E69-7DE4-C015-9E5B-CF4FBCD895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Crossover Intervention Design</a:t>
            </a:r>
          </a:p>
        </p:txBody>
      </p:sp>
    </p:spTree>
    <p:extLst>
      <p:ext uri="{BB962C8B-B14F-4D97-AF65-F5344CB8AC3E}">
        <p14:creationId xmlns:p14="http://schemas.microsoft.com/office/powerpoint/2010/main" val="2948811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64559-450A-92E1-E451-6836F0F81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1689466-A890-6F0F-9DD9-2C7C6A7454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en-US" sz="2400" dirty="0"/>
              <a:t>T1: A1 &gt; B1</a:t>
            </a:r>
          </a:p>
          <a:p>
            <a:pPr lvl="1"/>
            <a:r>
              <a:rPr lang="en-US" sz="2000" dirty="0"/>
              <a:t>Strongest evidence if successful</a:t>
            </a:r>
          </a:p>
          <a:p>
            <a:pPr lvl="2"/>
            <a:r>
              <a:rPr lang="en-US" sz="1800" dirty="0"/>
              <a:t>Cohort A is better at task performance because of training intervention</a:t>
            </a:r>
          </a:p>
          <a:p>
            <a:pPr lvl="1"/>
            <a:r>
              <a:rPr lang="en-US" sz="2000" dirty="0"/>
              <a:t>Weakest for statistical power</a:t>
            </a:r>
          </a:p>
          <a:p>
            <a:pPr lvl="2"/>
            <a:r>
              <a:rPr lang="en-US" sz="1800" dirty="0"/>
              <a:t>“Between-participants” design vulnerable to individual differences, variability due to measurement error</a:t>
            </a:r>
          </a:p>
          <a:p>
            <a:r>
              <a:rPr lang="en-US" sz="2400" dirty="0"/>
              <a:t>T2: B2 &gt; B1</a:t>
            </a:r>
          </a:p>
          <a:p>
            <a:pPr lvl="1"/>
            <a:r>
              <a:rPr lang="en-US" sz="2000" dirty="0"/>
              <a:t>Strongest statistical power</a:t>
            </a:r>
          </a:p>
          <a:p>
            <a:pPr lvl="2"/>
            <a:r>
              <a:rPr lang="en-US" sz="1800" dirty="0"/>
              <a:t>Each student is their own control, pre/post design</a:t>
            </a:r>
          </a:p>
          <a:p>
            <a:pPr lvl="1"/>
            <a:r>
              <a:rPr lang="en-US" sz="2000" dirty="0"/>
              <a:t>Inference that intervention caused improvement is weakened by other possible sources of learning between assessments</a:t>
            </a:r>
          </a:p>
          <a:p>
            <a:r>
              <a:rPr lang="en-US" sz="2400" dirty="0"/>
              <a:t>T3: A1 = A2</a:t>
            </a:r>
          </a:p>
          <a:p>
            <a:pPr lvl="1"/>
            <a:r>
              <a:rPr lang="en-US" sz="2000" dirty="0"/>
              <a:t>Demonstrates retention</a:t>
            </a:r>
          </a:p>
          <a:p>
            <a:pPr lvl="1"/>
            <a:r>
              <a:rPr lang="en-US" sz="2000" dirty="0"/>
              <a:t>Weak statistical test relies on no difference but still useful to document</a:t>
            </a:r>
            <a:endParaRPr lang="en-US" dirty="0"/>
          </a:p>
          <a:p>
            <a:pPr lvl="1"/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E6D2DAD-0DDD-E121-CE1D-D914E4B27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Contrasts</a:t>
            </a:r>
          </a:p>
        </p:txBody>
      </p:sp>
    </p:spTree>
    <p:extLst>
      <p:ext uri="{BB962C8B-B14F-4D97-AF65-F5344CB8AC3E}">
        <p14:creationId xmlns:p14="http://schemas.microsoft.com/office/powerpoint/2010/main" val="4097927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8111B2-4292-81AE-C9E0-69B4A9B7F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6637BB-878D-EA5A-4756-A9B8DF2DE1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Intervention research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ECB5BE-424B-C7F5-71A1-9121097F2A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Give an example of a research study not included in the chapter for which it would be unethical to include a placebo/control group.</a:t>
            </a:r>
          </a:p>
          <a:p>
            <a:endParaRPr lang="en-US" dirty="0"/>
          </a:p>
          <a:p>
            <a:r>
              <a:rPr lang="en-US" dirty="0"/>
              <a:t>Why are rules requiring reporting of conflict of interest important for ensuring accurate and fair scientific processes and reports?</a:t>
            </a:r>
          </a:p>
        </p:txBody>
      </p:sp>
    </p:spTree>
    <p:extLst>
      <p:ext uri="{BB962C8B-B14F-4D97-AF65-F5344CB8AC3E}">
        <p14:creationId xmlns:p14="http://schemas.microsoft.com/office/powerpoint/2010/main" val="30549575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1B55AA-C408-13D2-ED61-1413B7DD5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E5FB-3AF8-6B5E-4F36-12952915AC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Field Research Summary	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C35D79F-C464-6026-DC31-0D3CACF8DE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Quasi-experimental design</a:t>
            </a:r>
          </a:p>
          <a:p>
            <a:pPr lvl="1"/>
            <a:r>
              <a:rPr lang="en-US" dirty="0"/>
              <a:t>Manipulated independent variable</a:t>
            </a:r>
          </a:p>
          <a:p>
            <a:pPr lvl="1"/>
            <a:r>
              <a:rPr lang="en-US" dirty="0"/>
              <a:t>Done outside controlled laboratory conditions</a:t>
            </a:r>
          </a:p>
          <a:p>
            <a:pPr lvl="1"/>
            <a:r>
              <a:rPr lang="en-US" dirty="0"/>
              <a:t>Good external validity</a:t>
            </a:r>
          </a:p>
          <a:p>
            <a:pPr lvl="1"/>
            <a:r>
              <a:rPr lang="en-US" dirty="0"/>
              <a:t>Pretty good internal validity</a:t>
            </a:r>
          </a:p>
          <a:p>
            <a:r>
              <a:rPr lang="en-US" dirty="0"/>
              <a:t>Procedurally difficult to carry out</a:t>
            </a:r>
          </a:p>
          <a:p>
            <a:pPr lvl="1"/>
            <a:r>
              <a:rPr lang="en-US" dirty="0"/>
              <a:t>Many uncontrolled extraneous variables</a:t>
            </a:r>
          </a:p>
          <a:p>
            <a:r>
              <a:rPr lang="en-US" dirty="0"/>
              <a:t>Challenging to follow best practices for ethical research</a:t>
            </a:r>
          </a:p>
          <a:p>
            <a:pPr lvl="1"/>
            <a:r>
              <a:rPr lang="en-US" dirty="0"/>
              <a:t>Lack of voluntary participation, informed consent</a:t>
            </a:r>
          </a:p>
          <a:p>
            <a:pPr lvl="1"/>
            <a:r>
              <a:rPr lang="en-US" dirty="0"/>
              <a:t>Implicit deception</a:t>
            </a:r>
          </a:p>
        </p:txBody>
      </p:sp>
    </p:spTree>
    <p:extLst>
      <p:ext uri="{BB962C8B-B14F-4D97-AF65-F5344CB8AC3E}">
        <p14:creationId xmlns:p14="http://schemas.microsoft.com/office/powerpoint/2010/main" val="7379289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C0B5C1-3749-0D20-B18B-E316CCDC85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Experience Sampling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4016BD-D107-E17E-AC8A-3A40FAEB8A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</a:t>
            </a:r>
            <a:r>
              <a:rPr lang="en-US" dirty="0" err="1"/>
              <a:t>Prinzing</a:t>
            </a:r>
            <a:r>
              <a:rPr lang="en-US" dirty="0"/>
              <a:t> (2024) paper reviewed in class used a dataset collected using an “experience sampling” approach.  </a:t>
            </a:r>
          </a:p>
          <a:p>
            <a:r>
              <a:rPr lang="en-US" dirty="0"/>
              <a:t>This is a research method where participants are repeatedly asked to report on their thoughts, feelings, and behaviors in real-time throughout their daily lives, providing a snapshot of their experiences as they occur in their natural environment, usually through prompts on a mobile device or similar technology (text or reminder app).</a:t>
            </a:r>
          </a:p>
          <a:p>
            <a:r>
              <a:rPr lang="en-US" dirty="0"/>
              <a:t>Give 3 extraneous variables to consider with this kind of real-world based data collection.</a:t>
            </a:r>
          </a:p>
        </p:txBody>
      </p:sp>
    </p:spTree>
    <p:extLst>
      <p:ext uri="{BB962C8B-B14F-4D97-AF65-F5344CB8AC3E}">
        <p14:creationId xmlns:p14="http://schemas.microsoft.com/office/powerpoint/2010/main" val="331122096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F1D74-06A0-5C73-571B-688E81B9E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For Mon Nov 18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D24313-1642-BCE6-9E19-38914263D7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Chapter 20: Developmental and Neuropsychological Methods</a:t>
            </a:r>
          </a:p>
          <a:p>
            <a:endParaRPr lang="en-US" dirty="0"/>
          </a:p>
          <a:p>
            <a:r>
              <a:rPr lang="en-US" dirty="0"/>
              <a:t>Final project full proposal</a:t>
            </a:r>
          </a:p>
          <a:p>
            <a:pPr lvl="1"/>
            <a:r>
              <a:rPr lang="en-US" dirty="0"/>
              <a:t>Implemented procedure that we can test and verify</a:t>
            </a:r>
          </a:p>
          <a:p>
            <a:pPr lvl="1"/>
            <a:r>
              <a:rPr lang="en-US" dirty="0"/>
              <a:t>As soon as possible</a:t>
            </a:r>
          </a:p>
        </p:txBody>
      </p:sp>
    </p:spTree>
    <p:extLst>
      <p:ext uri="{BB962C8B-B14F-4D97-AF65-F5344CB8AC3E}">
        <p14:creationId xmlns:p14="http://schemas.microsoft.com/office/powerpoint/2010/main" val="14956108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4092</TotalTime>
  <Words>903</Words>
  <Application>Microsoft Office PowerPoint</Application>
  <PresentationFormat>Widescreen</PresentationFormat>
  <Paragraphs>159</Paragraphs>
  <Slides>15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1" baseType="lpstr">
      <vt:lpstr>Arial</vt:lpstr>
      <vt:lpstr>Calibri</vt:lpstr>
      <vt:lpstr>Calibri Light</vt:lpstr>
      <vt:lpstr>Lato Extended</vt:lpstr>
      <vt:lpstr>Times New Roman</vt:lpstr>
      <vt:lpstr>Office Theme</vt:lpstr>
      <vt:lpstr>205, Nov 15, Class 22</vt:lpstr>
      <vt:lpstr>A Science Fair’s Teachable Moment </vt:lpstr>
      <vt:lpstr>Adults’ preference</vt:lpstr>
      <vt:lpstr>Children’s preference</vt:lpstr>
      <vt:lpstr>Do Adults and Children react differently?</vt:lpstr>
      <vt:lpstr>Quasi-Experimental Research Methods</vt:lpstr>
      <vt:lpstr>Intervention Research</vt:lpstr>
      <vt:lpstr>Training intervention with Military personnel</vt:lpstr>
      <vt:lpstr>Philosophical Ethical Challenges</vt:lpstr>
      <vt:lpstr>Crossover Intervention Design</vt:lpstr>
      <vt:lpstr>Contrasts</vt:lpstr>
      <vt:lpstr>Intervention research</vt:lpstr>
      <vt:lpstr>Field Research Summary </vt:lpstr>
      <vt:lpstr>Experience Sampling</vt:lpstr>
      <vt:lpstr>For Mon Nov 18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205, Nov 9, Class 21</dc:title>
  <dc:creator>Paul Reber</dc:creator>
  <cp:lastModifiedBy>Paul Reber</cp:lastModifiedBy>
  <cp:revision>13</cp:revision>
  <cp:lastPrinted>2024-11-15T14:31:31Z</cp:lastPrinted>
  <dcterms:created xsi:type="dcterms:W3CDTF">2022-11-07T18:42:32Z</dcterms:created>
  <dcterms:modified xsi:type="dcterms:W3CDTF">2024-11-15T15:43:00Z</dcterms:modified>
</cp:coreProperties>
</file>