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334" r:id="rId4"/>
    <p:sldId id="333" r:id="rId5"/>
    <p:sldId id="332" r:id="rId6"/>
    <p:sldId id="272" r:id="rId7"/>
    <p:sldId id="337" r:id="rId8"/>
    <p:sldId id="338" r:id="rId9"/>
    <p:sldId id="259" r:id="rId10"/>
    <p:sldId id="267" r:id="rId11"/>
    <p:sldId id="268" r:id="rId12"/>
    <p:sldId id="270" r:id="rId13"/>
    <p:sldId id="269" r:id="rId14"/>
    <p:sldId id="293" r:id="rId15"/>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2" autoAdjust="0"/>
    <p:restoredTop sz="94660"/>
  </p:normalViewPr>
  <p:slideViewPr>
    <p:cSldViewPr snapToGrid="0">
      <p:cViewPr varScale="1">
        <p:scale>
          <a:sx n="97" d="100"/>
          <a:sy n="97" d="100"/>
        </p:scale>
        <p:origin x="32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9EEF9-3FA6-B46F-3F34-3ECAE084F6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0098B2-AB86-AACD-490F-E19AE7C16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0043B1-24E6-B04B-A929-3AA31AE0FD17}"/>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5" name="Footer Placeholder 4">
            <a:extLst>
              <a:ext uri="{FF2B5EF4-FFF2-40B4-BE49-F238E27FC236}">
                <a16:creationId xmlns:a16="http://schemas.microsoft.com/office/drawing/2014/main" id="{1A469D67-E795-D4CB-AC43-DB66C8D86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F6EEAD-A822-CFDB-6F09-2B9DF5719738}"/>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490620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8BCFE-0DE2-A0BA-7228-6255559433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53EC31-F91A-A042-A771-86662611C1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7C2D0-D344-42DA-742C-C9D389AE874F}"/>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5" name="Footer Placeholder 4">
            <a:extLst>
              <a:ext uri="{FF2B5EF4-FFF2-40B4-BE49-F238E27FC236}">
                <a16:creationId xmlns:a16="http://schemas.microsoft.com/office/drawing/2014/main" id="{4482B603-F47B-998D-E75E-ACC0F7B002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6478B7-A0BB-7F7B-DDFD-5143E22C2E1B}"/>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2880715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1A8D1-0BEB-C395-EB4A-4ABBA889E3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EA01F3-65AB-7447-5376-C8FC85A6FC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53D0F9-39A0-CAA4-0F76-624C1C1E4639}"/>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5" name="Footer Placeholder 4">
            <a:extLst>
              <a:ext uri="{FF2B5EF4-FFF2-40B4-BE49-F238E27FC236}">
                <a16:creationId xmlns:a16="http://schemas.microsoft.com/office/drawing/2014/main" id="{E50A569C-B031-CBB3-3DEB-CAB0A1594C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F2060-DF4E-5F65-61E7-92D905B68510}"/>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057367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C7E9B-1E6D-1750-5203-5D1BF4F172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C2A35A-5A80-1707-E5DE-8C12AE1671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AD7143-E8DD-6D50-57FD-8EC550791E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913C84-1AF6-CD5D-8119-C9AFBE20B16B}"/>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6" name="Footer Placeholder 5">
            <a:extLst>
              <a:ext uri="{FF2B5EF4-FFF2-40B4-BE49-F238E27FC236}">
                <a16:creationId xmlns:a16="http://schemas.microsoft.com/office/drawing/2014/main" id="{422ECF48-38C8-1EB1-A04F-8693D1E807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E6EA7F-1D7B-78B7-A662-4D3E123491F8}"/>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233330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F0EC3-9BED-312F-685C-566CECAFDB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308466-D7C3-6BB5-CA7D-FA5153A7AD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337857-F4BF-D64A-8FCE-8A72F24D5D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590559-21AC-1814-2FE2-45B9A04D20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772923-EA7E-EF9D-FE74-BD3E2F8E00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294791-B2C2-873E-ACC6-80333CA84219}"/>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8" name="Footer Placeholder 7">
            <a:extLst>
              <a:ext uri="{FF2B5EF4-FFF2-40B4-BE49-F238E27FC236}">
                <a16:creationId xmlns:a16="http://schemas.microsoft.com/office/drawing/2014/main" id="{74EC97D0-0C42-523F-7EB5-B3132675CF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794230-18E5-9894-F7C9-F2C456311B26}"/>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2109569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A9ECA-42DA-F425-57C3-726DA1CBAC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CD9BB9-3152-F7AA-E8A0-4718B6D014E6}"/>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4" name="Footer Placeholder 3">
            <a:extLst>
              <a:ext uri="{FF2B5EF4-FFF2-40B4-BE49-F238E27FC236}">
                <a16:creationId xmlns:a16="http://schemas.microsoft.com/office/drawing/2014/main" id="{A7570E16-37E4-F10E-6E17-74D76F7F36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F13C22-0BB7-7EC2-1F01-6743C378CE08}"/>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1644681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C371A7-2939-E797-DFD2-EF596E3FF46A}"/>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3" name="Footer Placeholder 2">
            <a:extLst>
              <a:ext uri="{FF2B5EF4-FFF2-40B4-BE49-F238E27FC236}">
                <a16:creationId xmlns:a16="http://schemas.microsoft.com/office/drawing/2014/main" id="{2BEFA2C8-5E45-816A-705B-4EB06F6861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54FE78-9382-6320-3FCC-7DF3DEBA925A}"/>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1016368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7ED12-7439-EFE2-C602-4218AC4F10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68135A-D633-DFC1-257D-3070DB720D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51FE48-7BDD-4B79-ADDE-1C16C35B1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6B4872-DF4E-C821-99A7-8029D99916F3}"/>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6" name="Footer Placeholder 5">
            <a:extLst>
              <a:ext uri="{FF2B5EF4-FFF2-40B4-BE49-F238E27FC236}">
                <a16:creationId xmlns:a16="http://schemas.microsoft.com/office/drawing/2014/main" id="{1A89DA9E-4D24-7D4F-5364-7293592164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06EA70-942F-DF28-B574-FB5E50F32E73}"/>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649889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93AF-A39F-509C-54C1-B61A858E6A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F939D6-6434-230D-8FA1-3ECD2525AE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653731-F5B8-239F-EA24-A65AA0BDD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235486-844B-7100-4A69-A7654A82DF02}"/>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6" name="Footer Placeholder 5">
            <a:extLst>
              <a:ext uri="{FF2B5EF4-FFF2-40B4-BE49-F238E27FC236}">
                <a16:creationId xmlns:a16="http://schemas.microsoft.com/office/drawing/2014/main" id="{5E793B0E-CA95-61B3-73B2-11F18B3529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61E5A-A604-E51F-35A8-DE537E94FC46}"/>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194671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07552-9B20-7228-66DD-AFD02FB5AE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3A6774-AC06-D484-0FF5-292CF50950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539FEF-0492-E601-0F70-672B2C3C9325}"/>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5" name="Footer Placeholder 4">
            <a:extLst>
              <a:ext uri="{FF2B5EF4-FFF2-40B4-BE49-F238E27FC236}">
                <a16:creationId xmlns:a16="http://schemas.microsoft.com/office/drawing/2014/main" id="{647579E2-460D-3F57-6463-90439824D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EDBB3F-497E-CF1A-BB01-294C926446FF}"/>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2653252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0D532D-2E27-D60C-B79A-A16DCD9475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B40F56-629C-C0D4-AF35-2212E247FD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2CCA4E-3F74-EE35-7A92-27522FD8F1F6}"/>
              </a:ext>
            </a:extLst>
          </p:cNvPr>
          <p:cNvSpPr>
            <a:spLocks noGrp="1"/>
          </p:cNvSpPr>
          <p:nvPr>
            <p:ph type="dt" sz="half" idx="10"/>
          </p:nvPr>
        </p:nvSpPr>
        <p:spPr/>
        <p:txBody>
          <a:bodyPr/>
          <a:lstStyle/>
          <a:p>
            <a:fld id="{12FB66CF-97A3-4EA3-BB65-0933E8FD8D61}" type="datetimeFigureOut">
              <a:rPr lang="en-US" smtClean="0"/>
              <a:t>10/30/2024</a:t>
            </a:fld>
            <a:endParaRPr lang="en-US"/>
          </a:p>
        </p:txBody>
      </p:sp>
      <p:sp>
        <p:nvSpPr>
          <p:cNvPr id="5" name="Footer Placeholder 4">
            <a:extLst>
              <a:ext uri="{FF2B5EF4-FFF2-40B4-BE49-F238E27FC236}">
                <a16:creationId xmlns:a16="http://schemas.microsoft.com/office/drawing/2014/main" id="{61F56710-8570-7884-7B04-7BB7D69D1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2B94E7-0DC3-6404-FA06-080CA6FA3480}"/>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942450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EDD600-BD00-B144-8745-CA84DBB3FA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A3E75A-231F-57C9-226B-660F4A8BC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A4B4B-24F4-B72F-54AA-28ACC608C5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FB66CF-97A3-4EA3-BB65-0933E8FD8D61}" type="datetimeFigureOut">
              <a:rPr lang="en-US" smtClean="0"/>
              <a:t>10/30/2024</a:t>
            </a:fld>
            <a:endParaRPr lang="en-US"/>
          </a:p>
        </p:txBody>
      </p:sp>
      <p:sp>
        <p:nvSpPr>
          <p:cNvPr id="5" name="Footer Placeholder 4">
            <a:extLst>
              <a:ext uri="{FF2B5EF4-FFF2-40B4-BE49-F238E27FC236}">
                <a16:creationId xmlns:a16="http://schemas.microsoft.com/office/drawing/2014/main" id="{23825C86-4742-8912-5D92-9F232FE431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4707C6F-EC4E-F790-EE61-1F060D41A0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4CBD89-8108-40E7-80A0-C058BC8C724A}" type="slidenum">
              <a:rPr lang="en-US" smtClean="0"/>
              <a:t>‹#›</a:t>
            </a:fld>
            <a:endParaRPr lang="en-US"/>
          </a:p>
        </p:txBody>
      </p:sp>
    </p:spTree>
    <p:extLst>
      <p:ext uri="{BB962C8B-B14F-4D97-AF65-F5344CB8AC3E}">
        <p14:creationId xmlns:p14="http://schemas.microsoft.com/office/powerpoint/2010/main" val="2852306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8B1DCE-2FC7-E1C6-9C71-38AD2E28BDE1}"/>
              </a:ext>
            </a:extLst>
          </p:cNvPr>
          <p:cNvSpPr>
            <a:spLocks noGrp="1"/>
          </p:cNvSpPr>
          <p:nvPr>
            <p:ph type="title"/>
          </p:nvPr>
        </p:nvSpPr>
        <p:spPr/>
        <p:txBody>
          <a:bodyPr/>
          <a:lstStyle/>
          <a:p>
            <a:r>
              <a:rPr lang="en-US" dirty="0"/>
              <a:t>205 Oct 30, Class 15</a:t>
            </a:r>
          </a:p>
        </p:txBody>
      </p:sp>
      <p:sp>
        <p:nvSpPr>
          <p:cNvPr id="5" name="Content Placeholder 4">
            <a:extLst>
              <a:ext uri="{FF2B5EF4-FFF2-40B4-BE49-F238E27FC236}">
                <a16:creationId xmlns:a16="http://schemas.microsoft.com/office/drawing/2014/main" id="{4EA4F36E-F9D7-0EF4-D32C-9B263E5AB9ED}"/>
              </a:ext>
            </a:extLst>
          </p:cNvPr>
          <p:cNvSpPr>
            <a:spLocks noGrp="1"/>
          </p:cNvSpPr>
          <p:nvPr>
            <p:ph idx="1"/>
          </p:nvPr>
        </p:nvSpPr>
        <p:spPr/>
        <p:txBody>
          <a:bodyPr/>
          <a:lstStyle/>
          <a:p>
            <a:r>
              <a:rPr lang="en-US" dirty="0"/>
              <a:t>Data analysis for Experiment 2</a:t>
            </a:r>
          </a:p>
          <a:p>
            <a:pPr lvl="1"/>
            <a:r>
              <a:rPr lang="en-US" dirty="0"/>
              <a:t>Methods review</a:t>
            </a:r>
          </a:p>
          <a:p>
            <a:pPr lvl="1"/>
            <a:endParaRPr lang="en-US" dirty="0"/>
          </a:p>
          <a:p>
            <a:r>
              <a:rPr lang="en-US" dirty="0"/>
              <a:t>Exam review</a:t>
            </a:r>
          </a:p>
          <a:p>
            <a:endParaRPr lang="en-US" dirty="0"/>
          </a:p>
          <a:p>
            <a:r>
              <a:rPr lang="en-US" dirty="0"/>
              <a:t>Preparing for the final project</a:t>
            </a:r>
          </a:p>
          <a:p>
            <a:pPr lvl="1"/>
            <a:r>
              <a:rPr lang="en-US" dirty="0"/>
              <a:t>Organizing into groups</a:t>
            </a:r>
          </a:p>
          <a:p>
            <a:pPr lvl="1"/>
            <a:r>
              <a:rPr lang="en-US" dirty="0"/>
              <a:t>Picking a topic</a:t>
            </a:r>
          </a:p>
        </p:txBody>
      </p:sp>
    </p:spTree>
    <p:extLst>
      <p:ext uri="{BB962C8B-B14F-4D97-AF65-F5344CB8AC3E}">
        <p14:creationId xmlns:p14="http://schemas.microsoft.com/office/powerpoint/2010/main" val="3947876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2B4BE-0C68-96D7-E7B1-F49147AB76F6}"/>
              </a:ext>
            </a:extLst>
          </p:cNvPr>
          <p:cNvSpPr>
            <a:spLocks noGrp="1"/>
          </p:cNvSpPr>
          <p:nvPr>
            <p:ph type="title"/>
          </p:nvPr>
        </p:nvSpPr>
        <p:spPr/>
        <p:txBody>
          <a:bodyPr/>
          <a:lstStyle/>
          <a:p>
            <a:r>
              <a:rPr lang="en-US" dirty="0"/>
              <a:t>Experiment 2 data</a:t>
            </a:r>
          </a:p>
        </p:txBody>
      </p:sp>
      <p:sp>
        <p:nvSpPr>
          <p:cNvPr id="3" name="Content Placeholder 2">
            <a:extLst>
              <a:ext uri="{FF2B5EF4-FFF2-40B4-BE49-F238E27FC236}">
                <a16:creationId xmlns:a16="http://schemas.microsoft.com/office/drawing/2014/main" id="{20260531-B36A-3035-4298-B9057990C30C}"/>
              </a:ext>
            </a:extLst>
          </p:cNvPr>
          <p:cNvSpPr>
            <a:spLocks noGrp="1"/>
          </p:cNvSpPr>
          <p:nvPr>
            <p:ph idx="1"/>
          </p:nvPr>
        </p:nvSpPr>
        <p:spPr/>
        <p:txBody>
          <a:bodyPr/>
          <a:lstStyle/>
          <a:p>
            <a:r>
              <a:rPr lang="en-US" dirty="0"/>
              <a:t>Datafile: Exp2_Fall2024.csv</a:t>
            </a:r>
          </a:p>
          <a:p>
            <a:r>
              <a:rPr lang="en-US" dirty="0"/>
              <a:t>Running the analysis in R</a:t>
            </a:r>
          </a:p>
          <a:p>
            <a:r>
              <a:rPr lang="en-US" dirty="0"/>
              <a:t>Reporting the results</a:t>
            </a:r>
          </a:p>
          <a:p>
            <a:r>
              <a:rPr lang="en-US" dirty="0"/>
              <a:t>Making a graph with Excel</a:t>
            </a:r>
          </a:p>
          <a:p>
            <a:endParaRPr lang="en-US" dirty="0"/>
          </a:p>
        </p:txBody>
      </p:sp>
    </p:spTree>
    <p:extLst>
      <p:ext uri="{BB962C8B-B14F-4D97-AF65-F5344CB8AC3E}">
        <p14:creationId xmlns:p14="http://schemas.microsoft.com/office/powerpoint/2010/main" val="89430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DFD66-C342-FAA7-9D87-E0930698A55F}"/>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399F13A6-1A8A-2DE3-3D4E-90F1D46B94DC}"/>
              </a:ext>
            </a:extLst>
          </p:cNvPr>
          <p:cNvSpPr>
            <a:spLocks noGrp="1"/>
          </p:cNvSpPr>
          <p:nvPr>
            <p:ph idx="1"/>
          </p:nvPr>
        </p:nvSpPr>
        <p:spPr/>
        <p:txBody>
          <a:bodyPr/>
          <a:lstStyle/>
          <a:p>
            <a:r>
              <a:rPr lang="en-US" dirty="0"/>
              <a:t>Main effect of stimulus meaning</a:t>
            </a:r>
          </a:p>
          <a:p>
            <a:pPr lvl="1"/>
            <a:r>
              <a:rPr lang="en-US" dirty="0"/>
              <a:t>F(X,X) = Y.YY, p&lt;.0z</a:t>
            </a:r>
          </a:p>
          <a:p>
            <a:r>
              <a:rPr lang="en-US" dirty="0"/>
              <a:t>Main effect of deep/shallow encoding</a:t>
            </a:r>
          </a:p>
          <a:p>
            <a:pPr lvl="1"/>
            <a:r>
              <a:rPr lang="en-US" dirty="0"/>
              <a:t>F(X,X) = Y.YY, p&lt;.0z</a:t>
            </a:r>
          </a:p>
          <a:p>
            <a:r>
              <a:rPr lang="en-US" dirty="0"/>
              <a:t>Interaction</a:t>
            </a:r>
          </a:p>
          <a:p>
            <a:pPr lvl="1"/>
            <a:r>
              <a:rPr lang="en-US" dirty="0"/>
              <a:t>F(X,X) = Y.YY, p&lt;.0z</a:t>
            </a:r>
          </a:p>
          <a:p>
            <a:pPr lvl="1"/>
            <a:endParaRPr lang="en-US" dirty="0"/>
          </a:p>
          <a:p>
            <a:r>
              <a:rPr lang="en-US" dirty="0"/>
              <a:t>Making a 2x2 figure</a:t>
            </a:r>
          </a:p>
          <a:p>
            <a:pPr lvl="1"/>
            <a:endParaRPr lang="en-US" dirty="0"/>
          </a:p>
        </p:txBody>
      </p:sp>
    </p:spTree>
    <p:extLst>
      <p:ext uri="{BB962C8B-B14F-4D97-AF65-F5344CB8AC3E}">
        <p14:creationId xmlns:p14="http://schemas.microsoft.com/office/powerpoint/2010/main" val="949699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F7BEA-E67B-5421-022B-0785083B13D4}"/>
              </a:ext>
            </a:extLst>
          </p:cNvPr>
          <p:cNvSpPr>
            <a:spLocks noGrp="1"/>
          </p:cNvSpPr>
          <p:nvPr>
            <p:ph type="title"/>
          </p:nvPr>
        </p:nvSpPr>
        <p:spPr/>
        <p:txBody>
          <a:bodyPr/>
          <a:lstStyle/>
          <a:p>
            <a:r>
              <a:rPr lang="en-US" dirty="0"/>
              <a:t>Experiment 2 methods</a:t>
            </a:r>
          </a:p>
        </p:txBody>
      </p:sp>
      <p:sp>
        <p:nvSpPr>
          <p:cNvPr id="3" name="Content Placeholder 2">
            <a:extLst>
              <a:ext uri="{FF2B5EF4-FFF2-40B4-BE49-F238E27FC236}">
                <a16:creationId xmlns:a16="http://schemas.microsoft.com/office/drawing/2014/main" id="{396A17BA-7DB4-F1CC-E4A3-344742CD104C}"/>
              </a:ext>
            </a:extLst>
          </p:cNvPr>
          <p:cNvSpPr>
            <a:spLocks noGrp="1"/>
          </p:cNvSpPr>
          <p:nvPr>
            <p:ph idx="1"/>
          </p:nvPr>
        </p:nvSpPr>
        <p:spPr/>
        <p:txBody>
          <a:bodyPr>
            <a:normAutofit fontScale="92500" lnSpcReduction="20000"/>
          </a:bodyPr>
          <a:lstStyle/>
          <a:p>
            <a:r>
              <a:rPr lang="en-US" dirty="0"/>
              <a:t>Participants</a:t>
            </a:r>
          </a:p>
          <a:p>
            <a:pPr lvl="1"/>
            <a:r>
              <a:rPr lang="en-US" dirty="0"/>
              <a:t>Two sections of 205 recruited participants</a:t>
            </a:r>
          </a:p>
          <a:p>
            <a:pPr lvl="1"/>
            <a:r>
              <a:rPr lang="en-US" dirty="0"/>
              <a:t>121 participants provided data, 8 participants were excluded for missing 10 or more study trials leading to 113 participants in total.</a:t>
            </a:r>
          </a:p>
          <a:p>
            <a:r>
              <a:rPr lang="en-US" dirty="0"/>
              <a:t>Materials</a:t>
            </a:r>
          </a:p>
          <a:p>
            <a:pPr lvl="1"/>
            <a:r>
              <a:rPr lang="en-US" dirty="0"/>
              <a:t>Use the images to illustrate the stimuli with a Figure</a:t>
            </a:r>
          </a:p>
          <a:p>
            <a:pPr lvl="1"/>
            <a:r>
              <a:rPr lang="en-US" dirty="0"/>
              <a:t>Do not forget the caption/note for this Figure as well</a:t>
            </a:r>
          </a:p>
          <a:p>
            <a:r>
              <a:rPr lang="en-US" dirty="0"/>
              <a:t>Procedure</a:t>
            </a:r>
          </a:p>
          <a:p>
            <a:pPr lvl="1"/>
            <a:r>
              <a:rPr lang="en-US" dirty="0"/>
              <a:t>40 items studied for 4s each</a:t>
            </a:r>
          </a:p>
          <a:p>
            <a:pPr lvl="1"/>
            <a:r>
              <a:rPr lang="en-US" dirty="0"/>
              <a:t>Deep encoding just as Experiment 1</a:t>
            </a:r>
          </a:p>
          <a:p>
            <a:pPr lvl="1"/>
            <a:r>
              <a:rPr lang="en-US" dirty="0"/>
              <a:t>Shallow encoding: For each picture, indicate which colors of the five listed below are most prominent in the image</a:t>
            </a:r>
          </a:p>
          <a:p>
            <a:pPr lvl="2"/>
            <a:r>
              <a:rPr lang="en-US" sz="1800" dirty="0">
                <a:effectLst/>
                <a:latin typeface="Calibri" panose="020F0502020204030204" pitchFamily="34" charset="0"/>
                <a:ea typeface="Calibri" panose="020F0502020204030204" pitchFamily="34" charset="0"/>
                <a:cs typeface="Times New Roman" panose="02020603050405020304" pitchFamily="18" charset="0"/>
              </a:rPr>
              <a:t>1 = black or gray, 2 = red or brown, 3 = blue or purple, 4 = green or pink, 5 = yellow or white</a:t>
            </a:r>
          </a:p>
          <a:p>
            <a:pPr lvl="1"/>
            <a:r>
              <a:rPr lang="en-US" dirty="0">
                <a:latin typeface="Calibri" panose="020F0502020204030204" pitchFamily="34" charset="0"/>
                <a:cs typeface="Times New Roman" panose="02020603050405020304" pitchFamily="18" charset="0"/>
              </a:rPr>
              <a:t>40-tiem Recognition test was based on 2AFC with one old and one new/lure/foil</a:t>
            </a:r>
            <a:endParaRPr lang="en-US" dirty="0"/>
          </a:p>
        </p:txBody>
      </p:sp>
    </p:spTree>
    <p:extLst>
      <p:ext uri="{BB962C8B-B14F-4D97-AF65-F5344CB8AC3E}">
        <p14:creationId xmlns:p14="http://schemas.microsoft.com/office/powerpoint/2010/main" val="1881527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1DC33-78A1-4865-83C2-BF38C9DE1F1D}"/>
              </a:ext>
            </a:extLst>
          </p:cNvPr>
          <p:cNvSpPr>
            <a:spLocks noGrp="1"/>
          </p:cNvSpPr>
          <p:nvPr>
            <p:ph type="title"/>
          </p:nvPr>
        </p:nvSpPr>
        <p:spPr/>
        <p:txBody>
          <a:bodyPr/>
          <a:lstStyle/>
          <a:p>
            <a:r>
              <a:rPr lang="en-US" dirty="0"/>
              <a:t>Theory:  Levels of Processing</a:t>
            </a:r>
          </a:p>
        </p:txBody>
      </p:sp>
      <p:sp>
        <p:nvSpPr>
          <p:cNvPr id="3" name="Content Placeholder 2">
            <a:extLst>
              <a:ext uri="{FF2B5EF4-FFF2-40B4-BE49-F238E27FC236}">
                <a16:creationId xmlns:a16="http://schemas.microsoft.com/office/drawing/2014/main" id="{F21CE555-A17C-49DC-9B43-DE4B133F59E6}"/>
              </a:ext>
            </a:extLst>
          </p:cNvPr>
          <p:cNvSpPr>
            <a:spLocks noGrp="1"/>
          </p:cNvSpPr>
          <p:nvPr>
            <p:ph idx="1"/>
          </p:nvPr>
        </p:nvSpPr>
        <p:spPr/>
        <p:txBody>
          <a:bodyPr/>
          <a:lstStyle/>
          <a:p>
            <a:r>
              <a:rPr lang="en-US" dirty="0"/>
              <a:t>Hypothesis</a:t>
            </a:r>
          </a:p>
          <a:p>
            <a:pPr lvl="1"/>
            <a:r>
              <a:rPr lang="en-US" dirty="0"/>
              <a:t>What is “deep” encoding?</a:t>
            </a:r>
          </a:p>
          <a:p>
            <a:pPr lvl="1"/>
            <a:r>
              <a:rPr lang="en-US" dirty="0"/>
              <a:t>What is the opposite of “deep” encoding?</a:t>
            </a:r>
          </a:p>
          <a:p>
            <a:r>
              <a:rPr lang="en-US" dirty="0"/>
              <a:t>Mechanism</a:t>
            </a:r>
          </a:p>
          <a:p>
            <a:pPr lvl="1"/>
            <a:r>
              <a:rPr lang="en-US" dirty="0"/>
              <a:t>Idea about why this improves memory</a:t>
            </a:r>
          </a:p>
          <a:p>
            <a:r>
              <a:rPr lang="en-US" dirty="0"/>
              <a:t>Specific Procedures</a:t>
            </a:r>
          </a:p>
          <a:p>
            <a:pPr lvl="1"/>
            <a:r>
              <a:rPr lang="en-US" dirty="0"/>
              <a:t>Compare across studies, both prior and ours</a:t>
            </a:r>
          </a:p>
          <a:p>
            <a:pPr lvl="1"/>
            <a:r>
              <a:rPr lang="en-US" dirty="0"/>
              <a:t>How does theory apply to words, pictures of objects, abstract images</a:t>
            </a:r>
          </a:p>
          <a:p>
            <a:endParaRPr lang="en-US" b="1" dirty="0"/>
          </a:p>
        </p:txBody>
      </p:sp>
    </p:spTree>
    <p:extLst>
      <p:ext uri="{BB962C8B-B14F-4D97-AF65-F5344CB8AC3E}">
        <p14:creationId xmlns:p14="http://schemas.microsoft.com/office/powerpoint/2010/main" val="3457065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19D8C-96B4-0483-B366-28A447FF4ADF}"/>
              </a:ext>
            </a:extLst>
          </p:cNvPr>
          <p:cNvSpPr>
            <a:spLocks noGrp="1"/>
          </p:cNvSpPr>
          <p:nvPr>
            <p:ph type="title"/>
          </p:nvPr>
        </p:nvSpPr>
        <p:spPr/>
        <p:txBody>
          <a:bodyPr/>
          <a:lstStyle/>
          <a:p>
            <a:r>
              <a:rPr lang="en-US" dirty="0"/>
              <a:t>Writeup #2</a:t>
            </a:r>
          </a:p>
        </p:txBody>
      </p:sp>
      <p:sp>
        <p:nvSpPr>
          <p:cNvPr id="3" name="Content Placeholder 2">
            <a:extLst>
              <a:ext uri="{FF2B5EF4-FFF2-40B4-BE49-F238E27FC236}">
                <a16:creationId xmlns:a16="http://schemas.microsoft.com/office/drawing/2014/main" id="{1B0D8871-5910-7D64-EC6F-2DF43B696AB2}"/>
              </a:ext>
            </a:extLst>
          </p:cNvPr>
          <p:cNvSpPr>
            <a:spLocks noGrp="1"/>
          </p:cNvSpPr>
          <p:nvPr>
            <p:ph idx="1"/>
          </p:nvPr>
        </p:nvSpPr>
        <p:spPr/>
        <p:txBody>
          <a:bodyPr>
            <a:normAutofit lnSpcReduction="10000"/>
          </a:bodyPr>
          <a:lstStyle/>
          <a:p>
            <a:r>
              <a:rPr lang="en-US" dirty="0"/>
              <a:t>Include both Experiment 1 and Experiment 2</a:t>
            </a:r>
          </a:p>
          <a:p>
            <a:pPr lvl="1"/>
            <a:r>
              <a:rPr lang="en-US" dirty="0"/>
              <a:t>Methods for Experiment 2 available on Canvas</a:t>
            </a:r>
          </a:p>
          <a:p>
            <a:pPr lvl="1"/>
            <a:r>
              <a:rPr lang="en-US" dirty="0"/>
              <a:t>Make corrections to Experiment 1</a:t>
            </a:r>
          </a:p>
          <a:p>
            <a:r>
              <a:rPr lang="en-US" dirty="0"/>
              <a:t>Expand the Introduction</a:t>
            </a:r>
          </a:p>
          <a:p>
            <a:pPr lvl="1"/>
            <a:r>
              <a:rPr lang="en-US" dirty="0"/>
              <a:t>What is “deep” encoding?</a:t>
            </a:r>
          </a:p>
          <a:p>
            <a:pPr lvl="1"/>
            <a:r>
              <a:rPr lang="en-US" u="sng" dirty="0"/>
              <a:t>Why</a:t>
            </a:r>
            <a:r>
              <a:rPr lang="en-US" dirty="0"/>
              <a:t> do we hypothesize that “deep” encoding leads to better memory?</a:t>
            </a:r>
          </a:p>
          <a:p>
            <a:pPr lvl="1"/>
            <a:r>
              <a:rPr lang="en-US" dirty="0"/>
              <a:t>What is new about the studies you are reporting?</a:t>
            </a:r>
          </a:p>
          <a:p>
            <a:r>
              <a:rPr lang="en-US" dirty="0"/>
              <a:t>Expand the Discussion</a:t>
            </a:r>
          </a:p>
          <a:p>
            <a:pPr lvl="1"/>
            <a:r>
              <a:rPr lang="en-US" dirty="0"/>
              <a:t>Summarize results of both experiments</a:t>
            </a:r>
          </a:p>
          <a:p>
            <a:pPr lvl="1"/>
            <a:r>
              <a:rPr lang="en-US" dirty="0"/>
              <a:t>What do they mean with respect to the hypothesis?</a:t>
            </a:r>
          </a:p>
          <a:p>
            <a:pPr lvl="2"/>
            <a:r>
              <a:rPr lang="en-US" dirty="0"/>
              <a:t>Refer back to theory from the Introduction</a:t>
            </a:r>
          </a:p>
          <a:p>
            <a:pPr lvl="1"/>
            <a:endParaRPr lang="en-US" dirty="0"/>
          </a:p>
        </p:txBody>
      </p:sp>
    </p:spTree>
    <p:extLst>
      <p:ext uri="{BB962C8B-B14F-4D97-AF65-F5344CB8AC3E}">
        <p14:creationId xmlns:p14="http://schemas.microsoft.com/office/powerpoint/2010/main" val="260154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2834-304B-C2C4-ABA4-79152A470825}"/>
              </a:ext>
            </a:extLst>
          </p:cNvPr>
          <p:cNvSpPr>
            <a:spLocks noGrp="1"/>
          </p:cNvSpPr>
          <p:nvPr>
            <p:ph type="title"/>
          </p:nvPr>
        </p:nvSpPr>
        <p:spPr/>
        <p:txBody>
          <a:bodyPr/>
          <a:lstStyle/>
          <a:p>
            <a:r>
              <a:rPr lang="en-US" dirty="0"/>
              <a:t>Exam Review, Q1</a:t>
            </a:r>
          </a:p>
        </p:txBody>
      </p:sp>
      <p:sp>
        <p:nvSpPr>
          <p:cNvPr id="3" name="Content Placeholder 2">
            <a:extLst>
              <a:ext uri="{FF2B5EF4-FFF2-40B4-BE49-F238E27FC236}">
                <a16:creationId xmlns:a16="http://schemas.microsoft.com/office/drawing/2014/main" id="{EA7A5C03-7B30-DA9A-63E8-E0F8E3F9B7E9}"/>
              </a:ext>
            </a:extLst>
          </p:cNvPr>
          <p:cNvSpPr>
            <a:spLocks noGrp="1"/>
          </p:cNvSpPr>
          <p:nvPr>
            <p:ph idx="1"/>
          </p:nvPr>
        </p:nvSpPr>
        <p:spPr/>
        <p:txBody>
          <a:bodyPr>
            <a:normAutofit fontScale="92500" lnSpcReduction="20000"/>
          </a:bodyPr>
          <a:lstStyle/>
          <a:p>
            <a:pPr marL="0" marR="0">
              <a:lnSpc>
                <a:spcPct val="115000"/>
              </a:lnSpc>
              <a:spcAft>
                <a:spcPts val="800"/>
              </a:spcAft>
            </a:pPr>
            <a:r>
              <a:rPr lang="en-US" sz="1800" dirty="0">
                <a:latin typeface="Calibri" panose="020F0502020204030204" pitchFamily="34" charset="0"/>
                <a:ea typeface="Yu Mincho" panose="02020400000000000000" pitchFamily="18" charset="-128"/>
              </a:rPr>
              <a:t>Research has demonstrated that news articles which evoke stronger emotions (either positive or negative emotions) are more likely to be shared than articles which do not evoke emotional responses (Berger &amp; Milkman, 2010). Understanding more about why this relationship exists can inform strategies used to reduce the spread of misinformation. </a:t>
            </a:r>
            <a:r>
              <a:rPr lang="en-US" sz="1800" dirty="0">
                <a:effectLst/>
                <a:latin typeface="Calibri" panose="020F0502020204030204" pitchFamily="34" charset="0"/>
                <a:ea typeface="Yu Mincho" panose="02020400000000000000" pitchFamily="18" charset="-128"/>
              </a:rPr>
              <a:t>One hypothesis is that the physiological arousal associated with more strongly evoked emotions might contribute to the tendency to want to share information more broadly to peers.  To test this idea, researchers </a:t>
            </a:r>
            <a:r>
              <a:rPr lang="en-US" sz="1800" u="sng" dirty="0">
                <a:effectLst/>
                <a:latin typeface="Calibri" panose="020F0502020204030204" pitchFamily="34" charset="0"/>
                <a:ea typeface="Yu Mincho" panose="02020400000000000000" pitchFamily="18" charset="-128"/>
              </a:rPr>
              <a:t>randomly assigned participants to either lightly jog in place for 60 seconds or sit quietly for 60 seconds</a:t>
            </a:r>
            <a:r>
              <a:rPr lang="en-US" sz="1800" dirty="0">
                <a:effectLst/>
                <a:latin typeface="Calibri" panose="020F0502020204030204" pitchFamily="34" charset="0"/>
                <a:ea typeface="Yu Mincho" panose="02020400000000000000" pitchFamily="18" charset="-128"/>
              </a:rPr>
              <a:t>.  Afterwards, participants were shown 10 relatively neutral news articles on social media and for each one they indicated whether they would </a:t>
            </a:r>
            <a:r>
              <a:rPr lang="en-US" sz="1800" u="sng" dirty="0">
                <a:effectLst/>
                <a:latin typeface="Calibri" panose="020F0502020204030204" pitchFamily="34" charset="0"/>
                <a:ea typeface="Yu Mincho" panose="02020400000000000000" pitchFamily="18" charset="-128"/>
              </a:rPr>
              <a:t>share the information with their social networks</a:t>
            </a:r>
          </a:p>
          <a:p>
            <a:pPr marL="457200" lvl="1">
              <a:lnSpc>
                <a:spcPct val="115000"/>
              </a:lnSpc>
              <a:spcAft>
                <a:spcPts val="800"/>
              </a:spcAft>
            </a:pPr>
            <a:r>
              <a:rPr lang="en-US" sz="1800" kern="100" dirty="0">
                <a:effectLst/>
                <a:latin typeface="Calibri" panose="020F0502020204030204" pitchFamily="34" charset="0"/>
                <a:ea typeface="Yu Mincho" panose="02020400000000000000" pitchFamily="18" charset="-128"/>
                <a:cs typeface="Times New Roman" panose="02020603050405020304" pitchFamily="18" charset="0"/>
              </a:rPr>
              <a:t>The extraneous variable of fitness might affect how participants react to the exercise manipulation (e.g., athletes might be affected less).  If participants are randomly assigned to condition, is this more likely to be a challenge for the reliability or validity of the results?  Explain why.</a:t>
            </a:r>
            <a:endParaRPr lang="en-US" sz="1800" kern="100" dirty="0">
              <a:effectLst/>
              <a:latin typeface="Aptos" panose="020B0004020202020204" pitchFamily="34" charset="0"/>
              <a:ea typeface="Yu Mincho" panose="02020400000000000000" pitchFamily="18" charset="-128"/>
              <a:cs typeface="Times New Roman" panose="02020603050405020304" pitchFamily="18" charset="0"/>
            </a:endParaRPr>
          </a:p>
          <a:p>
            <a:pPr marL="457200" lvl="1">
              <a:lnSpc>
                <a:spcPct val="115000"/>
              </a:lnSpc>
              <a:spcAft>
                <a:spcPts val="800"/>
              </a:spcAft>
            </a:pPr>
            <a:r>
              <a:rPr lang="en-US" sz="1800" kern="100" dirty="0">
                <a:effectLst/>
                <a:latin typeface="Calibri" panose="020F0502020204030204" pitchFamily="34" charset="0"/>
                <a:ea typeface="Yu Mincho" panose="02020400000000000000" pitchFamily="18" charset="-128"/>
                <a:cs typeface="Times New Roman" panose="02020603050405020304" pitchFamily="18" charset="0"/>
              </a:rPr>
              <a:t>Imagine that the experimenters asked participants in the “sit quietly” condition to come to their lab space, where there is a private, soundproofed room for the experiment and asked participants in the “jog lightly” group to come to the busy campus gym so that they could use a treadmill instead of jogging in place. Would this introduce a confound in the experiment and what would the alternate explanation of the result be?</a:t>
            </a:r>
            <a:endParaRPr lang="en-US" sz="1800" kern="100" dirty="0">
              <a:effectLst/>
              <a:latin typeface="Aptos" panose="020B0004020202020204" pitchFamily="34" charset="0"/>
              <a:ea typeface="Yu Mincho" panose="02020400000000000000" pitchFamily="18" charset="-128"/>
              <a:cs typeface="Times New Roman" panose="02020603050405020304" pitchFamily="18" charset="0"/>
            </a:endParaRPr>
          </a:p>
          <a:p>
            <a:pPr marL="457200" lvl="1">
              <a:lnSpc>
                <a:spcPct val="115000"/>
              </a:lnSpc>
              <a:spcAft>
                <a:spcPts val="800"/>
              </a:spcAft>
            </a:pPr>
            <a:endParaRPr lang="en-US" u="sng" dirty="0"/>
          </a:p>
        </p:txBody>
      </p:sp>
    </p:spTree>
    <p:extLst>
      <p:ext uri="{BB962C8B-B14F-4D97-AF65-F5344CB8AC3E}">
        <p14:creationId xmlns:p14="http://schemas.microsoft.com/office/powerpoint/2010/main" val="359566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022F-2C0E-AEA7-BE45-FED7333A58C5}"/>
              </a:ext>
            </a:extLst>
          </p:cNvPr>
          <p:cNvSpPr>
            <a:spLocks noGrp="1"/>
          </p:cNvSpPr>
          <p:nvPr>
            <p:ph type="title"/>
          </p:nvPr>
        </p:nvSpPr>
        <p:spPr/>
        <p:txBody>
          <a:bodyPr/>
          <a:lstStyle/>
          <a:p>
            <a:r>
              <a:rPr lang="en-US" dirty="0"/>
              <a:t>Exam Q3</a:t>
            </a:r>
          </a:p>
        </p:txBody>
      </p:sp>
      <p:sp>
        <p:nvSpPr>
          <p:cNvPr id="3" name="Content Placeholder 2">
            <a:extLst>
              <a:ext uri="{FF2B5EF4-FFF2-40B4-BE49-F238E27FC236}">
                <a16:creationId xmlns:a16="http://schemas.microsoft.com/office/drawing/2014/main" id="{2B51A822-4748-0508-7890-74A6EDD6645B}"/>
              </a:ext>
            </a:extLst>
          </p:cNvPr>
          <p:cNvSpPr>
            <a:spLocks noGrp="1"/>
          </p:cNvSpPr>
          <p:nvPr>
            <p:ph idx="1"/>
          </p:nvPr>
        </p:nvSpPr>
        <p:spPr/>
        <p:txBody>
          <a:bodyPr>
            <a:normAutofit lnSpcReduction="10000"/>
          </a:bodyPr>
          <a:lstStyle/>
          <a:p>
            <a:r>
              <a:rPr lang="en-US" sz="1800" dirty="0">
                <a:effectLst/>
                <a:latin typeface="Calibri" panose="020F0502020204030204" pitchFamily="34" charset="0"/>
                <a:ea typeface="Yu Mincho" panose="02020400000000000000" pitchFamily="18" charset="-128"/>
              </a:rPr>
              <a:t>Over the last few years there has been growing interest in whether skills learned in virtual reality (VR) can be effectively applied to real-world situations.  It has been hypothesized that accurately replicating the environment and experience of a task in VR can improve skilled performance.  Inspired by a study by </a:t>
            </a:r>
            <a:r>
              <a:rPr lang="en-US" sz="1800" dirty="0" err="1">
                <a:effectLst/>
                <a:latin typeface="Calibri" panose="020F0502020204030204" pitchFamily="34" charset="0"/>
                <a:ea typeface="Yu Mincho" panose="02020400000000000000" pitchFamily="18" charset="-128"/>
              </a:rPr>
              <a:t>Bordwart</a:t>
            </a:r>
            <a:r>
              <a:rPr lang="en-US" sz="1800" dirty="0">
                <a:effectLst/>
                <a:latin typeface="Calibri" panose="020F0502020204030204" pitchFamily="34" charset="0"/>
                <a:ea typeface="Yu Mincho" panose="02020400000000000000" pitchFamily="18" charset="-128"/>
              </a:rPr>
              <a:t> et al. (2023), a team of student researchers tested this idea in a VR-based dart throwing task.  A total of 50 participants trained by playing a dart-throwing VR game, </a:t>
            </a:r>
            <a:r>
              <a:rPr lang="en-US" sz="1800" u="sng" dirty="0">
                <a:effectLst/>
                <a:latin typeface="Calibri" panose="020F0502020204030204" pitchFamily="34" charset="0"/>
                <a:ea typeface="Yu Mincho" panose="02020400000000000000" pitchFamily="18" charset="-128"/>
              </a:rPr>
              <a:t>with half of them having their hands visible and the other half without visible hands</a:t>
            </a:r>
            <a:r>
              <a:rPr lang="en-US" sz="1800" dirty="0">
                <a:effectLst/>
                <a:latin typeface="Calibri" panose="020F0502020204030204" pitchFamily="34" charset="0"/>
                <a:ea typeface="Yu Mincho" panose="02020400000000000000" pitchFamily="18" charset="-128"/>
              </a:rPr>
              <a:t>. Each participant practiced for an hour in the virtual game, aiming at the center of a bullseye. Afterward, they threw 10 darts at a real bullseye in a lab, and the average </a:t>
            </a:r>
            <a:r>
              <a:rPr lang="en-US" sz="1800" u="sng" dirty="0">
                <a:effectLst/>
                <a:latin typeface="Calibri" panose="020F0502020204030204" pitchFamily="34" charset="0"/>
                <a:ea typeface="Yu Mincho" panose="02020400000000000000" pitchFamily="18" charset="-128"/>
              </a:rPr>
              <a:t>distance of their throws from the center was recorded (measured in inches)</a:t>
            </a:r>
            <a:r>
              <a:rPr lang="en-US" sz="1800" dirty="0">
                <a:effectLst/>
                <a:latin typeface="Calibri" panose="020F0502020204030204" pitchFamily="34" charset="0"/>
                <a:ea typeface="Yu Mincho" panose="02020400000000000000" pitchFamily="18" charset="-128"/>
              </a:rPr>
              <a:t>. The researchers then compared the real-world dart-throwing performance of the two groups. </a:t>
            </a:r>
          </a:p>
          <a:p>
            <a:r>
              <a:rPr lang="en-US" sz="1800" dirty="0">
                <a:latin typeface="Calibri" panose="020F0502020204030204" pitchFamily="34" charset="0"/>
                <a:ea typeface="Yu Mincho" panose="02020400000000000000" pitchFamily="18" charset="-128"/>
              </a:rPr>
              <a:t>Extraneous variables: anything about the darts, distance, conditions for throwing, prior expertise of the participants</a:t>
            </a:r>
          </a:p>
          <a:p>
            <a:r>
              <a:rPr lang="en-US" sz="1800" dirty="0">
                <a:latin typeface="Calibri" panose="020F0502020204030204" pitchFamily="34" charset="0"/>
                <a:ea typeface="Yu Mincho" panose="02020400000000000000" pitchFamily="18" charset="-128"/>
              </a:rPr>
              <a:t>Participants who practiced with hands visible threw more accurately (M = 4.51 inches, SE = 0.11) than the no-hands group (M = 5.02, SE = 0.11), t(48)=3.11, p&lt;.01.</a:t>
            </a:r>
          </a:p>
          <a:p>
            <a:r>
              <a:rPr lang="en-US" sz="1800" dirty="0">
                <a:effectLst/>
                <a:latin typeface="Calibri" panose="020F0502020204030204" pitchFamily="34" charset="0"/>
                <a:ea typeface="Yu Mincho" panose="02020400000000000000" pitchFamily="18" charset="-128"/>
              </a:rPr>
              <a:t>After the data collection was completed, it was discovered that all the participants in the Hands group were run first and responded to an ad to participate in research study about playing darts (which recruited several very good darts players).  Later, to try to get more people in the study, the recruiting ad was changed to encourage people to participate in a fun VR-based study… </a:t>
            </a:r>
            <a:endParaRPr lang="en-US" dirty="0"/>
          </a:p>
        </p:txBody>
      </p:sp>
    </p:spTree>
    <p:extLst>
      <p:ext uri="{BB962C8B-B14F-4D97-AF65-F5344CB8AC3E}">
        <p14:creationId xmlns:p14="http://schemas.microsoft.com/office/powerpoint/2010/main" val="4090025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EB66A-E29F-97C4-6C53-796BB261A9E2}"/>
              </a:ext>
            </a:extLst>
          </p:cNvPr>
          <p:cNvSpPr>
            <a:spLocks noGrp="1"/>
          </p:cNvSpPr>
          <p:nvPr>
            <p:ph type="title"/>
          </p:nvPr>
        </p:nvSpPr>
        <p:spPr/>
        <p:txBody>
          <a:bodyPr/>
          <a:lstStyle/>
          <a:p>
            <a:r>
              <a:rPr lang="en-US" dirty="0"/>
              <a:t>Preparing a Research Proposal</a:t>
            </a:r>
          </a:p>
        </p:txBody>
      </p:sp>
      <p:sp>
        <p:nvSpPr>
          <p:cNvPr id="3" name="Content Placeholder 2">
            <a:extLst>
              <a:ext uri="{FF2B5EF4-FFF2-40B4-BE49-F238E27FC236}">
                <a16:creationId xmlns:a16="http://schemas.microsoft.com/office/drawing/2014/main" id="{73044A5F-BD66-D027-F747-0248C3930A9B}"/>
              </a:ext>
            </a:extLst>
          </p:cNvPr>
          <p:cNvSpPr>
            <a:spLocks noGrp="1"/>
          </p:cNvSpPr>
          <p:nvPr>
            <p:ph idx="1"/>
          </p:nvPr>
        </p:nvSpPr>
        <p:spPr/>
        <p:txBody>
          <a:bodyPr>
            <a:normAutofit/>
          </a:bodyPr>
          <a:lstStyle/>
          <a:p>
            <a:r>
              <a:rPr lang="en-US" dirty="0"/>
              <a:t>Organize into groups of 3-4 students</a:t>
            </a:r>
          </a:p>
          <a:p>
            <a:pPr lvl="1"/>
            <a:r>
              <a:rPr lang="en-US" dirty="0"/>
              <a:t>If you have trouble finding a group, email us</a:t>
            </a:r>
          </a:p>
          <a:p>
            <a:pPr lvl="1"/>
            <a:endParaRPr lang="en-US" dirty="0"/>
          </a:p>
          <a:p>
            <a:r>
              <a:rPr lang="en-US" dirty="0"/>
              <a:t>Meet and pick out your first main source paper</a:t>
            </a:r>
          </a:p>
          <a:p>
            <a:pPr lvl="1"/>
            <a:r>
              <a:rPr lang="en-US" dirty="0"/>
              <a:t>Use for operational definitions</a:t>
            </a:r>
          </a:p>
          <a:p>
            <a:pPr lvl="1"/>
            <a:r>
              <a:rPr lang="en-US" dirty="0"/>
              <a:t>Starting point for procedure</a:t>
            </a:r>
          </a:p>
          <a:p>
            <a:r>
              <a:rPr lang="en-US" dirty="0"/>
              <a:t>Prepare your initial proposal for </a:t>
            </a:r>
            <a:r>
              <a:rPr lang="en-US"/>
              <a:t>Friday 11/1</a:t>
            </a:r>
            <a:endParaRPr lang="en-US" dirty="0"/>
          </a:p>
          <a:p>
            <a:endParaRPr lang="en-US" dirty="0"/>
          </a:p>
          <a:p>
            <a:r>
              <a:rPr lang="en-US" dirty="0"/>
              <a:t>Guidelines in Chapter 13</a:t>
            </a:r>
          </a:p>
          <a:p>
            <a:pPr lvl="1"/>
            <a:endParaRPr lang="en-US" dirty="0"/>
          </a:p>
        </p:txBody>
      </p:sp>
    </p:spTree>
    <p:extLst>
      <p:ext uri="{BB962C8B-B14F-4D97-AF65-F5344CB8AC3E}">
        <p14:creationId xmlns:p14="http://schemas.microsoft.com/office/powerpoint/2010/main" val="3763799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25ADD-80B0-3F55-7239-B534BBAD1913}"/>
              </a:ext>
            </a:extLst>
          </p:cNvPr>
          <p:cNvSpPr>
            <a:spLocks noGrp="1"/>
          </p:cNvSpPr>
          <p:nvPr>
            <p:ph type="title"/>
          </p:nvPr>
        </p:nvSpPr>
        <p:spPr/>
        <p:txBody>
          <a:bodyPr/>
          <a:lstStyle/>
          <a:p>
            <a:r>
              <a:rPr lang="en-US" dirty="0"/>
              <a:t>Initial Proposal Outline</a:t>
            </a:r>
          </a:p>
        </p:txBody>
      </p:sp>
      <p:sp>
        <p:nvSpPr>
          <p:cNvPr id="3" name="Content Placeholder 2">
            <a:extLst>
              <a:ext uri="{FF2B5EF4-FFF2-40B4-BE49-F238E27FC236}">
                <a16:creationId xmlns:a16="http://schemas.microsoft.com/office/drawing/2014/main" id="{0FB7461F-5524-319A-C321-5F4BC28AD13E}"/>
              </a:ext>
            </a:extLst>
          </p:cNvPr>
          <p:cNvSpPr>
            <a:spLocks noGrp="1"/>
          </p:cNvSpPr>
          <p:nvPr>
            <p:ph idx="1"/>
          </p:nvPr>
        </p:nvSpPr>
        <p:spPr/>
        <p:txBody>
          <a:bodyPr/>
          <a:lstStyle/>
          <a:p>
            <a:r>
              <a:rPr lang="en-US" dirty="0"/>
              <a:t>Group members</a:t>
            </a:r>
          </a:p>
          <a:p>
            <a:r>
              <a:rPr lang="en-US" dirty="0"/>
              <a:t>Tentative project title</a:t>
            </a:r>
          </a:p>
          <a:p>
            <a:r>
              <a:rPr lang="en-US" dirty="0"/>
              <a:t>First background source (APA Reference Style)</a:t>
            </a:r>
          </a:p>
          <a:p>
            <a:r>
              <a:rPr lang="en-US" dirty="0"/>
              <a:t>Design of source experiment</a:t>
            </a:r>
          </a:p>
          <a:p>
            <a:pPr lvl="1"/>
            <a:r>
              <a:rPr lang="en-US" dirty="0"/>
              <a:t>IV(s), DV, number of participants, outcome</a:t>
            </a:r>
          </a:p>
          <a:p>
            <a:r>
              <a:rPr lang="en-US" dirty="0"/>
              <a:t>What new element are you planning to add?</a:t>
            </a:r>
          </a:p>
          <a:p>
            <a:r>
              <a:rPr lang="en-US" dirty="0"/>
              <a:t>Diagram your 2x2 design</a:t>
            </a:r>
          </a:p>
          <a:p>
            <a:pPr lvl="1"/>
            <a:r>
              <a:rPr lang="en-US" dirty="0"/>
              <a:t>2 factors, 2 levels each</a:t>
            </a:r>
          </a:p>
          <a:p>
            <a:r>
              <a:rPr lang="en-US" dirty="0"/>
              <a:t>Planned number of participants</a:t>
            </a:r>
          </a:p>
        </p:txBody>
      </p:sp>
      <p:graphicFrame>
        <p:nvGraphicFramePr>
          <p:cNvPr id="4" name="Table 4">
            <a:extLst>
              <a:ext uri="{FF2B5EF4-FFF2-40B4-BE49-F238E27FC236}">
                <a16:creationId xmlns:a16="http://schemas.microsoft.com/office/drawing/2014/main" id="{4D013AF8-273B-418A-98F4-708E18B73029}"/>
              </a:ext>
            </a:extLst>
          </p:cNvPr>
          <p:cNvGraphicFramePr>
            <a:graphicFrameLocks noGrp="1"/>
          </p:cNvGraphicFramePr>
          <p:nvPr/>
        </p:nvGraphicFramePr>
        <p:xfrm>
          <a:off x="8265227" y="4851401"/>
          <a:ext cx="3557319" cy="1325562"/>
        </p:xfrm>
        <a:graphic>
          <a:graphicData uri="http://schemas.openxmlformats.org/drawingml/2006/table">
            <a:tbl>
              <a:tblPr firstRow="1" bandRow="1">
                <a:tableStyleId>{5C22544A-7EE6-4342-B048-85BDC9FD1C3A}</a:tableStyleId>
              </a:tblPr>
              <a:tblGrid>
                <a:gridCol w="1185773">
                  <a:extLst>
                    <a:ext uri="{9D8B030D-6E8A-4147-A177-3AD203B41FA5}">
                      <a16:colId xmlns:a16="http://schemas.microsoft.com/office/drawing/2014/main" val="1212859019"/>
                    </a:ext>
                  </a:extLst>
                </a:gridCol>
                <a:gridCol w="1185773">
                  <a:extLst>
                    <a:ext uri="{9D8B030D-6E8A-4147-A177-3AD203B41FA5}">
                      <a16:colId xmlns:a16="http://schemas.microsoft.com/office/drawing/2014/main" val="3160750219"/>
                    </a:ext>
                  </a:extLst>
                </a:gridCol>
                <a:gridCol w="1185773">
                  <a:extLst>
                    <a:ext uri="{9D8B030D-6E8A-4147-A177-3AD203B41FA5}">
                      <a16:colId xmlns:a16="http://schemas.microsoft.com/office/drawing/2014/main" val="2476771294"/>
                    </a:ext>
                  </a:extLst>
                </a:gridCol>
              </a:tblGrid>
              <a:tr h="441854">
                <a:tc>
                  <a:txBody>
                    <a:bodyPr/>
                    <a:lstStyle/>
                    <a:p>
                      <a:endParaRPr lang="en-US"/>
                    </a:p>
                  </a:txBody>
                  <a:tcPr/>
                </a:tc>
                <a:tc>
                  <a:txBody>
                    <a:bodyPr/>
                    <a:lstStyle/>
                    <a:p>
                      <a:r>
                        <a:rPr lang="en-US" dirty="0"/>
                        <a:t>Factor1-a</a:t>
                      </a:r>
                    </a:p>
                  </a:txBody>
                  <a:tcPr/>
                </a:tc>
                <a:tc>
                  <a:txBody>
                    <a:bodyPr/>
                    <a:lstStyle/>
                    <a:p>
                      <a:r>
                        <a:rPr lang="en-US" dirty="0"/>
                        <a:t>Factor1-b</a:t>
                      </a:r>
                    </a:p>
                  </a:txBody>
                  <a:tcPr/>
                </a:tc>
                <a:extLst>
                  <a:ext uri="{0D108BD9-81ED-4DB2-BD59-A6C34878D82A}">
                    <a16:rowId xmlns:a16="http://schemas.microsoft.com/office/drawing/2014/main" val="518286833"/>
                  </a:ext>
                </a:extLst>
              </a:tr>
              <a:tr h="441854">
                <a:tc>
                  <a:txBody>
                    <a:bodyPr/>
                    <a:lstStyle/>
                    <a:p>
                      <a:r>
                        <a:rPr lang="en-US" dirty="0"/>
                        <a:t>Factor2-x</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584333473"/>
                  </a:ext>
                </a:extLst>
              </a:tr>
              <a:tr h="441854">
                <a:tc>
                  <a:txBody>
                    <a:bodyPr/>
                    <a:lstStyle/>
                    <a:p>
                      <a:r>
                        <a:rPr lang="en-US" dirty="0"/>
                        <a:t>Factor2-y</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24044278"/>
                  </a:ext>
                </a:extLst>
              </a:tr>
            </a:tbl>
          </a:graphicData>
        </a:graphic>
      </p:graphicFrame>
    </p:spTree>
    <p:extLst>
      <p:ext uri="{BB962C8B-B14F-4D97-AF65-F5344CB8AC3E}">
        <p14:creationId xmlns:p14="http://schemas.microsoft.com/office/powerpoint/2010/main" val="2064125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7B66E-D989-1E88-76BB-FECA46C02E4D}"/>
              </a:ext>
            </a:extLst>
          </p:cNvPr>
          <p:cNvSpPr>
            <a:spLocks noGrp="1"/>
          </p:cNvSpPr>
          <p:nvPr>
            <p:ph type="title"/>
          </p:nvPr>
        </p:nvSpPr>
        <p:spPr/>
        <p:txBody>
          <a:bodyPr/>
          <a:lstStyle/>
          <a:p>
            <a:r>
              <a:rPr lang="en-US" dirty="0"/>
              <a:t>Collaborative Research</a:t>
            </a:r>
          </a:p>
        </p:txBody>
      </p:sp>
      <p:sp>
        <p:nvSpPr>
          <p:cNvPr id="3" name="Content Placeholder 2">
            <a:extLst>
              <a:ext uri="{FF2B5EF4-FFF2-40B4-BE49-F238E27FC236}">
                <a16:creationId xmlns:a16="http://schemas.microsoft.com/office/drawing/2014/main" id="{71686D6B-EAD3-FB15-BA7B-B10A72F71B55}"/>
              </a:ext>
            </a:extLst>
          </p:cNvPr>
          <p:cNvSpPr>
            <a:spLocks noGrp="1"/>
          </p:cNvSpPr>
          <p:nvPr>
            <p:ph idx="1"/>
          </p:nvPr>
        </p:nvSpPr>
        <p:spPr/>
        <p:txBody>
          <a:bodyPr>
            <a:normAutofit fontScale="92500"/>
          </a:bodyPr>
          <a:lstStyle/>
          <a:p>
            <a:r>
              <a:rPr lang="en-US" dirty="0"/>
              <a:t>Work together on design, data collection, analysis</a:t>
            </a:r>
          </a:p>
          <a:p>
            <a:pPr lvl="1"/>
            <a:r>
              <a:rPr lang="en-US" dirty="0"/>
              <a:t>Shared Methods &amp; Results section</a:t>
            </a:r>
          </a:p>
          <a:p>
            <a:r>
              <a:rPr lang="en-US" dirty="0"/>
              <a:t>Work separately on Introduction, Discussion, Abstract</a:t>
            </a:r>
          </a:p>
          <a:p>
            <a:pPr lvl="1"/>
            <a:r>
              <a:rPr lang="en-US" dirty="0"/>
              <a:t>Make your own figures</a:t>
            </a:r>
          </a:p>
          <a:p>
            <a:pPr lvl="1"/>
            <a:r>
              <a:rPr lang="en-US" dirty="0"/>
              <a:t>Differing interpretations of the results are possible</a:t>
            </a:r>
          </a:p>
          <a:p>
            <a:pPr lvl="1"/>
            <a:r>
              <a:rPr lang="en-US" dirty="0"/>
              <a:t>Each paper is your own (first author)</a:t>
            </a:r>
          </a:p>
          <a:p>
            <a:pPr lvl="1"/>
            <a:endParaRPr lang="en-US" dirty="0"/>
          </a:p>
          <a:p>
            <a:r>
              <a:rPr lang="en-US" dirty="0"/>
              <a:t>Academic integrity</a:t>
            </a:r>
          </a:p>
          <a:p>
            <a:pPr lvl="1"/>
            <a:r>
              <a:rPr lang="en-US" dirty="0"/>
              <a:t>Building on other author’s ideas is </a:t>
            </a:r>
            <a:r>
              <a:rPr lang="en-US" u="sng" dirty="0"/>
              <a:t>not plagiarism</a:t>
            </a:r>
            <a:r>
              <a:rPr lang="en-US" dirty="0"/>
              <a:t>, citations strengthen papers</a:t>
            </a:r>
          </a:p>
          <a:p>
            <a:pPr lvl="1"/>
            <a:r>
              <a:rPr lang="en-US" dirty="0"/>
              <a:t>Taking other people’s words as your own is </a:t>
            </a:r>
            <a:r>
              <a:rPr lang="en-US" u="sng" dirty="0"/>
              <a:t>plagiarism</a:t>
            </a:r>
          </a:p>
          <a:p>
            <a:pPr lvl="1"/>
            <a:r>
              <a:rPr lang="en-US" dirty="0"/>
              <a:t>Data fabrication is </a:t>
            </a:r>
            <a:r>
              <a:rPr lang="en-US" u="sng" dirty="0"/>
              <a:t>fraud</a:t>
            </a:r>
          </a:p>
        </p:txBody>
      </p:sp>
    </p:spTree>
    <p:extLst>
      <p:ext uri="{BB962C8B-B14F-4D97-AF65-F5344CB8AC3E}">
        <p14:creationId xmlns:p14="http://schemas.microsoft.com/office/powerpoint/2010/main" val="1237268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A84A2-DF5D-E286-9356-04044032B78B}"/>
              </a:ext>
            </a:extLst>
          </p:cNvPr>
          <p:cNvSpPr>
            <a:spLocks noGrp="1"/>
          </p:cNvSpPr>
          <p:nvPr>
            <p:ph type="title"/>
          </p:nvPr>
        </p:nvSpPr>
        <p:spPr/>
        <p:txBody>
          <a:bodyPr/>
          <a:lstStyle/>
          <a:p>
            <a:r>
              <a:rPr lang="en-US" dirty="0"/>
              <a:t>Practical points</a:t>
            </a:r>
          </a:p>
        </p:txBody>
      </p:sp>
      <p:sp>
        <p:nvSpPr>
          <p:cNvPr id="3" name="Content Placeholder 2">
            <a:extLst>
              <a:ext uri="{FF2B5EF4-FFF2-40B4-BE49-F238E27FC236}">
                <a16:creationId xmlns:a16="http://schemas.microsoft.com/office/drawing/2014/main" id="{DB8324B9-E925-585F-E1EE-E4D4F3A594AB}"/>
              </a:ext>
            </a:extLst>
          </p:cNvPr>
          <p:cNvSpPr>
            <a:spLocks noGrp="1"/>
          </p:cNvSpPr>
          <p:nvPr>
            <p:ph idx="1"/>
          </p:nvPr>
        </p:nvSpPr>
        <p:spPr/>
        <p:txBody>
          <a:bodyPr/>
          <a:lstStyle/>
          <a:p>
            <a:r>
              <a:rPr lang="en-US" dirty="0"/>
              <a:t>Design must be 2x2</a:t>
            </a:r>
          </a:p>
          <a:p>
            <a:pPr lvl="1"/>
            <a:r>
              <a:rPr lang="en-US" dirty="0"/>
              <a:t>At least one factor must be manipulated across groups</a:t>
            </a:r>
          </a:p>
          <a:p>
            <a:pPr lvl="1"/>
            <a:r>
              <a:rPr lang="en-US" dirty="0"/>
              <a:t>Randomly assigned</a:t>
            </a:r>
          </a:p>
          <a:p>
            <a:r>
              <a:rPr lang="en-US" dirty="0"/>
              <a:t>Minimal ethical risk to participants</a:t>
            </a:r>
          </a:p>
          <a:p>
            <a:pPr lvl="1"/>
            <a:r>
              <a:rPr lang="en-US" dirty="0"/>
              <a:t>No personal/private information</a:t>
            </a:r>
          </a:p>
          <a:p>
            <a:pPr lvl="1"/>
            <a:r>
              <a:rPr lang="en-US" dirty="0"/>
              <a:t>No deception other than blind to conditions</a:t>
            </a:r>
          </a:p>
          <a:p>
            <a:pPr lvl="1"/>
            <a:r>
              <a:rPr lang="en-US" dirty="0"/>
              <a:t>No emotional manipulations</a:t>
            </a:r>
          </a:p>
          <a:p>
            <a:r>
              <a:rPr lang="en-US" dirty="0"/>
              <a:t>Online data collection can be used</a:t>
            </a:r>
          </a:p>
          <a:p>
            <a:pPr lvl="1"/>
            <a:r>
              <a:rPr lang="en-US" dirty="0"/>
              <a:t>Qualtrics: https://www.it.northwestern.edu/software/qualtrics/index.html</a:t>
            </a:r>
          </a:p>
        </p:txBody>
      </p:sp>
    </p:spTree>
    <p:extLst>
      <p:ext uri="{BB962C8B-B14F-4D97-AF65-F5344CB8AC3E}">
        <p14:creationId xmlns:p14="http://schemas.microsoft.com/office/powerpoint/2010/main" val="362505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9450E-8E03-F7BF-AB32-90B0294EF8BE}"/>
              </a:ext>
            </a:extLst>
          </p:cNvPr>
          <p:cNvSpPr>
            <a:spLocks noGrp="1"/>
          </p:cNvSpPr>
          <p:nvPr>
            <p:ph type="title"/>
          </p:nvPr>
        </p:nvSpPr>
        <p:spPr/>
        <p:txBody>
          <a:bodyPr/>
          <a:lstStyle/>
          <a:p>
            <a:r>
              <a:rPr lang="en-US" dirty="0"/>
              <a:t>Planning for Final Proposal</a:t>
            </a:r>
          </a:p>
        </p:txBody>
      </p:sp>
      <p:sp>
        <p:nvSpPr>
          <p:cNvPr id="3" name="Content Placeholder 2">
            <a:extLst>
              <a:ext uri="{FF2B5EF4-FFF2-40B4-BE49-F238E27FC236}">
                <a16:creationId xmlns:a16="http://schemas.microsoft.com/office/drawing/2014/main" id="{3A2AFEF8-7811-E2EA-CF81-4607B11F8F61}"/>
              </a:ext>
            </a:extLst>
          </p:cNvPr>
          <p:cNvSpPr>
            <a:spLocks noGrp="1"/>
          </p:cNvSpPr>
          <p:nvPr>
            <p:ph idx="1"/>
          </p:nvPr>
        </p:nvSpPr>
        <p:spPr/>
        <p:txBody>
          <a:bodyPr/>
          <a:lstStyle/>
          <a:p>
            <a:r>
              <a:rPr lang="en-US" dirty="0"/>
              <a:t>Submit to us as if we are the IRB</a:t>
            </a:r>
          </a:p>
          <a:p>
            <a:pPr lvl="1"/>
            <a:r>
              <a:rPr lang="en-US" dirty="0"/>
              <a:t>Present a full description of your protocol</a:t>
            </a:r>
          </a:p>
          <a:p>
            <a:pPr lvl="2"/>
            <a:r>
              <a:rPr lang="en-US" dirty="0"/>
              <a:t>Motivating hypothesis</a:t>
            </a:r>
          </a:p>
          <a:p>
            <a:pPr lvl="2"/>
            <a:r>
              <a:rPr lang="en-US" dirty="0"/>
              <a:t>Procedure as a draft of your Methods section</a:t>
            </a:r>
          </a:p>
          <a:p>
            <a:pPr lvl="1"/>
            <a:r>
              <a:rPr lang="en-US" dirty="0"/>
              <a:t>All stimuli to be used</a:t>
            </a:r>
          </a:p>
          <a:p>
            <a:pPr lvl="2"/>
            <a:r>
              <a:rPr lang="en-US" dirty="0"/>
              <a:t>Working version of an online survey including all conditions</a:t>
            </a:r>
          </a:p>
          <a:p>
            <a:pPr lvl="2"/>
            <a:endParaRPr lang="en-US" dirty="0"/>
          </a:p>
          <a:p>
            <a:r>
              <a:rPr lang="en-US" dirty="0"/>
              <a:t>No data collection until explicit approval</a:t>
            </a:r>
          </a:p>
          <a:p>
            <a:pPr lvl="1"/>
            <a:r>
              <a:rPr lang="en-US" dirty="0"/>
              <a:t>Once approved, go as quickly as possible</a:t>
            </a:r>
          </a:p>
        </p:txBody>
      </p:sp>
    </p:spTree>
    <p:extLst>
      <p:ext uri="{BB962C8B-B14F-4D97-AF65-F5344CB8AC3E}">
        <p14:creationId xmlns:p14="http://schemas.microsoft.com/office/powerpoint/2010/main" val="3469857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0AC6E-F87F-AF4B-FE91-8D5B3D64D819}"/>
              </a:ext>
            </a:extLst>
          </p:cNvPr>
          <p:cNvSpPr>
            <a:spLocks noGrp="1"/>
          </p:cNvSpPr>
          <p:nvPr>
            <p:ph type="title"/>
          </p:nvPr>
        </p:nvSpPr>
        <p:spPr/>
        <p:txBody>
          <a:bodyPr/>
          <a:lstStyle/>
          <a:p>
            <a:r>
              <a:rPr lang="en-US" dirty="0"/>
              <a:t>For Fri 11/1</a:t>
            </a:r>
          </a:p>
        </p:txBody>
      </p:sp>
      <p:sp>
        <p:nvSpPr>
          <p:cNvPr id="3" name="Content Placeholder 2">
            <a:extLst>
              <a:ext uri="{FF2B5EF4-FFF2-40B4-BE49-F238E27FC236}">
                <a16:creationId xmlns:a16="http://schemas.microsoft.com/office/drawing/2014/main" id="{FAE5F9E7-B1BC-CE59-DC40-DC25EA14301C}"/>
              </a:ext>
            </a:extLst>
          </p:cNvPr>
          <p:cNvSpPr>
            <a:spLocks noGrp="1"/>
          </p:cNvSpPr>
          <p:nvPr>
            <p:ph idx="1"/>
          </p:nvPr>
        </p:nvSpPr>
        <p:spPr/>
        <p:txBody>
          <a:bodyPr/>
          <a:lstStyle/>
          <a:p>
            <a:r>
              <a:rPr lang="en-US" dirty="0"/>
              <a:t>Final projects initial ideas</a:t>
            </a:r>
          </a:p>
          <a:p>
            <a:endParaRPr lang="en-US" dirty="0"/>
          </a:p>
          <a:p>
            <a:r>
              <a:rPr lang="en-US" dirty="0"/>
              <a:t>Chapter 14: Non-experimental designs</a:t>
            </a:r>
          </a:p>
          <a:p>
            <a:endParaRPr lang="en-US" dirty="0"/>
          </a:p>
        </p:txBody>
      </p:sp>
    </p:spTree>
    <p:extLst>
      <p:ext uri="{BB962C8B-B14F-4D97-AF65-F5344CB8AC3E}">
        <p14:creationId xmlns:p14="http://schemas.microsoft.com/office/powerpoint/2010/main" val="2327470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5177</TotalTime>
  <Words>1265</Words>
  <Application>Microsoft Office PowerPoint</Application>
  <PresentationFormat>Widescreen</PresentationFormat>
  <Paragraphs>126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205 Oct 30, Class 15</vt:lpstr>
      <vt:lpstr>Experiment 2 data</vt:lpstr>
      <vt:lpstr>Results</vt:lpstr>
      <vt:lpstr>Experiment 2 methods</vt:lpstr>
      <vt:lpstr>Theory:  Levels of Processing</vt:lpstr>
      <vt:lpstr>Writeup #2</vt:lpstr>
      <vt:lpstr>Exam Review, Q1</vt:lpstr>
      <vt:lpstr>Exam Q3</vt:lpstr>
      <vt:lpstr>Preparing a Research Proposal</vt:lpstr>
      <vt:lpstr>Initial Proposal Outline</vt:lpstr>
      <vt:lpstr>Collaborative Research</vt:lpstr>
      <vt:lpstr>Practical points</vt:lpstr>
      <vt:lpstr>Planning for Final Proposal</vt:lpstr>
      <vt:lpstr>For Fri 11/1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Feb 9, Class 16</dc:title>
  <dc:creator>Paul Reber</dc:creator>
  <cp:lastModifiedBy>Paul Reber</cp:lastModifiedBy>
  <cp:revision>10</cp:revision>
  <cp:lastPrinted>2024-02-09T14:47:03Z</cp:lastPrinted>
  <dcterms:created xsi:type="dcterms:W3CDTF">2024-02-07T21:36:21Z</dcterms:created>
  <dcterms:modified xsi:type="dcterms:W3CDTF">2024-10-31T19:16:54Z</dcterms:modified>
</cp:coreProperties>
</file>